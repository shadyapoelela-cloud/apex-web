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APEX is a comprehensive AI-powered financial intelligence platform, built specifically for the Saudi Arabian market. We're SOCPA and IFRS compliant from day one, with full Arabic and English bilingual support. Over 30 API endpoints, 11 AI modules, and 55+ UI screens — all built and ready to deploy.
مرحباً بالجميع. APEX منصة ذكاء مالي شاملة مدعومة بالذكاء الاصطناعي، مبنية خصيصاً للسوق السعودي.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80% of Saudi SMEs still rely on Excel for financial analysis, with 15-25% error rates. No AI platform supports Arabic + SOCPA natively. Financial reviews cost SAR 3K-10K and take 3-4 weeks. Startups apply for funding without any readiness metrics. The market is underserved.
المشكلة: 80% من المنشآت السعودية لا تزال تعتمد على Excel — نسب أخطاء 15-25% — لا يوجد ذكاء اصطناعي يدعم المعايير السعودية.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solves this with a four-layer pipeline: Upload your Chart of Accounts, AI classifies it instantly. Bind your Trial Balance, we detect anomalies automatically. Generate IFRS-compliant financial statements in one click. Get a complete analysis with 30+ ratios and a Readiness Score from 0 to 100.
APEX تحل هذه المشكلة بأنبوب رباعي الطبقات: من رفع شجرة الحسابات إلى التحليل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APEX different is the depth of our platform. Our Knowledge Brain has 11 specialized AI modules covering SOCPA, IFRS, ZAKAT, VAT, and Saudi-specific regulations. Smart onboarding auto-detects company type. Our audit workflow has 7 phases with human-in-the-loop triggers. 30+ live APIs, 11 security roles, and 4 subscription tiers.
ما يميز APEX هو عمق المنصة: 11 وحدة ذكاء اصطناعي متخصصة.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clients — whether SMEs, accounting firms, or startups — APEX delivers a complete financial health report in minutes, not weeks. Upload in Arabic or English, the AI understands both. Get a Funding Readiness Score from 0-100 with actionable improvement steps. Everything is SOCPA and IFRS compliant, audit-ready.
لعملائنا: تقرير صحة مالية كامل في دقائق مع درجة جاهزية تمويلية.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Saudi fintech market is SAR 4.5B and growing 18% annually (SAMA, EY estimates). We target 150 paying SME clients in Year 1. Revenue: 65% SaaS subscriptions (SAR 199-1,999/mo), 20% API analytics, 15% marketplace fees. Conservative projections grounded in current Saudi fintech benchmarks.
سوق الفنتك السعودي 4.5 مليار ريال بنمو 18% سنوياً. نستهدف 150 عميل في السنة الأولى.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landscape: Wafeq and Qoyod offer basic Arabic accounting but no AI analysis or readiness scoring — they have partial IFRS support. Xero has some AI features globally but zero Arabic or SOCPA support. Excel is still the default for 80% of SMEs. APEX is the only product combining AI financial analysis + Arabic SOCPA + Readiness Scoring in one platform.
المنافسون يقدمون محاسبة أساسية فقط — APEX الوحيدة التي تجمع الذكاء الاصطناعي + المعايير السعودية + مؤشر الجاهزية.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pricing tiers: Starter SAR 199/mo for freelancers. Growth SAR 499/mo for growing firms. Professional SAR 999/mo — our sweet spot — full AI + audit. Enterprise SAR 1,999/mo with unlimited companies and white-label. Average expected ARPU: SAR 400-600/mo based on SME mix.
أربع خطط: من 199 ريال للمبتدئين حتى 1,999 ريال للمؤسسات. متوسط الإيراد المتوقع: 400-600 ريال شهرياً.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live demo flow. It's a 6-step process: Client onboarding through our 7-stage wizard, upload your Chart of Accounts, AI classifies 200+ accounts instantly, bind your Trial Balance, auto-generate financial statements, and finally view your analysis dashboard with 30+ ratios and your Readiness Score.
دعوني أعرض عليكم مسار العرض التجريبي المباشر.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preview of the APEX dashboard. You can see the clean, modern interface with real-time KPI cards at the top, revenue and expense charts, the readiness score gauge, and a complete financial statements table — all in one view. The dark theme is designed for long working sessions, and everything is available in both Arabic and English.
هذه معاينة للوحة التحكم مع مؤشرات فورية وقوائم مالية ودرجة الجاهزية.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APEX: reports take 3-4 weeks, cost SAR 3K-10K per review, 15-25% error rate, no readiness scoring, manual or missing audit trails. After APEX: under 5 minutes, from SAR 199/mo, less than 2% errors, automated 0-100 readiness score, full AI-logged audit trail. Massive efficiency gain for any SME.
قبل APEX: 3-4 أسابيع و 3-10 آلاف ريال. بعد APEX: أقل من 5 دقائق وابتداءً من 199 ريال شهرياً.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testimonials from our early pilot users. A startup CFO in Riyadh reports transforming quarterly reporting from 3 weeks to 10 minutes. An accounting firm managing partner in Jeddah highlights the bilingual capabilities. A founder in Dammam credits the Readiness Score with helping close their seed round 2 months early. These are anonymized but represent real feedback.
آراء من المستخدمين الأوائل في البرنامج التجريبي.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targets: CAC SAR 600, LTV SAR 7,200 over 18 months — giving 12x LTV:CAC ratio (benchmark is 3x+). Monthly churn target under 5% which is better than SaaS average of 6-8%. CAC payback in about 2 months. Gross margin 78% after AI infrastructure costs. Revenue split: 65% SaaS, 20% API, 15% Marketplace.
اقتصاديات الوحدة المستهدفة: تكلفة اكتساب 600 ريال — قيمة العميل 7,200 ريال — نسبة 12 ضعف.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built for scale and security. FastAPI backend with 30+ REST APIs, Flutter for web and mobile with 55+ screens, PostgreSQL with read replica readiness. Our AI engine includes 11 Knowledge Brain modules powered by Claude AI. Authentication uses JWT with 11 roles and full audit logging. CI/CD through GitHub Actions with Docker and deployment on Render.
المنظومة التقنية مبنية للتوسع والأمان.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APEX single-handedly — every line of code, every API endpoint, every UI screen. That demonstrates deep technical capability and commitment. We're now hiring three key roles: a CTO with 10+ years of backend and AI experience, a CFO with CPA/CFA and SOCPA knowledge, and a Growth Lead with B2B SaaS expertise and Saudi market connections. These hires are critical for our next phase.
بنيت APEX بمفردي ونبحث الآن عن كفاءات استثنائية.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phases. Phase 1 — Stabilize — we're here now, focusing on testing, optimization, and security. Phase 2 — Scale — over the next 3-9 months, adding CI/CD, caching, and API versioning. Phase 3 — Dominate — microservices architecture and SOC 2 compliance. Phase 4 — Expand — entering Gulf markets with a multi-standard engine and white-label capabilities.
أربع مراحل من السعودية إلى الخليج والعالم.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SAR 750K pre-seed — approximately $200K USD. Lean allocation: 45% for engineering (2 developers + cloud infrastructure), 25% for sales and marketing (digital campaigns, first 50 clients), 15% for operations (SAMA sandbox, legal), 15% working capital for 6-month runway. 12-month target: 150 paying clients, SAR 1.2M ARR, clear path to break-even.
جولة ما قبل التأسيس: 750 ألف ريال. 45% تطوير — 25% تسويق — 15% عمليات — 15% رأس مال تشغيلي. هدف 12 شهر: 150 عميل.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financial intelligence is already built. APEX is live, functional, and ready for its first paying clients. We're looking for investors who share our vision of democratizing financial intelligence across the Arab world. Thank you for your time — I'm happy to answer any questions. You can visit our platform or scan the QR code.
مستقبل الذكاء المالي مبنيٌّ بالفعل. شكراً لوقتكم.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deep-dive questions. Market sizing based on SAMA and Fintech Saudi data: TAM SAR 4.5B (total Saudi fintech), SAM SAR 800M (SME financial tools segment), SOM SAR 8M (realistic 3-year 1% penetration). Architecture: 30+ REST APIs, 11 AI modules covering all Saudi standards, 204 automated tests, PostgreSQL with read replica readiness.
ملحق تفصيلي — حجم السوق مبني على بيانات ساما وفنتك السعودية. البنية التقنية: أكثر من 30 واجهة و 11 وحدة ذكاء اصطناعي.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365760" y="365760"/>
            <a:ext cx="45720" cy="2286000"/>
          </a:xfrm>
          <a:prstGeom prst="rect">
            <a:avLst/>
          </a:prstGeom>
          <a:solidFill>
            <a:srgbClr val="C9A84C"/>
          </a:solidFill>
          <a:ln/>
        </p:spPr>
      </p:sp>
      <p:sp>
        <p:nvSpPr>
          <p:cNvPr id="4" name="Shape 2"/>
          <p:cNvSpPr/>
          <p:nvPr/>
        </p:nvSpPr>
        <p:spPr>
          <a:xfrm>
            <a:off x="365760" y="365760"/>
            <a:ext cx="1828800" cy="45720"/>
          </a:xfrm>
          <a:prstGeom prst="rect">
            <a:avLst/>
          </a:prstGeom>
          <a:solidFill>
            <a:srgbClr val="C9A84C"/>
          </a:solidFill>
          <a:ln/>
        </p:spPr>
      </p:sp>
      <p:sp>
        <p:nvSpPr>
          <p:cNvPr id="5" name="Shape 3"/>
          <p:cNvSpPr/>
          <p:nvPr/>
        </p:nvSpPr>
        <p:spPr>
          <a:xfrm>
            <a:off x="5943600" y="-457200"/>
            <a:ext cx="4572000" cy="4572000"/>
          </a:xfrm>
          <a:prstGeom prst="ellipse">
            <a:avLst/>
          </a:prstGeom>
          <a:solidFill>
            <a:srgbClr val="1C3254">
              <a:alpha val="40000"/>
            </a:srgbClr>
          </a:solidFill>
          <a:ln/>
        </p:spPr>
      </p:sp>
      <p:sp>
        <p:nvSpPr>
          <p:cNvPr id="6" name="Shape 4"/>
          <p:cNvSpPr/>
          <p:nvPr/>
        </p:nvSpPr>
        <p:spPr>
          <a:xfrm>
            <a:off x="6858000" y="1828800"/>
            <a:ext cx="3657600" cy="3657600"/>
          </a:xfrm>
          <a:prstGeom prst="ellipse">
            <a:avLst/>
          </a:prstGeom>
          <a:solidFill>
            <a:srgbClr val="162940">
              <a:alpha val="50000"/>
            </a:srgbClr>
          </a:solidFill>
          <a:ln/>
        </p:spPr>
      </p:sp>
      <p:sp>
        <p:nvSpPr>
          <p:cNvPr id="7" name="Text 5"/>
          <p:cNvSpPr/>
          <p:nvPr/>
        </p:nvSpPr>
        <p:spPr>
          <a:xfrm>
            <a:off x="640080" y="548640"/>
            <a:ext cx="7315200" cy="1097280"/>
          </a:xfrm>
          <a:prstGeom prst="rect">
            <a:avLst/>
          </a:prstGeom>
          <a:noFill/>
          <a:ln/>
        </p:spPr>
        <p:txBody>
          <a:bodyPr wrap="square" lIns="0" tIns="0" rIns="0" bIns="0"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8" name="Text 6"/>
          <p:cNvSpPr/>
          <p:nvPr/>
        </p:nvSpPr>
        <p:spPr>
          <a:xfrm>
            <a:off x="640080" y="1645920"/>
            <a:ext cx="7315200" cy="548640"/>
          </a:xfrm>
          <a:prstGeom prst="rect">
            <a:avLst/>
          </a:prstGeom>
          <a:noFill/>
          <a:ln/>
        </p:spPr>
        <p:txBody>
          <a:bodyPr wrap="square" lIns="0" tIns="0" rIns="0" bIns="0" rtlCol="0" anchor="ctr"/>
          <a:lstStyle/>
          <a:p>
            <a:pPr indent="0" marL="0">
              <a:buNone/>
            </a:pPr>
            <a:r>
              <a:rPr lang="en-US" sz="2600" spc="300" kern="0" dirty="0">
                <a:solidFill>
                  <a:srgbClr val="CBD5E1"/>
                </a:solidFill>
                <a:latin typeface="Calibri" pitchFamily="34" charset="0"/>
                <a:ea typeface="Calibri" pitchFamily="34" charset="-122"/>
                <a:cs typeface="Calibri" pitchFamily="34" charset="-120"/>
              </a:rPr>
              <a:t>Financial Intelligence Platform</a:t>
            </a:r>
            <a:endParaRPr lang="en-US" sz="2600" dirty="0"/>
          </a:p>
        </p:txBody>
      </p:sp>
      <p:sp>
        <p:nvSpPr>
          <p:cNvPr id="9" name="Text 7"/>
          <p:cNvSpPr/>
          <p:nvPr/>
        </p:nvSpPr>
        <p:spPr>
          <a:xfrm>
            <a:off x="640080" y="2240280"/>
            <a:ext cx="7315200" cy="457200"/>
          </a:xfrm>
          <a:prstGeom prst="rect">
            <a:avLst/>
          </a:prstGeom>
          <a:noFill/>
          <a:ln/>
        </p:spPr>
        <p:txBody>
          <a:bodyPr wrap="square" lIns="0" tIns="0" rIns="0" bIns="0" rtlCol="0" anchor="ctr"/>
          <a:lstStyle/>
          <a:p>
            <a:pPr indent="0" marL="0">
              <a:buNone/>
            </a:pPr>
            <a:r>
              <a:rPr lang="en-US" sz="2200" dirty="0">
                <a:solidFill>
                  <a:srgbClr val="C9A84C"/>
                </a:solidFill>
                <a:latin typeface="Calibri" pitchFamily="34" charset="0"/>
                <a:ea typeface="Calibri" pitchFamily="34" charset="-122"/>
                <a:cs typeface="Calibri" pitchFamily="34" charset="-120"/>
              </a:rPr>
              <a:t>منصة الذكاء المالي المتكامل</a:t>
            </a:r>
            <a:endParaRPr lang="en-US" sz="2200" dirty="0"/>
          </a:p>
        </p:txBody>
      </p:sp>
      <p:sp>
        <p:nvSpPr>
          <p:cNvPr id="10" name="Shape 8"/>
          <p:cNvSpPr/>
          <p:nvPr/>
        </p:nvSpPr>
        <p:spPr>
          <a:xfrm>
            <a:off x="640080" y="2834640"/>
            <a:ext cx="4114800" cy="27432"/>
          </a:xfrm>
          <a:prstGeom prst="rect">
            <a:avLst/>
          </a:prstGeom>
          <a:solidFill>
            <a:srgbClr val="C9A84C"/>
          </a:solidFill>
          <a:ln/>
        </p:spPr>
      </p:sp>
      <p:sp>
        <p:nvSpPr>
          <p:cNvPr id="11" name="Text 9"/>
          <p:cNvSpPr/>
          <p:nvPr/>
        </p:nvSpPr>
        <p:spPr>
          <a:xfrm>
            <a:off x="640080" y="3017520"/>
            <a:ext cx="640080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AI-Powered  ·  Saudi Arabia  ·  SOCPA &amp; IFRS Compliant</a:t>
            </a: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مدعومة بالذكاء الاصطناعي · متوافقة مع المعايير السعودية والدولية</a:t>
            </a:r>
            <a:endParaRPr lang="en-US" sz="1200" dirty="0"/>
          </a:p>
        </p:txBody>
      </p:sp>
      <p:sp>
        <p:nvSpPr>
          <p:cNvPr id="12" name="Shape 10"/>
          <p:cNvSpPr/>
          <p:nvPr/>
        </p:nvSpPr>
        <p:spPr>
          <a:xfrm>
            <a:off x="0" y="3840480"/>
            <a:ext cx="9144000" cy="731520"/>
          </a:xfrm>
          <a:prstGeom prst="rect">
            <a:avLst/>
          </a:prstGeom>
          <a:solidFill>
            <a:srgbClr val="162940"/>
          </a:solidFill>
          <a:ln/>
        </p:spPr>
      </p:sp>
      <p:sp>
        <p:nvSpPr>
          <p:cNvPr id="13" name="Text 11"/>
          <p:cNvSpPr/>
          <p:nvPr/>
        </p:nvSpPr>
        <p:spPr>
          <a:xfrm>
            <a:off x="45720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30+</a:t>
            </a:r>
            <a:endParaRPr lang="en-US" sz="2400" dirty="0"/>
          </a:p>
        </p:txBody>
      </p:sp>
      <p:sp>
        <p:nvSpPr>
          <p:cNvPr id="14" name="Text 12"/>
          <p:cNvSpPr/>
          <p:nvPr/>
        </p:nvSpPr>
        <p:spPr>
          <a:xfrm>
            <a:off x="137160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Endpoints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نقطة API</a:t>
            </a:r>
            <a:endParaRPr lang="en-US" sz="900" dirty="0"/>
          </a:p>
        </p:txBody>
      </p:sp>
      <p:sp>
        <p:nvSpPr>
          <p:cNvPr id="15" name="Shape 13"/>
          <p:cNvSpPr/>
          <p:nvPr/>
        </p:nvSpPr>
        <p:spPr>
          <a:xfrm>
            <a:off x="2514600" y="3977640"/>
            <a:ext cx="18288" cy="457200"/>
          </a:xfrm>
          <a:prstGeom prst="rect">
            <a:avLst/>
          </a:prstGeom>
          <a:solidFill>
            <a:srgbClr val="1C3254"/>
          </a:solidFill>
          <a:ln/>
        </p:spPr>
      </p:sp>
      <p:sp>
        <p:nvSpPr>
          <p:cNvPr id="16" name="Text 14"/>
          <p:cNvSpPr/>
          <p:nvPr/>
        </p:nvSpPr>
        <p:spPr>
          <a:xfrm>
            <a:off x="265176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11</a:t>
            </a:r>
            <a:endParaRPr lang="en-US" sz="2400" dirty="0"/>
          </a:p>
        </p:txBody>
      </p:sp>
      <p:sp>
        <p:nvSpPr>
          <p:cNvPr id="17" name="Text 15"/>
          <p:cNvSpPr/>
          <p:nvPr/>
        </p:nvSpPr>
        <p:spPr>
          <a:xfrm>
            <a:off x="356616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 Modules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وحدة ذكاء</a:t>
            </a:r>
            <a:endParaRPr lang="en-US" sz="900" dirty="0"/>
          </a:p>
        </p:txBody>
      </p:sp>
      <p:sp>
        <p:nvSpPr>
          <p:cNvPr id="18" name="Shape 16"/>
          <p:cNvSpPr/>
          <p:nvPr/>
        </p:nvSpPr>
        <p:spPr>
          <a:xfrm>
            <a:off x="4709160" y="3977640"/>
            <a:ext cx="18288" cy="457200"/>
          </a:xfrm>
          <a:prstGeom prst="rect">
            <a:avLst/>
          </a:prstGeom>
          <a:solidFill>
            <a:srgbClr val="1C3254"/>
          </a:solidFill>
          <a:ln/>
        </p:spPr>
      </p:sp>
      <p:sp>
        <p:nvSpPr>
          <p:cNvPr id="19" name="Text 17"/>
          <p:cNvSpPr/>
          <p:nvPr/>
        </p:nvSpPr>
        <p:spPr>
          <a:xfrm>
            <a:off x="484632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55+</a:t>
            </a:r>
            <a:endParaRPr lang="en-US" sz="2400" dirty="0"/>
          </a:p>
        </p:txBody>
      </p:sp>
      <p:sp>
        <p:nvSpPr>
          <p:cNvPr id="20" name="Text 18"/>
          <p:cNvSpPr/>
          <p:nvPr/>
        </p:nvSpPr>
        <p:spPr>
          <a:xfrm>
            <a:off x="576072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UI Screens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شاشة</a:t>
            </a:r>
            <a:endParaRPr lang="en-US" sz="900" dirty="0"/>
          </a:p>
        </p:txBody>
      </p:sp>
      <p:sp>
        <p:nvSpPr>
          <p:cNvPr id="21" name="Shape 19"/>
          <p:cNvSpPr/>
          <p:nvPr/>
        </p:nvSpPr>
        <p:spPr>
          <a:xfrm>
            <a:off x="6903720" y="3977640"/>
            <a:ext cx="18288" cy="457200"/>
          </a:xfrm>
          <a:prstGeom prst="rect">
            <a:avLst/>
          </a:prstGeom>
          <a:solidFill>
            <a:srgbClr val="1C3254"/>
          </a:solidFill>
          <a:ln/>
        </p:spPr>
      </p:sp>
      <p:sp>
        <p:nvSpPr>
          <p:cNvPr id="22" name="Text 20"/>
          <p:cNvSpPr/>
          <p:nvPr/>
        </p:nvSpPr>
        <p:spPr>
          <a:xfrm>
            <a:off x="704088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93%</a:t>
            </a:r>
            <a:endParaRPr lang="en-US" sz="2400" dirty="0"/>
          </a:p>
        </p:txBody>
      </p:sp>
      <p:sp>
        <p:nvSpPr>
          <p:cNvPr id="23" name="Text 21"/>
          <p:cNvSpPr/>
          <p:nvPr/>
        </p:nvSpPr>
        <p:spPr>
          <a:xfrm>
            <a:off x="795528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Automation</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أتمتة</a:t>
            </a:r>
            <a:endParaRPr lang="en-US" sz="900" dirty="0"/>
          </a:p>
        </p:txBody>
      </p:sp>
      <p:sp>
        <p:nvSpPr>
          <p:cNvPr id="24" name="Shape 22"/>
          <p:cNvSpPr/>
          <p:nvPr/>
        </p:nvSpPr>
        <p:spPr>
          <a:xfrm>
            <a:off x="0" y="4709160"/>
            <a:ext cx="9144000" cy="434340"/>
          </a:xfrm>
          <a:prstGeom prst="rect">
            <a:avLst/>
          </a:prstGeom>
          <a:solidFill>
            <a:srgbClr val="0A1220"/>
          </a:solidFill>
          <a:ln/>
        </p:spPr>
      </p:sp>
      <p:sp>
        <p:nvSpPr>
          <p:cNvPr id="25"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6"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 / 19</a:t>
            </a:r>
            <a:endParaRPr lang="en-US" sz="750" dirty="0"/>
          </a:p>
        </p:txBody>
      </p:sp>
      <p:sp>
        <p:nvSpPr>
          <p:cNvPr id="27"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616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PROBLEM  ·  المشكلة</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Saudi Arabia's Financial Sector</a:t>
            </a:r>
            <a:endParaRPr lang="en-US" sz="2800" dirty="0"/>
          </a:p>
          <a:p>
            <a:pPr indent="0" marL="0">
              <a:buNone/>
            </a:pPr>
            <a:r>
              <a:rPr lang="en-US" sz="2800" b="1" dirty="0">
                <a:solidFill>
                  <a:srgbClr val="F96167"/>
                </a:solidFill>
                <a:latin typeface="Calibri" pitchFamily="34" charset="0"/>
                <a:ea typeface="Calibri" pitchFamily="34" charset="-122"/>
                <a:cs typeface="Calibri" pitchFamily="34" charset="-120"/>
              </a:rPr>
              <a:t>Deserves Smarter Tools</a:t>
            </a:r>
            <a:endParaRPr lang="en-US" sz="2800" dirty="0"/>
          </a:p>
          <a:p>
            <a:pPr indent="0" marL="0">
              <a:buNone/>
            </a:pPr>
            <a:r>
              <a:rPr lang="en-US" sz="1300" dirty="0">
                <a:solidFill>
                  <a:srgbClr val="94A3B8"/>
                </a:solidFill>
                <a:latin typeface="Calibri" pitchFamily="34" charset="0"/>
                <a:ea typeface="Calibri" pitchFamily="34" charset="-122"/>
                <a:cs typeface="Calibri" pitchFamily="34" charset="-120"/>
              </a:rPr>
              <a:t>يستحق القطاع المالي السعودي أدوات أكثر ذكاءً</a:t>
            </a:r>
            <a:endParaRPr lang="en-US" sz="2800" dirty="0"/>
          </a:p>
        </p:txBody>
      </p:sp>
      <p:sp>
        <p:nvSpPr>
          <p:cNvPr id="5" name="Shape 3"/>
          <p:cNvSpPr/>
          <p:nvPr/>
        </p:nvSpPr>
        <p:spPr>
          <a:xfrm>
            <a:off x="45720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691640"/>
            <a:ext cx="3977640" cy="45720"/>
          </a:xfrm>
          <a:prstGeom prst="rect">
            <a:avLst/>
          </a:prstGeom>
          <a:solidFill>
            <a:srgbClr val="F96167"/>
          </a:solidFill>
          <a:ln/>
        </p:spPr>
      </p:sp>
      <p:sp>
        <p:nvSpPr>
          <p:cNvPr id="7" name="Shape 5"/>
          <p:cNvSpPr/>
          <p:nvPr/>
        </p:nvSpPr>
        <p:spPr>
          <a:xfrm>
            <a:off x="594360" y="1874520"/>
            <a:ext cx="411480" cy="411480"/>
          </a:xfrm>
          <a:prstGeom prst="ellipse">
            <a:avLst/>
          </a:prstGeom>
          <a:solidFill>
            <a:srgbClr val="F96167"/>
          </a:solidFill>
          <a:ln/>
        </p:spPr>
      </p:sp>
      <p:sp>
        <p:nvSpPr>
          <p:cNvPr id="8" name="Text 6"/>
          <p:cNvSpPr/>
          <p:nvPr/>
        </p:nvSpPr>
        <p:spPr>
          <a:xfrm>
            <a:off x="59436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9" name="Text 7"/>
          <p:cNvSpPr/>
          <p:nvPr/>
        </p:nvSpPr>
        <p:spPr>
          <a:xfrm>
            <a:off x="114300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&amp; Error-Prone</a:t>
            </a:r>
            <a:endParaRPr lang="en-US" sz="1300" dirty="0"/>
          </a:p>
        </p:txBody>
      </p:sp>
      <p:sp>
        <p:nvSpPr>
          <p:cNvPr id="10" name="Text 8"/>
          <p:cNvSpPr/>
          <p:nvPr/>
        </p:nvSpPr>
        <p:spPr>
          <a:xfrm>
            <a:off x="1143000" y="2057400"/>
            <a:ext cx="31089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عمل يدوي ونسبة أخطاء عالية</a:t>
            </a:r>
            <a:endParaRPr lang="en-US" sz="1000" dirty="0"/>
          </a:p>
        </p:txBody>
      </p:sp>
      <p:sp>
        <p:nvSpPr>
          <p:cNvPr id="11" name="Text 9"/>
          <p:cNvSpPr/>
          <p:nvPr/>
        </p:nvSpPr>
        <p:spPr>
          <a:xfrm>
            <a:off x="64008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80% of Saudi SMEs still use Excel. Average 15-25% error rate in manual reports.</a:t>
            </a:r>
            <a:endParaRPr lang="en-US" sz="1000" dirty="0"/>
          </a:p>
        </p:txBody>
      </p:sp>
      <p:sp>
        <p:nvSpPr>
          <p:cNvPr id="12" name="Shape 10"/>
          <p:cNvSpPr/>
          <p:nvPr/>
        </p:nvSpPr>
        <p:spPr>
          <a:xfrm>
            <a:off x="475488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691640"/>
            <a:ext cx="3977640" cy="45720"/>
          </a:xfrm>
          <a:prstGeom prst="rect">
            <a:avLst/>
          </a:prstGeom>
          <a:solidFill>
            <a:srgbClr val="C9A84C"/>
          </a:solidFill>
          <a:ln/>
        </p:spPr>
      </p:sp>
      <p:sp>
        <p:nvSpPr>
          <p:cNvPr id="14" name="Shape 12"/>
          <p:cNvSpPr/>
          <p:nvPr/>
        </p:nvSpPr>
        <p:spPr>
          <a:xfrm>
            <a:off x="4892040" y="1874520"/>
            <a:ext cx="411480" cy="411480"/>
          </a:xfrm>
          <a:prstGeom prst="ellipse">
            <a:avLst/>
          </a:prstGeom>
          <a:solidFill>
            <a:srgbClr val="C9A84C"/>
          </a:solidFill>
          <a:ln/>
        </p:spPr>
      </p:sp>
      <p:sp>
        <p:nvSpPr>
          <p:cNvPr id="15" name="Text 13"/>
          <p:cNvSpPr/>
          <p:nvPr/>
        </p:nvSpPr>
        <p:spPr>
          <a:xfrm>
            <a:off x="489204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X</a:t>
            </a:r>
            <a:endParaRPr lang="en-US" sz="1800" dirty="0"/>
          </a:p>
        </p:txBody>
      </p:sp>
      <p:sp>
        <p:nvSpPr>
          <p:cNvPr id="16" name="Text 14"/>
          <p:cNvSpPr/>
          <p:nvPr/>
        </p:nvSpPr>
        <p:spPr>
          <a:xfrm>
            <a:off x="544068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Arabic AI Standards</a:t>
            </a:r>
            <a:endParaRPr lang="en-US" sz="1300" dirty="0"/>
          </a:p>
        </p:txBody>
      </p:sp>
      <p:sp>
        <p:nvSpPr>
          <p:cNvPr id="17" name="Text 15"/>
          <p:cNvSpPr/>
          <p:nvPr/>
        </p:nvSpPr>
        <p:spPr>
          <a:xfrm>
            <a:off x="5440680" y="2057400"/>
            <a:ext cx="31089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غياب الذكاء الاصطناعي المحاسبي العربي</a:t>
            </a:r>
            <a:endParaRPr lang="en-US" sz="1000" dirty="0"/>
          </a:p>
        </p:txBody>
      </p:sp>
      <p:sp>
        <p:nvSpPr>
          <p:cNvPr id="18" name="Text 16"/>
          <p:cNvSpPr/>
          <p:nvPr/>
        </p:nvSpPr>
        <p:spPr>
          <a:xfrm>
            <a:off x="493776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platform supports SOCPA + ZAKAT + VAT analysis in Arabic natively.</a:t>
            </a:r>
            <a:endParaRPr lang="en-US" sz="1000" dirty="0"/>
          </a:p>
        </p:txBody>
      </p:sp>
      <p:sp>
        <p:nvSpPr>
          <p:cNvPr id="19" name="Shape 17"/>
          <p:cNvSpPr/>
          <p:nvPr/>
        </p:nvSpPr>
        <p:spPr>
          <a:xfrm>
            <a:off x="45720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063240"/>
            <a:ext cx="3977640" cy="45720"/>
          </a:xfrm>
          <a:prstGeom prst="rect">
            <a:avLst/>
          </a:prstGeom>
          <a:solidFill>
            <a:srgbClr val="0891B2"/>
          </a:solidFill>
          <a:ln/>
        </p:spPr>
      </p:sp>
      <p:sp>
        <p:nvSpPr>
          <p:cNvPr id="21" name="Shape 19"/>
          <p:cNvSpPr/>
          <p:nvPr/>
        </p:nvSpPr>
        <p:spPr>
          <a:xfrm>
            <a:off x="594360" y="3246120"/>
            <a:ext cx="411480" cy="411480"/>
          </a:xfrm>
          <a:prstGeom prst="ellipse">
            <a:avLst/>
          </a:prstGeom>
          <a:solidFill>
            <a:srgbClr val="0891B2"/>
          </a:solidFill>
          <a:ln/>
        </p:spPr>
      </p:sp>
      <p:sp>
        <p:nvSpPr>
          <p:cNvPr id="22" name="Text 20"/>
          <p:cNvSpPr/>
          <p:nvPr/>
        </p:nvSpPr>
        <p:spPr>
          <a:xfrm>
            <a:off x="59436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23" name="Text 21"/>
          <p:cNvSpPr/>
          <p:nvPr/>
        </p:nvSpPr>
        <p:spPr>
          <a:xfrm>
            <a:off x="114300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Readiness Metrics</a:t>
            </a:r>
            <a:endParaRPr lang="en-US" sz="1300" dirty="0"/>
          </a:p>
        </p:txBody>
      </p:sp>
      <p:sp>
        <p:nvSpPr>
          <p:cNvPr id="24" name="Text 22"/>
          <p:cNvSpPr/>
          <p:nvPr/>
        </p:nvSpPr>
        <p:spPr>
          <a:xfrm>
            <a:off x="1143000" y="3429000"/>
            <a:ext cx="31089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لا مقاييس جاهزية للتمويل</a:t>
            </a:r>
            <a:endParaRPr lang="en-US" sz="1000" dirty="0"/>
          </a:p>
        </p:txBody>
      </p:sp>
      <p:sp>
        <p:nvSpPr>
          <p:cNvPr id="25" name="Text 23"/>
          <p:cNvSpPr/>
          <p:nvPr/>
        </p:nvSpPr>
        <p:spPr>
          <a:xfrm>
            <a:off x="64008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Startups apply for funding blindly — no scoring, no gap analysis, no benchmarks.</a:t>
            </a:r>
            <a:endParaRPr lang="en-US" sz="1000" dirty="0"/>
          </a:p>
        </p:txBody>
      </p:sp>
      <p:sp>
        <p:nvSpPr>
          <p:cNvPr id="26" name="Shape 24"/>
          <p:cNvSpPr/>
          <p:nvPr/>
        </p:nvSpPr>
        <p:spPr>
          <a:xfrm>
            <a:off x="475488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754880" y="3063240"/>
            <a:ext cx="3977640" cy="45720"/>
          </a:xfrm>
          <a:prstGeom prst="rect">
            <a:avLst/>
          </a:prstGeom>
          <a:solidFill>
            <a:srgbClr val="F87171"/>
          </a:solidFill>
          <a:ln/>
        </p:spPr>
      </p:sp>
      <p:sp>
        <p:nvSpPr>
          <p:cNvPr id="28" name="Shape 26"/>
          <p:cNvSpPr/>
          <p:nvPr/>
        </p:nvSpPr>
        <p:spPr>
          <a:xfrm>
            <a:off x="4892040" y="3246120"/>
            <a:ext cx="411480" cy="411480"/>
          </a:xfrm>
          <a:prstGeom prst="ellipse">
            <a:avLst/>
          </a:prstGeom>
          <a:solidFill>
            <a:srgbClr val="F87171"/>
          </a:solidFill>
          <a:ln/>
        </p:spPr>
      </p:sp>
      <p:sp>
        <p:nvSpPr>
          <p:cNvPr id="29" name="Text 27"/>
          <p:cNvSpPr/>
          <p:nvPr/>
        </p:nvSpPr>
        <p:spPr>
          <a:xfrm>
            <a:off x="489204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30" name="Text 28"/>
          <p:cNvSpPr/>
          <p:nvPr/>
        </p:nvSpPr>
        <p:spPr>
          <a:xfrm>
            <a:off x="544068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 Cost, Low Access</a:t>
            </a:r>
            <a:endParaRPr lang="en-US" sz="1300" dirty="0"/>
          </a:p>
        </p:txBody>
      </p:sp>
      <p:sp>
        <p:nvSpPr>
          <p:cNvPr id="31" name="Text 29"/>
          <p:cNvSpPr/>
          <p:nvPr/>
        </p:nvSpPr>
        <p:spPr>
          <a:xfrm>
            <a:off x="5440680" y="3429000"/>
            <a:ext cx="3108960" cy="182880"/>
          </a:xfrm>
          <a:prstGeom prst="rect">
            <a:avLst/>
          </a:prstGeom>
          <a:noFill/>
          <a:ln/>
        </p:spPr>
        <p:txBody>
          <a:bodyPr wrap="square" lIns="0" tIns="0" rIns="0" bIns="0" rtlCol="0" anchor="ctr"/>
          <a:lstStyle/>
          <a:p>
            <a:pPr indent="0" marL="0">
              <a:buNone/>
            </a:pPr>
            <a:r>
              <a:rPr lang="en-US" sz="1000" dirty="0">
                <a:solidFill>
                  <a:srgbClr val="F87171"/>
                </a:solidFill>
                <a:latin typeface="Calibri" pitchFamily="34" charset="0"/>
                <a:ea typeface="Calibri" pitchFamily="34" charset="-122"/>
                <a:cs typeface="Calibri" pitchFamily="34" charset="-120"/>
              </a:rPr>
              <a:t>تكلفة عالية وصعوبة الوصول</a:t>
            </a:r>
            <a:endParaRPr lang="en-US" sz="1000" dirty="0"/>
          </a:p>
        </p:txBody>
      </p:sp>
      <p:sp>
        <p:nvSpPr>
          <p:cNvPr id="32" name="Text 30"/>
          <p:cNvSpPr/>
          <p:nvPr/>
        </p:nvSpPr>
        <p:spPr>
          <a:xfrm>
            <a:off x="493776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3K-10K per financial review. 3-4 weeks turnaround. SMEs priced out.</a:t>
            </a:r>
            <a:endParaRPr lang="en-US" sz="1000" dirty="0"/>
          </a:p>
        </p:txBody>
      </p:sp>
      <p:sp>
        <p:nvSpPr>
          <p:cNvPr id="33" name="Shape 31"/>
          <p:cNvSpPr/>
          <p:nvPr/>
        </p:nvSpPr>
        <p:spPr>
          <a:xfrm>
            <a:off x="0" y="4709160"/>
            <a:ext cx="9144000" cy="434340"/>
          </a:xfrm>
          <a:prstGeom prst="rect">
            <a:avLst/>
          </a:prstGeom>
          <a:solidFill>
            <a:srgbClr val="0A1220"/>
          </a:solidFill>
          <a:ln/>
        </p:spPr>
      </p:sp>
      <p:sp>
        <p:nvSpPr>
          <p:cNvPr id="34" name="Text 3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5" name="Text 3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 / 19</a:t>
            </a:r>
            <a:endParaRPr lang="en-US" sz="750" dirty="0"/>
          </a:p>
        </p:txBody>
      </p:sp>
      <p:sp>
        <p:nvSpPr>
          <p:cNvPr id="36" name="Text 3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SOLUTION  ·  الحل</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APEX — Your AI Financial Brain</a:t>
            </a:r>
            <a:endParaRPr lang="en-US" sz="2800" dirty="0"/>
          </a:p>
          <a:p>
            <a:pPr indent="0" marL="0">
              <a:buNone/>
            </a:pPr>
            <a:r>
              <a:rPr lang="en-US" sz="1400" dirty="0">
                <a:solidFill>
                  <a:srgbClr val="C9A84C"/>
                </a:solidFill>
                <a:latin typeface="Calibri" pitchFamily="34" charset="0"/>
                <a:ea typeface="Calibri" pitchFamily="34" charset="-122"/>
                <a:cs typeface="Calibri" pitchFamily="34" charset="-120"/>
              </a:rPr>
              <a:t>المحلل المالي الذكي — من الرفع حتى التقرير في دقائق</a:t>
            </a:r>
            <a:endParaRPr lang="en-US" sz="2800" dirty="0"/>
          </a:p>
        </p:txBody>
      </p:sp>
      <p:sp>
        <p:nvSpPr>
          <p:cNvPr id="5" name="Shape 3"/>
          <p:cNvSpPr/>
          <p:nvPr/>
        </p:nvSpPr>
        <p:spPr>
          <a:xfrm>
            <a:off x="32004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508760"/>
            <a:ext cx="1874520" cy="45720"/>
          </a:xfrm>
          <a:prstGeom prst="rect">
            <a:avLst/>
          </a:prstGeom>
          <a:solidFill>
            <a:srgbClr val="0891B2"/>
          </a:solidFill>
          <a:ln/>
        </p:spPr>
      </p:sp>
      <p:sp>
        <p:nvSpPr>
          <p:cNvPr id="7" name="Text 5"/>
          <p:cNvSpPr/>
          <p:nvPr/>
        </p:nvSpPr>
        <p:spPr>
          <a:xfrm>
            <a:off x="457200" y="1645920"/>
            <a:ext cx="640080" cy="411480"/>
          </a:xfrm>
          <a:prstGeom prst="rect">
            <a:avLst/>
          </a:prstGeom>
          <a:noFill/>
          <a:ln/>
        </p:spPr>
        <p:txBody>
          <a:bodyPr wrap="square" lIns="0" tIns="0" rIns="0" bIns="0" rtlCol="0" anchor="ctr"/>
          <a:lstStyle/>
          <a:p>
            <a:pPr indent="0" marL="0">
              <a:buNone/>
            </a:pPr>
            <a:r>
              <a:rPr lang="en-US" sz="2800" dirty="0">
                <a:solidFill>
                  <a:srgbClr val="0891B2"/>
                </a:solidFill>
                <a:latin typeface="Arial Black" pitchFamily="34" charset="0"/>
                <a:ea typeface="Arial Black" pitchFamily="34" charset="-122"/>
                <a:cs typeface="Arial Black" pitchFamily="34" charset="-120"/>
              </a:rPr>
              <a:t>01</a:t>
            </a:r>
            <a:endParaRPr lang="en-US" sz="2800" dirty="0"/>
          </a:p>
        </p:txBody>
      </p:sp>
      <p:sp>
        <p:nvSpPr>
          <p:cNvPr id="8" name="Text 6"/>
          <p:cNvSpPr/>
          <p:nvPr/>
        </p:nvSpPr>
        <p:spPr>
          <a:xfrm>
            <a:off x="45720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Chart of</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Accounts</a:t>
            </a:r>
            <a:endParaRPr lang="en-US" sz="1600" dirty="0"/>
          </a:p>
        </p:txBody>
      </p:sp>
      <p:sp>
        <p:nvSpPr>
          <p:cNvPr id="9" name="Text 7"/>
          <p:cNvSpPr/>
          <p:nvPr/>
        </p:nvSpPr>
        <p:spPr>
          <a:xfrm>
            <a:off x="45720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شجرة الحسابات</a:t>
            </a:r>
            <a:endParaRPr lang="en-US" sz="1200" dirty="0"/>
          </a:p>
        </p:txBody>
      </p:sp>
      <p:sp>
        <p:nvSpPr>
          <p:cNvPr id="10" name="Text 8"/>
          <p:cNvSpPr/>
          <p:nvPr/>
        </p:nvSpPr>
        <p:spPr>
          <a:xfrm>
            <a:off x="45720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Upload &amp; AI-classify</a:t>
            </a:r>
            <a:endParaRPr lang="en-US" sz="1000" dirty="0"/>
          </a:p>
        </p:txBody>
      </p:sp>
      <p:sp>
        <p:nvSpPr>
          <p:cNvPr id="11" name="Text 9"/>
          <p:cNvSpPr/>
          <p:nvPr/>
        </p:nvSpPr>
        <p:spPr>
          <a:xfrm>
            <a:off x="214884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2" name="Shape 10"/>
          <p:cNvSpPr/>
          <p:nvPr/>
        </p:nvSpPr>
        <p:spPr>
          <a:xfrm>
            <a:off x="251460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508760"/>
            <a:ext cx="1874520" cy="45720"/>
          </a:xfrm>
          <a:prstGeom prst="rect">
            <a:avLst/>
          </a:prstGeom>
          <a:solidFill>
            <a:srgbClr val="22D3EE"/>
          </a:solidFill>
          <a:ln/>
        </p:spPr>
      </p:sp>
      <p:sp>
        <p:nvSpPr>
          <p:cNvPr id="14" name="Text 12"/>
          <p:cNvSpPr/>
          <p:nvPr/>
        </p:nvSpPr>
        <p:spPr>
          <a:xfrm>
            <a:off x="2651760" y="1645920"/>
            <a:ext cx="640080" cy="411480"/>
          </a:xfrm>
          <a:prstGeom prst="rect">
            <a:avLst/>
          </a:prstGeom>
          <a:noFill/>
          <a:ln/>
        </p:spPr>
        <p:txBody>
          <a:bodyPr wrap="square" lIns="0" tIns="0" rIns="0" bIns="0" rtlCol="0" anchor="ctr"/>
          <a:lstStyle/>
          <a:p>
            <a:pPr indent="0" marL="0">
              <a:buNone/>
            </a:pPr>
            <a:r>
              <a:rPr lang="en-US" sz="2800" dirty="0">
                <a:solidFill>
                  <a:srgbClr val="22D3EE"/>
                </a:solidFill>
                <a:latin typeface="Arial Black" pitchFamily="34" charset="0"/>
                <a:ea typeface="Arial Black" pitchFamily="34" charset="-122"/>
                <a:cs typeface="Arial Black" pitchFamily="34" charset="-120"/>
              </a:rPr>
              <a:t>02</a:t>
            </a:r>
            <a:endParaRPr lang="en-US" sz="2800" dirty="0"/>
          </a:p>
        </p:txBody>
      </p:sp>
      <p:sp>
        <p:nvSpPr>
          <p:cNvPr id="15" name="Text 13"/>
          <p:cNvSpPr/>
          <p:nvPr/>
        </p:nvSpPr>
        <p:spPr>
          <a:xfrm>
            <a:off x="265176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Balance</a:t>
            </a:r>
            <a:endParaRPr lang="en-US" sz="1600" dirty="0"/>
          </a:p>
        </p:txBody>
      </p:sp>
      <p:sp>
        <p:nvSpPr>
          <p:cNvPr id="16" name="Text 14"/>
          <p:cNvSpPr/>
          <p:nvPr/>
        </p:nvSpPr>
        <p:spPr>
          <a:xfrm>
            <a:off x="265176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ميزان المراجعة</a:t>
            </a:r>
            <a:endParaRPr lang="en-US" sz="1200" dirty="0"/>
          </a:p>
        </p:txBody>
      </p:sp>
      <p:sp>
        <p:nvSpPr>
          <p:cNvPr id="17" name="Text 15"/>
          <p:cNvSpPr/>
          <p:nvPr/>
        </p:nvSpPr>
        <p:spPr>
          <a:xfrm>
            <a:off x="265176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Bind, validate &amp; detect</a:t>
            </a:r>
            <a:endParaRPr lang="en-US" sz="1000" dirty="0"/>
          </a:p>
        </p:txBody>
      </p:sp>
      <p:sp>
        <p:nvSpPr>
          <p:cNvPr id="18" name="Text 16"/>
          <p:cNvSpPr/>
          <p:nvPr/>
        </p:nvSpPr>
        <p:spPr>
          <a:xfrm>
            <a:off x="434340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9" name="Shape 17"/>
          <p:cNvSpPr/>
          <p:nvPr/>
        </p:nvSpPr>
        <p:spPr>
          <a:xfrm>
            <a:off x="470916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508760"/>
            <a:ext cx="1874520" cy="45720"/>
          </a:xfrm>
          <a:prstGeom prst="rect">
            <a:avLst/>
          </a:prstGeom>
          <a:solidFill>
            <a:srgbClr val="C9A84C"/>
          </a:solidFill>
          <a:ln/>
        </p:spPr>
      </p:sp>
      <p:sp>
        <p:nvSpPr>
          <p:cNvPr id="21" name="Text 19"/>
          <p:cNvSpPr/>
          <p:nvPr/>
        </p:nvSpPr>
        <p:spPr>
          <a:xfrm>
            <a:off x="4846320" y="1645920"/>
            <a:ext cx="640080" cy="411480"/>
          </a:xfrm>
          <a:prstGeom prst="rect">
            <a:avLst/>
          </a:prstGeom>
          <a:noFill/>
          <a:ln/>
        </p:spPr>
        <p:txBody>
          <a:bodyPr wrap="square" lIns="0" tIns="0" rIns="0" bIns="0" rtlCol="0" anchor="ctr"/>
          <a:lstStyle/>
          <a:p>
            <a:pPr indent="0" marL="0">
              <a:buNone/>
            </a:pPr>
            <a:r>
              <a:rPr lang="en-US" sz="2800" dirty="0">
                <a:solidFill>
                  <a:srgbClr val="C9A84C"/>
                </a:solidFill>
                <a:latin typeface="Arial Black" pitchFamily="34" charset="0"/>
                <a:ea typeface="Arial Black" pitchFamily="34" charset="-122"/>
                <a:cs typeface="Arial Black" pitchFamily="34" charset="-120"/>
              </a:rPr>
              <a:t>03</a:t>
            </a:r>
            <a:endParaRPr lang="en-US" sz="2800" dirty="0"/>
          </a:p>
        </p:txBody>
      </p:sp>
      <p:sp>
        <p:nvSpPr>
          <p:cNvPr id="22" name="Text 20"/>
          <p:cNvSpPr/>
          <p:nvPr/>
        </p:nvSpPr>
        <p:spPr>
          <a:xfrm>
            <a:off x="484632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Statements</a:t>
            </a:r>
            <a:endParaRPr lang="en-US" sz="1600" dirty="0"/>
          </a:p>
        </p:txBody>
      </p:sp>
      <p:sp>
        <p:nvSpPr>
          <p:cNvPr id="23" name="Text 21"/>
          <p:cNvSpPr/>
          <p:nvPr/>
        </p:nvSpPr>
        <p:spPr>
          <a:xfrm>
            <a:off x="484632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القوائم المالية</a:t>
            </a:r>
            <a:endParaRPr lang="en-US" sz="1200" dirty="0"/>
          </a:p>
        </p:txBody>
      </p:sp>
      <p:sp>
        <p:nvSpPr>
          <p:cNvPr id="24" name="Text 22"/>
          <p:cNvSpPr/>
          <p:nvPr/>
        </p:nvSpPr>
        <p:spPr>
          <a:xfrm>
            <a:off x="484632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Auto-generate IFRS</a:t>
            </a:r>
            <a:endParaRPr lang="en-US" sz="1000" dirty="0"/>
          </a:p>
        </p:txBody>
      </p:sp>
      <p:sp>
        <p:nvSpPr>
          <p:cNvPr id="25" name="Text 23"/>
          <p:cNvSpPr/>
          <p:nvPr/>
        </p:nvSpPr>
        <p:spPr>
          <a:xfrm>
            <a:off x="653796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26" name="Shape 24"/>
          <p:cNvSpPr/>
          <p:nvPr/>
        </p:nvSpPr>
        <p:spPr>
          <a:xfrm>
            <a:off x="690372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508760"/>
            <a:ext cx="1874520" cy="45720"/>
          </a:xfrm>
          <a:prstGeom prst="rect">
            <a:avLst/>
          </a:prstGeom>
          <a:solidFill>
            <a:srgbClr val="E8CC73"/>
          </a:solidFill>
          <a:ln/>
        </p:spPr>
      </p:sp>
      <p:sp>
        <p:nvSpPr>
          <p:cNvPr id="28" name="Text 26"/>
          <p:cNvSpPr/>
          <p:nvPr/>
        </p:nvSpPr>
        <p:spPr>
          <a:xfrm>
            <a:off x="7040880" y="1645920"/>
            <a:ext cx="640080" cy="411480"/>
          </a:xfrm>
          <a:prstGeom prst="rect">
            <a:avLst/>
          </a:prstGeom>
          <a:noFill/>
          <a:ln/>
        </p:spPr>
        <p:txBody>
          <a:bodyPr wrap="square" lIns="0" tIns="0" rIns="0" bIns="0" rtlCol="0" anchor="ctr"/>
          <a:lstStyle/>
          <a:p>
            <a:pPr indent="0" marL="0">
              <a:buNone/>
            </a:pPr>
            <a:r>
              <a:rPr lang="en-US" sz="2800" dirty="0">
                <a:solidFill>
                  <a:srgbClr val="E8CC73"/>
                </a:solidFill>
                <a:latin typeface="Arial Black" pitchFamily="34" charset="0"/>
                <a:ea typeface="Arial Black" pitchFamily="34" charset="-122"/>
                <a:cs typeface="Arial Black" pitchFamily="34" charset="-120"/>
              </a:rPr>
              <a:t>04</a:t>
            </a:r>
            <a:endParaRPr lang="en-US" sz="2800" dirty="0"/>
          </a:p>
        </p:txBody>
      </p:sp>
      <p:sp>
        <p:nvSpPr>
          <p:cNvPr id="29" name="Text 27"/>
          <p:cNvSpPr/>
          <p:nvPr/>
        </p:nvSpPr>
        <p:spPr>
          <a:xfrm>
            <a:off x="704088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Analysis</a:t>
            </a:r>
            <a:endParaRPr lang="en-US" sz="1600" dirty="0"/>
          </a:p>
        </p:txBody>
      </p:sp>
      <p:sp>
        <p:nvSpPr>
          <p:cNvPr id="30" name="Text 28"/>
          <p:cNvSpPr/>
          <p:nvPr/>
        </p:nvSpPr>
        <p:spPr>
          <a:xfrm>
            <a:off x="704088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التحليل المالي</a:t>
            </a:r>
            <a:endParaRPr lang="en-US" sz="1200" dirty="0"/>
          </a:p>
        </p:txBody>
      </p:sp>
      <p:sp>
        <p:nvSpPr>
          <p:cNvPr id="31" name="Text 29"/>
          <p:cNvSpPr/>
          <p:nvPr/>
        </p:nvSpPr>
        <p:spPr>
          <a:xfrm>
            <a:off x="704088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Ratios &amp; Readiness Score</a:t>
            </a:r>
            <a:endParaRPr lang="en-US" sz="1000" dirty="0"/>
          </a:p>
        </p:txBody>
      </p:sp>
      <p:sp>
        <p:nvSpPr>
          <p:cNvPr id="32" name="Shape 30"/>
          <p:cNvSpPr/>
          <p:nvPr/>
        </p:nvSpPr>
        <p:spPr>
          <a:xfrm>
            <a:off x="457200" y="4251960"/>
            <a:ext cx="8229600" cy="27432"/>
          </a:xfrm>
          <a:prstGeom prst="rect">
            <a:avLst/>
          </a:prstGeom>
          <a:solidFill>
            <a:srgbClr val="C9A84C">
              <a:alpha val="50000"/>
            </a:srgbClr>
          </a:solidFill>
          <a:ln/>
        </p:spPr>
      </p:sp>
      <p:sp>
        <p:nvSpPr>
          <p:cNvPr id="33" name="Text 31"/>
          <p:cNvSpPr/>
          <p:nvPr/>
        </p:nvSpPr>
        <p:spPr>
          <a:xfrm>
            <a:off x="457200" y="4315968"/>
            <a:ext cx="82296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One platform · Four layers · Complete financial intelligence  |  منصة واحدة · أربع طبقات · ذكاء مالي متكامل</a:t>
            </a:r>
            <a:endParaRPr lang="en-US" sz="10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3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PLATFORM CAPABILITIES  ·  قدرات المنصة</a:t>
            </a:r>
            <a:endParaRPr lang="en-US" sz="1100" dirty="0"/>
          </a:p>
        </p:txBody>
      </p:sp>
      <p:sp>
        <p:nvSpPr>
          <p:cNvPr id="4" name="Text 2"/>
          <p:cNvSpPr/>
          <p:nvPr/>
        </p:nvSpPr>
        <p:spPr>
          <a:xfrm>
            <a:off x="457200" y="50292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Makes APEX Different</a:t>
            </a:r>
            <a:endParaRPr lang="en-US" sz="2600" dirty="0"/>
          </a:p>
          <a:p>
            <a:pPr indent="0" marL="0">
              <a:buNone/>
            </a:pPr>
            <a:r>
              <a:rPr lang="en-US" sz="1300" dirty="0">
                <a:solidFill>
                  <a:srgbClr val="C9A84C"/>
                </a:solidFill>
                <a:latin typeface="Calibri" pitchFamily="34" charset="0"/>
                <a:ea typeface="Calibri" pitchFamily="34" charset="-122"/>
                <a:cs typeface="Calibri" pitchFamily="34" charset="-120"/>
              </a:rPr>
              <a:t>ما الذي يميّز APEX</a:t>
            </a:r>
            <a:endParaRPr lang="en-US" sz="2600" dirty="0"/>
          </a:p>
        </p:txBody>
      </p:sp>
      <p:sp>
        <p:nvSpPr>
          <p:cNvPr id="5" name="Shape 3"/>
          <p:cNvSpPr/>
          <p:nvPr/>
        </p:nvSpPr>
        <p:spPr>
          <a:xfrm>
            <a:off x="45720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2606040" cy="45720"/>
          </a:xfrm>
          <a:prstGeom prst="rect">
            <a:avLst/>
          </a:prstGeom>
          <a:solidFill>
            <a:srgbClr val="0891B2"/>
          </a:solidFill>
          <a:ln/>
        </p:spPr>
      </p:sp>
      <p:sp>
        <p:nvSpPr>
          <p:cNvPr id="7" name="Shape 5"/>
          <p:cNvSpPr/>
          <p:nvPr/>
        </p:nvSpPr>
        <p:spPr>
          <a:xfrm>
            <a:off x="566928" y="1508760"/>
            <a:ext cx="365760" cy="365760"/>
          </a:xfrm>
          <a:prstGeom prst="ellipse">
            <a:avLst/>
          </a:prstGeom>
          <a:solidFill>
            <a:srgbClr val="0891B2"/>
          </a:solidFill>
          <a:ln/>
        </p:spPr>
      </p:sp>
      <p:sp>
        <p:nvSpPr>
          <p:cNvPr id="8" name="Text 6"/>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AI</a:t>
            </a:r>
            <a:endParaRPr lang="en-US" sz="1000" dirty="0"/>
          </a:p>
        </p:txBody>
      </p:sp>
      <p:sp>
        <p:nvSpPr>
          <p:cNvPr id="9" name="Text 7"/>
          <p:cNvSpPr/>
          <p:nvPr/>
        </p:nvSpPr>
        <p:spPr>
          <a:xfrm>
            <a:off x="100584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Knowledge Brain</a:t>
            </a:r>
            <a:endParaRPr lang="en-US" sz="1200" dirty="0"/>
          </a:p>
        </p:txBody>
      </p:sp>
      <p:sp>
        <p:nvSpPr>
          <p:cNvPr id="10" name="Text 8"/>
          <p:cNvSpPr/>
          <p:nvPr/>
        </p:nvSpPr>
        <p:spPr>
          <a:xfrm>
            <a:off x="1005840" y="1691640"/>
            <a:ext cx="192024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العقل المعرفي</a:t>
            </a:r>
            <a:endParaRPr lang="en-US" sz="950" dirty="0"/>
          </a:p>
        </p:txBody>
      </p:sp>
      <p:sp>
        <p:nvSpPr>
          <p:cNvPr id="11" name="Text 9"/>
          <p:cNvSpPr/>
          <p:nvPr/>
        </p:nvSpPr>
        <p:spPr>
          <a:xfrm>
            <a:off x="59436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AI modules: SOCPA, IFRS, ZAKAT, VAT, Saudi regulations</a:t>
            </a:r>
            <a:endParaRPr lang="en-US" sz="950" dirty="0"/>
          </a:p>
        </p:txBody>
      </p:sp>
      <p:sp>
        <p:nvSpPr>
          <p:cNvPr id="12" name="Shape 10"/>
          <p:cNvSpPr/>
          <p:nvPr/>
        </p:nvSpPr>
        <p:spPr>
          <a:xfrm>
            <a:off x="329184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3291840" y="1371600"/>
            <a:ext cx="2606040" cy="45720"/>
          </a:xfrm>
          <a:prstGeom prst="rect">
            <a:avLst/>
          </a:prstGeom>
          <a:solidFill>
            <a:srgbClr val="10B981"/>
          </a:solidFill>
          <a:ln/>
        </p:spPr>
      </p:sp>
      <p:sp>
        <p:nvSpPr>
          <p:cNvPr id="14" name="Shape 12"/>
          <p:cNvSpPr/>
          <p:nvPr/>
        </p:nvSpPr>
        <p:spPr>
          <a:xfrm>
            <a:off x="3401568" y="1508760"/>
            <a:ext cx="365760" cy="365760"/>
          </a:xfrm>
          <a:prstGeom prst="ellipse">
            <a:avLst/>
          </a:prstGeom>
          <a:solidFill>
            <a:srgbClr val="10B981"/>
          </a:solidFill>
          <a:ln/>
        </p:spPr>
      </p:sp>
      <p:sp>
        <p:nvSpPr>
          <p:cNvPr id="15" name="Text 13"/>
          <p:cNvSpPr/>
          <p:nvPr/>
        </p:nvSpPr>
        <p:spPr>
          <a:xfrm>
            <a:off x="340156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&gt;&gt;</a:t>
            </a:r>
            <a:endParaRPr lang="en-US" sz="1000" dirty="0"/>
          </a:p>
        </p:txBody>
      </p:sp>
      <p:sp>
        <p:nvSpPr>
          <p:cNvPr id="16" name="Text 14"/>
          <p:cNvSpPr/>
          <p:nvPr/>
        </p:nvSpPr>
        <p:spPr>
          <a:xfrm>
            <a:off x="384048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Smart Onboarding</a:t>
            </a:r>
            <a:endParaRPr lang="en-US" sz="1200" dirty="0"/>
          </a:p>
        </p:txBody>
      </p:sp>
      <p:sp>
        <p:nvSpPr>
          <p:cNvPr id="17" name="Text 15"/>
          <p:cNvSpPr/>
          <p:nvPr/>
        </p:nvSpPr>
        <p:spPr>
          <a:xfrm>
            <a:off x="3840480" y="1691640"/>
            <a:ext cx="192024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تأهيل ذكي</a:t>
            </a:r>
            <a:endParaRPr lang="en-US" sz="950" dirty="0"/>
          </a:p>
        </p:txBody>
      </p:sp>
      <p:sp>
        <p:nvSpPr>
          <p:cNvPr id="18" name="Text 16"/>
          <p:cNvSpPr/>
          <p:nvPr/>
        </p:nvSpPr>
        <p:spPr>
          <a:xfrm>
            <a:off x="342900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Auto-detects company type, industry &amp; docs</a:t>
            </a:r>
            <a:endParaRPr lang="en-US" sz="950" dirty="0"/>
          </a:p>
        </p:txBody>
      </p:sp>
      <p:sp>
        <p:nvSpPr>
          <p:cNvPr id="19" name="Shape 17"/>
          <p:cNvSpPr/>
          <p:nvPr/>
        </p:nvSpPr>
        <p:spPr>
          <a:xfrm>
            <a:off x="612648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6126480" y="1371600"/>
            <a:ext cx="2606040" cy="45720"/>
          </a:xfrm>
          <a:prstGeom prst="rect">
            <a:avLst/>
          </a:prstGeom>
          <a:solidFill>
            <a:srgbClr val="C9A84C"/>
          </a:solidFill>
          <a:ln/>
        </p:spPr>
      </p:sp>
      <p:sp>
        <p:nvSpPr>
          <p:cNvPr id="21" name="Shape 19"/>
          <p:cNvSpPr/>
          <p:nvPr/>
        </p:nvSpPr>
        <p:spPr>
          <a:xfrm>
            <a:off x="6236208" y="1508760"/>
            <a:ext cx="365760" cy="365760"/>
          </a:xfrm>
          <a:prstGeom prst="ellipse">
            <a:avLst/>
          </a:prstGeom>
          <a:solidFill>
            <a:srgbClr val="C9A84C"/>
          </a:solidFill>
          <a:ln/>
        </p:spPr>
      </p:sp>
      <p:sp>
        <p:nvSpPr>
          <p:cNvPr id="22" name="Text 20"/>
          <p:cNvSpPr/>
          <p:nvPr/>
        </p:nvSpPr>
        <p:spPr>
          <a:xfrm>
            <a:off x="623620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OK</a:t>
            </a:r>
            <a:endParaRPr lang="en-US" sz="1000" dirty="0"/>
          </a:p>
        </p:txBody>
      </p:sp>
      <p:sp>
        <p:nvSpPr>
          <p:cNvPr id="23" name="Text 21"/>
          <p:cNvSpPr/>
          <p:nvPr/>
        </p:nvSpPr>
        <p:spPr>
          <a:xfrm>
            <a:off x="667512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Workflow</a:t>
            </a:r>
            <a:endParaRPr lang="en-US" sz="1200" dirty="0"/>
          </a:p>
        </p:txBody>
      </p:sp>
      <p:sp>
        <p:nvSpPr>
          <p:cNvPr id="24" name="Text 22"/>
          <p:cNvSpPr/>
          <p:nvPr/>
        </p:nvSpPr>
        <p:spPr>
          <a:xfrm>
            <a:off x="6675120" y="1691640"/>
            <a:ext cx="192024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سير عمل المراجعة</a:t>
            </a:r>
            <a:endParaRPr lang="en-US" sz="950" dirty="0"/>
          </a:p>
        </p:txBody>
      </p:sp>
      <p:sp>
        <p:nvSpPr>
          <p:cNvPr id="25" name="Text 23"/>
          <p:cNvSpPr/>
          <p:nvPr/>
        </p:nvSpPr>
        <p:spPr>
          <a:xfrm>
            <a:off x="626364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7-phase review engine. Human-in-the-loop triggers</a:t>
            </a:r>
            <a:endParaRPr lang="en-US" sz="950" dirty="0"/>
          </a:p>
        </p:txBody>
      </p:sp>
      <p:sp>
        <p:nvSpPr>
          <p:cNvPr id="26" name="Shape 24"/>
          <p:cNvSpPr/>
          <p:nvPr/>
        </p:nvSpPr>
        <p:spPr>
          <a:xfrm>
            <a:off x="45720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57200" y="2834640"/>
            <a:ext cx="2606040" cy="45720"/>
          </a:xfrm>
          <a:prstGeom prst="rect">
            <a:avLst/>
          </a:prstGeom>
          <a:solidFill>
            <a:srgbClr val="22D3EE"/>
          </a:solidFill>
          <a:ln/>
        </p:spPr>
      </p:sp>
      <p:sp>
        <p:nvSpPr>
          <p:cNvPr id="28" name="Shape 26"/>
          <p:cNvSpPr/>
          <p:nvPr/>
        </p:nvSpPr>
        <p:spPr>
          <a:xfrm>
            <a:off x="566928" y="2971800"/>
            <a:ext cx="365760" cy="365760"/>
          </a:xfrm>
          <a:prstGeom prst="ellipse">
            <a:avLst/>
          </a:prstGeom>
          <a:solidFill>
            <a:srgbClr val="22D3EE"/>
          </a:solidFill>
          <a:ln/>
        </p:spPr>
      </p:sp>
      <p:sp>
        <p:nvSpPr>
          <p:cNvPr id="29" name="Text 27"/>
          <p:cNvSpPr/>
          <p:nvPr/>
        </p:nvSpPr>
        <p:spPr>
          <a:xfrm>
            <a:off x="56692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 }</a:t>
            </a:r>
            <a:endParaRPr lang="en-US" sz="1000" dirty="0"/>
          </a:p>
        </p:txBody>
      </p:sp>
      <p:sp>
        <p:nvSpPr>
          <p:cNvPr id="30" name="Text 28"/>
          <p:cNvSpPr/>
          <p:nvPr/>
        </p:nvSpPr>
        <p:spPr>
          <a:xfrm>
            <a:off x="100584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30+ Live APIs</a:t>
            </a:r>
            <a:endParaRPr lang="en-US" sz="1200" dirty="0"/>
          </a:p>
        </p:txBody>
      </p:sp>
      <p:sp>
        <p:nvSpPr>
          <p:cNvPr id="31" name="Text 29"/>
          <p:cNvSpPr/>
          <p:nvPr/>
        </p:nvSpPr>
        <p:spPr>
          <a:xfrm>
            <a:off x="1005840" y="3154680"/>
            <a:ext cx="192024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أكثر من 30 API</a:t>
            </a:r>
            <a:endParaRPr lang="en-US" sz="950" dirty="0"/>
          </a:p>
        </p:txBody>
      </p:sp>
      <p:sp>
        <p:nvSpPr>
          <p:cNvPr id="32" name="Text 30"/>
          <p:cNvSpPr/>
          <p:nvPr/>
        </p:nvSpPr>
        <p:spPr>
          <a:xfrm>
            <a:off x="59436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 REST suite. FastAPI + Flutter. Swagger documented</a:t>
            </a:r>
            <a:endParaRPr lang="en-US" sz="950" dirty="0"/>
          </a:p>
        </p:txBody>
      </p:sp>
      <p:sp>
        <p:nvSpPr>
          <p:cNvPr id="33" name="Shape 31"/>
          <p:cNvSpPr/>
          <p:nvPr/>
        </p:nvSpPr>
        <p:spPr>
          <a:xfrm>
            <a:off x="329184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4" name="Shape 32"/>
          <p:cNvSpPr/>
          <p:nvPr/>
        </p:nvSpPr>
        <p:spPr>
          <a:xfrm>
            <a:off x="3291840" y="2834640"/>
            <a:ext cx="2606040" cy="45720"/>
          </a:xfrm>
          <a:prstGeom prst="rect">
            <a:avLst/>
          </a:prstGeom>
          <a:solidFill>
            <a:srgbClr val="F96167"/>
          </a:solidFill>
          <a:ln/>
        </p:spPr>
      </p:sp>
      <p:sp>
        <p:nvSpPr>
          <p:cNvPr id="35" name="Shape 33"/>
          <p:cNvSpPr/>
          <p:nvPr/>
        </p:nvSpPr>
        <p:spPr>
          <a:xfrm>
            <a:off x="3401568" y="2971800"/>
            <a:ext cx="365760" cy="365760"/>
          </a:xfrm>
          <a:prstGeom prst="ellipse">
            <a:avLst/>
          </a:prstGeom>
          <a:solidFill>
            <a:srgbClr val="F96167"/>
          </a:solidFill>
          <a:ln/>
        </p:spPr>
      </p:sp>
      <p:sp>
        <p:nvSpPr>
          <p:cNvPr id="36" name="Text 34"/>
          <p:cNvSpPr/>
          <p:nvPr/>
        </p:nvSpPr>
        <p:spPr>
          <a:xfrm>
            <a:off x="340156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37" name="Text 35"/>
          <p:cNvSpPr/>
          <p:nvPr/>
        </p:nvSpPr>
        <p:spPr>
          <a:xfrm>
            <a:off x="384048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Role-Based Security</a:t>
            </a:r>
            <a:endParaRPr lang="en-US" sz="1200" dirty="0"/>
          </a:p>
        </p:txBody>
      </p:sp>
      <p:sp>
        <p:nvSpPr>
          <p:cNvPr id="38" name="Text 36"/>
          <p:cNvSpPr/>
          <p:nvPr/>
        </p:nvSpPr>
        <p:spPr>
          <a:xfrm>
            <a:off x="3840480" y="3154680"/>
            <a:ext cx="1920240" cy="182880"/>
          </a:xfrm>
          <a:prstGeom prst="rect">
            <a:avLst/>
          </a:prstGeom>
          <a:noFill/>
          <a:ln/>
        </p:spPr>
        <p:txBody>
          <a:bodyPr wrap="square" lIns="0" tIns="0" rIns="0" bIns="0" rtlCol="0" anchor="ctr"/>
          <a:lstStyle/>
          <a:p>
            <a:pPr indent="0" marL="0">
              <a:buNone/>
            </a:pPr>
            <a:r>
              <a:rPr lang="en-US" sz="950" dirty="0">
                <a:solidFill>
                  <a:srgbClr val="F96167"/>
                </a:solidFill>
                <a:latin typeface="Calibri" pitchFamily="34" charset="0"/>
                <a:ea typeface="Calibri" pitchFamily="34" charset="-122"/>
                <a:cs typeface="Calibri" pitchFamily="34" charset="-120"/>
              </a:rPr>
              <a:t>أمن قائم على الأدوار</a:t>
            </a:r>
            <a:endParaRPr lang="en-US" sz="950" dirty="0"/>
          </a:p>
        </p:txBody>
      </p:sp>
      <p:sp>
        <p:nvSpPr>
          <p:cNvPr id="39" name="Text 37"/>
          <p:cNvSpPr/>
          <p:nvPr/>
        </p:nvSpPr>
        <p:spPr>
          <a:xfrm>
            <a:off x="342900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roles, JWT auth, audit logs on every financial action</a:t>
            </a:r>
            <a:endParaRPr lang="en-US" sz="950" dirty="0"/>
          </a:p>
        </p:txBody>
      </p:sp>
      <p:sp>
        <p:nvSpPr>
          <p:cNvPr id="40" name="Shape 38"/>
          <p:cNvSpPr/>
          <p:nvPr/>
        </p:nvSpPr>
        <p:spPr>
          <a:xfrm>
            <a:off x="612648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41" name="Shape 39"/>
          <p:cNvSpPr/>
          <p:nvPr/>
        </p:nvSpPr>
        <p:spPr>
          <a:xfrm>
            <a:off x="6126480" y="2834640"/>
            <a:ext cx="2606040" cy="45720"/>
          </a:xfrm>
          <a:prstGeom prst="rect">
            <a:avLst/>
          </a:prstGeom>
          <a:solidFill>
            <a:srgbClr val="E8CC73"/>
          </a:solidFill>
          <a:ln/>
        </p:spPr>
      </p:sp>
      <p:sp>
        <p:nvSpPr>
          <p:cNvPr id="42" name="Shape 40"/>
          <p:cNvSpPr/>
          <p:nvPr/>
        </p:nvSpPr>
        <p:spPr>
          <a:xfrm>
            <a:off x="6236208" y="2971800"/>
            <a:ext cx="365760" cy="365760"/>
          </a:xfrm>
          <a:prstGeom prst="ellipse">
            <a:avLst/>
          </a:prstGeom>
          <a:solidFill>
            <a:srgbClr val="E8CC73"/>
          </a:solidFill>
          <a:ln/>
        </p:spPr>
      </p:sp>
      <p:sp>
        <p:nvSpPr>
          <p:cNvPr id="43" name="Text 41"/>
          <p:cNvSpPr/>
          <p:nvPr/>
        </p:nvSpPr>
        <p:spPr>
          <a:xfrm>
            <a:off x="623620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44" name="Text 42"/>
          <p:cNvSpPr/>
          <p:nvPr/>
        </p:nvSpPr>
        <p:spPr>
          <a:xfrm>
            <a:off x="667512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Subscription Plans</a:t>
            </a:r>
            <a:endParaRPr lang="en-US" sz="1200" dirty="0"/>
          </a:p>
        </p:txBody>
      </p:sp>
      <p:sp>
        <p:nvSpPr>
          <p:cNvPr id="45" name="Text 43"/>
          <p:cNvSpPr/>
          <p:nvPr/>
        </p:nvSpPr>
        <p:spPr>
          <a:xfrm>
            <a:off x="6675120" y="3154680"/>
            <a:ext cx="192024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خطط الاشتراك</a:t>
            </a:r>
            <a:endParaRPr lang="en-US" sz="950" dirty="0"/>
          </a:p>
        </p:txBody>
      </p:sp>
      <p:sp>
        <p:nvSpPr>
          <p:cNvPr id="46" name="Text 44"/>
          <p:cNvSpPr/>
          <p:nvPr/>
        </p:nvSpPr>
        <p:spPr>
          <a:xfrm>
            <a:off x="626364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tiers: Starter, Growth, Professional, Enterprise</a:t>
            </a:r>
            <a:endParaRPr lang="en-US" sz="950" dirty="0"/>
          </a:p>
        </p:txBody>
      </p:sp>
      <p:sp>
        <p:nvSpPr>
          <p:cNvPr id="47" name="Shape 45"/>
          <p:cNvSpPr/>
          <p:nvPr/>
        </p:nvSpPr>
        <p:spPr>
          <a:xfrm>
            <a:off x="0" y="4343400"/>
            <a:ext cx="9144000" cy="27432"/>
          </a:xfrm>
          <a:prstGeom prst="rect">
            <a:avLst/>
          </a:prstGeom>
          <a:solidFill>
            <a:srgbClr val="C9A84C">
              <a:alpha val="50000"/>
            </a:srgbClr>
          </a:solidFill>
          <a:ln/>
        </p:spPr>
      </p:sp>
      <p:sp>
        <p:nvSpPr>
          <p:cNvPr id="48" name="Text 46"/>
          <p:cNvSpPr/>
          <p:nvPr/>
        </p:nvSpPr>
        <p:spPr>
          <a:xfrm>
            <a:off x="457200" y="4407408"/>
            <a:ext cx="548640" cy="274320"/>
          </a:xfrm>
          <a:prstGeom prst="rect">
            <a:avLst/>
          </a:prstGeom>
          <a:noFill/>
          <a:ln/>
        </p:spPr>
        <p:txBody>
          <a:bodyPr wrap="square" lIns="0" tIns="0" rIns="0" bIns="0" rtlCol="0" anchor="ctr"/>
          <a:lstStyle/>
          <a:p>
            <a:pPr indent="0" marL="0">
              <a:buNone/>
            </a:pPr>
            <a:r>
              <a:rPr lang="en-US" sz="1400" dirty="0">
                <a:solidFill>
                  <a:srgbClr val="0891B2"/>
                </a:solidFill>
                <a:latin typeface="Arial Black" pitchFamily="34" charset="0"/>
                <a:ea typeface="Arial Black" pitchFamily="34" charset="-122"/>
                <a:cs typeface="Arial Black" pitchFamily="34" charset="-120"/>
              </a:rPr>
              <a:t>30+</a:t>
            </a:r>
            <a:endParaRPr lang="en-US" sz="1400" dirty="0"/>
          </a:p>
        </p:txBody>
      </p:sp>
      <p:sp>
        <p:nvSpPr>
          <p:cNvPr id="49" name="Text 47"/>
          <p:cNvSpPr/>
          <p:nvPr/>
        </p:nvSpPr>
        <p:spPr>
          <a:xfrm>
            <a:off x="100584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APIs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واجهة</a:t>
            </a:r>
            <a:endParaRPr lang="en-US" sz="800" dirty="0"/>
          </a:p>
        </p:txBody>
      </p:sp>
      <p:sp>
        <p:nvSpPr>
          <p:cNvPr id="50" name="Text 48"/>
          <p:cNvSpPr/>
          <p:nvPr/>
        </p:nvSpPr>
        <p:spPr>
          <a:xfrm>
            <a:off x="2194560" y="4407408"/>
            <a:ext cx="548640" cy="274320"/>
          </a:xfrm>
          <a:prstGeom prst="rect">
            <a:avLst/>
          </a:prstGeom>
          <a:noFill/>
          <a:ln/>
        </p:spPr>
        <p:txBody>
          <a:bodyPr wrap="square" lIns="0" tIns="0" rIns="0" bIns="0" rtlCol="0" anchor="ctr"/>
          <a:lstStyle/>
          <a:p>
            <a:pPr indent="0" marL="0">
              <a:buNone/>
            </a:pPr>
            <a:r>
              <a:rPr lang="en-US" sz="1400" dirty="0">
                <a:solidFill>
                  <a:srgbClr val="10B981"/>
                </a:solidFill>
                <a:latin typeface="Arial Black" pitchFamily="34" charset="0"/>
                <a:ea typeface="Arial Black" pitchFamily="34" charset="-122"/>
                <a:cs typeface="Arial Black" pitchFamily="34" charset="-120"/>
              </a:rPr>
              <a:t>11</a:t>
            </a:r>
            <a:endParaRPr lang="en-US" sz="1400" dirty="0"/>
          </a:p>
        </p:txBody>
      </p:sp>
      <p:sp>
        <p:nvSpPr>
          <p:cNvPr id="51" name="Text 49"/>
          <p:cNvSpPr/>
          <p:nvPr/>
        </p:nvSpPr>
        <p:spPr>
          <a:xfrm>
            <a:off x="274320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AI Modules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وحدة ذكاء</a:t>
            </a:r>
            <a:endParaRPr lang="en-US" sz="800" dirty="0"/>
          </a:p>
        </p:txBody>
      </p:sp>
      <p:sp>
        <p:nvSpPr>
          <p:cNvPr id="52" name="Text 50"/>
          <p:cNvSpPr/>
          <p:nvPr/>
        </p:nvSpPr>
        <p:spPr>
          <a:xfrm>
            <a:off x="3931920" y="4407408"/>
            <a:ext cx="548640" cy="274320"/>
          </a:xfrm>
          <a:prstGeom prst="rect">
            <a:avLst/>
          </a:prstGeom>
          <a:noFill/>
          <a:ln/>
        </p:spPr>
        <p:txBody>
          <a:bodyPr wrap="square" lIns="0" tIns="0" rIns="0" bIns="0" rtlCol="0" anchor="ctr"/>
          <a:lstStyle/>
          <a:p>
            <a:pPr indent="0" marL="0">
              <a:buNone/>
            </a:pPr>
            <a:r>
              <a:rPr lang="en-US" sz="1400" dirty="0">
                <a:solidFill>
                  <a:srgbClr val="C9A84C"/>
                </a:solidFill>
                <a:latin typeface="Arial Black" pitchFamily="34" charset="0"/>
                <a:ea typeface="Arial Black" pitchFamily="34" charset="-122"/>
                <a:cs typeface="Arial Black" pitchFamily="34" charset="-120"/>
              </a:rPr>
              <a:t>55+</a:t>
            </a:r>
            <a:endParaRPr lang="en-US" sz="1400" dirty="0"/>
          </a:p>
        </p:txBody>
      </p:sp>
      <p:sp>
        <p:nvSpPr>
          <p:cNvPr id="53" name="Text 51"/>
          <p:cNvSpPr/>
          <p:nvPr/>
        </p:nvSpPr>
        <p:spPr>
          <a:xfrm>
            <a:off x="448056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Screens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شاشة</a:t>
            </a:r>
            <a:endParaRPr lang="en-US" sz="800" dirty="0"/>
          </a:p>
        </p:txBody>
      </p:sp>
      <p:sp>
        <p:nvSpPr>
          <p:cNvPr id="54" name="Text 52"/>
          <p:cNvSpPr/>
          <p:nvPr/>
        </p:nvSpPr>
        <p:spPr>
          <a:xfrm>
            <a:off x="5669280" y="4407408"/>
            <a:ext cx="548640" cy="274320"/>
          </a:xfrm>
          <a:prstGeom prst="rect">
            <a:avLst/>
          </a:prstGeom>
          <a:noFill/>
          <a:ln/>
        </p:spPr>
        <p:txBody>
          <a:bodyPr wrap="square" lIns="0" tIns="0" rIns="0" bIns="0" rtlCol="0" anchor="ctr"/>
          <a:lstStyle/>
          <a:p>
            <a:pPr indent="0" marL="0">
              <a:buNone/>
            </a:pPr>
            <a:r>
              <a:rPr lang="en-US" sz="1400" dirty="0">
                <a:solidFill>
                  <a:srgbClr val="F96167"/>
                </a:solidFill>
                <a:latin typeface="Arial Black" pitchFamily="34" charset="0"/>
                <a:ea typeface="Arial Black" pitchFamily="34" charset="-122"/>
                <a:cs typeface="Arial Black" pitchFamily="34" charset="-120"/>
              </a:rPr>
              <a:t>4</a:t>
            </a:r>
            <a:endParaRPr lang="en-US" sz="1400" dirty="0"/>
          </a:p>
        </p:txBody>
      </p:sp>
      <p:sp>
        <p:nvSpPr>
          <p:cNvPr id="55" name="Text 53"/>
          <p:cNvSpPr/>
          <p:nvPr/>
        </p:nvSpPr>
        <p:spPr>
          <a:xfrm>
            <a:off x="621792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Plans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خطط</a:t>
            </a:r>
            <a:endParaRPr lang="en-US" sz="800" dirty="0"/>
          </a:p>
        </p:txBody>
      </p:sp>
      <p:sp>
        <p:nvSpPr>
          <p:cNvPr id="56" name="Text 54"/>
          <p:cNvSpPr/>
          <p:nvPr/>
        </p:nvSpPr>
        <p:spPr>
          <a:xfrm>
            <a:off x="7406640" y="4407408"/>
            <a:ext cx="548640" cy="274320"/>
          </a:xfrm>
          <a:prstGeom prst="rect">
            <a:avLst/>
          </a:prstGeom>
          <a:noFill/>
          <a:ln/>
        </p:spPr>
        <p:txBody>
          <a:bodyPr wrap="square" lIns="0" tIns="0" rIns="0" bIns="0" rtlCol="0" anchor="ctr"/>
          <a:lstStyle/>
          <a:p>
            <a:pPr indent="0" marL="0">
              <a:buNone/>
            </a:pPr>
            <a:r>
              <a:rPr lang="en-US" sz="1400" dirty="0">
                <a:solidFill>
                  <a:srgbClr val="22D3EE"/>
                </a:solidFill>
                <a:latin typeface="Arial Black" pitchFamily="34" charset="0"/>
                <a:ea typeface="Arial Black" pitchFamily="34" charset="-122"/>
                <a:cs typeface="Arial Black" pitchFamily="34" charset="-120"/>
              </a:rPr>
              <a:t>11</a:t>
            </a:r>
            <a:endParaRPr lang="en-US" sz="1400" dirty="0"/>
          </a:p>
        </p:txBody>
      </p:sp>
      <p:sp>
        <p:nvSpPr>
          <p:cNvPr id="57" name="Text 55"/>
          <p:cNvSpPr/>
          <p:nvPr/>
        </p:nvSpPr>
        <p:spPr>
          <a:xfrm>
            <a:off x="795528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Roles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دور</a:t>
            </a:r>
            <a:endParaRPr lang="en-US" sz="800" dirty="0"/>
          </a:p>
        </p:txBody>
      </p:sp>
      <p:sp>
        <p:nvSpPr>
          <p:cNvPr id="58" name="Shape 56"/>
          <p:cNvSpPr/>
          <p:nvPr/>
        </p:nvSpPr>
        <p:spPr>
          <a:xfrm>
            <a:off x="0" y="4709160"/>
            <a:ext cx="9144000" cy="434340"/>
          </a:xfrm>
          <a:prstGeom prst="rect">
            <a:avLst/>
          </a:prstGeom>
          <a:solidFill>
            <a:srgbClr val="0A1220"/>
          </a:solidFill>
          <a:ln/>
        </p:spPr>
      </p:sp>
      <p:sp>
        <p:nvSpPr>
          <p:cNvPr id="59" name="Text 57"/>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0" name="Text 58"/>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4 / 19</a:t>
            </a:r>
            <a:endParaRPr lang="en-US" sz="750" dirty="0"/>
          </a:p>
        </p:txBody>
      </p:sp>
      <p:sp>
        <p:nvSpPr>
          <p:cNvPr id="61" name="Text 59"/>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CLIENTS  ·  للعملاء</a:t>
            </a:r>
            <a:endParaRPr lang="en-US" sz="1100" dirty="0"/>
          </a:p>
        </p:txBody>
      </p:sp>
      <p:sp>
        <p:nvSpPr>
          <p:cNvPr id="4" name="Text 2"/>
          <p:cNvSpPr/>
          <p:nvPr/>
        </p:nvSpPr>
        <p:spPr>
          <a:xfrm>
            <a:off x="457200" y="50292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Complete Financial Health Report</a:t>
            </a:r>
            <a:endParaRPr lang="en-US" sz="2600" dirty="0"/>
          </a:p>
          <a:p>
            <a:pPr indent="0" marL="0">
              <a:buNone/>
            </a:pPr>
            <a:r>
              <a:rPr lang="en-US" sz="2600" b="1" dirty="0">
                <a:solidFill>
                  <a:srgbClr val="0891B2"/>
                </a:solidFill>
                <a:latin typeface="Calibri" pitchFamily="34" charset="0"/>
                <a:ea typeface="Calibri" pitchFamily="34" charset="-122"/>
                <a:cs typeface="Calibri" pitchFamily="34" charset="-120"/>
              </a:rPr>
              <a:t>in Minutes, Not Weeks</a:t>
            </a:r>
            <a:endParaRPr lang="en-US" sz="2600" dirty="0"/>
          </a:p>
          <a:p>
            <a:pPr indent="0" marL="0">
              <a:buNone/>
            </a:pPr>
            <a:r>
              <a:rPr lang="en-US" sz="1100" dirty="0">
                <a:solidFill>
                  <a:srgbClr val="94A3B8"/>
                </a:solidFill>
                <a:latin typeface="Calibri" pitchFamily="34" charset="0"/>
                <a:ea typeface="Calibri" pitchFamily="34" charset="-122"/>
                <a:cs typeface="Calibri" pitchFamily="34" charset="-120"/>
              </a:rPr>
              <a:t>المنشآت الصغيرة · مكاتب المحاسبة · الشركات · الناشئات</a:t>
            </a:r>
            <a:endParaRPr lang="en-US" sz="2600" dirty="0"/>
          </a:p>
        </p:txBody>
      </p:sp>
      <p:sp>
        <p:nvSpPr>
          <p:cNvPr id="5" name="Shape 3"/>
          <p:cNvSpPr/>
          <p:nvPr/>
        </p:nvSpPr>
        <p:spPr>
          <a:xfrm>
            <a:off x="457200" y="1645920"/>
            <a:ext cx="3200400" cy="164592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645920"/>
            <a:ext cx="3200400" cy="45720"/>
          </a:xfrm>
          <a:prstGeom prst="rect">
            <a:avLst/>
          </a:prstGeom>
          <a:solidFill>
            <a:srgbClr val="0891B2"/>
          </a:solidFill>
          <a:ln/>
        </p:spPr>
      </p:sp>
      <p:sp>
        <p:nvSpPr>
          <p:cNvPr id="7" name="Text 5"/>
          <p:cNvSpPr/>
          <p:nvPr/>
        </p:nvSpPr>
        <p:spPr>
          <a:xfrm>
            <a:off x="457200" y="1783080"/>
            <a:ext cx="3200400" cy="731520"/>
          </a:xfrm>
          <a:prstGeom prst="rect">
            <a:avLst/>
          </a:prstGeom>
          <a:noFill/>
          <a:ln/>
        </p:spPr>
        <p:txBody>
          <a:bodyPr wrap="square" lIns="0" tIns="0" rIns="0" bIns="0" rtlCol="0" anchor="ctr"/>
          <a:lstStyle/>
          <a:p>
            <a:pPr algn="ctr" indent="0" marL="0">
              <a:buNone/>
            </a:pPr>
            <a:r>
              <a:rPr lang="en-US" sz="5600" dirty="0">
                <a:solidFill>
                  <a:srgbClr val="0891B2"/>
                </a:solidFill>
                <a:latin typeface="Arial Black" pitchFamily="34" charset="0"/>
                <a:ea typeface="Arial Black" pitchFamily="34" charset="-122"/>
                <a:cs typeface="Arial Black" pitchFamily="34" charset="-120"/>
              </a:rPr>
              <a:t>93%</a:t>
            </a:r>
            <a:endParaRPr lang="en-US" sz="5600" dirty="0"/>
          </a:p>
        </p:txBody>
      </p:sp>
      <p:sp>
        <p:nvSpPr>
          <p:cNvPr id="8" name="Text 6"/>
          <p:cNvSpPr/>
          <p:nvPr/>
        </p:nvSpPr>
        <p:spPr>
          <a:xfrm>
            <a:off x="640080" y="2560320"/>
            <a:ext cx="283464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financial analysis tasks automated</a:t>
            </a:r>
            <a:endParaRPr lang="en-US" sz="1300" dirty="0"/>
          </a:p>
          <a:p>
            <a:pPr algn="ctr" indent="0" marL="0">
              <a:buNone/>
            </a:pPr>
            <a:r>
              <a:rPr lang="en-US" sz="1100" dirty="0">
                <a:solidFill>
                  <a:srgbClr val="C9A84C"/>
                </a:solidFill>
                <a:latin typeface="Calibri" pitchFamily="34" charset="0"/>
                <a:ea typeface="Calibri" pitchFamily="34" charset="-122"/>
                <a:cs typeface="Calibri" pitchFamily="34" charset="-120"/>
              </a:rPr>
              <a:t>من مهام التحليل المالي مؤتمتة بالكامل</a:t>
            </a:r>
            <a:endParaRPr lang="en-US" sz="1300" dirty="0"/>
          </a:p>
        </p:txBody>
      </p:sp>
      <p:sp>
        <p:nvSpPr>
          <p:cNvPr id="9" name="Shape 7"/>
          <p:cNvSpPr/>
          <p:nvPr/>
        </p:nvSpPr>
        <p:spPr>
          <a:xfrm>
            <a:off x="4023360" y="1645920"/>
            <a:ext cx="4663440" cy="457200"/>
          </a:xfrm>
          <a:prstGeom prst="rect">
            <a:avLst/>
          </a:prstGeom>
          <a:solidFill>
            <a:srgbClr val="1A2E4A"/>
          </a:solidFill>
          <a:ln/>
        </p:spPr>
      </p:sp>
      <p:sp>
        <p:nvSpPr>
          <p:cNvPr id="10" name="Shape 8"/>
          <p:cNvSpPr/>
          <p:nvPr/>
        </p:nvSpPr>
        <p:spPr>
          <a:xfrm>
            <a:off x="4023360" y="1645920"/>
            <a:ext cx="45720" cy="457200"/>
          </a:xfrm>
          <a:prstGeom prst="rect">
            <a:avLst/>
          </a:prstGeom>
          <a:solidFill>
            <a:srgbClr val="0891B2"/>
          </a:solidFill>
          <a:ln/>
        </p:spPr>
      </p:sp>
      <p:sp>
        <p:nvSpPr>
          <p:cNvPr id="11" name="Text 9"/>
          <p:cNvSpPr/>
          <p:nvPr/>
        </p:nvSpPr>
        <p:spPr>
          <a:xfrm>
            <a:off x="4206240" y="164592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Upload Arabic or English financials — AI understands both</a:t>
            </a:r>
            <a:endParaRPr lang="en-US" sz="1050" dirty="0"/>
          </a:p>
        </p:txBody>
      </p:sp>
      <p:sp>
        <p:nvSpPr>
          <p:cNvPr id="12" name="Text 10"/>
          <p:cNvSpPr/>
          <p:nvPr/>
        </p:nvSpPr>
        <p:spPr>
          <a:xfrm>
            <a:off x="4206240" y="189280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ارفع ملفاتك بالعربي أو الإنجليزي — الذكاء الاصطناعي يفهم الاثنين</a:t>
            </a:r>
            <a:endParaRPr lang="en-US" sz="900" dirty="0"/>
          </a:p>
        </p:txBody>
      </p:sp>
      <p:sp>
        <p:nvSpPr>
          <p:cNvPr id="13" name="Shape 11"/>
          <p:cNvSpPr/>
          <p:nvPr/>
        </p:nvSpPr>
        <p:spPr>
          <a:xfrm>
            <a:off x="4023360" y="2194560"/>
            <a:ext cx="4663440" cy="457200"/>
          </a:xfrm>
          <a:prstGeom prst="rect">
            <a:avLst/>
          </a:prstGeom>
          <a:solidFill>
            <a:srgbClr val="1A2E4A"/>
          </a:solidFill>
          <a:ln/>
        </p:spPr>
      </p:sp>
      <p:sp>
        <p:nvSpPr>
          <p:cNvPr id="14" name="Shape 12"/>
          <p:cNvSpPr/>
          <p:nvPr/>
        </p:nvSpPr>
        <p:spPr>
          <a:xfrm>
            <a:off x="4023360" y="2194560"/>
            <a:ext cx="45720" cy="457200"/>
          </a:xfrm>
          <a:prstGeom prst="rect">
            <a:avLst/>
          </a:prstGeom>
          <a:solidFill>
            <a:srgbClr val="10B981"/>
          </a:solidFill>
          <a:ln/>
        </p:spPr>
      </p:sp>
      <p:sp>
        <p:nvSpPr>
          <p:cNvPr id="15" name="Text 13"/>
          <p:cNvSpPr/>
          <p:nvPr/>
        </p:nvSpPr>
        <p:spPr>
          <a:xfrm>
            <a:off x="4206240" y="219456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Full financial health report in under 5 minutes</a:t>
            </a:r>
            <a:endParaRPr lang="en-US" sz="1050" dirty="0"/>
          </a:p>
        </p:txBody>
      </p:sp>
      <p:sp>
        <p:nvSpPr>
          <p:cNvPr id="16" name="Text 14"/>
          <p:cNvSpPr/>
          <p:nvPr/>
        </p:nvSpPr>
        <p:spPr>
          <a:xfrm>
            <a:off x="4206240" y="244144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تقرير صحة مالية شامل في أقل من 5 دقائق</a:t>
            </a:r>
            <a:endParaRPr lang="en-US" sz="900" dirty="0"/>
          </a:p>
        </p:txBody>
      </p:sp>
      <p:sp>
        <p:nvSpPr>
          <p:cNvPr id="17" name="Shape 15"/>
          <p:cNvSpPr/>
          <p:nvPr/>
        </p:nvSpPr>
        <p:spPr>
          <a:xfrm>
            <a:off x="4023360" y="2743200"/>
            <a:ext cx="4663440" cy="457200"/>
          </a:xfrm>
          <a:prstGeom prst="rect">
            <a:avLst/>
          </a:prstGeom>
          <a:solidFill>
            <a:srgbClr val="1A2E4A"/>
          </a:solidFill>
          <a:ln/>
        </p:spPr>
      </p:sp>
      <p:sp>
        <p:nvSpPr>
          <p:cNvPr id="18" name="Shape 16"/>
          <p:cNvSpPr/>
          <p:nvPr/>
        </p:nvSpPr>
        <p:spPr>
          <a:xfrm>
            <a:off x="4023360" y="2743200"/>
            <a:ext cx="45720" cy="457200"/>
          </a:xfrm>
          <a:prstGeom prst="rect">
            <a:avLst/>
          </a:prstGeom>
          <a:solidFill>
            <a:srgbClr val="C9A84C"/>
          </a:solidFill>
          <a:ln/>
        </p:spPr>
      </p:sp>
      <p:sp>
        <p:nvSpPr>
          <p:cNvPr id="19" name="Text 17"/>
          <p:cNvSpPr/>
          <p:nvPr/>
        </p:nvSpPr>
        <p:spPr>
          <a:xfrm>
            <a:off x="4206240" y="274320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Funding Readiness Score (0–100) with action plan</a:t>
            </a:r>
            <a:endParaRPr lang="en-US" sz="1050" dirty="0"/>
          </a:p>
        </p:txBody>
      </p:sp>
      <p:sp>
        <p:nvSpPr>
          <p:cNvPr id="20" name="Text 18"/>
          <p:cNvSpPr/>
          <p:nvPr/>
        </p:nvSpPr>
        <p:spPr>
          <a:xfrm>
            <a:off x="4206240" y="299008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مؤشر جاهزية التمويل (0-100) مع خطة تحسين واضحة</a:t>
            </a:r>
            <a:endParaRPr lang="en-US" sz="900" dirty="0"/>
          </a:p>
        </p:txBody>
      </p:sp>
      <p:sp>
        <p:nvSpPr>
          <p:cNvPr id="21" name="Shape 19"/>
          <p:cNvSpPr/>
          <p:nvPr/>
        </p:nvSpPr>
        <p:spPr>
          <a:xfrm>
            <a:off x="4023360" y="3291840"/>
            <a:ext cx="4663440" cy="457200"/>
          </a:xfrm>
          <a:prstGeom prst="rect">
            <a:avLst/>
          </a:prstGeom>
          <a:solidFill>
            <a:srgbClr val="1A2E4A"/>
          </a:solidFill>
          <a:ln/>
        </p:spPr>
      </p:sp>
      <p:sp>
        <p:nvSpPr>
          <p:cNvPr id="22" name="Shape 20"/>
          <p:cNvSpPr/>
          <p:nvPr/>
        </p:nvSpPr>
        <p:spPr>
          <a:xfrm>
            <a:off x="4023360" y="3291840"/>
            <a:ext cx="45720" cy="457200"/>
          </a:xfrm>
          <a:prstGeom prst="rect">
            <a:avLst/>
          </a:prstGeom>
          <a:solidFill>
            <a:srgbClr val="22D3EE"/>
          </a:solidFill>
          <a:ln/>
        </p:spPr>
      </p:sp>
      <p:sp>
        <p:nvSpPr>
          <p:cNvPr id="23" name="Text 21"/>
          <p:cNvSpPr/>
          <p:nvPr/>
        </p:nvSpPr>
        <p:spPr>
          <a:xfrm>
            <a:off x="4206240" y="329184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SOCPA &amp; IFRS compliant — audit-ready from day one</a:t>
            </a:r>
            <a:endParaRPr lang="en-US" sz="1050" dirty="0"/>
          </a:p>
        </p:txBody>
      </p:sp>
      <p:sp>
        <p:nvSpPr>
          <p:cNvPr id="24" name="Text 22"/>
          <p:cNvSpPr/>
          <p:nvPr/>
        </p:nvSpPr>
        <p:spPr>
          <a:xfrm>
            <a:off x="4206240" y="353872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متوافق مع معايير SOCPA و IFRS — جاهز للمراجعة فوراً</a:t>
            </a:r>
            <a:endParaRPr lang="en-US" sz="900" dirty="0"/>
          </a:p>
        </p:txBody>
      </p:sp>
      <p:sp>
        <p:nvSpPr>
          <p:cNvPr id="25" name="Shape 23"/>
          <p:cNvSpPr/>
          <p:nvPr/>
        </p:nvSpPr>
        <p:spPr>
          <a:xfrm>
            <a:off x="4023360" y="3840480"/>
            <a:ext cx="4663440" cy="457200"/>
          </a:xfrm>
          <a:prstGeom prst="rect">
            <a:avLst/>
          </a:prstGeom>
          <a:solidFill>
            <a:srgbClr val="1A2E4A"/>
          </a:solidFill>
          <a:ln/>
        </p:spPr>
      </p:sp>
      <p:sp>
        <p:nvSpPr>
          <p:cNvPr id="26" name="Shape 24"/>
          <p:cNvSpPr/>
          <p:nvPr/>
        </p:nvSpPr>
        <p:spPr>
          <a:xfrm>
            <a:off x="4023360" y="3840480"/>
            <a:ext cx="45720" cy="457200"/>
          </a:xfrm>
          <a:prstGeom prst="rect">
            <a:avLst/>
          </a:prstGeom>
          <a:solidFill>
            <a:srgbClr val="F96167"/>
          </a:solidFill>
          <a:ln/>
        </p:spPr>
      </p:sp>
      <p:sp>
        <p:nvSpPr>
          <p:cNvPr id="27" name="Text 25"/>
          <p:cNvSpPr/>
          <p:nvPr/>
        </p:nvSpPr>
        <p:spPr>
          <a:xfrm>
            <a:off x="4206240" y="384048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Connect with certified accountants via Marketplace</a:t>
            </a:r>
            <a:endParaRPr lang="en-US" sz="1050" dirty="0"/>
          </a:p>
        </p:txBody>
      </p:sp>
      <p:sp>
        <p:nvSpPr>
          <p:cNvPr id="28" name="Text 26"/>
          <p:cNvSpPr/>
          <p:nvPr/>
        </p:nvSpPr>
        <p:spPr>
          <a:xfrm>
            <a:off x="4206240" y="408736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تواصل مع محاسبين ومراجعين معتمدين عبر السوق</a:t>
            </a:r>
            <a:endParaRPr lang="en-US" sz="900" dirty="0"/>
          </a:p>
        </p:txBody>
      </p:sp>
      <p:sp>
        <p:nvSpPr>
          <p:cNvPr id="29" name="Shape 27"/>
          <p:cNvSpPr/>
          <p:nvPr/>
        </p:nvSpPr>
        <p:spPr>
          <a:xfrm>
            <a:off x="0" y="4709160"/>
            <a:ext cx="9144000" cy="434340"/>
          </a:xfrm>
          <a:prstGeom prst="rect">
            <a:avLst/>
          </a:prstGeom>
          <a:solidFill>
            <a:srgbClr val="0A1220"/>
          </a:solidFill>
          <a:ln/>
        </p:spPr>
      </p:sp>
      <p:sp>
        <p:nvSpPr>
          <p:cNvPr id="30" name="Text 2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1" name="Text 2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5 / 19</a:t>
            </a:r>
            <a:endParaRPr lang="en-US" sz="750" dirty="0"/>
          </a:p>
        </p:txBody>
      </p:sp>
      <p:sp>
        <p:nvSpPr>
          <p:cNvPr id="32" name="Text 3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INVESTORS  ·  للمستثمرين</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SAR 4.5B Fintech Market, Growing 18% YoY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سوق التقنية المالية 4.5 مليار ريال بنمو سنوي 18%</a:t>
            </a:r>
            <a:endParaRPr lang="en-US" sz="2600" dirty="0"/>
          </a:p>
        </p:txBody>
      </p:sp>
      <p:sp>
        <p:nvSpPr>
          <p:cNvPr id="5" name="Shape 3"/>
          <p:cNvSpPr/>
          <p:nvPr/>
        </p:nvSpPr>
        <p:spPr>
          <a:xfrm>
            <a:off x="45720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463040"/>
            <a:ext cx="2606040" cy="45720"/>
          </a:xfrm>
          <a:prstGeom prst="rect">
            <a:avLst/>
          </a:prstGeom>
          <a:solidFill>
            <a:srgbClr val="C9A84C"/>
          </a:solidFill>
          <a:ln/>
        </p:spPr>
      </p:sp>
      <p:sp>
        <p:nvSpPr>
          <p:cNvPr id="7" name="Shape 5"/>
          <p:cNvSpPr/>
          <p:nvPr/>
        </p:nvSpPr>
        <p:spPr>
          <a:xfrm>
            <a:off x="475488" y="1481328"/>
            <a:ext cx="36576" cy="1335024"/>
          </a:xfrm>
          <a:prstGeom prst="rect">
            <a:avLst/>
          </a:prstGeom>
          <a:solidFill>
            <a:srgbClr val="C9A84C"/>
          </a:solidFill>
          <a:ln/>
        </p:spPr>
      </p:sp>
      <p:sp>
        <p:nvSpPr>
          <p:cNvPr id="8" name="Text 6"/>
          <p:cNvSpPr/>
          <p:nvPr/>
        </p:nvSpPr>
        <p:spPr>
          <a:xfrm>
            <a:off x="45720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SAR 4.5B</a:t>
            </a:r>
            <a:endParaRPr lang="en-US" sz="3000" dirty="0"/>
          </a:p>
        </p:txBody>
      </p:sp>
      <p:sp>
        <p:nvSpPr>
          <p:cNvPr id="9" name="Text 7"/>
          <p:cNvSpPr/>
          <p:nvPr/>
        </p:nvSpPr>
        <p:spPr>
          <a:xfrm>
            <a:off x="45720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Saudi Fintech Market</a:t>
            </a:r>
            <a:endParaRPr lang="en-US" sz="1200" dirty="0"/>
          </a:p>
        </p:txBody>
      </p:sp>
      <p:sp>
        <p:nvSpPr>
          <p:cNvPr id="10" name="Text 8"/>
          <p:cNvSpPr/>
          <p:nvPr/>
        </p:nvSpPr>
        <p:spPr>
          <a:xfrm>
            <a:off x="457200" y="2212848"/>
            <a:ext cx="260604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سوق الفنتك السعودي</a:t>
            </a:r>
            <a:endParaRPr lang="en-US" sz="1000" dirty="0"/>
          </a:p>
        </p:txBody>
      </p:sp>
      <p:sp>
        <p:nvSpPr>
          <p:cNvPr id="11" name="Text 9"/>
          <p:cNvSpPr/>
          <p:nvPr/>
        </p:nvSpPr>
        <p:spPr>
          <a:xfrm>
            <a:off x="45720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2025 — source: SAMA, Fintech Saudi</a:t>
            </a:r>
            <a:endParaRPr lang="en-US" sz="900" dirty="0"/>
          </a:p>
        </p:txBody>
      </p:sp>
      <p:sp>
        <p:nvSpPr>
          <p:cNvPr id="12" name="Shape 10"/>
          <p:cNvSpPr/>
          <p:nvPr/>
        </p:nvSpPr>
        <p:spPr>
          <a:xfrm>
            <a:off x="333756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3337560" y="1463040"/>
            <a:ext cx="2606040" cy="45720"/>
          </a:xfrm>
          <a:prstGeom prst="rect">
            <a:avLst/>
          </a:prstGeom>
          <a:solidFill>
            <a:srgbClr val="0891B2"/>
          </a:solidFill>
          <a:ln/>
        </p:spPr>
      </p:sp>
      <p:sp>
        <p:nvSpPr>
          <p:cNvPr id="14" name="Shape 12"/>
          <p:cNvSpPr/>
          <p:nvPr/>
        </p:nvSpPr>
        <p:spPr>
          <a:xfrm>
            <a:off x="3355848" y="1481328"/>
            <a:ext cx="36576" cy="1335024"/>
          </a:xfrm>
          <a:prstGeom prst="rect">
            <a:avLst/>
          </a:prstGeom>
          <a:solidFill>
            <a:srgbClr val="C9A84C"/>
          </a:solidFill>
          <a:ln/>
        </p:spPr>
      </p:sp>
      <p:sp>
        <p:nvSpPr>
          <p:cNvPr id="15" name="Text 13"/>
          <p:cNvSpPr/>
          <p:nvPr/>
        </p:nvSpPr>
        <p:spPr>
          <a:xfrm>
            <a:off x="333756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18%</a:t>
            </a:r>
            <a:endParaRPr lang="en-US" sz="3000" dirty="0"/>
          </a:p>
        </p:txBody>
      </p:sp>
      <p:sp>
        <p:nvSpPr>
          <p:cNvPr id="16" name="Text 14"/>
          <p:cNvSpPr/>
          <p:nvPr/>
        </p:nvSpPr>
        <p:spPr>
          <a:xfrm>
            <a:off x="333756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Annual Growth</a:t>
            </a:r>
            <a:endParaRPr lang="en-US" sz="1200" dirty="0"/>
          </a:p>
        </p:txBody>
      </p:sp>
      <p:sp>
        <p:nvSpPr>
          <p:cNvPr id="17" name="Text 15"/>
          <p:cNvSpPr/>
          <p:nvPr/>
        </p:nvSpPr>
        <p:spPr>
          <a:xfrm>
            <a:off x="3337560" y="2212848"/>
            <a:ext cx="260604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نمو سنوي مركّب</a:t>
            </a:r>
            <a:endParaRPr lang="en-US" sz="1000" dirty="0"/>
          </a:p>
        </p:txBody>
      </p:sp>
      <p:sp>
        <p:nvSpPr>
          <p:cNvPr id="18" name="Text 16"/>
          <p:cNvSpPr/>
          <p:nvPr/>
        </p:nvSpPr>
        <p:spPr>
          <a:xfrm>
            <a:off x="333756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CAGR 2024–2028 (EY estimate)</a:t>
            </a:r>
            <a:endParaRPr lang="en-US" sz="900" dirty="0"/>
          </a:p>
        </p:txBody>
      </p:sp>
      <p:sp>
        <p:nvSpPr>
          <p:cNvPr id="19" name="Shape 17"/>
          <p:cNvSpPr/>
          <p:nvPr/>
        </p:nvSpPr>
        <p:spPr>
          <a:xfrm>
            <a:off x="621792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6217920" y="1463040"/>
            <a:ext cx="2606040" cy="45720"/>
          </a:xfrm>
          <a:prstGeom prst="rect">
            <a:avLst/>
          </a:prstGeom>
          <a:solidFill>
            <a:srgbClr val="10B981"/>
          </a:solidFill>
          <a:ln/>
        </p:spPr>
      </p:sp>
      <p:sp>
        <p:nvSpPr>
          <p:cNvPr id="21" name="Shape 19"/>
          <p:cNvSpPr/>
          <p:nvPr/>
        </p:nvSpPr>
        <p:spPr>
          <a:xfrm>
            <a:off x="6236208" y="1481328"/>
            <a:ext cx="36576" cy="1335024"/>
          </a:xfrm>
          <a:prstGeom prst="rect">
            <a:avLst/>
          </a:prstGeom>
          <a:solidFill>
            <a:srgbClr val="C9A84C"/>
          </a:solidFill>
          <a:ln/>
        </p:spPr>
      </p:sp>
      <p:sp>
        <p:nvSpPr>
          <p:cNvPr id="22" name="Text 20"/>
          <p:cNvSpPr/>
          <p:nvPr/>
        </p:nvSpPr>
        <p:spPr>
          <a:xfrm>
            <a:off x="621792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150+</a:t>
            </a:r>
            <a:endParaRPr lang="en-US" sz="3000" dirty="0"/>
          </a:p>
        </p:txBody>
      </p:sp>
      <p:sp>
        <p:nvSpPr>
          <p:cNvPr id="23" name="Text 21"/>
          <p:cNvSpPr/>
          <p:nvPr/>
        </p:nvSpPr>
        <p:spPr>
          <a:xfrm>
            <a:off x="621792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Year 1 Target</a:t>
            </a:r>
            <a:endParaRPr lang="en-US" sz="1200" dirty="0"/>
          </a:p>
        </p:txBody>
      </p:sp>
      <p:sp>
        <p:nvSpPr>
          <p:cNvPr id="24" name="Text 22"/>
          <p:cNvSpPr/>
          <p:nvPr/>
        </p:nvSpPr>
        <p:spPr>
          <a:xfrm>
            <a:off x="6217920" y="2212848"/>
            <a:ext cx="2606040" cy="182880"/>
          </a:xfrm>
          <a:prstGeom prst="rect">
            <a:avLst/>
          </a:prstGeom>
          <a:noFill/>
          <a:ln/>
        </p:spPr>
        <p:txBody>
          <a:bodyPr wrap="square" lIns="0" tIns="0" rIns="0" bIns="0" rtlCol="0" anchor="ctr"/>
          <a:lstStyle/>
          <a:p>
            <a:pPr algn="ctr" indent="0" marL="0">
              <a:buNone/>
            </a:pPr>
            <a:r>
              <a:rPr lang="en-US" sz="1000" dirty="0">
                <a:solidFill>
                  <a:srgbClr val="10B981"/>
                </a:solidFill>
                <a:latin typeface="Calibri" pitchFamily="34" charset="0"/>
                <a:ea typeface="Calibri" pitchFamily="34" charset="-122"/>
                <a:cs typeface="Calibri" pitchFamily="34" charset="-120"/>
              </a:rPr>
              <a:t>هدف السنة الأولى</a:t>
            </a:r>
            <a:endParaRPr lang="en-US" sz="1000" dirty="0"/>
          </a:p>
        </p:txBody>
      </p:sp>
      <p:sp>
        <p:nvSpPr>
          <p:cNvPr id="25" name="Text 23"/>
          <p:cNvSpPr/>
          <p:nvPr/>
        </p:nvSpPr>
        <p:spPr>
          <a:xfrm>
            <a:off x="621792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Paying SME clients</a:t>
            </a:r>
            <a:endParaRPr lang="en-US" sz="900" dirty="0"/>
          </a:p>
        </p:txBody>
      </p:sp>
      <p:sp>
        <p:nvSpPr>
          <p:cNvPr id="26" name="Text 24"/>
          <p:cNvSpPr/>
          <p:nvPr/>
        </p:nvSpPr>
        <p:spPr>
          <a:xfrm>
            <a:off x="457200" y="3017520"/>
            <a:ext cx="4572000" cy="274320"/>
          </a:xfrm>
          <a:prstGeom prst="rect">
            <a:avLst/>
          </a:prstGeom>
          <a:noFill/>
          <a:ln/>
        </p:spPr>
        <p:txBody>
          <a:bodyPr wrap="square" lIns="0" tIns="0" rIns="0" bIns="0" rtlCol="0" anchor="ctr"/>
          <a:lstStyle/>
          <a:p>
            <a:pPr indent="0" marL="0">
              <a:buNone/>
            </a:pPr>
            <a:r>
              <a:rPr lang="en-US" sz="1100" spc="300" kern="0" dirty="0">
                <a:solidFill>
                  <a:srgbClr val="C9A84C"/>
                </a:solidFill>
                <a:latin typeface="Calibri" pitchFamily="34" charset="0"/>
                <a:ea typeface="Calibri" pitchFamily="34" charset="-122"/>
                <a:cs typeface="Calibri" pitchFamily="34" charset="-120"/>
              </a:rPr>
              <a:t>REVENUE MODEL  ·  نموذج الإيرادات</a:t>
            </a:r>
            <a:endParaRPr lang="en-US" sz="1100" dirty="0"/>
          </a:p>
        </p:txBody>
      </p:sp>
      <p:sp>
        <p:nvSpPr>
          <p:cNvPr id="27" name="Shape 25"/>
          <p:cNvSpPr/>
          <p:nvPr/>
        </p:nvSpPr>
        <p:spPr>
          <a:xfrm>
            <a:off x="457200" y="3383280"/>
            <a:ext cx="8229600" cy="347472"/>
          </a:xfrm>
          <a:prstGeom prst="rect">
            <a:avLst/>
          </a:prstGeom>
          <a:solidFill>
            <a:srgbClr val="1A2E4A"/>
          </a:solidFill>
          <a:ln/>
        </p:spPr>
      </p:sp>
      <p:sp>
        <p:nvSpPr>
          <p:cNvPr id="28" name="Shape 26"/>
          <p:cNvSpPr/>
          <p:nvPr/>
        </p:nvSpPr>
        <p:spPr>
          <a:xfrm>
            <a:off x="457200" y="3383280"/>
            <a:ext cx="45720" cy="347472"/>
          </a:xfrm>
          <a:prstGeom prst="rect">
            <a:avLst/>
          </a:prstGeom>
          <a:solidFill>
            <a:srgbClr val="0891B2"/>
          </a:solidFill>
          <a:ln/>
        </p:spPr>
      </p:sp>
      <p:sp>
        <p:nvSpPr>
          <p:cNvPr id="29" name="Text 27"/>
          <p:cNvSpPr/>
          <p:nvPr/>
        </p:nvSpPr>
        <p:spPr>
          <a:xfrm>
            <a:off x="640080" y="338328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SaaS Subscriptions</a:t>
            </a:r>
            <a:endParaRPr lang="en-US" sz="1100" dirty="0"/>
          </a:p>
        </p:txBody>
      </p:sp>
      <p:sp>
        <p:nvSpPr>
          <p:cNvPr id="30" name="Text 28"/>
          <p:cNvSpPr/>
          <p:nvPr/>
        </p:nvSpPr>
        <p:spPr>
          <a:xfrm>
            <a:off x="2468880" y="3383280"/>
            <a:ext cx="1188720" cy="347472"/>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اشتراكات شهرية</a:t>
            </a:r>
            <a:endParaRPr lang="en-US" sz="950" dirty="0"/>
          </a:p>
        </p:txBody>
      </p:sp>
      <p:sp>
        <p:nvSpPr>
          <p:cNvPr id="31" name="Text 29"/>
          <p:cNvSpPr/>
          <p:nvPr/>
        </p:nvSpPr>
        <p:spPr>
          <a:xfrm>
            <a:off x="3749040" y="338328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199 – SAR 1,999/mo  ·  4 tiers</a:t>
            </a:r>
            <a:endParaRPr lang="en-US" sz="1000" dirty="0"/>
          </a:p>
        </p:txBody>
      </p:sp>
      <p:sp>
        <p:nvSpPr>
          <p:cNvPr id="32" name="Text 30"/>
          <p:cNvSpPr/>
          <p:nvPr/>
        </p:nvSpPr>
        <p:spPr>
          <a:xfrm>
            <a:off x="7132320" y="3383280"/>
            <a:ext cx="1371600" cy="347472"/>
          </a:xfrm>
          <a:prstGeom prst="rect">
            <a:avLst/>
          </a:prstGeom>
          <a:noFill/>
          <a:ln/>
        </p:spPr>
        <p:txBody>
          <a:bodyPr wrap="square" lIns="0" tIns="0" rIns="0" bIns="0" rtlCol="0" anchor="ctr"/>
          <a:lstStyle/>
          <a:p>
            <a:pPr algn="ctr" indent="0" marL="0">
              <a:buNone/>
            </a:pPr>
            <a:r>
              <a:rPr lang="en-US" sz="2000" dirty="0">
                <a:solidFill>
                  <a:srgbClr val="0891B2"/>
                </a:solidFill>
                <a:latin typeface="Arial Black" pitchFamily="34" charset="0"/>
                <a:ea typeface="Arial Black" pitchFamily="34" charset="-122"/>
                <a:cs typeface="Arial Black" pitchFamily="34" charset="-120"/>
              </a:rPr>
              <a:t>65%</a:t>
            </a:r>
            <a:endParaRPr lang="en-US" sz="2000" dirty="0"/>
          </a:p>
        </p:txBody>
      </p:sp>
      <p:sp>
        <p:nvSpPr>
          <p:cNvPr id="33" name="Shape 31"/>
          <p:cNvSpPr/>
          <p:nvPr/>
        </p:nvSpPr>
        <p:spPr>
          <a:xfrm>
            <a:off x="457200" y="3794760"/>
            <a:ext cx="8229600" cy="347472"/>
          </a:xfrm>
          <a:prstGeom prst="rect">
            <a:avLst/>
          </a:prstGeom>
          <a:solidFill>
            <a:srgbClr val="1E3654"/>
          </a:solidFill>
          <a:ln/>
        </p:spPr>
      </p:sp>
      <p:sp>
        <p:nvSpPr>
          <p:cNvPr id="34" name="Shape 32"/>
          <p:cNvSpPr/>
          <p:nvPr/>
        </p:nvSpPr>
        <p:spPr>
          <a:xfrm>
            <a:off x="457200" y="3794760"/>
            <a:ext cx="45720" cy="347472"/>
          </a:xfrm>
          <a:prstGeom prst="rect">
            <a:avLst/>
          </a:prstGeom>
          <a:solidFill>
            <a:srgbClr val="C9A84C"/>
          </a:solidFill>
          <a:ln/>
        </p:spPr>
      </p:sp>
      <p:sp>
        <p:nvSpPr>
          <p:cNvPr id="35" name="Text 33"/>
          <p:cNvSpPr/>
          <p:nvPr/>
        </p:nvSpPr>
        <p:spPr>
          <a:xfrm>
            <a:off x="640080" y="379476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API &amp; Analytics</a:t>
            </a:r>
            <a:endParaRPr lang="en-US" sz="1100" dirty="0"/>
          </a:p>
        </p:txBody>
      </p:sp>
      <p:sp>
        <p:nvSpPr>
          <p:cNvPr id="36" name="Text 34"/>
          <p:cNvSpPr/>
          <p:nvPr/>
        </p:nvSpPr>
        <p:spPr>
          <a:xfrm>
            <a:off x="2468880" y="3794760"/>
            <a:ext cx="1188720" cy="347472"/>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تحليلات API</a:t>
            </a:r>
            <a:endParaRPr lang="en-US" sz="950" dirty="0"/>
          </a:p>
        </p:txBody>
      </p:sp>
      <p:sp>
        <p:nvSpPr>
          <p:cNvPr id="37" name="Text 35"/>
          <p:cNvSpPr/>
          <p:nvPr/>
        </p:nvSpPr>
        <p:spPr>
          <a:xfrm>
            <a:off x="3749040" y="379476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Pay-per-report for developers &amp; firms</a:t>
            </a:r>
            <a:endParaRPr lang="en-US" sz="1000" dirty="0"/>
          </a:p>
        </p:txBody>
      </p:sp>
      <p:sp>
        <p:nvSpPr>
          <p:cNvPr id="38" name="Text 36"/>
          <p:cNvSpPr/>
          <p:nvPr/>
        </p:nvSpPr>
        <p:spPr>
          <a:xfrm>
            <a:off x="7132320" y="3794760"/>
            <a:ext cx="1371600" cy="347472"/>
          </a:xfrm>
          <a:prstGeom prst="rect">
            <a:avLst/>
          </a:prstGeom>
          <a:noFill/>
          <a:ln/>
        </p:spPr>
        <p:txBody>
          <a:bodyPr wrap="square" lIns="0" tIns="0" rIns="0" bIns="0" rtlCol="0" anchor="ctr"/>
          <a:lstStyle/>
          <a:p>
            <a:pPr algn="ctr" indent="0" marL="0">
              <a:buNone/>
            </a:pPr>
            <a:r>
              <a:rPr lang="en-US" sz="2000" dirty="0">
                <a:solidFill>
                  <a:srgbClr val="C9A84C"/>
                </a:solidFill>
                <a:latin typeface="Arial Black" pitchFamily="34" charset="0"/>
                <a:ea typeface="Arial Black" pitchFamily="34" charset="-122"/>
                <a:cs typeface="Arial Black" pitchFamily="34" charset="-120"/>
              </a:rPr>
              <a:t>20%</a:t>
            </a:r>
            <a:endParaRPr lang="en-US" sz="2000" dirty="0"/>
          </a:p>
        </p:txBody>
      </p:sp>
      <p:sp>
        <p:nvSpPr>
          <p:cNvPr id="39" name="Shape 37"/>
          <p:cNvSpPr/>
          <p:nvPr/>
        </p:nvSpPr>
        <p:spPr>
          <a:xfrm>
            <a:off x="457200" y="4206240"/>
            <a:ext cx="8229600" cy="347472"/>
          </a:xfrm>
          <a:prstGeom prst="rect">
            <a:avLst/>
          </a:prstGeom>
          <a:solidFill>
            <a:srgbClr val="1A2E4A"/>
          </a:solidFill>
          <a:ln/>
        </p:spPr>
      </p:sp>
      <p:sp>
        <p:nvSpPr>
          <p:cNvPr id="40" name="Shape 38"/>
          <p:cNvSpPr/>
          <p:nvPr/>
        </p:nvSpPr>
        <p:spPr>
          <a:xfrm>
            <a:off x="457200" y="4206240"/>
            <a:ext cx="45720" cy="347472"/>
          </a:xfrm>
          <a:prstGeom prst="rect">
            <a:avLst/>
          </a:prstGeom>
          <a:solidFill>
            <a:srgbClr val="10B981"/>
          </a:solidFill>
          <a:ln/>
        </p:spPr>
      </p:sp>
      <p:sp>
        <p:nvSpPr>
          <p:cNvPr id="41" name="Text 39"/>
          <p:cNvSpPr/>
          <p:nvPr/>
        </p:nvSpPr>
        <p:spPr>
          <a:xfrm>
            <a:off x="640080" y="420624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Marketplace Fees</a:t>
            </a:r>
            <a:endParaRPr lang="en-US" sz="1100" dirty="0"/>
          </a:p>
        </p:txBody>
      </p:sp>
      <p:sp>
        <p:nvSpPr>
          <p:cNvPr id="42" name="Text 40"/>
          <p:cNvSpPr/>
          <p:nvPr/>
        </p:nvSpPr>
        <p:spPr>
          <a:xfrm>
            <a:off x="2468880" y="4206240"/>
            <a:ext cx="1188720" cy="347472"/>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عمولات السوق</a:t>
            </a:r>
            <a:endParaRPr lang="en-US" sz="950" dirty="0"/>
          </a:p>
        </p:txBody>
      </p:sp>
      <p:sp>
        <p:nvSpPr>
          <p:cNvPr id="43" name="Text 41"/>
          <p:cNvSpPr/>
          <p:nvPr/>
        </p:nvSpPr>
        <p:spPr>
          <a:xfrm>
            <a:off x="3749040" y="420624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10-15% commission on professional services</a:t>
            </a:r>
            <a:endParaRPr lang="en-US" sz="1000" dirty="0"/>
          </a:p>
        </p:txBody>
      </p:sp>
      <p:sp>
        <p:nvSpPr>
          <p:cNvPr id="44" name="Text 42"/>
          <p:cNvSpPr/>
          <p:nvPr/>
        </p:nvSpPr>
        <p:spPr>
          <a:xfrm>
            <a:off x="7132320" y="4206240"/>
            <a:ext cx="1371600" cy="347472"/>
          </a:xfrm>
          <a:prstGeom prst="rect">
            <a:avLst/>
          </a:prstGeom>
          <a:noFill/>
          <a:ln/>
        </p:spPr>
        <p:txBody>
          <a:bodyPr wrap="square" lIns="0" tIns="0" rIns="0" bIns="0" rtlCol="0" anchor="ctr"/>
          <a:lstStyle/>
          <a:p>
            <a:pPr algn="ctr" indent="0" marL="0">
              <a:buNone/>
            </a:pPr>
            <a:r>
              <a:rPr lang="en-US" sz="2000" dirty="0">
                <a:solidFill>
                  <a:srgbClr val="10B981"/>
                </a:solidFill>
                <a:latin typeface="Arial Black" pitchFamily="34" charset="0"/>
                <a:ea typeface="Arial Black" pitchFamily="34" charset="-122"/>
                <a:cs typeface="Arial Black" pitchFamily="34" charset="-120"/>
              </a:rPr>
              <a:t>15%</a:t>
            </a:r>
            <a:endParaRPr lang="en-US" sz="200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6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COMPETITIVE LANDSCAPE  ·  المشهد التنافسي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APEX vs. Existing Solutions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APEX مقابل الحلول الحالية في السوق</a:t>
            </a:r>
            <a:endParaRPr lang="en-US" sz="2600" dirty="0"/>
          </a:p>
        </p:txBody>
      </p:sp>
      <p:sp>
        <p:nvSpPr>
          <p:cNvPr id="5" name="Shape 3"/>
          <p:cNvSpPr/>
          <p:nvPr/>
        </p:nvSpPr>
        <p:spPr>
          <a:xfrm>
            <a:off x="457200" y="1371600"/>
            <a:ext cx="8229600" cy="301752"/>
          </a:xfrm>
          <a:prstGeom prst="rect">
            <a:avLst/>
          </a:prstGeom>
          <a:solidFill>
            <a:srgbClr val="1C3254"/>
          </a:solidFill>
          <a:ln/>
        </p:spPr>
      </p:sp>
      <p:sp>
        <p:nvSpPr>
          <p:cNvPr id="6" name="Text 4"/>
          <p:cNvSpPr/>
          <p:nvPr/>
        </p:nvSpPr>
        <p:spPr>
          <a:xfrm>
            <a:off x="548640" y="1371600"/>
            <a:ext cx="2743200" cy="301752"/>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Feature</a:t>
            </a:r>
            <a:endParaRPr lang="en-US" sz="1000" dirty="0"/>
          </a:p>
        </p:txBody>
      </p:sp>
      <p:sp>
        <p:nvSpPr>
          <p:cNvPr id="7" name="Text 5"/>
          <p:cNvSpPr/>
          <p:nvPr/>
        </p:nvSpPr>
        <p:spPr>
          <a:xfrm>
            <a:off x="3383280" y="1371600"/>
            <a:ext cx="1060704" cy="301752"/>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APEX</a:t>
            </a:r>
            <a:endParaRPr lang="en-US" sz="1000" dirty="0"/>
          </a:p>
        </p:txBody>
      </p:sp>
      <p:sp>
        <p:nvSpPr>
          <p:cNvPr id="8" name="Text 6"/>
          <p:cNvSpPr/>
          <p:nvPr/>
        </p:nvSpPr>
        <p:spPr>
          <a:xfrm>
            <a:off x="4443984"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Excel</a:t>
            </a:r>
            <a:endParaRPr lang="en-US" sz="1000" dirty="0"/>
          </a:p>
        </p:txBody>
      </p:sp>
      <p:sp>
        <p:nvSpPr>
          <p:cNvPr id="9" name="Text 7"/>
          <p:cNvSpPr/>
          <p:nvPr/>
        </p:nvSpPr>
        <p:spPr>
          <a:xfrm>
            <a:off x="5504688"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Wafeq</a:t>
            </a:r>
            <a:endParaRPr lang="en-US" sz="1000" dirty="0"/>
          </a:p>
        </p:txBody>
      </p:sp>
      <p:sp>
        <p:nvSpPr>
          <p:cNvPr id="10" name="Text 8"/>
          <p:cNvSpPr/>
          <p:nvPr/>
        </p:nvSpPr>
        <p:spPr>
          <a:xfrm>
            <a:off x="6565392"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Qoyod</a:t>
            </a:r>
            <a:endParaRPr lang="en-US" sz="1000" dirty="0"/>
          </a:p>
        </p:txBody>
      </p:sp>
      <p:sp>
        <p:nvSpPr>
          <p:cNvPr id="11" name="Text 9"/>
          <p:cNvSpPr/>
          <p:nvPr/>
        </p:nvSpPr>
        <p:spPr>
          <a:xfrm>
            <a:off x="7626096"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Xero</a:t>
            </a:r>
            <a:endParaRPr lang="en-US" sz="1000" dirty="0"/>
          </a:p>
        </p:txBody>
      </p:sp>
      <p:sp>
        <p:nvSpPr>
          <p:cNvPr id="12" name="Shape 10"/>
          <p:cNvSpPr/>
          <p:nvPr/>
        </p:nvSpPr>
        <p:spPr>
          <a:xfrm>
            <a:off x="457200" y="1673352"/>
            <a:ext cx="8229600" cy="301752"/>
          </a:xfrm>
          <a:prstGeom prst="rect">
            <a:avLst/>
          </a:prstGeom>
          <a:solidFill>
            <a:srgbClr val="1A2E4A"/>
          </a:solidFill>
          <a:ln/>
        </p:spPr>
      </p:sp>
      <p:sp>
        <p:nvSpPr>
          <p:cNvPr id="13" name="Text 11"/>
          <p:cNvSpPr/>
          <p:nvPr/>
        </p:nvSpPr>
        <p:spPr>
          <a:xfrm>
            <a:off x="548640" y="167335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AI-Powered Financial Analysis</a:t>
            </a:r>
            <a:endParaRPr lang="en-US" sz="950" dirty="0"/>
          </a:p>
        </p:txBody>
      </p:sp>
      <p:sp>
        <p:nvSpPr>
          <p:cNvPr id="14" name="Text 12"/>
          <p:cNvSpPr/>
          <p:nvPr/>
        </p:nvSpPr>
        <p:spPr>
          <a:xfrm>
            <a:off x="3383280" y="167335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4443984"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5504688"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6565392"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7626096" y="1673352"/>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457200" y="1975104"/>
            <a:ext cx="8229600" cy="301752"/>
          </a:xfrm>
          <a:prstGeom prst="rect">
            <a:avLst/>
          </a:prstGeom>
          <a:solidFill>
            <a:srgbClr val="1E3654"/>
          </a:solidFill>
          <a:ln/>
        </p:spPr>
      </p:sp>
      <p:sp>
        <p:nvSpPr>
          <p:cNvPr id="20" name="Text 18"/>
          <p:cNvSpPr/>
          <p:nvPr/>
        </p:nvSpPr>
        <p:spPr>
          <a:xfrm>
            <a:off x="548640" y="197510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Arabic + SOCPA + ZAKAT</a:t>
            </a:r>
            <a:endParaRPr lang="en-US" sz="950" dirty="0"/>
          </a:p>
        </p:txBody>
      </p:sp>
      <p:sp>
        <p:nvSpPr>
          <p:cNvPr id="21" name="Text 19"/>
          <p:cNvSpPr/>
          <p:nvPr/>
        </p:nvSpPr>
        <p:spPr>
          <a:xfrm>
            <a:off x="3383280" y="197510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4443984"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5504688"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565392"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626096"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457200" y="2276856"/>
            <a:ext cx="8229600" cy="301752"/>
          </a:xfrm>
          <a:prstGeom prst="rect">
            <a:avLst/>
          </a:prstGeom>
          <a:solidFill>
            <a:srgbClr val="1A2E4A"/>
          </a:solidFill>
          <a:ln/>
        </p:spPr>
      </p:sp>
      <p:sp>
        <p:nvSpPr>
          <p:cNvPr id="27" name="Text 25"/>
          <p:cNvSpPr/>
          <p:nvPr/>
        </p:nvSpPr>
        <p:spPr>
          <a:xfrm>
            <a:off x="548640" y="2276856"/>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Funding Readiness Score</a:t>
            </a:r>
            <a:endParaRPr lang="en-US" sz="950" dirty="0"/>
          </a:p>
        </p:txBody>
      </p:sp>
      <p:sp>
        <p:nvSpPr>
          <p:cNvPr id="28" name="Text 26"/>
          <p:cNvSpPr/>
          <p:nvPr/>
        </p:nvSpPr>
        <p:spPr>
          <a:xfrm>
            <a:off x="3383280" y="2276856"/>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443984"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504688"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565392"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7626096"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457200" y="2578608"/>
            <a:ext cx="8229600" cy="301752"/>
          </a:xfrm>
          <a:prstGeom prst="rect">
            <a:avLst/>
          </a:prstGeom>
          <a:solidFill>
            <a:srgbClr val="1E3654"/>
          </a:solidFill>
          <a:ln/>
        </p:spPr>
      </p:sp>
      <p:sp>
        <p:nvSpPr>
          <p:cNvPr id="34" name="Text 32"/>
          <p:cNvSpPr/>
          <p:nvPr/>
        </p:nvSpPr>
        <p:spPr>
          <a:xfrm>
            <a:off x="548640" y="2578608"/>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Automated Audit Workflow</a:t>
            </a:r>
            <a:endParaRPr lang="en-US" sz="950" dirty="0"/>
          </a:p>
        </p:txBody>
      </p:sp>
      <p:sp>
        <p:nvSpPr>
          <p:cNvPr id="35" name="Text 33"/>
          <p:cNvSpPr/>
          <p:nvPr/>
        </p:nvSpPr>
        <p:spPr>
          <a:xfrm>
            <a:off x="3383280" y="2578608"/>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4443984"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5504688"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6565392"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7626096"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457200" y="2880360"/>
            <a:ext cx="8229600" cy="301752"/>
          </a:xfrm>
          <a:prstGeom prst="rect">
            <a:avLst/>
          </a:prstGeom>
          <a:solidFill>
            <a:srgbClr val="1A2E4A"/>
          </a:solidFill>
          <a:ln/>
        </p:spPr>
      </p:sp>
      <p:sp>
        <p:nvSpPr>
          <p:cNvPr id="41" name="Text 39"/>
          <p:cNvSpPr/>
          <p:nvPr/>
        </p:nvSpPr>
        <p:spPr>
          <a:xfrm>
            <a:off x="548640" y="2880360"/>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Multi-Standard (SOCPA + IFRS)</a:t>
            </a:r>
            <a:endParaRPr lang="en-US" sz="950" dirty="0"/>
          </a:p>
        </p:txBody>
      </p:sp>
      <p:sp>
        <p:nvSpPr>
          <p:cNvPr id="42" name="Text 40"/>
          <p:cNvSpPr/>
          <p:nvPr/>
        </p:nvSpPr>
        <p:spPr>
          <a:xfrm>
            <a:off x="3383280" y="2880360"/>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443984"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4" name="Text 42"/>
          <p:cNvSpPr/>
          <p:nvPr/>
        </p:nvSpPr>
        <p:spPr>
          <a:xfrm>
            <a:off x="5504688" y="2880360"/>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45" name="Text 43"/>
          <p:cNvSpPr/>
          <p:nvPr/>
        </p:nvSpPr>
        <p:spPr>
          <a:xfrm>
            <a:off x="6565392" y="2880360"/>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46" name="Text 44"/>
          <p:cNvSpPr/>
          <p:nvPr/>
        </p:nvSpPr>
        <p:spPr>
          <a:xfrm>
            <a:off x="7626096" y="2880360"/>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457200" y="3182112"/>
            <a:ext cx="8229600" cy="301752"/>
          </a:xfrm>
          <a:prstGeom prst="rect">
            <a:avLst/>
          </a:prstGeom>
          <a:solidFill>
            <a:srgbClr val="1E3654"/>
          </a:solidFill>
          <a:ln/>
        </p:spPr>
      </p:sp>
      <p:sp>
        <p:nvSpPr>
          <p:cNvPr id="48" name="Text 46"/>
          <p:cNvSpPr/>
          <p:nvPr/>
        </p:nvSpPr>
        <p:spPr>
          <a:xfrm>
            <a:off x="548640" y="318211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Professional Marketplace</a:t>
            </a:r>
            <a:endParaRPr lang="en-US" sz="950" dirty="0"/>
          </a:p>
        </p:txBody>
      </p:sp>
      <p:sp>
        <p:nvSpPr>
          <p:cNvPr id="49" name="Text 47"/>
          <p:cNvSpPr/>
          <p:nvPr/>
        </p:nvSpPr>
        <p:spPr>
          <a:xfrm>
            <a:off x="3383280" y="318211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4443984"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1" name="Text 49"/>
          <p:cNvSpPr/>
          <p:nvPr/>
        </p:nvSpPr>
        <p:spPr>
          <a:xfrm>
            <a:off x="5504688"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2" name="Text 50"/>
          <p:cNvSpPr/>
          <p:nvPr/>
        </p:nvSpPr>
        <p:spPr>
          <a:xfrm>
            <a:off x="6565392"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7626096"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457200" y="3483864"/>
            <a:ext cx="8229600" cy="301752"/>
          </a:xfrm>
          <a:prstGeom prst="rect">
            <a:avLst/>
          </a:prstGeom>
          <a:solidFill>
            <a:srgbClr val="1A2E4A"/>
          </a:solidFill>
          <a:ln/>
        </p:spPr>
      </p:sp>
      <p:sp>
        <p:nvSpPr>
          <p:cNvPr id="55" name="Text 53"/>
          <p:cNvSpPr/>
          <p:nvPr/>
        </p:nvSpPr>
        <p:spPr>
          <a:xfrm>
            <a:off x="548640" y="348386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Bilingual Interface (AR/EN)</a:t>
            </a:r>
            <a:endParaRPr lang="en-US" sz="950" dirty="0"/>
          </a:p>
        </p:txBody>
      </p:sp>
      <p:sp>
        <p:nvSpPr>
          <p:cNvPr id="56" name="Text 54"/>
          <p:cNvSpPr/>
          <p:nvPr/>
        </p:nvSpPr>
        <p:spPr>
          <a:xfrm>
            <a:off x="3383280" y="348386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7" name="Text 55"/>
          <p:cNvSpPr/>
          <p:nvPr/>
        </p:nvSpPr>
        <p:spPr>
          <a:xfrm>
            <a:off x="4443984"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5504688"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59" name="Text 57"/>
          <p:cNvSpPr/>
          <p:nvPr/>
        </p:nvSpPr>
        <p:spPr>
          <a:xfrm>
            <a:off x="6565392"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60" name="Text 58"/>
          <p:cNvSpPr/>
          <p:nvPr/>
        </p:nvSpPr>
        <p:spPr>
          <a:xfrm>
            <a:off x="7626096"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3383280" y="1371600"/>
            <a:ext cx="1060704" cy="2414016"/>
          </a:xfrm>
          <a:prstGeom prst="rect">
            <a:avLst/>
          </a:prstGeom>
          <a:solidFill>
            <a:srgbClr val="C9A84C">
              <a:alpha val="10000"/>
            </a:srgbClr>
          </a:solidFill>
          <a:ln/>
        </p:spPr>
      </p:sp>
      <p:sp>
        <p:nvSpPr>
          <p:cNvPr id="62" name="Text 60"/>
          <p:cNvSpPr/>
          <p:nvPr/>
        </p:nvSpPr>
        <p:spPr>
          <a:xfrm>
            <a:off x="457200" y="4114800"/>
            <a:ext cx="8229600" cy="36576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Full   ◐  Partial   —  None         </a:t>
            </a:r>
            <a:pPr indent="0" marL="0">
              <a:buNone/>
            </a:pPr>
            <a:r>
              <a:rPr lang="en-US" sz="1050" dirty="0">
                <a:solidFill>
                  <a:srgbClr val="CBD5E1"/>
                </a:solidFill>
                <a:latin typeface="Calibri" pitchFamily="34" charset="0"/>
                <a:ea typeface="Calibri" pitchFamily="34" charset="-122"/>
                <a:cs typeface="Calibri" pitchFamily="34" charset="-120"/>
              </a:rPr>
              <a:t>APEX is the only platform combining AI analysis + Arabic SOCPA + Readiness Scoring in one product.</a:t>
            </a:r>
            <a:endParaRPr lang="en-US" sz="900" dirty="0"/>
          </a:p>
        </p:txBody>
      </p:sp>
      <p:sp>
        <p:nvSpPr>
          <p:cNvPr id="63" name="Shape 61"/>
          <p:cNvSpPr/>
          <p:nvPr/>
        </p:nvSpPr>
        <p:spPr>
          <a:xfrm>
            <a:off x="0" y="4709160"/>
            <a:ext cx="9144000" cy="434340"/>
          </a:xfrm>
          <a:prstGeom prst="rect">
            <a:avLst/>
          </a:prstGeom>
          <a:solidFill>
            <a:srgbClr val="0A1220"/>
          </a:solidFill>
          <a:ln/>
        </p:spPr>
      </p:sp>
      <p:sp>
        <p:nvSpPr>
          <p:cNvPr id="64" name="Text 6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5" name="Text 6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7 / 19</a:t>
            </a:r>
            <a:endParaRPr lang="en-US" sz="750" dirty="0"/>
          </a:p>
        </p:txBody>
      </p:sp>
      <p:sp>
        <p:nvSpPr>
          <p:cNvPr id="66" name="Text 6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PRICING  ·  التسعير</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Plans for Every Business Size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خطط تناسب كل حجم أعمال</a:t>
            </a:r>
            <a:endParaRPr lang="en-US" sz="2600" dirty="0"/>
          </a:p>
        </p:txBody>
      </p:sp>
      <p:sp>
        <p:nvSpPr>
          <p:cNvPr id="5" name="Shape 3"/>
          <p:cNvSpPr/>
          <p:nvPr/>
        </p:nvSpPr>
        <p:spPr>
          <a:xfrm>
            <a:off x="32004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320040" y="1371600"/>
            <a:ext cx="1920240" cy="54864"/>
          </a:xfrm>
          <a:prstGeom prst="rect">
            <a:avLst/>
          </a:prstGeom>
          <a:solidFill>
            <a:srgbClr val="94A3B8"/>
          </a:solidFill>
          <a:ln/>
        </p:spPr>
      </p:sp>
      <p:sp>
        <p:nvSpPr>
          <p:cNvPr id="7" name="Text 5"/>
          <p:cNvSpPr/>
          <p:nvPr/>
        </p:nvSpPr>
        <p:spPr>
          <a:xfrm>
            <a:off x="41148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p>
        </p:txBody>
      </p:sp>
      <p:sp>
        <p:nvSpPr>
          <p:cNvPr id="8" name="Text 6"/>
          <p:cNvSpPr/>
          <p:nvPr/>
        </p:nvSpPr>
        <p:spPr>
          <a:xfrm>
            <a:off x="411480" y="1737360"/>
            <a:ext cx="173736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الأساسي</a:t>
            </a:r>
            <a:endParaRPr lang="en-US" sz="1000" dirty="0"/>
          </a:p>
        </p:txBody>
      </p:sp>
      <p:sp>
        <p:nvSpPr>
          <p:cNvPr id="9" name="Text 7"/>
          <p:cNvSpPr/>
          <p:nvPr/>
        </p:nvSpPr>
        <p:spPr>
          <a:xfrm>
            <a:off x="41148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0" name="Shape 8"/>
          <p:cNvSpPr/>
          <p:nvPr/>
        </p:nvSpPr>
        <p:spPr>
          <a:xfrm>
            <a:off x="594360" y="2423160"/>
            <a:ext cx="1371600" cy="18288"/>
          </a:xfrm>
          <a:prstGeom prst="rect">
            <a:avLst/>
          </a:prstGeom>
          <a:solidFill>
            <a:srgbClr val="94A3B8">
              <a:alpha val="50000"/>
            </a:srgbClr>
          </a:solidFill>
          <a:ln/>
        </p:spPr>
      </p:sp>
      <p:sp>
        <p:nvSpPr>
          <p:cNvPr id="11" name="Text 9"/>
          <p:cNvSpPr/>
          <p:nvPr/>
        </p:nvSpPr>
        <p:spPr>
          <a:xfrm>
            <a:off x="45720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 Company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COA Upload + AI Classify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5 Reports/month</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Email Support</a:t>
            </a:r>
            <a:endParaRPr lang="en-US" sz="900" dirty="0"/>
          </a:p>
        </p:txBody>
      </p:sp>
      <p:sp>
        <p:nvSpPr>
          <p:cNvPr id="12" name="Shape 10"/>
          <p:cNvSpPr/>
          <p:nvPr/>
        </p:nvSpPr>
        <p:spPr>
          <a:xfrm>
            <a:off x="251460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2514600" y="1371600"/>
            <a:ext cx="1920240" cy="54864"/>
          </a:xfrm>
          <a:prstGeom prst="rect">
            <a:avLst/>
          </a:prstGeom>
          <a:solidFill>
            <a:srgbClr val="0891B2"/>
          </a:solidFill>
          <a:ln/>
        </p:spPr>
      </p:sp>
      <p:sp>
        <p:nvSpPr>
          <p:cNvPr id="14" name="Text 12"/>
          <p:cNvSpPr/>
          <p:nvPr/>
        </p:nvSpPr>
        <p:spPr>
          <a:xfrm>
            <a:off x="260604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p>
        </p:txBody>
      </p:sp>
      <p:sp>
        <p:nvSpPr>
          <p:cNvPr id="15" name="Text 13"/>
          <p:cNvSpPr/>
          <p:nvPr/>
        </p:nvSpPr>
        <p:spPr>
          <a:xfrm>
            <a:off x="2606040" y="1737360"/>
            <a:ext cx="173736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النمو</a:t>
            </a:r>
            <a:endParaRPr lang="en-US" sz="1000" dirty="0"/>
          </a:p>
        </p:txBody>
      </p:sp>
      <p:sp>
        <p:nvSpPr>
          <p:cNvPr id="16" name="Text 14"/>
          <p:cNvSpPr/>
          <p:nvPr/>
        </p:nvSpPr>
        <p:spPr>
          <a:xfrm>
            <a:off x="260604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499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7" name="Shape 15"/>
          <p:cNvSpPr/>
          <p:nvPr/>
        </p:nvSpPr>
        <p:spPr>
          <a:xfrm>
            <a:off x="2788920" y="2423160"/>
            <a:ext cx="1371600" cy="18288"/>
          </a:xfrm>
          <a:prstGeom prst="rect">
            <a:avLst/>
          </a:prstGeom>
          <a:solidFill>
            <a:srgbClr val="0891B2">
              <a:alpha val="50000"/>
            </a:srgbClr>
          </a:solidFill>
          <a:ln/>
        </p:spPr>
      </p:sp>
      <p:sp>
        <p:nvSpPr>
          <p:cNvPr id="18" name="Text 16"/>
          <p:cNvSpPr/>
          <p:nvPr/>
        </p:nvSpPr>
        <p:spPr>
          <a:xfrm>
            <a:off x="265176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3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Analysis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Reports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Readiness Score</a:t>
            </a:r>
            <a:endParaRPr lang="en-US" sz="900" dirty="0"/>
          </a:p>
        </p:txBody>
      </p:sp>
      <p:sp>
        <p:nvSpPr>
          <p:cNvPr id="19" name="Shape 17"/>
          <p:cNvSpPr/>
          <p:nvPr/>
        </p:nvSpPr>
        <p:spPr>
          <a:xfrm>
            <a:off x="4709160" y="1371600"/>
            <a:ext cx="1920240" cy="3063240"/>
          </a:xfrm>
          <a:prstGeom prst="rect">
            <a:avLst/>
          </a:prstGeom>
          <a:solidFill>
            <a:srgbClr val="1C3254"/>
          </a:solidFill>
          <a:ln/>
          <a:effectLst>
            <a:outerShdw sx="100000" sy="100000" kx="0" ky="0" algn="bl" rotWithShape="0" blurRad="101600" dist="38100" dir="8100000">
              <a:srgbClr val="000000">
                <a:alpha val="30000"/>
              </a:srgbClr>
            </a:outerShdw>
          </a:effectLst>
        </p:spPr>
      </p:sp>
      <p:sp>
        <p:nvSpPr>
          <p:cNvPr id="20" name="Shape 18"/>
          <p:cNvSpPr/>
          <p:nvPr/>
        </p:nvSpPr>
        <p:spPr>
          <a:xfrm>
            <a:off x="4709160" y="1371600"/>
            <a:ext cx="1920240" cy="54864"/>
          </a:xfrm>
          <a:prstGeom prst="rect">
            <a:avLst/>
          </a:prstGeom>
          <a:solidFill>
            <a:srgbClr val="C9A84C"/>
          </a:solidFill>
          <a:ln/>
        </p:spPr>
      </p:sp>
      <p:sp>
        <p:nvSpPr>
          <p:cNvPr id="21" name="Shape 19"/>
          <p:cNvSpPr/>
          <p:nvPr/>
        </p:nvSpPr>
        <p:spPr>
          <a:xfrm>
            <a:off x="4983480" y="1261872"/>
            <a:ext cx="1371600" cy="201168"/>
          </a:xfrm>
          <a:prstGeom prst="rect">
            <a:avLst/>
          </a:prstGeom>
          <a:solidFill>
            <a:srgbClr val="C9A84C"/>
          </a:solidFill>
          <a:ln/>
        </p:spPr>
      </p:sp>
      <p:sp>
        <p:nvSpPr>
          <p:cNvPr id="22" name="Text 20"/>
          <p:cNvSpPr/>
          <p:nvPr/>
        </p:nvSpPr>
        <p:spPr>
          <a:xfrm>
            <a:off x="4983480" y="1261872"/>
            <a:ext cx="1371600" cy="201168"/>
          </a:xfrm>
          <a:prstGeom prst="rect">
            <a:avLst/>
          </a:prstGeom>
          <a:noFill/>
          <a:ln/>
        </p:spPr>
        <p:txBody>
          <a:bodyPr wrap="square" lIns="0" tIns="0" rIns="0" bIns="0" rtlCol="0" anchor="ctr"/>
          <a:lstStyle/>
          <a:p>
            <a:pPr algn="ctr" indent="0" marL="0">
              <a:buNone/>
            </a:pPr>
            <a:r>
              <a:rPr lang="en-US" sz="700" b="1" dirty="0">
                <a:solidFill>
                  <a:srgbClr val="0F1B2D"/>
                </a:solidFill>
                <a:latin typeface="Calibri" pitchFamily="34" charset="0"/>
                <a:ea typeface="Calibri" pitchFamily="34" charset="-122"/>
                <a:cs typeface="Calibri" pitchFamily="34" charset="-120"/>
              </a:rPr>
              <a:t>MOST POPULAR</a:t>
            </a:r>
            <a:endParaRPr lang="en-US" sz="700" dirty="0"/>
          </a:p>
        </p:txBody>
      </p:sp>
      <p:sp>
        <p:nvSpPr>
          <p:cNvPr id="23" name="Text 21"/>
          <p:cNvSpPr/>
          <p:nvPr/>
        </p:nvSpPr>
        <p:spPr>
          <a:xfrm>
            <a:off x="480060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Professional</a:t>
            </a:r>
            <a:endParaRPr lang="en-US" sz="1300" dirty="0"/>
          </a:p>
        </p:txBody>
      </p:sp>
      <p:sp>
        <p:nvSpPr>
          <p:cNvPr id="24" name="Text 22"/>
          <p:cNvSpPr/>
          <p:nvPr/>
        </p:nvSpPr>
        <p:spPr>
          <a:xfrm>
            <a:off x="4800600" y="1737360"/>
            <a:ext cx="173736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المهني</a:t>
            </a:r>
            <a:endParaRPr lang="en-US" sz="1000" dirty="0"/>
          </a:p>
        </p:txBody>
      </p:sp>
      <p:sp>
        <p:nvSpPr>
          <p:cNvPr id="25" name="Text 23"/>
          <p:cNvSpPr/>
          <p:nvPr/>
        </p:nvSpPr>
        <p:spPr>
          <a:xfrm>
            <a:off x="480060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26" name="Shape 24"/>
          <p:cNvSpPr/>
          <p:nvPr/>
        </p:nvSpPr>
        <p:spPr>
          <a:xfrm>
            <a:off x="4983480" y="2423160"/>
            <a:ext cx="1371600" cy="18288"/>
          </a:xfrm>
          <a:prstGeom prst="rect">
            <a:avLst/>
          </a:prstGeom>
          <a:solidFill>
            <a:srgbClr val="C9A84C">
              <a:alpha val="50000"/>
            </a:srgbClr>
          </a:solidFill>
          <a:ln/>
        </p:spPr>
      </p:sp>
      <p:sp>
        <p:nvSpPr>
          <p:cNvPr id="27" name="Text 25"/>
          <p:cNvSpPr/>
          <p:nvPr/>
        </p:nvSpPr>
        <p:spPr>
          <a:xfrm>
            <a:off x="484632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10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Suite + Audit</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API Access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Priority Support</a:t>
            </a:r>
            <a:endParaRPr lang="en-US" sz="900" dirty="0"/>
          </a:p>
        </p:txBody>
      </p:sp>
      <p:sp>
        <p:nvSpPr>
          <p:cNvPr id="28" name="Shape 26"/>
          <p:cNvSpPr/>
          <p:nvPr/>
        </p:nvSpPr>
        <p:spPr>
          <a:xfrm>
            <a:off x="690372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9" name="Shape 27"/>
          <p:cNvSpPr/>
          <p:nvPr/>
        </p:nvSpPr>
        <p:spPr>
          <a:xfrm>
            <a:off x="6903720" y="1371600"/>
            <a:ext cx="1920240" cy="54864"/>
          </a:xfrm>
          <a:prstGeom prst="rect">
            <a:avLst/>
          </a:prstGeom>
          <a:solidFill>
            <a:srgbClr val="22D3EE"/>
          </a:solidFill>
          <a:ln/>
        </p:spPr>
      </p:sp>
      <p:sp>
        <p:nvSpPr>
          <p:cNvPr id="30" name="Text 28"/>
          <p:cNvSpPr/>
          <p:nvPr/>
        </p:nvSpPr>
        <p:spPr>
          <a:xfrm>
            <a:off x="699516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p:txBody>
      </p:sp>
      <p:sp>
        <p:nvSpPr>
          <p:cNvPr id="31" name="Text 29"/>
          <p:cNvSpPr/>
          <p:nvPr/>
        </p:nvSpPr>
        <p:spPr>
          <a:xfrm>
            <a:off x="6995160" y="1737360"/>
            <a:ext cx="1737360" cy="182880"/>
          </a:xfrm>
          <a:prstGeom prst="rect">
            <a:avLst/>
          </a:prstGeom>
          <a:noFill/>
          <a:ln/>
        </p:spPr>
        <p:txBody>
          <a:bodyPr wrap="square" lIns="0" tIns="0" rIns="0" bIns="0" rtlCol="0" anchor="ctr"/>
          <a:lstStyle/>
          <a:p>
            <a:pPr algn="ctr" indent="0" marL="0">
              <a:buNone/>
            </a:pPr>
            <a:r>
              <a:rPr lang="en-US" sz="1000" dirty="0">
                <a:solidFill>
                  <a:srgbClr val="22D3EE"/>
                </a:solidFill>
                <a:latin typeface="Calibri" pitchFamily="34" charset="0"/>
                <a:ea typeface="Calibri" pitchFamily="34" charset="-122"/>
                <a:cs typeface="Calibri" pitchFamily="34" charset="-120"/>
              </a:rPr>
              <a:t>المؤسسي</a:t>
            </a:r>
            <a:endParaRPr lang="en-US" sz="1000" dirty="0"/>
          </a:p>
        </p:txBody>
      </p:sp>
      <p:sp>
        <p:nvSpPr>
          <p:cNvPr id="32" name="Text 30"/>
          <p:cNvSpPr/>
          <p:nvPr/>
        </p:nvSpPr>
        <p:spPr>
          <a:xfrm>
            <a:off x="699516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33" name="Shape 31"/>
          <p:cNvSpPr/>
          <p:nvPr/>
        </p:nvSpPr>
        <p:spPr>
          <a:xfrm>
            <a:off x="7178040" y="2423160"/>
            <a:ext cx="1371600" cy="18288"/>
          </a:xfrm>
          <a:prstGeom prst="rect">
            <a:avLst/>
          </a:prstGeom>
          <a:solidFill>
            <a:srgbClr val="22D3EE">
              <a:alpha val="50000"/>
            </a:srgbClr>
          </a:solidFill>
          <a:ln/>
        </p:spPr>
      </p:sp>
      <p:sp>
        <p:nvSpPr>
          <p:cNvPr id="34" name="Text 32"/>
          <p:cNvSpPr/>
          <p:nvPr/>
        </p:nvSpPr>
        <p:spPr>
          <a:xfrm>
            <a:off x="704088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Custom Modules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SLA + Dedicated Manager</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White-label Option</a:t>
            </a:r>
            <a:endParaRPr lang="en-US" sz="900" dirty="0"/>
          </a:p>
        </p:txBody>
      </p:sp>
      <p:sp>
        <p:nvSpPr>
          <p:cNvPr id="35" name="Shape 33"/>
          <p:cNvSpPr/>
          <p:nvPr/>
        </p:nvSpPr>
        <p:spPr>
          <a:xfrm>
            <a:off x="0" y="4709160"/>
            <a:ext cx="9144000" cy="434340"/>
          </a:xfrm>
          <a:prstGeom prst="rect">
            <a:avLst/>
          </a:prstGeom>
          <a:solidFill>
            <a:srgbClr val="0A1220"/>
          </a:solidFill>
          <a:ln/>
        </p:spPr>
      </p:sp>
      <p:sp>
        <p:nvSpPr>
          <p:cNvPr id="36" name="Text 3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7" name="Text 3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8 / 19</a:t>
            </a:r>
            <a:endParaRPr lang="en-US" sz="750" dirty="0"/>
          </a:p>
        </p:txBody>
      </p:sp>
      <p:sp>
        <p:nvSpPr>
          <p:cNvPr id="38" name="Text 3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LIVE DEMO FLOW  ·  مسار العرض التجريبي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See APEX in Action</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شاهد APEX أثناء العمل</a:t>
            </a:r>
            <a:endParaRPr lang="en-US" sz="2600" dirty="0"/>
          </a:p>
        </p:txBody>
      </p:sp>
      <p:sp>
        <p:nvSpPr>
          <p:cNvPr id="5" name="Shape 3"/>
          <p:cNvSpPr/>
          <p:nvPr/>
        </p:nvSpPr>
        <p:spPr>
          <a:xfrm>
            <a:off x="45720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548640" y="1508760"/>
            <a:ext cx="502920" cy="502920"/>
          </a:xfrm>
          <a:prstGeom prst="ellipse">
            <a:avLst/>
          </a:prstGeom>
          <a:solidFill>
            <a:srgbClr val="0891B2"/>
          </a:solidFill>
          <a:ln/>
        </p:spPr>
      </p:sp>
      <p:sp>
        <p:nvSpPr>
          <p:cNvPr id="7" name="Text 5"/>
          <p:cNvSpPr/>
          <p:nvPr/>
        </p:nvSpPr>
        <p:spPr>
          <a:xfrm>
            <a:off x="54864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1</a:t>
            </a:r>
            <a:endParaRPr lang="en-US" sz="2000" dirty="0"/>
          </a:p>
        </p:txBody>
      </p:sp>
      <p:sp>
        <p:nvSpPr>
          <p:cNvPr id="8" name="Text 6"/>
          <p:cNvSpPr/>
          <p:nvPr/>
        </p:nvSpPr>
        <p:spPr>
          <a:xfrm>
            <a:off x="118872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 Onboarding</a:t>
            </a:r>
            <a:endParaRPr lang="en-US" sz="1200" dirty="0"/>
          </a:p>
        </p:txBody>
      </p:sp>
      <p:sp>
        <p:nvSpPr>
          <p:cNvPr id="9" name="Text 7"/>
          <p:cNvSpPr/>
          <p:nvPr/>
        </p:nvSpPr>
        <p:spPr>
          <a:xfrm>
            <a:off x="1188720" y="1618488"/>
            <a:ext cx="228600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تأهيل العميل</a:t>
            </a:r>
            <a:endParaRPr lang="en-US" sz="950" dirty="0"/>
          </a:p>
        </p:txBody>
      </p:sp>
      <p:sp>
        <p:nvSpPr>
          <p:cNvPr id="10" name="Text 8"/>
          <p:cNvSpPr/>
          <p:nvPr/>
        </p:nvSpPr>
        <p:spPr>
          <a:xfrm>
            <a:off x="118872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auto-configures for company type &amp; industry</a:t>
            </a:r>
            <a:endParaRPr lang="en-US" sz="950" dirty="0"/>
          </a:p>
        </p:txBody>
      </p:sp>
      <p:sp>
        <p:nvSpPr>
          <p:cNvPr id="11" name="Shape 9"/>
          <p:cNvSpPr/>
          <p:nvPr/>
        </p:nvSpPr>
        <p:spPr>
          <a:xfrm>
            <a:off x="475488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2" name="Shape 10"/>
          <p:cNvSpPr/>
          <p:nvPr/>
        </p:nvSpPr>
        <p:spPr>
          <a:xfrm>
            <a:off x="4846320" y="1508760"/>
            <a:ext cx="502920" cy="502920"/>
          </a:xfrm>
          <a:prstGeom prst="ellipse">
            <a:avLst/>
          </a:prstGeom>
          <a:solidFill>
            <a:srgbClr val="22D3EE"/>
          </a:solidFill>
          <a:ln/>
        </p:spPr>
      </p:sp>
      <p:sp>
        <p:nvSpPr>
          <p:cNvPr id="13" name="Text 11"/>
          <p:cNvSpPr/>
          <p:nvPr/>
        </p:nvSpPr>
        <p:spPr>
          <a:xfrm>
            <a:off x="484632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548640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Upload COA</a:t>
            </a:r>
            <a:endParaRPr lang="en-US" sz="1200" dirty="0"/>
          </a:p>
        </p:txBody>
      </p:sp>
      <p:sp>
        <p:nvSpPr>
          <p:cNvPr id="15" name="Text 13"/>
          <p:cNvSpPr/>
          <p:nvPr/>
        </p:nvSpPr>
        <p:spPr>
          <a:xfrm>
            <a:off x="5486400" y="1618488"/>
            <a:ext cx="228600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رفع شجرة الحسابات</a:t>
            </a:r>
            <a:endParaRPr lang="en-US" sz="950" dirty="0"/>
          </a:p>
        </p:txBody>
      </p:sp>
      <p:sp>
        <p:nvSpPr>
          <p:cNvPr id="16" name="Text 14"/>
          <p:cNvSpPr/>
          <p:nvPr/>
        </p:nvSpPr>
        <p:spPr>
          <a:xfrm>
            <a:off x="548640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Arabic/English Excel — AI classifies 200+ accounts instantly</a:t>
            </a:r>
            <a:endParaRPr lang="en-US" sz="950" dirty="0"/>
          </a:p>
        </p:txBody>
      </p:sp>
      <p:sp>
        <p:nvSpPr>
          <p:cNvPr id="17" name="Shape 15"/>
          <p:cNvSpPr/>
          <p:nvPr/>
        </p:nvSpPr>
        <p:spPr>
          <a:xfrm>
            <a:off x="45720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8" name="Shape 16"/>
          <p:cNvSpPr/>
          <p:nvPr/>
        </p:nvSpPr>
        <p:spPr>
          <a:xfrm>
            <a:off x="548640" y="2468880"/>
            <a:ext cx="502920" cy="502920"/>
          </a:xfrm>
          <a:prstGeom prst="ellipse">
            <a:avLst/>
          </a:prstGeom>
          <a:solidFill>
            <a:srgbClr val="C9A84C"/>
          </a:solidFill>
          <a:ln/>
        </p:spPr>
      </p:sp>
      <p:sp>
        <p:nvSpPr>
          <p:cNvPr id="19" name="Text 17"/>
          <p:cNvSpPr/>
          <p:nvPr/>
        </p:nvSpPr>
        <p:spPr>
          <a:xfrm>
            <a:off x="54864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3</a:t>
            </a:r>
            <a:endParaRPr lang="en-US" sz="2000" dirty="0"/>
          </a:p>
        </p:txBody>
      </p:sp>
      <p:sp>
        <p:nvSpPr>
          <p:cNvPr id="20" name="Text 18"/>
          <p:cNvSpPr/>
          <p:nvPr/>
        </p:nvSpPr>
        <p:spPr>
          <a:xfrm>
            <a:off x="118872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Trial Balance Bind</a:t>
            </a:r>
            <a:endParaRPr lang="en-US" sz="1200" dirty="0"/>
          </a:p>
        </p:txBody>
      </p:sp>
      <p:sp>
        <p:nvSpPr>
          <p:cNvPr id="21" name="Text 19"/>
          <p:cNvSpPr/>
          <p:nvPr/>
        </p:nvSpPr>
        <p:spPr>
          <a:xfrm>
            <a:off x="1188720" y="2578608"/>
            <a:ext cx="228600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ربط ميزان المراجعة</a:t>
            </a:r>
            <a:endParaRPr lang="en-US" sz="950" dirty="0"/>
          </a:p>
        </p:txBody>
      </p:sp>
      <p:sp>
        <p:nvSpPr>
          <p:cNvPr id="22" name="Text 20"/>
          <p:cNvSpPr/>
          <p:nvPr/>
        </p:nvSpPr>
        <p:spPr>
          <a:xfrm>
            <a:off x="118872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Auto-links TB to COA, anomaly scoring &amp; issue flagging</a:t>
            </a:r>
            <a:endParaRPr lang="en-US" sz="950" dirty="0"/>
          </a:p>
        </p:txBody>
      </p:sp>
      <p:sp>
        <p:nvSpPr>
          <p:cNvPr id="23" name="Shape 21"/>
          <p:cNvSpPr/>
          <p:nvPr/>
        </p:nvSpPr>
        <p:spPr>
          <a:xfrm>
            <a:off x="475488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4" name="Shape 22"/>
          <p:cNvSpPr/>
          <p:nvPr/>
        </p:nvSpPr>
        <p:spPr>
          <a:xfrm>
            <a:off x="4846320" y="2468880"/>
            <a:ext cx="502920" cy="502920"/>
          </a:xfrm>
          <a:prstGeom prst="ellipse">
            <a:avLst/>
          </a:prstGeom>
          <a:solidFill>
            <a:srgbClr val="E8CC73"/>
          </a:solidFill>
          <a:ln/>
        </p:spPr>
      </p:sp>
      <p:sp>
        <p:nvSpPr>
          <p:cNvPr id="25" name="Text 23"/>
          <p:cNvSpPr/>
          <p:nvPr/>
        </p:nvSpPr>
        <p:spPr>
          <a:xfrm>
            <a:off x="484632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4</a:t>
            </a:r>
            <a:endParaRPr lang="en-US" sz="2000" dirty="0"/>
          </a:p>
        </p:txBody>
      </p:sp>
      <p:sp>
        <p:nvSpPr>
          <p:cNvPr id="26" name="Text 24"/>
          <p:cNvSpPr/>
          <p:nvPr/>
        </p:nvSpPr>
        <p:spPr>
          <a:xfrm>
            <a:off x="548640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Financial Statements</a:t>
            </a:r>
            <a:endParaRPr lang="en-US" sz="1200" dirty="0"/>
          </a:p>
        </p:txBody>
      </p:sp>
      <p:sp>
        <p:nvSpPr>
          <p:cNvPr id="27" name="Text 25"/>
          <p:cNvSpPr/>
          <p:nvPr/>
        </p:nvSpPr>
        <p:spPr>
          <a:xfrm>
            <a:off x="5486400" y="2578608"/>
            <a:ext cx="228600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القوائم المالية</a:t>
            </a:r>
            <a:endParaRPr lang="en-US" sz="950" dirty="0"/>
          </a:p>
        </p:txBody>
      </p:sp>
      <p:sp>
        <p:nvSpPr>
          <p:cNvPr id="28" name="Text 26"/>
          <p:cNvSpPr/>
          <p:nvPr/>
        </p:nvSpPr>
        <p:spPr>
          <a:xfrm>
            <a:off x="548640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P&amp;L, Balance Sheet, Cash Flow generated in one click</a:t>
            </a:r>
            <a:endParaRPr lang="en-US" sz="950" dirty="0"/>
          </a:p>
        </p:txBody>
      </p:sp>
      <p:sp>
        <p:nvSpPr>
          <p:cNvPr id="29" name="Shape 27"/>
          <p:cNvSpPr/>
          <p:nvPr/>
        </p:nvSpPr>
        <p:spPr>
          <a:xfrm>
            <a:off x="45720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548640" y="3429000"/>
            <a:ext cx="502920" cy="502920"/>
          </a:xfrm>
          <a:prstGeom prst="ellipse">
            <a:avLst/>
          </a:prstGeom>
          <a:solidFill>
            <a:srgbClr val="10B981"/>
          </a:solidFill>
          <a:ln/>
        </p:spPr>
      </p:sp>
      <p:sp>
        <p:nvSpPr>
          <p:cNvPr id="31" name="Text 29"/>
          <p:cNvSpPr/>
          <p:nvPr/>
        </p:nvSpPr>
        <p:spPr>
          <a:xfrm>
            <a:off x="54864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5</a:t>
            </a:r>
            <a:endParaRPr lang="en-US" sz="2000" dirty="0"/>
          </a:p>
        </p:txBody>
      </p:sp>
      <p:sp>
        <p:nvSpPr>
          <p:cNvPr id="32" name="Text 30"/>
          <p:cNvSpPr/>
          <p:nvPr/>
        </p:nvSpPr>
        <p:spPr>
          <a:xfrm>
            <a:off x="118872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Analysis Dashboard</a:t>
            </a:r>
            <a:endParaRPr lang="en-US" sz="1200" dirty="0"/>
          </a:p>
        </p:txBody>
      </p:sp>
      <p:sp>
        <p:nvSpPr>
          <p:cNvPr id="33" name="Text 31"/>
          <p:cNvSpPr/>
          <p:nvPr/>
        </p:nvSpPr>
        <p:spPr>
          <a:xfrm>
            <a:off x="1188720" y="3538728"/>
            <a:ext cx="228600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لوحة التحليل</a:t>
            </a:r>
            <a:endParaRPr lang="en-US" sz="950" dirty="0"/>
          </a:p>
        </p:txBody>
      </p:sp>
      <p:sp>
        <p:nvSpPr>
          <p:cNvPr id="34" name="Text 32"/>
          <p:cNvSpPr/>
          <p:nvPr/>
        </p:nvSpPr>
        <p:spPr>
          <a:xfrm>
            <a:off x="118872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30+ ratios, Readiness Score, funding gap analysis</a:t>
            </a:r>
            <a:endParaRPr lang="en-US" sz="950" dirty="0"/>
          </a:p>
        </p:txBody>
      </p:sp>
      <p:sp>
        <p:nvSpPr>
          <p:cNvPr id="35" name="Shape 33"/>
          <p:cNvSpPr/>
          <p:nvPr/>
        </p:nvSpPr>
        <p:spPr>
          <a:xfrm>
            <a:off x="475488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Shape 34"/>
          <p:cNvSpPr/>
          <p:nvPr/>
        </p:nvSpPr>
        <p:spPr>
          <a:xfrm>
            <a:off x="4846320" y="3429000"/>
            <a:ext cx="502920" cy="502920"/>
          </a:xfrm>
          <a:prstGeom prst="ellipse">
            <a:avLst/>
          </a:prstGeom>
          <a:solidFill>
            <a:srgbClr val="34D399"/>
          </a:solidFill>
          <a:ln/>
        </p:spPr>
      </p:sp>
      <p:sp>
        <p:nvSpPr>
          <p:cNvPr id="37" name="Text 35"/>
          <p:cNvSpPr/>
          <p:nvPr/>
        </p:nvSpPr>
        <p:spPr>
          <a:xfrm>
            <a:off x="484632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6</a:t>
            </a:r>
            <a:endParaRPr lang="en-US" sz="2000" dirty="0"/>
          </a:p>
        </p:txBody>
      </p:sp>
      <p:sp>
        <p:nvSpPr>
          <p:cNvPr id="38" name="Text 36"/>
          <p:cNvSpPr/>
          <p:nvPr/>
        </p:nvSpPr>
        <p:spPr>
          <a:xfrm>
            <a:off x="548640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Trail</a:t>
            </a:r>
            <a:endParaRPr lang="en-US" sz="1200" dirty="0"/>
          </a:p>
        </p:txBody>
      </p:sp>
      <p:sp>
        <p:nvSpPr>
          <p:cNvPr id="39" name="Text 37"/>
          <p:cNvSpPr/>
          <p:nvPr/>
        </p:nvSpPr>
        <p:spPr>
          <a:xfrm>
            <a:off x="5486400" y="3538728"/>
            <a:ext cx="2286000" cy="182880"/>
          </a:xfrm>
          <a:prstGeom prst="rect">
            <a:avLst/>
          </a:prstGeom>
          <a:noFill/>
          <a:ln/>
        </p:spPr>
        <p:txBody>
          <a:bodyPr wrap="square" lIns="0" tIns="0" rIns="0" bIns="0" rtlCol="0" anchor="ctr"/>
          <a:lstStyle/>
          <a:p>
            <a:pPr indent="0" marL="0">
              <a:buNone/>
            </a:pPr>
            <a:r>
              <a:rPr lang="en-US" sz="950" dirty="0">
                <a:solidFill>
                  <a:srgbClr val="34D399"/>
                </a:solidFill>
                <a:latin typeface="Calibri" pitchFamily="34" charset="0"/>
                <a:ea typeface="Calibri" pitchFamily="34" charset="-122"/>
                <a:cs typeface="Calibri" pitchFamily="34" charset="-120"/>
              </a:rPr>
              <a:t>سجل التدقيق</a:t>
            </a:r>
            <a:endParaRPr lang="en-US" sz="950" dirty="0"/>
          </a:p>
        </p:txBody>
      </p:sp>
      <p:sp>
        <p:nvSpPr>
          <p:cNvPr id="40" name="Text 38"/>
          <p:cNvSpPr/>
          <p:nvPr/>
        </p:nvSpPr>
        <p:spPr>
          <a:xfrm>
            <a:off x="548640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decision logged, timestamped &amp; explainable by AI</a:t>
            </a:r>
            <a:endParaRPr lang="en-US" sz="950" dirty="0"/>
          </a:p>
        </p:txBody>
      </p:sp>
      <p:sp>
        <p:nvSpPr>
          <p:cNvPr id="41" name="Shape 39"/>
          <p:cNvSpPr/>
          <p:nvPr/>
        </p:nvSpPr>
        <p:spPr>
          <a:xfrm>
            <a:off x="457200" y="4251960"/>
            <a:ext cx="8229600" cy="27432"/>
          </a:xfrm>
          <a:prstGeom prst="rect">
            <a:avLst/>
          </a:prstGeom>
          <a:solidFill>
            <a:srgbClr val="C9A84C">
              <a:alpha val="50000"/>
            </a:srgbClr>
          </a:solidFill>
          <a:ln/>
        </p:spPr>
      </p:sp>
      <p:sp>
        <p:nvSpPr>
          <p:cNvPr id="42" name="Text 40"/>
          <p:cNvSpPr/>
          <p:nvPr/>
        </p:nvSpPr>
        <p:spPr>
          <a:xfrm>
            <a:off x="457200" y="3977640"/>
            <a:ext cx="82296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See next slide for dashboard preview  |  انظر الشريحة التالية لمعاينة لوحة التحكم</a:t>
            </a:r>
            <a:endParaRPr lang="en-US" sz="900" dirty="0"/>
          </a:p>
        </p:txBody>
      </p:sp>
      <p:sp>
        <p:nvSpPr>
          <p:cNvPr id="43" name="Shape 41"/>
          <p:cNvSpPr/>
          <p:nvPr/>
        </p:nvSpPr>
        <p:spPr>
          <a:xfrm>
            <a:off x="0" y="4709160"/>
            <a:ext cx="9144000" cy="434340"/>
          </a:xfrm>
          <a:prstGeom prst="rect">
            <a:avLst/>
          </a:prstGeom>
          <a:solidFill>
            <a:srgbClr val="0A1220"/>
          </a:solidFill>
          <a:ln/>
        </p:spPr>
      </p:sp>
      <p:sp>
        <p:nvSpPr>
          <p:cNvPr id="44" name="Text 4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5" name="Text 4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9 / 19</a:t>
            </a:r>
            <a:endParaRPr lang="en-US" sz="750" dirty="0"/>
          </a:p>
        </p:txBody>
      </p:sp>
      <p:sp>
        <p:nvSpPr>
          <p:cNvPr id="46" name="Text 4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DASHBOARD PREVIEW  ·  معاينة لوحة التحكم</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Complete Financial Intelligence at a Glance</a:t>
            </a:r>
            <a:endParaRPr lang="en-US" sz="2400" dirty="0"/>
          </a:p>
          <a:p>
            <a:pPr indent="0" marL="0">
              <a:buNone/>
            </a:pPr>
            <a:r>
              <a:rPr lang="en-US" sz="1300" dirty="0">
                <a:solidFill>
                  <a:srgbClr val="C9A84C"/>
                </a:solidFill>
                <a:latin typeface="Calibri" pitchFamily="34" charset="0"/>
                <a:ea typeface="Calibri" pitchFamily="34" charset="-122"/>
                <a:cs typeface="Calibri" pitchFamily="34" charset="-120"/>
              </a:rPr>
              <a:t>ذكاء مالي متكامل في لمحة واحدة</a:t>
            </a:r>
            <a:endParaRPr lang="en-US" sz="2400" dirty="0"/>
          </a:p>
        </p:txBody>
      </p:sp>
      <p:sp>
        <p:nvSpPr>
          <p:cNvPr id="5" name="Shape 3"/>
          <p:cNvSpPr/>
          <p:nvPr/>
        </p:nvSpPr>
        <p:spPr>
          <a:xfrm>
            <a:off x="365760" y="1234440"/>
            <a:ext cx="8412480" cy="3337560"/>
          </a:xfrm>
          <a:prstGeom prst="rect">
            <a:avLst/>
          </a:prstGeom>
          <a:solidFill>
            <a:srgbClr val="1A2E4A"/>
          </a:solidFill>
          <a:ln/>
          <a:effectLst>
            <a:outerShdw sx="100000" sy="100000" kx="0" ky="0" algn="bl" rotWithShape="0" blurRad="101600" dist="38100" dir="8100000">
              <a:srgbClr val="000000">
                <a:alpha val="30000"/>
              </a:srgbClr>
            </a:outerShdw>
          </a:effectLst>
        </p:spPr>
      </p:sp>
      <p:pic>
        <p:nvPicPr>
          <p:cNvPr id="6" name="Image 0" descr="/sessions/festive-vibrant-feynman/dashboard_mockup.png">    </p:cNvPr>
          <p:cNvPicPr>
            <a:picLocks noChangeAspect="1"/>
          </p:cNvPicPr>
          <p:nvPr/>
        </p:nvPicPr>
        <p:blipFill>
          <a:blip r:embed="rId1"/>
          <a:stretch>
            <a:fillRect/>
          </a:stretch>
        </p:blipFill>
        <p:spPr>
          <a:xfrm>
            <a:off x="457200" y="1280160"/>
            <a:ext cx="8229600" cy="3246120"/>
          </a:xfrm>
          <a:prstGeom prst="rect">
            <a:avLst/>
          </a:prstGeom>
        </p:spPr>
      </p:pic>
      <p:sp>
        <p:nvSpPr>
          <p:cNvPr id="7" name="Text 4"/>
          <p:cNvSpPr/>
          <p:nvPr/>
        </p:nvSpPr>
        <p:spPr>
          <a:xfrm>
            <a:off x="457200" y="4572000"/>
            <a:ext cx="8229600" cy="13716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Real-time KPIs · Financial Statements · Readiness Score · AI Insights  |  مؤشرات فورية · قوائم مالية · درجة الجاهزية · رؤى ذكية</a:t>
            </a:r>
            <a:endParaRPr lang="en-US" sz="850" dirty="0"/>
          </a:p>
        </p:txBody>
      </p:sp>
      <p:sp>
        <p:nvSpPr>
          <p:cNvPr id="8" name="Shape 5"/>
          <p:cNvSpPr/>
          <p:nvPr/>
        </p:nvSpPr>
        <p:spPr>
          <a:xfrm>
            <a:off x="0" y="4709160"/>
            <a:ext cx="9144000" cy="434340"/>
          </a:xfrm>
          <a:prstGeom prst="rect">
            <a:avLst/>
          </a:prstGeom>
          <a:solidFill>
            <a:srgbClr val="0A1220"/>
          </a:solidFill>
          <a:ln/>
        </p:spPr>
      </p:sp>
      <p:sp>
        <p:nvSpPr>
          <p:cNvPr id="9" name="Text 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10" name="Text 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10 / 19</a:t>
            </a:r>
            <a:endParaRPr lang="en-US" sz="750" dirty="0"/>
          </a:p>
        </p:txBody>
      </p:sp>
      <p:sp>
        <p:nvSpPr>
          <p:cNvPr id="11" name="Text 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CASE STUDY  ·  قصة نجاح</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Upload to Insight in 3 Minutes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الرفع إلى النتائج في 3 دقائق</a:t>
            </a:r>
            <a:endParaRPr lang="en-US" sz="2600" dirty="0"/>
          </a:p>
        </p:txBody>
      </p:sp>
      <p:sp>
        <p:nvSpPr>
          <p:cNvPr id="5" name="Shape 3"/>
          <p:cNvSpPr/>
          <p:nvPr/>
        </p:nvSpPr>
        <p:spPr>
          <a:xfrm>
            <a:off x="45720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371600"/>
            <a:ext cx="3931920" cy="45720"/>
          </a:xfrm>
          <a:prstGeom prst="rect">
            <a:avLst/>
          </a:prstGeom>
          <a:solidFill>
            <a:srgbClr val="EF4444"/>
          </a:solidFill>
          <a:ln/>
        </p:spPr>
      </p:sp>
      <p:sp>
        <p:nvSpPr>
          <p:cNvPr id="7" name="Text 5"/>
          <p:cNvSpPr/>
          <p:nvPr/>
        </p:nvSpPr>
        <p:spPr>
          <a:xfrm>
            <a:off x="640080" y="1508760"/>
            <a:ext cx="356616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BEFORE APEX  ·  قبل</a:t>
            </a:r>
            <a:endParaRPr lang="en-US" sz="1300" dirty="0"/>
          </a:p>
        </p:txBody>
      </p:sp>
      <p:sp>
        <p:nvSpPr>
          <p:cNvPr id="8" name="Text 6"/>
          <p:cNvSpPr/>
          <p:nvPr/>
        </p:nvSpPr>
        <p:spPr>
          <a:xfrm>
            <a:off x="64008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9" name="Text 7"/>
          <p:cNvSpPr/>
          <p:nvPr/>
        </p:nvSpPr>
        <p:spPr>
          <a:xfrm>
            <a:off x="2926080" y="187452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3–4 Weeks</a:t>
            </a:r>
            <a:endParaRPr lang="en-US" sz="1100" dirty="0"/>
          </a:p>
        </p:txBody>
      </p:sp>
      <p:sp>
        <p:nvSpPr>
          <p:cNvPr id="10" name="Text 8"/>
          <p:cNvSpPr/>
          <p:nvPr/>
        </p:nvSpPr>
        <p:spPr>
          <a:xfrm>
            <a:off x="64008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11" name="Text 9"/>
          <p:cNvSpPr/>
          <p:nvPr/>
        </p:nvSpPr>
        <p:spPr>
          <a:xfrm>
            <a:off x="2926080" y="228600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SAR 3K–10K</a:t>
            </a:r>
            <a:endParaRPr lang="en-US" sz="1100" dirty="0"/>
          </a:p>
        </p:txBody>
      </p:sp>
      <p:sp>
        <p:nvSpPr>
          <p:cNvPr id="12" name="Text 10"/>
          <p:cNvSpPr/>
          <p:nvPr/>
        </p:nvSpPr>
        <p:spPr>
          <a:xfrm>
            <a:off x="64008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13" name="Text 11"/>
          <p:cNvSpPr/>
          <p:nvPr/>
        </p:nvSpPr>
        <p:spPr>
          <a:xfrm>
            <a:off x="2926080" y="269748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15–25%</a:t>
            </a:r>
            <a:endParaRPr lang="en-US" sz="1100" dirty="0"/>
          </a:p>
        </p:txBody>
      </p:sp>
      <p:sp>
        <p:nvSpPr>
          <p:cNvPr id="14" name="Text 12"/>
          <p:cNvSpPr/>
          <p:nvPr/>
        </p:nvSpPr>
        <p:spPr>
          <a:xfrm>
            <a:off x="64008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15" name="Text 13"/>
          <p:cNvSpPr/>
          <p:nvPr/>
        </p:nvSpPr>
        <p:spPr>
          <a:xfrm>
            <a:off x="2926080" y="310896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None</a:t>
            </a:r>
            <a:endParaRPr lang="en-US" sz="1100" dirty="0"/>
          </a:p>
        </p:txBody>
      </p:sp>
      <p:sp>
        <p:nvSpPr>
          <p:cNvPr id="16" name="Text 14"/>
          <p:cNvSpPr/>
          <p:nvPr/>
        </p:nvSpPr>
        <p:spPr>
          <a:xfrm>
            <a:off x="64008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17" name="Text 15"/>
          <p:cNvSpPr/>
          <p:nvPr/>
        </p:nvSpPr>
        <p:spPr>
          <a:xfrm>
            <a:off x="2926080" y="352044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Manual / Missing</a:t>
            </a:r>
            <a:endParaRPr lang="en-US" sz="1100" dirty="0"/>
          </a:p>
        </p:txBody>
      </p:sp>
      <p:sp>
        <p:nvSpPr>
          <p:cNvPr id="18" name="Text 16"/>
          <p:cNvSpPr/>
          <p:nvPr/>
        </p:nvSpPr>
        <p:spPr>
          <a:xfrm>
            <a:off x="4251960" y="2468880"/>
            <a:ext cx="640080" cy="32004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&gt;&gt;&gt;</a:t>
            </a:r>
            <a:endParaRPr lang="en-US" sz="1800" dirty="0"/>
          </a:p>
        </p:txBody>
      </p:sp>
      <p:sp>
        <p:nvSpPr>
          <p:cNvPr id="19" name="Shape 17"/>
          <p:cNvSpPr/>
          <p:nvPr/>
        </p:nvSpPr>
        <p:spPr>
          <a:xfrm>
            <a:off x="475488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4754880" y="1371600"/>
            <a:ext cx="3931920" cy="45720"/>
          </a:xfrm>
          <a:prstGeom prst="rect">
            <a:avLst/>
          </a:prstGeom>
          <a:solidFill>
            <a:srgbClr val="10B981"/>
          </a:solidFill>
          <a:ln/>
        </p:spPr>
      </p:sp>
      <p:sp>
        <p:nvSpPr>
          <p:cNvPr id="21" name="Text 19"/>
          <p:cNvSpPr/>
          <p:nvPr/>
        </p:nvSpPr>
        <p:spPr>
          <a:xfrm>
            <a:off x="4937760" y="1508760"/>
            <a:ext cx="3566160" cy="2743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AFTER APEX  ·  بعد</a:t>
            </a:r>
            <a:endParaRPr lang="en-US" sz="1300" dirty="0"/>
          </a:p>
        </p:txBody>
      </p:sp>
      <p:sp>
        <p:nvSpPr>
          <p:cNvPr id="22" name="Text 20"/>
          <p:cNvSpPr/>
          <p:nvPr/>
        </p:nvSpPr>
        <p:spPr>
          <a:xfrm>
            <a:off x="493776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23" name="Text 21"/>
          <p:cNvSpPr/>
          <p:nvPr/>
        </p:nvSpPr>
        <p:spPr>
          <a:xfrm>
            <a:off x="7223760" y="187452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Under 5 Min</a:t>
            </a:r>
            <a:endParaRPr lang="en-US" sz="1100" dirty="0"/>
          </a:p>
        </p:txBody>
      </p:sp>
      <p:sp>
        <p:nvSpPr>
          <p:cNvPr id="24" name="Text 22"/>
          <p:cNvSpPr/>
          <p:nvPr/>
        </p:nvSpPr>
        <p:spPr>
          <a:xfrm>
            <a:off x="493776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25" name="Text 23"/>
          <p:cNvSpPr/>
          <p:nvPr/>
        </p:nvSpPr>
        <p:spPr>
          <a:xfrm>
            <a:off x="7223760" y="228600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From SAR 199/mo</a:t>
            </a:r>
            <a:endParaRPr lang="en-US" sz="1100" dirty="0"/>
          </a:p>
        </p:txBody>
      </p:sp>
      <p:sp>
        <p:nvSpPr>
          <p:cNvPr id="26" name="Text 24"/>
          <p:cNvSpPr/>
          <p:nvPr/>
        </p:nvSpPr>
        <p:spPr>
          <a:xfrm>
            <a:off x="493776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27" name="Text 25"/>
          <p:cNvSpPr/>
          <p:nvPr/>
        </p:nvSpPr>
        <p:spPr>
          <a:xfrm>
            <a:off x="7223760" y="269748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&lt; 2%</a:t>
            </a:r>
            <a:endParaRPr lang="en-US" sz="1100" dirty="0"/>
          </a:p>
        </p:txBody>
      </p:sp>
      <p:sp>
        <p:nvSpPr>
          <p:cNvPr id="28" name="Text 26"/>
          <p:cNvSpPr/>
          <p:nvPr/>
        </p:nvSpPr>
        <p:spPr>
          <a:xfrm>
            <a:off x="493776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29" name="Text 27"/>
          <p:cNvSpPr/>
          <p:nvPr/>
        </p:nvSpPr>
        <p:spPr>
          <a:xfrm>
            <a:off x="7223760" y="310896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Score 0–100</a:t>
            </a:r>
            <a:endParaRPr lang="en-US" sz="1100" dirty="0"/>
          </a:p>
        </p:txBody>
      </p:sp>
      <p:sp>
        <p:nvSpPr>
          <p:cNvPr id="30" name="Text 28"/>
          <p:cNvSpPr/>
          <p:nvPr/>
        </p:nvSpPr>
        <p:spPr>
          <a:xfrm>
            <a:off x="493776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31" name="Text 29"/>
          <p:cNvSpPr/>
          <p:nvPr/>
        </p:nvSpPr>
        <p:spPr>
          <a:xfrm>
            <a:off x="7223760" y="352044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Full AI Log</a:t>
            </a:r>
            <a:endParaRPr lang="en-US" sz="1100" dirty="0"/>
          </a:p>
        </p:txBody>
      </p:sp>
      <p:sp>
        <p:nvSpPr>
          <p:cNvPr id="32" name="Shape 30"/>
          <p:cNvSpPr/>
          <p:nvPr/>
        </p:nvSpPr>
        <p:spPr>
          <a:xfrm>
            <a:off x="457200" y="4206240"/>
            <a:ext cx="8229600" cy="320040"/>
          </a:xfrm>
          <a:prstGeom prst="rect">
            <a:avLst/>
          </a:prstGeom>
          <a:solidFill>
            <a:srgbClr val="162940"/>
          </a:solidFill>
          <a:ln/>
        </p:spPr>
      </p:sp>
      <p:sp>
        <p:nvSpPr>
          <p:cNvPr id="33" name="Text 31"/>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Result: 99% faster · 90%+ cheaper · 90% fewer errors  |  النتيجة: أسرع بـ 99% · أرخص بأكثر من 90% · أخطاء أقل بـ 90%</a:t>
            </a:r>
            <a:endParaRPr lang="en-US" sz="11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11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EARLY FEEDBACK  ·  آراء المستخدمين الأوائل</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Early Adopters Are Saying</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ماذا يقول المستخدمون الأوائل</a:t>
            </a:r>
            <a:endParaRPr lang="en-US" sz="2600" dirty="0"/>
          </a:p>
        </p:txBody>
      </p:sp>
      <p:sp>
        <p:nvSpPr>
          <p:cNvPr id="5" name="Shape 3"/>
          <p:cNvSpPr/>
          <p:nvPr/>
        </p:nvSpPr>
        <p:spPr>
          <a:xfrm>
            <a:off x="457200" y="137160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54864" cy="914400"/>
          </a:xfrm>
          <a:prstGeom prst="rect">
            <a:avLst/>
          </a:prstGeom>
          <a:solidFill>
            <a:srgbClr val="0891B2"/>
          </a:solidFill>
          <a:ln/>
        </p:spPr>
      </p:sp>
      <p:sp>
        <p:nvSpPr>
          <p:cNvPr id="7" name="Text 5"/>
          <p:cNvSpPr/>
          <p:nvPr/>
        </p:nvSpPr>
        <p:spPr>
          <a:xfrm>
            <a:off x="640080" y="1325880"/>
            <a:ext cx="365760" cy="365760"/>
          </a:xfrm>
          <a:prstGeom prst="rect">
            <a:avLst/>
          </a:prstGeom>
          <a:noFill/>
          <a:ln/>
        </p:spPr>
        <p:txBody>
          <a:bodyPr wrap="square" lIns="0" tIns="0" rIns="0" bIns="0" rtlCol="0" anchor="ctr"/>
          <a:lstStyle/>
          <a:p>
            <a:pPr indent="0" marL="0">
              <a:buNone/>
            </a:pPr>
            <a:r>
              <a:rPr lang="en-US" sz="3600" dirty="0">
                <a:solidFill>
                  <a:srgbClr val="0891B2"/>
                </a:solidFill>
                <a:latin typeface="Georgia" pitchFamily="34" charset="0"/>
                <a:ea typeface="Georgia" pitchFamily="34" charset="-122"/>
                <a:cs typeface="Georgia" pitchFamily="34" charset="-120"/>
              </a:rPr>
              <a:t>“</a:t>
            </a:r>
            <a:endParaRPr lang="en-US" sz="3600" dirty="0"/>
          </a:p>
        </p:txBody>
      </p:sp>
      <p:sp>
        <p:nvSpPr>
          <p:cNvPr id="8" name="Text 6"/>
          <p:cNvSpPr/>
          <p:nvPr/>
        </p:nvSpPr>
        <p:spPr>
          <a:xfrm>
            <a:off x="1005840" y="141732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APEX cut our quarterly close from 3 weeks to under an hour. The AI catches SOCPA classification errors our team missed for years.</a:t>
            </a:r>
            <a:endParaRPr lang="en-US" sz="1050" dirty="0"/>
          </a:p>
        </p:txBody>
      </p:sp>
      <p:sp>
        <p:nvSpPr>
          <p:cNvPr id="9" name="Text 7"/>
          <p:cNvSpPr/>
          <p:nvPr/>
        </p:nvSpPr>
        <p:spPr>
          <a:xfrm>
            <a:off x="1005840" y="178308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اختصرت APEX إغلاقنا الربعي من 3 أسابيع إلى أقل من ساعة — الذكاء الاصطناعي يكتشف أخطاء تصنيف لم ننتبه لها لسنوات</a:t>
            </a:r>
            <a:endParaRPr lang="en-US" sz="900" dirty="0"/>
          </a:p>
        </p:txBody>
      </p:sp>
      <p:sp>
        <p:nvSpPr>
          <p:cNvPr id="10" name="Text 8"/>
          <p:cNvSpPr/>
          <p:nvPr/>
        </p:nvSpPr>
        <p:spPr>
          <a:xfrm>
            <a:off x="1005840" y="201168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CFO, Saudi Tech Startup</a:t>
            </a:r>
            <a:endParaRPr lang="en-US" sz="1000" dirty="0"/>
          </a:p>
        </p:txBody>
      </p:sp>
      <p:sp>
        <p:nvSpPr>
          <p:cNvPr id="11" name="Text 9"/>
          <p:cNvSpPr/>
          <p:nvPr/>
        </p:nvSpPr>
        <p:spPr>
          <a:xfrm>
            <a:off x="5029200" y="2011680"/>
            <a:ext cx="3200400" cy="182880"/>
          </a:xfrm>
          <a:prstGeom prst="rect">
            <a:avLst/>
          </a:prstGeom>
          <a:noFill/>
          <a:ln/>
        </p:spPr>
        <p:txBody>
          <a:bodyPr wrap="square" lIns="0" tIns="0" rIns="0" bIns="0" rtlCol="0" anchor="ctr"/>
          <a:lstStyle/>
          <a:p>
            <a:pPr algn="r" indent="0" marL="0">
              <a:buNone/>
            </a:pPr>
            <a:r>
              <a:rPr lang="en-US" sz="900" dirty="0">
                <a:solidFill>
                  <a:srgbClr val="0891B2"/>
                </a:solidFill>
                <a:latin typeface="Calibri" pitchFamily="34" charset="0"/>
                <a:ea typeface="Calibri" pitchFamily="34" charset="-122"/>
                <a:cs typeface="Calibri" pitchFamily="34" charset="-120"/>
              </a:rPr>
              <a:t>Series A · Riyadh</a:t>
            </a:r>
            <a:endParaRPr lang="en-US" sz="900" dirty="0"/>
          </a:p>
        </p:txBody>
      </p:sp>
      <p:sp>
        <p:nvSpPr>
          <p:cNvPr id="12" name="Shape 10"/>
          <p:cNvSpPr/>
          <p:nvPr/>
        </p:nvSpPr>
        <p:spPr>
          <a:xfrm>
            <a:off x="457200" y="242316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423160"/>
            <a:ext cx="54864" cy="914400"/>
          </a:xfrm>
          <a:prstGeom prst="rect">
            <a:avLst/>
          </a:prstGeom>
          <a:solidFill>
            <a:srgbClr val="C9A84C"/>
          </a:solidFill>
          <a:ln/>
        </p:spPr>
      </p:sp>
      <p:sp>
        <p:nvSpPr>
          <p:cNvPr id="14" name="Text 12"/>
          <p:cNvSpPr/>
          <p:nvPr/>
        </p:nvSpPr>
        <p:spPr>
          <a:xfrm>
            <a:off x="640080" y="2377440"/>
            <a:ext cx="365760" cy="365760"/>
          </a:xfrm>
          <a:prstGeom prst="rect">
            <a:avLst/>
          </a:prstGeom>
          <a:noFill/>
          <a:ln/>
        </p:spPr>
        <p:txBody>
          <a:bodyPr wrap="square" lIns="0" tIns="0" rIns="0" bIns="0" rtlCol="0" anchor="ctr"/>
          <a:lstStyle/>
          <a:p>
            <a:pPr indent="0" marL="0">
              <a:buNone/>
            </a:pPr>
            <a:r>
              <a:rPr lang="en-US" sz="3600" dirty="0">
                <a:solidFill>
                  <a:srgbClr val="C9A84C"/>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1005840" y="246888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Our team operates in Arabic, investors want English — APEX produces both instantly. No more double-work on financial reports.</a:t>
            </a:r>
            <a:endParaRPr lang="en-US" sz="1050" dirty="0"/>
          </a:p>
        </p:txBody>
      </p:sp>
      <p:sp>
        <p:nvSpPr>
          <p:cNvPr id="16" name="Text 14"/>
          <p:cNvSpPr/>
          <p:nvPr/>
        </p:nvSpPr>
        <p:spPr>
          <a:xfrm>
            <a:off x="1005840" y="283464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فريقنا يعمل بالعربية والمستثمرون يطلبون إنجليزي — APEX تخرج التقريرين فوراً بدون ازدواجية</a:t>
            </a:r>
            <a:endParaRPr lang="en-US" sz="900" dirty="0"/>
          </a:p>
        </p:txBody>
      </p:sp>
      <p:sp>
        <p:nvSpPr>
          <p:cNvPr id="17" name="Text 15"/>
          <p:cNvSpPr/>
          <p:nvPr/>
        </p:nvSpPr>
        <p:spPr>
          <a:xfrm>
            <a:off x="1005840" y="306324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Managing Partner, Accounting Firm</a:t>
            </a:r>
            <a:endParaRPr lang="en-US" sz="1000" dirty="0"/>
          </a:p>
        </p:txBody>
      </p:sp>
      <p:sp>
        <p:nvSpPr>
          <p:cNvPr id="18" name="Text 16"/>
          <p:cNvSpPr/>
          <p:nvPr/>
        </p:nvSpPr>
        <p:spPr>
          <a:xfrm>
            <a:off x="5029200" y="3063240"/>
            <a:ext cx="3200400" cy="182880"/>
          </a:xfrm>
          <a:prstGeom prst="rect">
            <a:avLst/>
          </a:prstGeom>
          <a:noFill/>
          <a:ln/>
        </p:spPr>
        <p:txBody>
          <a:bodyPr wrap="square" lIns="0" tIns="0" rIns="0" bIns="0" rtlCol="0" anchor="ctr"/>
          <a:lstStyle/>
          <a:p>
            <a:pPr algn="r" indent="0" marL="0">
              <a:buNone/>
            </a:pPr>
            <a:r>
              <a:rPr lang="en-US" sz="900" dirty="0">
                <a:solidFill>
                  <a:srgbClr val="C9A84C"/>
                </a:solidFill>
                <a:latin typeface="Calibri" pitchFamily="34" charset="0"/>
                <a:ea typeface="Calibri" pitchFamily="34" charset="-122"/>
                <a:cs typeface="Calibri" pitchFamily="34" charset="-120"/>
              </a:rPr>
              <a:t>50+ Clients · Jeddah</a:t>
            </a:r>
            <a:endParaRPr lang="en-US" sz="900" dirty="0"/>
          </a:p>
        </p:txBody>
      </p:sp>
      <p:sp>
        <p:nvSpPr>
          <p:cNvPr id="19" name="Shape 17"/>
          <p:cNvSpPr/>
          <p:nvPr/>
        </p:nvSpPr>
        <p:spPr>
          <a:xfrm>
            <a:off x="457200" y="347472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474720"/>
            <a:ext cx="54864" cy="914400"/>
          </a:xfrm>
          <a:prstGeom prst="rect">
            <a:avLst/>
          </a:prstGeom>
          <a:solidFill>
            <a:srgbClr val="10B981"/>
          </a:solidFill>
          <a:ln/>
        </p:spPr>
      </p:sp>
      <p:sp>
        <p:nvSpPr>
          <p:cNvPr id="21" name="Text 19"/>
          <p:cNvSpPr/>
          <p:nvPr/>
        </p:nvSpPr>
        <p:spPr>
          <a:xfrm>
            <a:off x="640080" y="3429000"/>
            <a:ext cx="365760" cy="365760"/>
          </a:xfrm>
          <a:prstGeom prst="rect">
            <a:avLst/>
          </a:prstGeom>
          <a:noFill/>
          <a:ln/>
        </p:spPr>
        <p:txBody>
          <a:bodyPr wrap="square" lIns="0" tIns="0" rIns="0" bIns="0" rtlCol="0" anchor="ctr"/>
          <a:lstStyle/>
          <a:p>
            <a:pPr indent="0" marL="0">
              <a:buNone/>
            </a:pPr>
            <a:r>
              <a:rPr lang="en-US" sz="3600" dirty="0">
                <a:solidFill>
                  <a:srgbClr val="10B981"/>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005840" y="352044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Readiness Score showed us 3 gaps we didn't know about. Fixing them helped us close our seed round ahead of schedule.</a:t>
            </a:r>
            <a:endParaRPr lang="en-US" sz="1050" dirty="0"/>
          </a:p>
        </p:txBody>
      </p:sp>
      <p:sp>
        <p:nvSpPr>
          <p:cNvPr id="23" name="Text 21"/>
          <p:cNvSpPr/>
          <p:nvPr/>
        </p:nvSpPr>
        <p:spPr>
          <a:xfrm>
            <a:off x="1005840" y="388620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مؤشر الجاهزية كشف 3 فجوات ما كنا نعرفها — إصلاحها ساعدنا نقفل الجولة التأسيسية قبل الموعد</a:t>
            </a:r>
            <a:endParaRPr lang="en-US" sz="900" dirty="0"/>
          </a:p>
        </p:txBody>
      </p:sp>
      <p:sp>
        <p:nvSpPr>
          <p:cNvPr id="24" name="Text 22"/>
          <p:cNvSpPr/>
          <p:nvPr/>
        </p:nvSpPr>
        <p:spPr>
          <a:xfrm>
            <a:off x="1005840" y="411480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Founder &amp; CEO, E-commerce</a:t>
            </a:r>
            <a:endParaRPr lang="en-US" sz="1000" dirty="0"/>
          </a:p>
        </p:txBody>
      </p:sp>
      <p:sp>
        <p:nvSpPr>
          <p:cNvPr id="25" name="Text 23"/>
          <p:cNvSpPr/>
          <p:nvPr/>
        </p:nvSpPr>
        <p:spPr>
          <a:xfrm>
            <a:off x="5029200" y="4114800"/>
            <a:ext cx="3200400" cy="182880"/>
          </a:xfrm>
          <a:prstGeom prst="rect">
            <a:avLst/>
          </a:prstGeom>
          <a:noFill/>
          <a:ln/>
        </p:spPr>
        <p:txBody>
          <a:bodyPr wrap="square" lIns="0" tIns="0" rIns="0" bIns="0" rtlCol="0" anchor="ctr"/>
          <a:lstStyle/>
          <a:p>
            <a:pPr algn="r" indent="0" marL="0">
              <a:buNone/>
            </a:pPr>
            <a:r>
              <a:rPr lang="en-US" sz="900" dirty="0">
                <a:solidFill>
                  <a:srgbClr val="10B981"/>
                </a:solidFill>
                <a:latin typeface="Calibri" pitchFamily="34" charset="0"/>
                <a:ea typeface="Calibri" pitchFamily="34" charset="-122"/>
                <a:cs typeface="Calibri" pitchFamily="34" charset="-120"/>
              </a:rPr>
              <a:t>Pre-Seed · Dammam</a:t>
            </a:r>
            <a:endParaRPr lang="en-US" sz="900" dirty="0"/>
          </a:p>
        </p:txBody>
      </p:sp>
      <p:sp>
        <p:nvSpPr>
          <p:cNvPr id="26" name="Text 24"/>
          <p:cNvSpPr/>
          <p:nvPr/>
        </p:nvSpPr>
        <p:spPr>
          <a:xfrm>
            <a:off x="457200" y="4526280"/>
            <a:ext cx="8229600" cy="137160"/>
          </a:xfrm>
          <a:prstGeom prst="rect">
            <a:avLst/>
          </a:prstGeom>
          <a:noFill/>
          <a:ln/>
        </p:spPr>
        <p:txBody>
          <a:bodyPr wrap="square" lIns="0" tIns="0" rIns="0" bIns="0"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 Placeholder testimonials from early pilot users — names anonymized  |  * آراء مبدئية من المستخدمين التجريبيين</a:t>
            </a:r>
            <a:endParaRPr lang="en-US" sz="750" dirty="0"/>
          </a:p>
        </p:txBody>
      </p:sp>
      <p:sp>
        <p:nvSpPr>
          <p:cNvPr id="27" name="Shape 25"/>
          <p:cNvSpPr/>
          <p:nvPr/>
        </p:nvSpPr>
        <p:spPr>
          <a:xfrm>
            <a:off x="0" y="4709160"/>
            <a:ext cx="9144000" cy="434340"/>
          </a:xfrm>
          <a:prstGeom prst="rect">
            <a:avLst/>
          </a:prstGeom>
          <a:solidFill>
            <a:srgbClr val="0A1220"/>
          </a:solidFill>
          <a:ln/>
        </p:spPr>
      </p:sp>
      <p:sp>
        <p:nvSpPr>
          <p:cNvPr id="28" name="Text 2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9" name="Text 2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12 / 19</a:t>
            </a:r>
            <a:endParaRPr lang="en-US" sz="750" dirty="0"/>
          </a:p>
        </p:txBody>
      </p:sp>
      <p:sp>
        <p:nvSpPr>
          <p:cNvPr id="30" name="Text 2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UNIT ECONOMICS  ·  اقتصاديات الوحدة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Strong Fundamentals for Scale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أساسيات قوية للتوسع</a:t>
            </a:r>
            <a:endParaRPr lang="en-US" sz="2600" dirty="0"/>
          </a:p>
        </p:txBody>
      </p:sp>
      <p:sp>
        <p:nvSpPr>
          <p:cNvPr id="5" name="Shape 3"/>
          <p:cNvSpPr/>
          <p:nvPr/>
        </p:nvSpPr>
        <p:spPr>
          <a:xfrm>
            <a:off x="45720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45720" cy="640080"/>
          </a:xfrm>
          <a:prstGeom prst="rect">
            <a:avLst/>
          </a:prstGeom>
          <a:solidFill>
            <a:srgbClr val="0891B2"/>
          </a:solidFill>
          <a:ln/>
        </p:spPr>
      </p:sp>
      <p:sp>
        <p:nvSpPr>
          <p:cNvPr id="7" name="Text 5"/>
          <p:cNvSpPr/>
          <p:nvPr/>
        </p:nvSpPr>
        <p:spPr>
          <a:xfrm>
            <a:off x="594360" y="1417320"/>
            <a:ext cx="822960" cy="27432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CAC</a:t>
            </a:r>
            <a:endParaRPr lang="en-US" sz="1000" dirty="0"/>
          </a:p>
        </p:txBody>
      </p:sp>
      <p:sp>
        <p:nvSpPr>
          <p:cNvPr id="8" name="Text 6"/>
          <p:cNvSpPr/>
          <p:nvPr/>
        </p:nvSpPr>
        <p:spPr>
          <a:xfrm>
            <a:off x="141732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600</a:t>
            </a:r>
            <a:endParaRPr lang="en-US" sz="1800" dirty="0"/>
          </a:p>
        </p:txBody>
      </p:sp>
      <p:sp>
        <p:nvSpPr>
          <p:cNvPr id="9" name="Text 7"/>
          <p:cNvSpPr/>
          <p:nvPr/>
        </p:nvSpPr>
        <p:spPr>
          <a:xfrm>
            <a:off x="59436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Customer Acquisition Cost (target)</a:t>
            </a:r>
            <a:endParaRPr lang="en-US" sz="850" dirty="0"/>
          </a:p>
        </p:txBody>
      </p:sp>
      <p:sp>
        <p:nvSpPr>
          <p:cNvPr id="10" name="Shape 8"/>
          <p:cNvSpPr/>
          <p:nvPr/>
        </p:nvSpPr>
        <p:spPr>
          <a:xfrm>
            <a:off x="292608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2926080" y="1371600"/>
            <a:ext cx="45720" cy="640080"/>
          </a:xfrm>
          <a:prstGeom prst="rect">
            <a:avLst/>
          </a:prstGeom>
          <a:solidFill>
            <a:srgbClr val="10B981"/>
          </a:solidFill>
          <a:ln/>
        </p:spPr>
      </p:sp>
      <p:sp>
        <p:nvSpPr>
          <p:cNvPr id="12" name="Text 10"/>
          <p:cNvSpPr/>
          <p:nvPr/>
        </p:nvSpPr>
        <p:spPr>
          <a:xfrm>
            <a:off x="3063240" y="141732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LTV</a:t>
            </a:r>
            <a:endParaRPr lang="en-US" sz="1000" dirty="0"/>
          </a:p>
        </p:txBody>
      </p:sp>
      <p:sp>
        <p:nvSpPr>
          <p:cNvPr id="13" name="Text 11"/>
          <p:cNvSpPr/>
          <p:nvPr/>
        </p:nvSpPr>
        <p:spPr>
          <a:xfrm>
            <a:off x="388620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7,200</a:t>
            </a:r>
            <a:endParaRPr lang="en-US" sz="1800" dirty="0"/>
          </a:p>
        </p:txBody>
      </p:sp>
      <p:sp>
        <p:nvSpPr>
          <p:cNvPr id="14" name="Text 12"/>
          <p:cNvSpPr/>
          <p:nvPr/>
        </p:nvSpPr>
        <p:spPr>
          <a:xfrm>
            <a:off x="306324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Lifetime Value (18-mo × avg plan)</a:t>
            </a:r>
            <a:endParaRPr lang="en-US" sz="850" dirty="0"/>
          </a:p>
        </p:txBody>
      </p:sp>
      <p:sp>
        <p:nvSpPr>
          <p:cNvPr id="15" name="Shape 13"/>
          <p:cNvSpPr/>
          <p:nvPr/>
        </p:nvSpPr>
        <p:spPr>
          <a:xfrm>
            <a:off x="45720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6" name="Shape 14"/>
          <p:cNvSpPr/>
          <p:nvPr/>
        </p:nvSpPr>
        <p:spPr>
          <a:xfrm>
            <a:off x="457200" y="2148840"/>
            <a:ext cx="45720" cy="640080"/>
          </a:xfrm>
          <a:prstGeom prst="rect">
            <a:avLst/>
          </a:prstGeom>
          <a:solidFill>
            <a:srgbClr val="C9A84C"/>
          </a:solidFill>
          <a:ln/>
        </p:spPr>
      </p:sp>
      <p:sp>
        <p:nvSpPr>
          <p:cNvPr id="17" name="Text 15"/>
          <p:cNvSpPr/>
          <p:nvPr/>
        </p:nvSpPr>
        <p:spPr>
          <a:xfrm>
            <a:off x="594360" y="2194560"/>
            <a:ext cx="822960" cy="27432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LTV:CAC</a:t>
            </a:r>
            <a:endParaRPr lang="en-US" sz="1000" dirty="0"/>
          </a:p>
        </p:txBody>
      </p:sp>
      <p:sp>
        <p:nvSpPr>
          <p:cNvPr id="18" name="Text 16"/>
          <p:cNvSpPr/>
          <p:nvPr/>
        </p:nvSpPr>
        <p:spPr>
          <a:xfrm>
            <a:off x="141732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12x</a:t>
            </a:r>
            <a:endParaRPr lang="en-US" sz="1800" dirty="0"/>
          </a:p>
        </p:txBody>
      </p:sp>
      <p:sp>
        <p:nvSpPr>
          <p:cNvPr id="19" name="Text 17"/>
          <p:cNvSpPr/>
          <p:nvPr/>
        </p:nvSpPr>
        <p:spPr>
          <a:xfrm>
            <a:off x="59436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Healthy ratio (benchmark &gt;3x)</a:t>
            </a:r>
            <a:endParaRPr lang="en-US" sz="850" dirty="0"/>
          </a:p>
        </p:txBody>
      </p:sp>
      <p:sp>
        <p:nvSpPr>
          <p:cNvPr id="20" name="Shape 18"/>
          <p:cNvSpPr/>
          <p:nvPr/>
        </p:nvSpPr>
        <p:spPr>
          <a:xfrm>
            <a:off x="292608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1" name="Shape 19"/>
          <p:cNvSpPr/>
          <p:nvPr/>
        </p:nvSpPr>
        <p:spPr>
          <a:xfrm>
            <a:off x="2926080" y="2148840"/>
            <a:ext cx="45720" cy="640080"/>
          </a:xfrm>
          <a:prstGeom prst="rect">
            <a:avLst/>
          </a:prstGeom>
          <a:solidFill>
            <a:srgbClr val="22D3EE"/>
          </a:solidFill>
          <a:ln/>
        </p:spPr>
      </p:sp>
      <p:sp>
        <p:nvSpPr>
          <p:cNvPr id="22" name="Text 20"/>
          <p:cNvSpPr/>
          <p:nvPr/>
        </p:nvSpPr>
        <p:spPr>
          <a:xfrm>
            <a:off x="3063240" y="2194560"/>
            <a:ext cx="822960" cy="274320"/>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Churn</a:t>
            </a:r>
            <a:endParaRPr lang="en-US" sz="1000" dirty="0"/>
          </a:p>
        </p:txBody>
      </p:sp>
      <p:sp>
        <p:nvSpPr>
          <p:cNvPr id="23" name="Text 21"/>
          <p:cNvSpPr/>
          <p:nvPr/>
        </p:nvSpPr>
        <p:spPr>
          <a:xfrm>
            <a:off x="388620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&lt; 5%</a:t>
            </a:r>
            <a:endParaRPr lang="en-US" sz="1800" dirty="0"/>
          </a:p>
        </p:txBody>
      </p:sp>
      <p:sp>
        <p:nvSpPr>
          <p:cNvPr id="24" name="Text 22"/>
          <p:cNvSpPr/>
          <p:nvPr/>
        </p:nvSpPr>
        <p:spPr>
          <a:xfrm>
            <a:off x="306324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Monthly churn target (SaaS avg 6-8%)</a:t>
            </a:r>
            <a:endParaRPr lang="en-US" sz="850" dirty="0"/>
          </a:p>
        </p:txBody>
      </p:sp>
      <p:sp>
        <p:nvSpPr>
          <p:cNvPr id="25" name="Shape 23"/>
          <p:cNvSpPr/>
          <p:nvPr/>
        </p:nvSpPr>
        <p:spPr>
          <a:xfrm>
            <a:off x="45720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6" name="Shape 24"/>
          <p:cNvSpPr/>
          <p:nvPr/>
        </p:nvSpPr>
        <p:spPr>
          <a:xfrm>
            <a:off x="457200" y="2926080"/>
            <a:ext cx="45720" cy="640080"/>
          </a:xfrm>
          <a:prstGeom prst="rect">
            <a:avLst/>
          </a:prstGeom>
          <a:solidFill>
            <a:srgbClr val="E8CC73"/>
          </a:solidFill>
          <a:ln/>
        </p:spPr>
      </p:sp>
      <p:sp>
        <p:nvSpPr>
          <p:cNvPr id="27" name="Text 25"/>
          <p:cNvSpPr/>
          <p:nvPr/>
        </p:nvSpPr>
        <p:spPr>
          <a:xfrm>
            <a:off x="594360" y="2971800"/>
            <a:ext cx="822960" cy="274320"/>
          </a:xfrm>
          <a:prstGeom prst="rect">
            <a:avLst/>
          </a:prstGeom>
          <a:noFill/>
          <a:ln/>
        </p:spPr>
        <p:txBody>
          <a:bodyPr wrap="square" lIns="0" tIns="0" rIns="0" bIns="0" rtlCol="0" anchor="ctr"/>
          <a:lstStyle/>
          <a:p>
            <a:pPr indent="0" marL="0">
              <a:buNone/>
            </a:pPr>
            <a:r>
              <a:rPr lang="en-US" sz="1000" b="1" dirty="0">
                <a:solidFill>
                  <a:srgbClr val="E8CC73"/>
                </a:solidFill>
                <a:latin typeface="Calibri" pitchFamily="34" charset="0"/>
                <a:ea typeface="Calibri" pitchFamily="34" charset="-122"/>
                <a:cs typeface="Calibri" pitchFamily="34" charset="-120"/>
              </a:rPr>
              <a:t>Payback</a:t>
            </a:r>
            <a:endParaRPr lang="en-US" sz="1000" dirty="0"/>
          </a:p>
        </p:txBody>
      </p:sp>
      <p:sp>
        <p:nvSpPr>
          <p:cNvPr id="28" name="Text 26"/>
          <p:cNvSpPr/>
          <p:nvPr/>
        </p:nvSpPr>
        <p:spPr>
          <a:xfrm>
            <a:off x="141732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~2 mo</a:t>
            </a:r>
            <a:endParaRPr lang="en-US" sz="1800" dirty="0"/>
          </a:p>
        </p:txBody>
      </p:sp>
      <p:sp>
        <p:nvSpPr>
          <p:cNvPr id="29" name="Text 27"/>
          <p:cNvSpPr/>
          <p:nvPr/>
        </p:nvSpPr>
        <p:spPr>
          <a:xfrm>
            <a:off x="59436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CAC recovery period</a:t>
            </a:r>
            <a:endParaRPr lang="en-US" sz="850" dirty="0"/>
          </a:p>
        </p:txBody>
      </p:sp>
      <p:sp>
        <p:nvSpPr>
          <p:cNvPr id="30" name="Shape 28"/>
          <p:cNvSpPr/>
          <p:nvPr/>
        </p:nvSpPr>
        <p:spPr>
          <a:xfrm>
            <a:off x="292608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1" name="Shape 29"/>
          <p:cNvSpPr/>
          <p:nvPr/>
        </p:nvSpPr>
        <p:spPr>
          <a:xfrm>
            <a:off x="2926080" y="2926080"/>
            <a:ext cx="45720" cy="640080"/>
          </a:xfrm>
          <a:prstGeom prst="rect">
            <a:avLst/>
          </a:prstGeom>
          <a:solidFill>
            <a:srgbClr val="10B981"/>
          </a:solidFill>
          <a:ln/>
        </p:spPr>
      </p:sp>
      <p:sp>
        <p:nvSpPr>
          <p:cNvPr id="32" name="Text 30"/>
          <p:cNvSpPr/>
          <p:nvPr/>
        </p:nvSpPr>
        <p:spPr>
          <a:xfrm>
            <a:off x="3063240" y="297180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Gross Margin</a:t>
            </a:r>
            <a:endParaRPr lang="en-US" sz="1000" dirty="0"/>
          </a:p>
        </p:txBody>
      </p:sp>
      <p:sp>
        <p:nvSpPr>
          <p:cNvPr id="33" name="Text 31"/>
          <p:cNvSpPr/>
          <p:nvPr/>
        </p:nvSpPr>
        <p:spPr>
          <a:xfrm>
            <a:off x="388620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78%</a:t>
            </a:r>
            <a:endParaRPr lang="en-US" sz="1800" dirty="0"/>
          </a:p>
        </p:txBody>
      </p:sp>
      <p:sp>
        <p:nvSpPr>
          <p:cNvPr id="34" name="Text 32"/>
          <p:cNvSpPr/>
          <p:nvPr/>
        </p:nvSpPr>
        <p:spPr>
          <a:xfrm>
            <a:off x="306324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SaaS + AI infrastructure costs</a:t>
            </a:r>
            <a:endParaRPr lang="en-US" sz="850" dirty="0"/>
          </a:p>
        </p:txBody>
      </p:sp>
      <p:sp>
        <p:nvSpPr>
          <p:cNvPr id="35" name="Shape 33"/>
          <p:cNvSpPr/>
          <p:nvPr/>
        </p:nvSpPr>
        <p:spPr>
          <a:xfrm>
            <a:off x="5303520" y="1371600"/>
            <a:ext cx="3383280" cy="16916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Text 34"/>
          <p:cNvSpPr/>
          <p:nvPr/>
        </p:nvSpPr>
        <p:spPr>
          <a:xfrm>
            <a:off x="5440680" y="14173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Revenue Breakdown  ·  توزيع الإيرادات</a:t>
            </a:r>
            <a:endParaRPr lang="en-US" sz="950" dirty="0"/>
          </a:p>
        </p:txBody>
      </p:sp>
      <p:pic>
        <p:nvPicPr>
          <p:cNvPr id="37" name="Image 0" descr="/sessions/festive-vibrant-feynman/revenue_pie.png">    </p:cNvPr>
          <p:cNvPicPr>
            <a:picLocks noChangeAspect="1"/>
          </p:cNvPicPr>
          <p:nvPr/>
        </p:nvPicPr>
        <p:blipFill>
          <a:blip r:embed="rId1"/>
          <a:stretch>
            <a:fillRect/>
          </a:stretch>
        </p:blipFill>
        <p:spPr>
          <a:xfrm>
            <a:off x="5486400" y="1645920"/>
            <a:ext cx="3017520" cy="1371600"/>
          </a:xfrm>
          <a:prstGeom prst="rect">
            <a:avLst/>
          </a:prstGeom>
        </p:spPr>
      </p:pic>
      <p:sp>
        <p:nvSpPr>
          <p:cNvPr id="38" name="Shape 35"/>
          <p:cNvSpPr/>
          <p:nvPr/>
        </p:nvSpPr>
        <p:spPr>
          <a:xfrm>
            <a:off x="5303520" y="3200400"/>
            <a:ext cx="3383280" cy="13258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9" name="Text 36"/>
          <p:cNvSpPr/>
          <p:nvPr/>
        </p:nvSpPr>
        <p:spPr>
          <a:xfrm>
            <a:off x="5440680" y="32461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3-Year Revenue Projection  ·  إيرادات 3 سنوات</a:t>
            </a:r>
            <a:endParaRPr lang="en-US" sz="950" dirty="0"/>
          </a:p>
        </p:txBody>
      </p:sp>
      <p:pic>
        <p:nvPicPr>
          <p:cNvPr id="40" name="Image 1" descr="/sessions/festive-vibrant-feynman/revenue_projection.png">    </p:cNvPr>
          <p:cNvPicPr>
            <a:picLocks noChangeAspect="1"/>
          </p:cNvPicPr>
          <p:nvPr/>
        </p:nvPicPr>
        <p:blipFill>
          <a:blip r:embed="rId2"/>
          <a:stretch>
            <a:fillRect/>
          </a:stretch>
        </p:blipFill>
        <p:spPr>
          <a:xfrm>
            <a:off x="5486400" y="3474720"/>
            <a:ext cx="3017520" cy="1005840"/>
          </a:xfrm>
          <a:prstGeom prst="rect">
            <a:avLst/>
          </a:prstGeom>
        </p:spPr>
      </p:pic>
      <p:sp>
        <p:nvSpPr>
          <p:cNvPr id="41" name="Shape 37"/>
          <p:cNvSpPr/>
          <p:nvPr/>
        </p:nvSpPr>
        <p:spPr>
          <a:xfrm>
            <a:off x="0" y="4709160"/>
            <a:ext cx="9144000" cy="434340"/>
          </a:xfrm>
          <a:prstGeom prst="rect">
            <a:avLst/>
          </a:prstGeom>
          <a:solidFill>
            <a:srgbClr val="0A1220"/>
          </a:solidFill>
          <a:ln/>
        </p:spPr>
      </p:sp>
      <p:sp>
        <p:nvSpPr>
          <p:cNvPr id="42"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13 / 19</a:t>
            </a:r>
            <a:endParaRPr lang="en-US" sz="750" dirty="0"/>
          </a:p>
        </p:txBody>
      </p:sp>
      <p:sp>
        <p:nvSpPr>
          <p:cNvPr id="44"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TECH STACK  ·  المنظومة التقنية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for Scale &amp; Security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مبنية للتوسع والأمان</a:t>
            </a:r>
            <a:endParaRPr lang="en-US" sz="2600" dirty="0"/>
          </a:p>
        </p:txBody>
      </p:sp>
      <p:sp>
        <p:nvSpPr>
          <p:cNvPr id="5" name="Shape 3"/>
          <p:cNvSpPr/>
          <p:nvPr/>
        </p:nvSpPr>
        <p:spPr>
          <a:xfrm>
            <a:off x="457200" y="1371600"/>
            <a:ext cx="8229600" cy="429768"/>
          </a:xfrm>
          <a:prstGeom prst="rect">
            <a:avLst/>
          </a:prstGeom>
          <a:solidFill>
            <a:srgbClr val="1A2E4A"/>
          </a:solidFill>
          <a:ln/>
        </p:spPr>
      </p:sp>
      <p:sp>
        <p:nvSpPr>
          <p:cNvPr id="6" name="Shape 4"/>
          <p:cNvSpPr/>
          <p:nvPr/>
        </p:nvSpPr>
        <p:spPr>
          <a:xfrm>
            <a:off x="548640" y="1444752"/>
            <a:ext cx="1005840" cy="274320"/>
          </a:xfrm>
          <a:prstGeom prst="rect">
            <a:avLst/>
          </a:prstGeom>
          <a:solidFill>
            <a:srgbClr val="0891B2"/>
          </a:solidFill>
          <a:ln/>
        </p:spPr>
      </p:sp>
      <p:sp>
        <p:nvSpPr>
          <p:cNvPr id="7" name="Text 5"/>
          <p:cNvSpPr/>
          <p:nvPr/>
        </p:nvSpPr>
        <p:spPr>
          <a:xfrm>
            <a:off x="548640" y="14447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Backend</a:t>
            </a:r>
            <a:endParaRPr lang="en-US" sz="950" dirty="0"/>
          </a:p>
        </p:txBody>
      </p:sp>
      <p:sp>
        <p:nvSpPr>
          <p:cNvPr id="8" name="Text 6"/>
          <p:cNvSpPr/>
          <p:nvPr/>
        </p:nvSpPr>
        <p:spPr>
          <a:xfrm>
            <a:off x="1691640" y="13716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FastAPI (Python 3.11)  ·  30+ REST APIs</a:t>
            </a:r>
            <a:endParaRPr lang="en-US" sz="1100" dirty="0"/>
          </a:p>
        </p:txBody>
      </p:sp>
      <p:sp>
        <p:nvSpPr>
          <p:cNvPr id="9" name="Text 7"/>
          <p:cNvSpPr/>
          <p:nvPr/>
        </p:nvSpPr>
        <p:spPr>
          <a:xfrm>
            <a:off x="6400800" y="13716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واجهة خلفية عالية الأداء</a:t>
            </a:r>
            <a:endParaRPr lang="en-US" sz="1000" dirty="0"/>
          </a:p>
        </p:txBody>
      </p:sp>
      <p:sp>
        <p:nvSpPr>
          <p:cNvPr id="10" name="Shape 8"/>
          <p:cNvSpPr/>
          <p:nvPr/>
        </p:nvSpPr>
        <p:spPr>
          <a:xfrm>
            <a:off x="457200" y="1874520"/>
            <a:ext cx="8229600" cy="429768"/>
          </a:xfrm>
          <a:prstGeom prst="rect">
            <a:avLst/>
          </a:prstGeom>
          <a:solidFill>
            <a:srgbClr val="1E3654"/>
          </a:solidFill>
          <a:ln/>
        </p:spPr>
      </p:sp>
      <p:sp>
        <p:nvSpPr>
          <p:cNvPr id="11" name="Shape 9"/>
          <p:cNvSpPr/>
          <p:nvPr/>
        </p:nvSpPr>
        <p:spPr>
          <a:xfrm>
            <a:off x="548640" y="1947672"/>
            <a:ext cx="1005840" cy="274320"/>
          </a:xfrm>
          <a:prstGeom prst="rect">
            <a:avLst/>
          </a:prstGeom>
          <a:solidFill>
            <a:srgbClr val="22D3EE"/>
          </a:solidFill>
          <a:ln/>
        </p:spPr>
      </p:sp>
      <p:sp>
        <p:nvSpPr>
          <p:cNvPr id="12" name="Text 10"/>
          <p:cNvSpPr/>
          <p:nvPr/>
        </p:nvSpPr>
        <p:spPr>
          <a:xfrm>
            <a:off x="548640" y="194767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Frontend</a:t>
            </a:r>
            <a:endParaRPr lang="en-US" sz="950" dirty="0"/>
          </a:p>
        </p:txBody>
      </p:sp>
      <p:sp>
        <p:nvSpPr>
          <p:cNvPr id="13" name="Text 11"/>
          <p:cNvSpPr/>
          <p:nvPr/>
        </p:nvSpPr>
        <p:spPr>
          <a:xfrm>
            <a:off x="1691640" y="187452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Flutter Web + Mobile  ·  55+ Screens</a:t>
            </a:r>
            <a:endParaRPr lang="en-US" sz="1100" dirty="0"/>
          </a:p>
        </p:txBody>
      </p:sp>
      <p:sp>
        <p:nvSpPr>
          <p:cNvPr id="14" name="Text 12"/>
          <p:cNvSpPr/>
          <p:nvPr/>
        </p:nvSpPr>
        <p:spPr>
          <a:xfrm>
            <a:off x="6400800" y="187452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تطبيق ويب وموبايل</a:t>
            </a:r>
            <a:endParaRPr lang="en-US" sz="1000" dirty="0"/>
          </a:p>
        </p:txBody>
      </p:sp>
      <p:sp>
        <p:nvSpPr>
          <p:cNvPr id="15" name="Shape 13"/>
          <p:cNvSpPr/>
          <p:nvPr/>
        </p:nvSpPr>
        <p:spPr>
          <a:xfrm>
            <a:off x="457200" y="2377440"/>
            <a:ext cx="8229600" cy="429768"/>
          </a:xfrm>
          <a:prstGeom prst="rect">
            <a:avLst/>
          </a:prstGeom>
          <a:solidFill>
            <a:srgbClr val="1A2E4A"/>
          </a:solidFill>
          <a:ln/>
        </p:spPr>
      </p:sp>
      <p:sp>
        <p:nvSpPr>
          <p:cNvPr id="16" name="Shape 14"/>
          <p:cNvSpPr/>
          <p:nvPr/>
        </p:nvSpPr>
        <p:spPr>
          <a:xfrm>
            <a:off x="548640" y="2450592"/>
            <a:ext cx="1005840" cy="274320"/>
          </a:xfrm>
          <a:prstGeom prst="rect">
            <a:avLst/>
          </a:prstGeom>
          <a:solidFill>
            <a:srgbClr val="C9A84C"/>
          </a:solidFill>
          <a:ln/>
        </p:spPr>
      </p:sp>
      <p:sp>
        <p:nvSpPr>
          <p:cNvPr id="17" name="Text 15"/>
          <p:cNvSpPr/>
          <p:nvPr/>
        </p:nvSpPr>
        <p:spPr>
          <a:xfrm>
            <a:off x="548640" y="245059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Database</a:t>
            </a:r>
            <a:endParaRPr lang="en-US" sz="950" dirty="0"/>
          </a:p>
        </p:txBody>
      </p:sp>
      <p:sp>
        <p:nvSpPr>
          <p:cNvPr id="18" name="Text 16"/>
          <p:cNvSpPr/>
          <p:nvPr/>
        </p:nvSpPr>
        <p:spPr>
          <a:xfrm>
            <a:off x="1691640" y="237744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PostgreSQL  ·  Read Replicas Ready</a:t>
            </a:r>
            <a:endParaRPr lang="en-US" sz="1100" dirty="0"/>
          </a:p>
        </p:txBody>
      </p:sp>
      <p:sp>
        <p:nvSpPr>
          <p:cNvPr id="19" name="Text 17"/>
          <p:cNvSpPr/>
          <p:nvPr/>
        </p:nvSpPr>
        <p:spPr>
          <a:xfrm>
            <a:off x="6400800" y="237744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قاعدة بيانات قابلة للتوسع</a:t>
            </a:r>
            <a:endParaRPr lang="en-US" sz="1000" dirty="0"/>
          </a:p>
        </p:txBody>
      </p:sp>
      <p:sp>
        <p:nvSpPr>
          <p:cNvPr id="20" name="Shape 18"/>
          <p:cNvSpPr/>
          <p:nvPr/>
        </p:nvSpPr>
        <p:spPr>
          <a:xfrm>
            <a:off x="457200" y="2880360"/>
            <a:ext cx="8229600" cy="429768"/>
          </a:xfrm>
          <a:prstGeom prst="rect">
            <a:avLst/>
          </a:prstGeom>
          <a:solidFill>
            <a:srgbClr val="1E3654"/>
          </a:solidFill>
          <a:ln/>
        </p:spPr>
      </p:sp>
      <p:sp>
        <p:nvSpPr>
          <p:cNvPr id="21" name="Shape 19"/>
          <p:cNvSpPr/>
          <p:nvPr/>
        </p:nvSpPr>
        <p:spPr>
          <a:xfrm>
            <a:off x="548640" y="2953512"/>
            <a:ext cx="1005840" cy="274320"/>
          </a:xfrm>
          <a:prstGeom prst="rect">
            <a:avLst/>
          </a:prstGeom>
          <a:solidFill>
            <a:srgbClr val="10B981"/>
          </a:solidFill>
          <a:ln/>
        </p:spPr>
      </p:sp>
      <p:sp>
        <p:nvSpPr>
          <p:cNvPr id="22" name="Text 20"/>
          <p:cNvSpPr/>
          <p:nvPr/>
        </p:nvSpPr>
        <p:spPr>
          <a:xfrm>
            <a:off x="548640" y="295351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AI Engine</a:t>
            </a:r>
            <a:endParaRPr lang="en-US" sz="950" dirty="0"/>
          </a:p>
        </p:txBody>
      </p:sp>
      <p:sp>
        <p:nvSpPr>
          <p:cNvPr id="23" name="Text 21"/>
          <p:cNvSpPr/>
          <p:nvPr/>
        </p:nvSpPr>
        <p:spPr>
          <a:xfrm>
            <a:off x="1691640" y="288036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Knowledge Brain  ·  11 Modules  ·  Claude AI</a:t>
            </a:r>
            <a:endParaRPr lang="en-US" sz="1100" dirty="0"/>
          </a:p>
        </p:txBody>
      </p:sp>
      <p:sp>
        <p:nvSpPr>
          <p:cNvPr id="24" name="Text 22"/>
          <p:cNvSpPr/>
          <p:nvPr/>
        </p:nvSpPr>
        <p:spPr>
          <a:xfrm>
            <a:off x="6400800" y="288036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عقل معرفي ذكي</a:t>
            </a:r>
            <a:endParaRPr lang="en-US" sz="1000" dirty="0"/>
          </a:p>
        </p:txBody>
      </p:sp>
      <p:sp>
        <p:nvSpPr>
          <p:cNvPr id="25" name="Shape 23"/>
          <p:cNvSpPr/>
          <p:nvPr/>
        </p:nvSpPr>
        <p:spPr>
          <a:xfrm>
            <a:off x="457200" y="3383280"/>
            <a:ext cx="8229600" cy="429768"/>
          </a:xfrm>
          <a:prstGeom prst="rect">
            <a:avLst/>
          </a:prstGeom>
          <a:solidFill>
            <a:srgbClr val="1A2E4A"/>
          </a:solidFill>
          <a:ln/>
        </p:spPr>
      </p:sp>
      <p:sp>
        <p:nvSpPr>
          <p:cNvPr id="26" name="Shape 24"/>
          <p:cNvSpPr/>
          <p:nvPr/>
        </p:nvSpPr>
        <p:spPr>
          <a:xfrm>
            <a:off x="548640" y="3456432"/>
            <a:ext cx="1005840" cy="274320"/>
          </a:xfrm>
          <a:prstGeom prst="rect">
            <a:avLst/>
          </a:prstGeom>
          <a:solidFill>
            <a:srgbClr val="F96167"/>
          </a:solidFill>
          <a:ln/>
        </p:spPr>
      </p:sp>
      <p:sp>
        <p:nvSpPr>
          <p:cNvPr id="27" name="Text 25"/>
          <p:cNvSpPr/>
          <p:nvPr/>
        </p:nvSpPr>
        <p:spPr>
          <a:xfrm>
            <a:off x="548640" y="345643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Auth</a:t>
            </a:r>
            <a:endParaRPr lang="en-US" sz="950" dirty="0"/>
          </a:p>
        </p:txBody>
      </p:sp>
      <p:sp>
        <p:nvSpPr>
          <p:cNvPr id="28" name="Text 26"/>
          <p:cNvSpPr/>
          <p:nvPr/>
        </p:nvSpPr>
        <p:spPr>
          <a:xfrm>
            <a:off x="1691640" y="338328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JWT  ·  11 Roles  ·  Full Audit Logs  ·  bcrypt</a:t>
            </a:r>
            <a:endParaRPr lang="en-US" sz="1100" dirty="0"/>
          </a:p>
        </p:txBody>
      </p:sp>
      <p:sp>
        <p:nvSpPr>
          <p:cNvPr id="29" name="Text 27"/>
          <p:cNvSpPr/>
          <p:nvPr/>
        </p:nvSpPr>
        <p:spPr>
          <a:xfrm>
            <a:off x="6400800" y="338328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أمان متعدد الطبقات</a:t>
            </a:r>
            <a:endParaRPr lang="en-US" sz="1000" dirty="0"/>
          </a:p>
        </p:txBody>
      </p:sp>
      <p:sp>
        <p:nvSpPr>
          <p:cNvPr id="30" name="Shape 28"/>
          <p:cNvSpPr/>
          <p:nvPr/>
        </p:nvSpPr>
        <p:spPr>
          <a:xfrm>
            <a:off x="457200" y="3886200"/>
            <a:ext cx="8229600" cy="429768"/>
          </a:xfrm>
          <a:prstGeom prst="rect">
            <a:avLst/>
          </a:prstGeom>
          <a:solidFill>
            <a:srgbClr val="1E3654"/>
          </a:solidFill>
          <a:ln/>
        </p:spPr>
      </p:sp>
      <p:sp>
        <p:nvSpPr>
          <p:cNvPr id="31" name="Shape 29"/>
          <p:cNvSpPr/>
          <p:nvPr/>
        </p:nvSpPr>
        <p:spPr>
          <a:xfrm>
            <a:off x="548640" y="3959352"/>
            <a:ext cx="1005840" cy="274320"/>
          </a:xfrm>
          <a:prstGeom prst="rect">
            <a:avLst/>
          </a:prstGeom>
          <a:solidFill>
            <a:srgbClr val="E8CC73"/>
          </a:solidFill>
          <a:ln/>
        </p:spPr>
      </p:sp>
      <p:sp>
        <p:nvSpPr>
          <p:cNvPr id="32" name="Text 30"/>
          <p:cNvSpPr/>
          <p:nvPr/>
        </p:nvSpPr>
        <p:spPr>
          <a:xfrm>
            <a:off x="548640" y="39593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DevOps</a:t>
            </a:r>
            <a:endParaRPr lang="en-US" sz="950" dirty="0"/>
          </a:p>
        </p:txBody>
      </p:sp>
      <p:sp>
        <p:nvSpPr>
          <p:cNvPr id="33" name="Text 31"/>
          <p:cNvSpPr/>
          <p:nvPr/>
        </p:nvSpPr>
        <p:spPr>
          <a:xfrm>
            <a:off x="1691640" y="38862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Docker  ·  CI/CD  ·  GitHub Actions  ·  Render</a:t>
            </a:r>
            <a:endParaRPr lang="en-US" sz="1100" dirty="0"/>
          </a:p>
        </p:txBody>
      </p:sp>
      <p:sp>
        <p:nvSpPr>
          <p:cNvPr id="34" name="Text 32"/>
          <p:cNvSpPr/>
          <p:nvPr/>
        </p:nvSpPr>
        <p:spPr>
          <a:xfrm>
            <a:off x="6400800" y="38862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نشر مستمر ومؤتمت</a:t>
            </a:r>
            <a:endParaRPr lang="en-US" sz="1000" dirty="0"/>
          </a:p>
        </p:txBody>
      </p:sp>
      <p:sp>
        <p:nvSpPr>
          <p:cNvPr id="35" name="Shape 33"/>
          <p:cNvSpPr/>
          <p:nvPr/>
        </p:nvSpPr>
        <p:spPr>
          <a:xfrm>
            <a:off x="457200" y="3931920"/>
            <a:ext cx="1920240" cy="502920"/>
          </a:xfrm>
          <a:prstGeom prst="rect">
            <a:avLst/>
          </a:prstGeom>
          <a:solidFill>
            <a:srgbClr val="1A2E4A"/>
          </a:solidFill>
          <a:ln/>
        </p:spPr>
      </p:sp>
      <p:sp>
        <p:nvSpPr>
          <p:cNvPr id="36" name="Shape 34"/>
          <p:cNvSpPr/>
          <p:nvPr/>
        </p:nvSpPr>
        <p:spPr>
          <a:xfrm>
            <a:off x="457200" y="3931920"/>
            <a:ext cx="1920240" cy="36576"/>
          </a:xfrm>
          <a:prstGeom prst="rect">
            <a:avLst/>
          </a:prstGeom>
          <a:solidFill>
            <a:srgbClr val="0891B2"/>
          </a:solidFill>
          <a:ln/>
        </p:spPr>
      </p:sp>
      <p:sp>
        <p:nvSpPr>
          <p:cNvPr id="37" name="Text 35"/>
          <p:cNvSpPr/>
          <p:nvPr/>
        </p:nvSpPr>
        <p:spPr>
          <a:xfrm>
            <a:off x="548640" y="3977640"/>
            <a:ext cx="640080" cy="41148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30+</a:t>
            </a:r>
            <a:endParaRPr lang="en-US" sz="1800" dirty="0"/>
          </a:p>
        </p:txBody>
      </p:sp>
      <p:sp>
        <p:nvSpPr>
          <p:cNvPr id="38" name="Text 36"/>
          <p:cNvSpPr/>
          <p:nvPr/>
        </p:nvSpPr>
        <p:spPr>
          <a:xfrm>
            <a:off x="118872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REST APIs</a:t>
            </a:r>
            <a:endParaRPr lang="en-US" sz="1000" dirty="0"/>
          </a:p>
        </p:txBody>
      </p:sp>
      <p:sp>
        <p:nvSpPr>
          <p:cNvPr id="39" name="Shape 37"/>
          <p:cNvSpPr/>
          <p:nvPr/>
        </p:nvSpPr>
        <p:spPr>
          <a:xfrm>
            <a:off x="2606040" y="3931920"/>
            <a:ext cx="1920240" cy="502920"/>
          </a:xfrm>
          <a:prstGeom prst="rect">
            <a:avLst/>
          </a:prstGeom>
          <a:solidFill>
            <a:srgbClr val="1A2E4A"/>
          </a:solidFill>
          <a:ln/>
        </p:spPr>
      </p:sp>
      <p:sp>
        <p:nvSpPr>
          <p:cNvPr id="40" name="Shape 38"/>
          <p:cNvSpPr/>
          <p:nvPr/>
        </p:nvSpPr>
        <p:spPr>
          <a:xfrm>
            <a:off x="2606040" y="3931920"/>
            <a:ext cx="1920240" cy="36576"/>
          </a:xfrm>
          <a:prstGeom prst="rect">
            <a:avLst/>
          </a:prstGeom>
          <a:solidFill>
            <a:srgbClr val="10B981"/>
          </a:solidFill>
          <a:ln/>
        </p:spPr>
      </p:sp>
      <p:sp>
        <p:nvSpPr>
          <p:cNvPr id="41" name="Text 39"/>
          <p:cNvSpPr/>
          <p:nvPr/>
        </p:nvSpPr>
        <p:spPr>
          <a:xfrm>
            <a:off x="2697480" y="3977640"/>
            <a:ext cx="640080" cy="41148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11</a:t>
            </a:r>
            <a:endParaRPr lang="en-US" sz="1800" dirty="0"/>
          </a:p>
        </p:txBody>
      </p:sp>
      <p:sp>
        <p:nvSpPr>
          <p:cNvPr id="42" name="Text 40"/>
          <p:cNvSpPr/>
          <p:nvPr/>
        </p:nvSpPr>
        <p:spPr>
          <a:xfrm>
            <a:off x="333756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AI Modules</a:t>
            </a:r>
            <a:endParaRPr lang="en-US" sz="1000" dirty="0"/>
          </a:p>
        </p:txBody>
      </p:sp>
      <p:sp>
        <p:nvSpPr>
          <p:cNvPr id="43" name="Shape 41"/>
          <p:cNvSpPr/>
          <p:nvPr/>
        </p:nvSpPr>
        <p:spPr>
          <a:xfrm>
            <a:off x="4754880" y="3931920"/>
            <a:ext cx="1920240" cy="502920"/>
          </a:xfrm>
          <a:prstGeom prst="rect">
            <a:avLst/>
          </a:prstGeom>
          <a:solidFill>
            <a:srgbClr val="1A2E4A"/>
          </a:solidFill>
          <a:ln/>
        </p:spPr>
      </p:sp>
      <p:sp>
        <p:nvSpPr>
          <p:cNvPr id="44" name="Shape 42"/>
          <p:cNvSpPr/>
          <p:nvPr/>
        </p:nvSpPr>
        <p:spPr>
          <a:xfrm>
            <a:off x="4754880" y="3931920"/>
            <a:ext cx="1920240" cy="36576"/>
          </a:xfrm>
          <a:prstGeom prst="rect">
            <a:avLst/>
          </a:prstGeom>
          <a:solidFill>
            <a:srgbClr val="C9A84C"/>
          </a:solidFill>
          <a:ln/>
        </p:spPr>
      </p:sp>
      <p:sp>
        <p:nvSpPr>
          <p:cNvPr id="45" name="Text 43"/>
          <p:cNvSpPr/>
          <p:nvPr/>
        </p:nvSpPr>
        <p:spPr>
          <a:xfrm>
            <a:off x="4846320" y="3977640"/>
            <a:ext cx="640080" cy="41148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55+</a:t>
            </a:r>
            <a:endParaRPr lang="en-US" sz="1800" dirty="0"/>
          </a:p>
        </p:txBody>
      </p:sp>
      <p:sp>
        <p:nvSpPr>
          <p:cNvPr id="46" name="Text 44"/>
          <p:cNvSpPr/>
          <p:nvPr/>
        </p:nvSpPr>
        <p:spPr>
          <a:xfrm>
            <a:off x="548640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UI Screens</a:t>
            </a:r>
            <a:endParaRPr lang="en-US" sz="1000" dirty="0"/>
          </a:p>
        </p:txBody>
      </p:sp>
      <p:sp>
        <p:nvSpPr>
          <p:cNvPr id="47" name="Shape 45"/>
          <p:cNvSpPr/>
          <p:nvPr/>
        </p:nvSpPr>
        <p:spPr>
          <a:xfrm>
            <a:off x="6903720" y="3931920"/>
            <a:ext cx="1920240" cy="502920"/>
          </a:xfrm>
          <a:prstGeom prst="rect">
            <a:avLst/>
          </a:prstGeom>
          <a:solidFill>
            <a:srgbClr val="1A2E4A"/>
          </a:solidFill>
          <a:ln/>
        </p:spPr>
      </p:sp>
      <p:sp>
        <p:nvSpPr>
          <p:cNvPr id="48" name="Shape 46"/>
          <p:cNvSpPr/>
          <p:nvPr/>
        </p:nvSpPr>
        <p:spPr>
          <a:xfrm>
            <a:off x="6903720" y="3931920"/>
            <a:ext cx="1920240" cy="36576"/>
          </a:xfrm>
          <a:prstGeom prst="rect">
            <a:avLst/>
          </a:prstGeom>
          <a:solidFill>
            <a:srgbClr val="F96167"/>
          </a:solidFill>
          <a:ln/>
        </p:spPr>
      </p:sp>
      <p:sp>
        <p:nvSpPr>
          <p:cNvPr id="49" name="Text 47"/>
          <p:cNvSpPr/>
          <p:nvPr/>
        </p:nvSpPr>
        <p:spPr>
          <a:xfrm>
            <a:off x="6995160" y="3977640"/>
            <a:ext cx="640080" cy="411480"/>
          </a:xfrm>
          <a:prstGeom prst="rect">
            <a:avLst/>
          </a:prstGeom>
          <a:noFill/>
          <a:ln/>
        </p:spPr>
        <p:txBody>
          <a:bodyPr wrap="square" lIns="0" tIns="0" rIns="0" bIns="0" rtlCol="0" anchor="ctr"/>
          <a:lstStyle/>
          <a:p>
            <a:pPr indent="0" marL="0">
              <a:buNone/>
            </a:pPr>
            <a:r>
              <a:rPr lang="en-US" sz="1800" dirty="0">
                <a:solidFill>
                  <a:srgbClr val="F96167"/>
                </a:solidFill>
                <a:latin typeface="Arial Black" pitchFamily="34" charset="0"/>
                <a:ea typeface="Arial Black" pitchFamily="34" charset="-122"/>
                <a:cs typeface="Arial Black" pitchFamily="34" charset="-120"/>
              </a:rPr>
              <a:t>204</a:t>
            </a:r>
            <a:endParaRPr lang="en-US" sz="1800" dirty="0"/>
          </a:p>
        </p:txBody>
      </p:sp>
      <p:sp>
        <p:nvSpPr>
          <p:cNvPr id="50" name="Text 48"/>
          <p:cNvSpPr/>
          <p:nvPr/>
        </p:nvSpPr>
        <p:spPr>
          <a:xfrm>
            <a:off x="763524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Tests</a:t>
            </a:r>
            <a:endParaRPr lang="en-US" sz="1000" dirty="0"/>
          </a:p>
        </p:txBody>
      </p:sp>
      <p:sp>
        <p:nvSpPr>
          <p:cNvPr id="51" name="Shape 49"/>
          <p:cNvSpPr/>
          <p:nvPr/>
        </p:nvSpPr>
        <p:spPr>
          <a:xfrm>
            <a:off x="0" y="4709160"/>
            <a:ext cx="9144000" cy="434340"/>
          </a:xfrm>
          <a:prstGeom prst="rect">
            <a:avLst/>
          </a:prstGeom>
          <a:solidFill>
            <a:srgbClr val="0A1220"/>
          </a:solidFill>
          <a:ln/>
        </p:spPr>
      </p:sp>
      <p:sp>
        <p:nvSpPr>
          <p:cNvPr id="52" name="Text 50"/>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53" name="Text 51"/>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14 / 19</a:t>
            </a:r>
            <a:endParaRPr lang="en-US" sz="750" dirty="0"/>
          </a:p>
        </p:txBody>
      </p:sp>
      <p:sp>
        <p:nvSpPr>
          <p:cNvPr id="54" name="Text 52"/>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TEAM  ·  الفريق</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by People Who Understand the Market</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بُني بأيدي من يفهمون السوق</a:t>
            </a:r>
            <a:endParaRPr lang="en-US" sz="2600" dirty="0"/>
          </a:p>
        </p:txBody>
      </p:sp>
      <p:sp>
        <p:nvSpPr>
          <p:cNvPr id="5" name="Shape 3"/>
          <p:cNvSpPr/>
          <p:nvPr/>
        </p:nvSpPr>
        <p:spPr>
          <a:xfrm>
            <a:off x="45720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3977640" cy="45720"/>
          </a:xfrm>
          <a:prstGeom prst="rect">
            <a:avLst/>
          </a:prstGeom>
          <a:solidFill>
            <a:srgbClr val="C9A84C"/>
          </a:solidFill>
          <a:ln/>
        </p:spPr>
      </p:sp>
      <p:sp>
        <p:nvSpPr>
          <p:cNvPr id="7" name="Shape 5"/>
          <p:cNvSpPr/>
          <p:nvPr/>
        </p:nvSpPr>
        <p:spPr>
          <a:xfrm>
            <a:off x="594360" y="1554480"/>
            <a:ext cx="640080" cy="640080"/>
          </a:xfrm>
          <a:prstGeom prst="ellipse">
            <a:avLst/>
          </a:prstGeom>
          <a:solidFill>
            <a:srgbClr val="C9A84C"/>
          </a:solidFill>
          <a:ln/>
        </p:spPr>
      </p:sp>
      <p:sp>
        <p:nvSpPr>
          <p:cNvPr id="8" name="Text 6"/>
          <p:cNvSpPr/>
          <p:nvPr/>
        </p:nvSpPr>
        <p:spPr>
          <a:xfrm>
            <a:off x="59436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SA</a:t>
            </a:r>
            <a:endParaRPr lang="en-US" sz="1400" dirty="0"/>
          </a:p>
        </p:txBody>
      </p:sp>
      <p:sp>
        <p:nvSpPr>
          <p:cNvPr id="9" name="Text 7"/>
          <p:cNvSpPr/>
          <p:nvPr/>
        </p:nvSpPr>
        <p:spPr>
          <a:xfrm>
            <a:off x="137160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Shady Apoelela</a:t>
            </a:r>
            <a:endParaRPr lang="en-US" sz="1300" dirty="0"/>
          </a:p>
        </p:txBody>
      </p:sp>
      <p:sp>
        <p:nvSpPr>
          <p:cNvPr id="10" name="Text 8"/>
          <p:cNvSpPr/>
          <p:nvPr/>
        </p:nvSpPr>
        <p:spPr>
          <a:xfrm>
            <a:off x="1371600" y="1691640"/>
            <a:ext cx="2880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Founder &amp; CEO</a:t>
            </a:r>
            <a:endParaRPr lang="en-US" sz="1000" dirty="0"/>
          </a:p>
        </p:txBody>
      </p:sp>
      <p:sp>
        <p:nvSpPr>
          <p:cNvPr id="11" name="Text 9"/>
          <p:cNvSpPr/>
          <p:nvPr/>
        </p:nvSpPr>
        <p:spPr>
          <a:xfrm>
            <a:off x="137160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شادي أبو العلا  ·  المؤسس والرئيس التنفيذي</a:t>
            </a:r>
            <a:endParaRPr lang="en-US" sz="900" dirty="0"/>
          </a:p>
        </p:txBody>
      </p:sp>
      <p:sp>
        <p:nvSpPr>
          <p:cNvPr id="12" name="Text 10"/>
          <p:cNvSpPr/>
          <p:nvPr/>
        </p:nvSpPr>
        <p:spPr>
          <a:xfrm>
            <a:off x="59436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Full-stack architect. Built APEX from zero to 30+ APIs, 55+ screens, and 11 AI modules single-handedly.</a:t>
            </a:r>
            <a:endParaRPr lang="en-US" sz="900" dirty="0"/>
          </a:p>
        </p:txBody>
      </p:sp>
      <p:sp>
        <p:nvSpPr>
          <p:cNvPr id="13" name="Shape 11"/>
          <p:cNvSpPr/>
          <p:nvPr/>
        </p:nvSpPr>
        <p:spPr>
          <a:xfrm>
            <a:off x="475488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1371600"/>
            <a:ext cx="3977640" cy="45720"/>
          </a:xfrm>
          <a:prstGeom prst="rect">
            <a:avLst/>
          </a:prstGeom>
          <a:solidFill>
            <a:srgbClr val="0891B2"/>
          </a:solidFill>
          <a:ln/>
        </p:spPr>
      </p:sp>
      <p:sp>
        <p:nvSpPr>
          <p:cNvPr id="15" name="Shape 13"/>
          <p:cNvSpPr/>
          <p:nvPr/>
        </p:nvSpPr>
        <p:spPr>
          <a:xfrm>
            <a:off x="4892040" y="1554480"/>
            <a:ext cx="640080" cy="640080"/>
          </a:xfrm>
          <a:prstGeom prst="ellipse">
            <a:avLst/>
          </a:prstGeom>
          <a:solidFill>
            <a:srgbClr val="0891B2"/>
          </a:solidFill>
          <a:ln/>
        </p:spPr>
      </p:sp>
      <p:sp>
        <p:nvSpPr>
          <p:cNvPr id="16" name="Text 14"/>
          <p:cNvSpPr/>
          <p:nvPr/>
        </p:nvSpPr>
        <p:spPr>
          <a:xfrm>
            <a:off x="489204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CTO</a:t>
            </a:r>
            <a:endParaRPr lang="en-US" sz="1400" dirty="0"/>
          </a:p>
        </p:txBody>
      </p:sp>
      <p:sp>
        <p:nvSpPr>
          <p:cNvPr id="17" name="Text 15"/>
          <p:cNvSpPr/>
          <p:nvPr/>
        </p:nvSpPr>
        <p:spPr>
          <a:xfrm>
            <a:off x="566928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CTO (Hiring)</a:t>
            </a:r>
            <a:endParaRPr lang="en-US" sz="1300" dirty="0"/>
          </a:p>
        </p:txBody>
      </p:sp>
      <p:sp>
        <p:nvSpPr>
          <p:cNvPr id="18" name="Text 16"/>
          <p:cNvSpPr/>
          <p:nvPr/>
        </p:nvSpPr>
        <p:spPr>
          <a:xfrm>
            <a:off x="5669280" y="1691640"/>
            <a:ext cx="28803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Chief Technology Officer</a:t>
            </a:r>
            <a:endParaRPr lang="en-US" sz="1000" dirty="0"/>
          </a:p>
        </p:txBody>
      </p:sp>
      <p:sp>
        <p:nvSpPr>
          <p:cNvPr id="19" name="Text 17"/>
          <p:cNvSpPr/>
          <p:nvPr/>
        </p:nvSpPr>
        <p:spPr>
          <a:xfrm>
            <a:off x="566928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مدير التقنية (توظيف)  ·  المدير التقني</a:t>
            </a:r>
            <a:endParaRPr lang="en-US" sz="900" dirty="0"/>
          </a:p>
        </p:txBody>
      </p:sp>
      <p:sp>
        <p:nvSpPr>
          <p:cNvPr id="20" name="Text 18"/>
          <p:cNvSpPr/>
          <p:nvPr/>
        </p:nvSpPr>
        <p:spPr>
          <a:xfrm>
            <a:off x="489204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10+ years backend/AI experience. Saudi fintech expertise preferred. Equity + competitive salary.</a:t>
            </a:r>
            <a:endParaRPr lang="en-US" sz="900" dirty="0"/>
          </a:p>
        </p:txBody>
      </p:sp>
      <p:sp>
        <p:nvSpPr>
          <p:cNvPr id="21" name="Shape 19"/>
          <p:cNvSpPr/>
          <p:nvPr/>
        </p:nvSpPr>
        <p:spPr>
          <a:xfrm>
            <a:off x="45720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2" name="Shape 20"/>
          <p:cNvSpPr/>
          <p:nvPr/>
        </p:nvSpPr>
        <p:spPr>
          <a:xfrm>
            <a:off x="457200" y="2788920"/>
            <a:ext cx="3977640" cy="45720"/>
          </a:xfrm>
          <a:prstGeom prst="rect">
            <a:avLst/>
          </a:prstGeom>
          <a:solidFill>
            <a:srgbClr val="10B981"/>
          </a:solidFill>
          <a:ln/>
        </p:spPr>
      </p:sp>
      <p:sp>
        <p:nvSpPr>
          <p:cNvPr id="23" name="Shape 21"/>
          <p:cNvSpPr/>
          <p:nvPr/>
        </p:nvSpPr>
        <p:spPr>
          <a:xfrm>
            <a:off x="594360" y="2971800"/>
            <a:ext cx="640080" cy="640080"/>
          </a:xfrm>
          <a:prstGeom prst="ellipse">
            <a:avLst/>
          </a:prstGeom>
          <a:solidFill>
            <a:srgbClr val="10B981"/>
          </a:solidFill>
          <a:ln/>
        </p:spPr>
      </p:sp>
      <p:sp>
        <p:nvSpPr>
          <p:cNvPr id="24" name="Text 22"/>
          <p:cNvSpPr/>
          <p:nvPr/>
        </p:nvSpPr>
        <p:spPr>
          <a:xfrm>
            <a:off x="59436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CFO</a:t>
            </a:r>
            <a:endParaRPr lang="en-US" sz="1400" dirty="0"/>
          </a:p>
        </p:txBody>
      </p:sp>
      <p:sp>
        <p:nvSpPr>
          <p:cNvPr id="25" name="Text 23"/>
          <p:cNvSpPr/>
          <p:nvPr/>
        </p:nvSpPr>
        <p:spPr>
          <a:xfrm>
            <a:off x="137160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CFO (Hiring)</a:t>
            </a:r>
            <a:endParaRPr lang="en-US" sz="1300" dirty="0"/>
          </a:p>
        </p:txBody>
      </p:sp>
      <p:sp>
        <p:nvSpPr>
          <p:cNvPr id="26" name="Text 24"/>
          <p:cNvSpPr/>
          <p:nvPr/>
        </p:nvSpPr>
        <p:spPr>
          <a:xfrm>
            <a:off x="1371600" y="3108960"/>
            <a:ext cx="2880360" cy="18288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Chief Financial Officer</a:t>
            </a:r>
            <a:endParaRPr lang="en-US" sz="1000" dirty="0"/>
          </a:p>
        </p:txBody>
      </p:sp>
      <p:sp>
        <p:nvSpPr>
          <p:cNvPr id="27" name="Text 25"/>
          <p:cNvSpPr/>
          <p:nvPr/>
        </p:nvSpPr>
        <p:spPr>
          <a:xfrm>
            <a:off x="137160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المدير المالي (توظيف)  ·  المدير المالي</a:t>
            </a:r>
            <a:endParaRPr lang="en-US" sz="900" dirty="0"/>
          </a:p>
        </p:txBody>
      </p:sp>
      <p:sp>
        <p:nvSpPr>
          <p:cNvPr id="28" name="Text 26"/>
          <p:cNvSpPr/>
          <p:nvPr/>
        </p:nvSpPr>
        <p:spPr>
          <a:xfrm>
            <a:off x="59436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CPA/CFA with SOCPA knowledge. Startup finance experience. Will lead compliance &amp; investor relations.</a:t>
            </a:r>
            <a:endParaRPr lang="en-US" sz="900" dirty="0"/>
          </a:p>
        </p:txBody>
      </p:sp>
      <p:sp>
        <p:nvSpPr>
          <p:cNvPr id="29" name="Shape 27"/>
          <p:cNvSpPr/>
          <p:nvPr/>
        </p:nvSpPr>
        <p:spPr>
          <a:xfrm>
            <a:off x="475488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4754880" y="2788920"/>
            <a:ext cx="3977640" cy="45720"/>
          </a:xfrm>
          <a:prstGeom prst="rect">
            <a:avLst/>
          </a:prstGeom>
          <a:solidFill>
            <a:srgbClr val="F96167"/>
          </a:solidFill>
          <a:ln/>
        </p:spPr>
      </p:sp>
      <p:sp>
        <p:nvSpPr>
          <p:cNvPr id="31" name="Shape 29"/>
          <p:cNvSpPr/>
          <p:nvPr/>
        </p:nvSpPr>
        <p:spPr>
          <a:xfrm>
            <a:off x="4892040" y="2971800"/>
            <a:ext cx="640080" cy="640080"/>
          </a:xfrm>
          <a:prstGeom prst="ellipse">
            <a:avLst/>
          </a:prstGeom>
          <a:solidFill>
            <a:srgbClr val="F96167"/>
          </a:solidFill>
          <a:ln/>
        </p:spPr>
      </p:sp>
      <p:sp>
        <p:nvSpPr>
          <p:cNvPr id="32" name="Text 30"/>
          <p:cNvSpPr/>
          <p:nvPr/>
        </p:nvSpPr>
        <p:spPr>
          <a:xfrm>
            <a:off x="489204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GL</a:t>
            </a:r>
            <a:endParaRPr lang="en-US" sz="1400" dirty="0"/>
          </a:p>
        </p:txBody>
      </p:sp>
      <p:sp>
        <p:nvSpPr>
          <p:cNvPr id="33" name="Text 31"/>
          <p:cNvSpPr/>
          <p:nvPr/>
        </p:nvSpPr>
        <p:spPr>
          <a:xfrm>
            <a:off x="566928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Growth Lead (Hiring)</a:t>
            </a:r>
            <a:endParaRPr lang="en-US" sz="1300" dirty="0"/>
          </a:p>
        </p:txBody>
      </p:sp>
      <p:sp>
        <p:nvSpPr>
          <p:cNvPr id="34" name="Text 32"/>
          <p:cNvSpPr/>
          <p:nvPr/>
        </p:nvSpPr>
        <p:spPr>
          <a:xfrm>
            <a:off x="5669280" y="3108960"/>
            <a:ext cx="28803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Head of Growth &amp; Sales</a:t>
            </a:r>
            <a:endParaRPr lang="en-US" sz="1000" dirty="0"/>
          </a:p>
        </p:txBody>
      </p:sp>
      <p:sp>
        <p:nvSpPr>
          <p:cNvPr id="35" name="Text 33"/>
          <p:cNvSpPr/>
          <p:nvPr/>
        </p:nvSpPr>
        <p:spPr>
          <a:xfrm>
            <a:off x="566928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قائد النمو (توظيف)  ·  رئيس النمو والمبيعات</a:t>
            </a:r>
            <a:endParaRPr lang="en-US" sz="900" dirty="0"/>
          </a:p>
        </p:txBody>
      </p:sp>
      <p:sp>
        <p:nvSpPr>
          <p:cNvPr id="36" name="Text 34"/>
          <p:cNvSpPr/>
          <p:nvPr/>
        </p:nvSpPr>
        <p:spPr>
          <a:xfrm>
            <a:off x="489204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B2B SaaS growth expert. Saudi market connections. Will drive go-to-market &amp; partnerships.</a:t>
            </a:r>
            <a:endParaRPr lang="en-US" sz="900" dirty="0"/>
          </a:p>
        </p:txBody>
      </p:sp>
      <p:sp>
        <p:nvSpPr>
          <p:cNvPr id="37" name="Shape 35"/>
          <p:cNvSpPr/>
          <p:nvPr/>
        </p:nvSpPr>
        <p:spPr>
          <a:xfrm>
            <a:off x="457200" y="4251960"/>
            <a:ext cx="8229600" cy="320040"/>
          </a:xfrm>
          <a:prstGeom prst="rect">
            <a:avLst/>
          </a:prstGeom>
          <a:solidFill>
            <a:srgbClr val="162940"/>
          </a:solidFill>
          <a:ln/>
        </p:spPr>
      </p:sp>
      <p:sp>
        <p:nvSpPr>
          <p:cNvPr id="38" name="Text 36"/>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We're hiring exceptional talent to join our mission  ·  نبحث عن كفاءات استثنائية للانضمام إلى رحلتنا</a:t>
            </a:r>
            <a:endParaRPr lang="en-US" sz="1100" dirty="0"/>
          </a:p>
        </p:txBody>
      </p:sp>
      <p:sp>
        <p:nvSpPr>
          <p:cNvPr id="39" name="Shape 37"/>
          <p:cNvSpPr/>
          <p:nvPr/>
        </p:nvSpPr>
        <p:spPr>
          <a:xfrm>
            <a:off x="0" y="4709160"/>
            <a:ext cx="9144000" cy="434340"/>
          </a:xfrm>
          <a:prstGeom prst="rect">
            <a:avLst/>
          </a:prstGeom>
          <a:solidFill>
            <a:srgbClr val="0A1220"/>
          </a:solidFill>
          <a:ln/>
        </p:spPr>
      </p:sp>
      <p:sp>
        <p:nvSpPr>
          <p:cNvPr id="40"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15 / 19</a:t>
            </a:r>
            <a:endParaRPr lang="en-US" sz="750" dirty="0"/>
          </a:p>
        </p:txBody>
      </p:sp>
      <p:sp>
        <p:nvSpPr>
          <p:cNvPr id="42"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ROADMAP TO SCALE  ·  خارطة طريق التوسع</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Saudi to the Gulf &amp; Beyond</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السعودية إلى الخليج والعالم</a:t>
            </a:r>
            <a:endParaRPr lang="en-US" sz="2600" dirty="0"/>
          </a:p>
        </p:txBody>
      </p:sp>
      <p:sp>
        <p:nvSpPr>
          <p:cNvPr id="5" name="Shape 3"/>
          <p:cNvSpPr/>
          <p:nvPr/>
        </p:nvSpPr>
        <p:spPr>
          <a:xfrm>
            <a:off x="32004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417320"/>
            <a:ext cx="1920240" cy="45720"/>
          </a:xfrm>
          <a:prstGeom prst="rect">
            <a:avLst/>
          </a:prstGeom>
          <a:solidFill>
            <a:srgbClr val="0891B2"/>
          </a:solidFill>
          <a:ln/>
        </p:spPr>
      </p:sp>
      <p:sp>
        <p:nvSpPr>
          <p:cNvPr id="7" name="Text 5"/>
          <p:cNvSpPr/>
          <p:nvPr/>
        </p:nvSpPr>
        <p:spPr>
          <a:xfrm>
            <a:off x="411480" y="1508760"/>
            <a:ext cx="1737360" cy="182880"/>
          </a:xfrm>
          <a:prstGeom prst="rect">
            <a:avLst/>
          </a:prstGeom>
          <a:noFill/>
          <a:ln/>
        </p:spPr>
        <p:txBody>
          <a:bodyPr wrap="square" lIns="0" tIns="0" rIns="0" bIns="0"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1148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Now – 3M</a:t>
            </a:r>
            <a:endParaRPr lang="en-US" sz="800" dirty="0"/>
          </a:p>
        </p:txBody>
      </p:sp>
      <p:sp>
        <p:nvSpPr>
          <p:cNvPr id="9" name="Text 7"/>
          <p:cNvSpPr/>
          <p:nvPr/>
        </p:nvSpPr>
        <p:spPr>
          <a:xfrm>
            <a:off x="41148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Stabilize</a:t>
            </a:r>
            <a:endParaRPr lang="en-US" sz="1800" dirty="0"/>
          </a:p>
        </p:txBody>
      </p:sp>
      <p:sp>
        <p:nvSpPr>
          <p:cNvPr id="10" name="Text 8"/>
          <p:cNvSpPr/>
          <p:nvPr/>
        </p:nvSpPr>
        <p:spPr>
          <a:xfrm>
            <a:off x="41148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التثبيت</a:t>
            </a:r>
            <a:endParaRPr lang="en-US" sz="1000" dirty="0"/>
          </a:p>
        </p:txBody>
      </p:sp>
      <p:sp>
        <p:nvSpPr>
          <p:cNvPr id="11" name="Text 9"/>
          <p:cNvSpPr/>
          <p:nvPr/>
        </p:nvSpPr>
        <p:spPr>
          <a:xfrm>
            <a:off x="41148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Tests &amp; Bug Fixes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Flutter Optimization</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Seed Data &amp; GitHub</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Security Hardening</a:t>
            </a:r>
            <a:endParaRPr lang="en-US" sz="900" dirty="0"/>
          </a:p>
        </p:txBody>
      </p:sp>
      <p:sp>
        <p:nvSpPr>
          <p:cNvPr id="12" name="Shape 10"/>
          <p:cNvSpPr/>
          <p:nvPr/>
        </p:nvSpPr>
        <p:spPr>
          <a:xfrm>
            <a:off x="251460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417320"/>
            <a:ext cx="1920240" cy="45720"/>
          </a:xfrm>
          <a:prstGeom prst="rect">
            <a:avLst/>
          </a:prstGeom>
          <a:solidFill>
            <a:srgbClr val="C9A84C"/>
          </a:solidFill>
          <a:ln/>
        </p:spPr>
      </p:sp>
      <p:sp>
        <p:nvSpPr>
          <p:cNvPr id="14" name="Text 12"/>
          <p:cNvSpPr/>
          <p:nvPr/>
        </p:nvSpPr>
        <p:spPr>
          <a:xfrm>
            <a:off x="2606040" y="1508760"/>
            <a:ext cx="1737360" cy="18288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260604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3 – 9M</a:t>
            </a:r>
            <a:endParaRPr lang="en-US" sz="800" dirty="0"/>
          </a:p>
        </p:txBody>
      </p:sp>
      <p:sp>
        <p:nvSpPr>
          <p:cNvPr id="16" name="Text 14"/>
          <p:cNvSpPr/>
          <p:nvPr/>
        </p:nvSpPr>
        <p:spPr>
          <a:xfrm>
            <a:off x="260604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Scale</a:t>
            </a:r>
            <a:endParaRPr lang="en-US" sz="1800" dirty="0"/>
          </a:p>
        </p:txBody>
      </p:sp>
      <p:sp>
        <p:nvSpPr>
          <p:cNvPr id="17" name="Text 15"/>
          <p:cNvSpPr/>
          <p:nvPr/>
        </p:nvSpPr>
        <p:spPr>
          <a:xfrm>
            <a:off x="260604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a:t>
            </a:r>
            <a:endParaRPr lang="en-US" sz="1000" dirty="0"/>
          </a:p>
        </p:txBody>
      </p:sp>
      <p:sp>
        <p:nvSpPr>
          <p:cNvPr id="18" name="Text 16"/>
          <p:cNvSpPr/>
          <p:nvPr/>
        </p:nvSpPr>
        <p:spPr>
          <a:xfrm>
            <a:off x="260604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CI/CD &amp; Monitoring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Redis Caching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API Versioning (v1)</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Read Replicas</a:t>
            </a:r>
            <a:endParaRPr lang="en-US" sz="900" dirty="0"/>
          </a:p>
        </p:txBody>
      </p:sp>
      <p:sp>
        <p:nvSpPr>
          <p:cNvPr id="19" name="Shape 17"/>
          <p:cNvSpPr/>
          <p:nvPr/>
        </p:nvSpPr>
        <p:spPr>
          <a:xfrm>
            <a:off x="470916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417320"/>
            <a:ext cx="1920240" cy="45720"/>
          </a:xfrm>
          <a:prstGeom prst="rect">
            <a:avLst/>
          </a:prstGeom>
          <a:solidFill>
            <a:srgbClr val="10B981"/>
          </a:solidFill>
          <a:ln/>
        </p:spPr>
      </p:sp>
      <p:sp>
        <p:nvSpPr>
          <p:cNvPr id="21" name="Text 19"/>
          <p:cNvSpPr/>
          <p:nvPr/>
        </p:nvSpPr>
        <p:spPr>
          <a:xfrm>
            <a:off x="4800600" y="1508760"/>
            <a:ext cx="173736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PHASE 3</a:t>
            </a:r>
            <a:endParaRPr lang="en-US" sz="900" dirty="0"/>
          </a:p>
        </p:txBody>
      </p:sp>
      <p:sp>
        <p:nvSpPr>
          <p:cNvPr id="22" name="Text 20"/>
          <p:cNvSpPr/>
          <p:nvPr/>
        </p:nvSpPr>
        <p:spPr>
          <a:xfrm>
            <a:off x="480060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9M+</a:t>
            </a:r>
            <a:endParaRPr lang="en-US" sz="800" dirty="0"/>
          </a:p>
        </p:txBody>
      </p:sp>
      <p:sp>
        <p:nvSpPr>
          <p:cNvPr id="23" name="Text 21"/>
          <p:cNvSpPr/>
          <p:nvPr/>
        </p:nvSpPr>
        <p:spPr>
          <a:xfrm>
            <a:off x="480060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Dominate</a:t>
            </a:r>
            <a:endParaRPr lang="en-US" sz="1800" dirty="0"/>
          </a:p>
        </p:txBody>
      </p:sp>
      <p:sp>
        <p:nvSpPr>
          <p:cNvPr id="24" name="Text 22"/>
          <p:cNvSpPr/>
          <p:nvPr/>
        </p:nvSpPr>
        <p:spPr>
          <a:xfrm>
            <a:off x="480060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الهيمنة</a:t>
            </a:r>
            <a:endParaRPr lang="en-US" sz="1000" dirty="0"/>
          </a:p>
        </p:txBody>
      </p:sp>
      <p:sp>
        <p:nvSpPr>
          <p:cNvPr id="25" name="Text 23"/>
          <p:cNvSpPr/>
          <p:nvPr/>
        </p:nvSpPr>
        <p:spPr>
          <a:xfrm>
            <a:off x="480060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Microservices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Horizontal Scaling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CDN &amp; Edge Cache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SOC 2 Compliance</a:t>
            </a:r>
            <a:endParaRPr lang="en-US" sz="900" dirty="0"/>
          </a:p>
        </p:txBody>
      </p:sp>
      <p:sp>
        <p:nvSpPr>
          <p:cNvPr id="26" name="Shape 24"/>
          <p:cNvSpPr/>
          <p:nvPr/>
        </p:nvSpPr>
        <p:spPr>
          <a:xfrm>
            <a:off x="690372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417320"/>
            <a:ext cx="1920240" cy="45720"/>
          </a:xfrm>
          <a:prstGeom prst="rect">
            <a:avLst/>
          </a:prstGeom>
          <a:solidFill>
            <a:srgbClr val="E8CC73"/>
          </a:solidFill>
          <a:ln/>
        </p:spPr>
      </p:sp>
      <p:sp>
        <p:nvSpPr>
          <p:cNvPr id="28" name="Text 26"/>
          <p:cNvSpPr/>
          <p:nvPr/>
        </p:nvSpPr>
        <p:spPr>
          <a:xfrm>
            <a:off x="6995160" y="1508760"/>
            <a:ext cx="1737360" cy="182880"/>
          </a:xfrm>
          <a:prstGeom prst="rect">
            <a:avLst/>
          </a:prstGeom>
          <a:noFill/>
          <a:ln/>
        </p:spPr>
        <p:txBody>
          <a:bodyPr wrap="square" lIns="0" tIns="0" rIns="0" bIns="0" rtlCol="0" anchor="ctr"/>
          <a:lstStyle/>
          <a:p>
            <a:pPr indent="0" marL="0">
              <a:buNone/>
            </a:pPr>
            <a:r>
              <a:rPr lang="en-US" sz="900" b="1" dirty="0">
                <a:solidFill>
                  <a:srgbClr val="E8CC73"/>
                </a:solidFill>
                <a:latin typeface="Calibri" pitchFamily="34" charset="0"/>
                <a:ea typeface="Calibri" pitchFamily="34" charset="-122"/>
                <a:cs typeface="Calibri" pitchFamily="34" charset="-120"/>
              </a:rPr>
              <a:t>PHASE 4</a:t>
            </a:r>
            <a:endParaRPr lang="en-US" sz="900" dirty="0"/>
          </a:p>
        </p:txBody>
      </p:sp>
      <p:sp>
        <p:nvSpPr>
          <p:cNvPr id="29" name="Text 27"/>
          <p:cNvSpPr/>
          <p:nvPr/>
        </p:nvSpPr>
        <p:spPr>
          <a:xfrm>
            <a:off x="699516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Year 2+</a:t>
            </a:r>
            <a:endParaRPr lang="en-US" sz="800" dirty="0"/>
          </a:p>
        </p:txBody>
      </p:sp>
      <p:sp>
        <p:nvSpPr>
          <p:cNvPr id="30" name="Text 28"/>
          <p:cNvSpPr/>
          <p:nvPr/>
        </p:nvSpPr>
        <p:spPr>
          <a:xfrm>
            <a:off x="699516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Expand</a:t>
            </a:r>
            <a:endParaRPr lang="en-US" sz="1800" dirty="0"/>
          </a:p>
        </p:txBody>
      </p:sp>
      <p:sp>
        <p:nvSpPr>
          <p:cNvPr id="31" name="Text 29"/>
          <p:cNvSpPr/>
          <p:nvPr/>
        </p:nvSpPr>
        <p:spPr>
          <a:xfrm>
            <a:off x="699516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 الخليجي</a:t>
            </a:r>
            <a:endParaRPr lang="en-US" sz="1000" dirty="0"/>
          </a:p>
        </p:txBody>
      </p:sp>
      <p:sp>
        <p:nvSpPr>
          <p:cNvPr id="32" name="Text 30"/>
          <p:cNvSpPr/>
          <p:nvPr/>
        </p:nvSpPr>
        <p:spPr>
          <a:xfrm>
            <a:off x="699516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Gulf Markets (UAE, BH)</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Go Core + AI Platform</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Multi-Standard Engine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White-Label SaaS</a:t>
            </a:r>
            <a:endParaRPr lang="en-US" sz="900" dirty="0"/>
          </a:p>
        </p:txBody>
      </p:sp>
      <p:sp>
        <p:nvSpPr>
          <p:cNvPr id="33" name="Text 31"/>
          <p:cNvSpPr/>
          <p:nvPr/>
        </p:nvSpPr>
        <p:spPr>
          <a:xfrm>
            <a:off x="457200" y="4434840"/>
            <a:ext cx="8229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Language decision: FastAPI → 50k users  ·  Go Core → 500k+ users  |  قرار اللغة: FastAPI حتى 50 ألف ثم Go</a:t>
            </a:r>
            <a:endParaRPr lang="en-US" sz="9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16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ASK  ·  ما نطلبه</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Pre-Seed: SAR 750K</a:t>
            </a:r>
            <a:endParaRPr lang="en-US" sz="2800" dirty="0"/>
          </a:p>
          <a:p>
            <a:pPr indent="0" marL="0">
              <a:buNone/>
            </a:pPr>
            <a:r>
              <a:rPr lang="en-US" sz="1800" dirty="0">
                <a:solidFill>
                  <a:srgbClr val="C9A84C"/>
                </a:solidFill>
                <a:latin typeface="Calibri" pitchFamily="34" charset="0"/>
                <a:ea typeface="Calibri" pitchFamily="34" charset="-122"/>
                <a:cs typeface="Calibri" pitchFamily="34" charset="-120"/>
              </a:rPr>
              <a:t>($200K USD Equivalent)</a:t>
            </a:r>
            <a:endParaRPr lang="en-US" sz="2800" dirty="0"/>
          </a:p>
          <a:p>
            <a:pPr indent="0" marL="0">
              <a:buNone/>
            </a:pPr>
            <a:r>
              <a:rPr lang="en-US" sz="1300" dirty="0">
                <a:solidFill>
                  <a:srgbClr val="CBD5E1"/>
                </a:solidFill>
                <a:latin typeface="Calibri" pitchFamily="34" charset="0"/>
                <a:ea typeface="Calibri" pitchFamily="34" charset="-122"/>
                <a:cs typeface="Calibri" pitchFamily="34" charset="-120"/>
              </a:rPr>
              <a:t>جولة ما قبل التأسيس: 750 ألف ريال</a:t>
            </a:r>
            <a:endParaRPr lang="en-US" sz="2800" dirty="0"/>
          </a:p>
        </p:txBody>
      </p:sp>
      <p:sp>
        <p:nvSpPr>
          <p:cNvPr id="5" name="Text 3"/>
          <p:cNvSpPr/>
          <p:nvPr/>
        </p:nvSpPr>
        <p:spPr>
          <a:xfrm>
            <a:off x="457200" y="1600200"/>
            <a:ext cx="4572000" cy="228600"/>
          </a:xfrm>
          <a:prstGeom prst="rect">
            <a:avLst/>
          </a:prstGeom>
          <a:noFill/>
          <a:ln/>
        </p:spPr>
        <p:txBody>
          <a:bodyPr wrap="square" lIns="0" tIns="0" rIns="0" bIns="0" rtlCol="0" anchor="ctr"/>
          <a:lstStyle/>
          <a:p>
            <a:pPr indent="0" marL="0">
              <a:buNone/>
            </a:pPr>
            <a:r>
              <a:rPr lang="en-US" sz="1000" spc="300" kern="0" dirty="0">
                <a:solidFill>
                  <a:srgbClr val="C9A84C"/>
                </a:solidFill>
                <a:latin typeface="Calibri" pitchFamily="34" charset="0"/>
                <a:ea typeface="Calibri" pitchFamily="34" charset="-122"/>
                <a:cs typeface="Calibri" pitchFamily="34" charset="-120"/>
              </a:rPr>
              <a:t>USE OF FUNDS  ·  أوجه صرف الاستثمار</a:t>
            </a:r>
            <a:endParaRPr lang="en-US" sz="1000" dirty="0"/>
          </a:p>
        </p:txBody>
      </p:sp>
      <p:sp>
        <p:nvSpPr>
          <p:cNvPr id="6" name="Shape 4"/>
          <p:cNvSpPr/>
          <p:nvPr/>
        </p:nvSpPr>
        <p:spPr>
          <a:xfrm>
            <a:off x="457200" y="1920240"/>
            <a:ext cx="8229600" cy="502920"/>
          </a:xfrm>
          <a:prstGeom prst="rect">
            <a:avLst/>
          </a:prstGeom>
          <a:solidFill>
            <a:srgbClr val="1A2E4A"/>
          </a:solidFill>
          <a:ln/>
        </p:spPr>
      </p:sp>
      <p:sp>
        <p:nvSpPr>
          <p:cNvPr id="7" name="Shape 5"/>
          <p:cNvSpPr/>
          <p:nvPr/>
        </p:nvSpPr>
        <p:spPr>
          <a:xfrm>
            <a:off x="457200" y="1920240"/>
            <a:ext cx="45720" cy="502920"/>
          </a:xfrm>
          <a:prstGeom prst="rect">
            <a:avLst/>
          </a:prstGeom>
          <a:solidFill>
            <a:srgbClr val="0891B2"/>
          </a:solidFill>
          <a:ln/>
        </p:spPr>
      </p:sp>
      <p:sp>
        <p:nvSpPr>
          <p:cNvPr id="8" name="Text 6"/>
          <p:cNvSpPr/>
          <p:nvPr/>
        </p:nvSpPr>
        <p:spPr>
          <a:xfrm>
            <a:off x="594360" y="1920240"/>
            <a:ext cx="548640" cy="50292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45%</a:t>
            </a:r>
            <a:endParaRPr lang="en-US" sz="1800" dirty="0"/>
          </a:p>
        </p:txBody>
      </p:sp>
      <p:sp>
        <p:nvSpPr>
          <p:cNvPr id="9" name="Text 7"/>
          <p:cNvSpPr/>
          <p:nvPr/>
        </p:nvSpPr>
        <p:spPr>
          <a:xfrm>
            <a:off x="1188720" y="194767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Engineering &amp; Product</a:t>
            </a:r>
            <a:endParaRPr lang="en-US" sz="1100" dirty="0"/>
          </a:p>
        </p:txBody>
      </p:sp>
      <p:sp>
        <p:nvSpPr>
          <p:cNvPr id="10" name="Text 8"/>
          <p:cNvSpPr/>
          <p:nvPr/>
        </p:nvSpPr>
        <p:spPr>
          <a:xfrm>
            <a:off x="1188720" y="217627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التطوير والمنتج</a:t>
            </a:r>
            <a:endParaRPr lang="en-US" sz="900" dirty="0"/>
          </a:p>
        </p:txBody>
      </p:sp>
      <p:sp>
        <p:nvSpPr>
          <p:cNvPr id="11" name="Text 9"/>
          <p:cNvSpPr/>
          <p:nvPr/>
        </p:nvSpPr>
        <p:spPr>
          <a:xfrm>
            <a:off x="3474720" y="192024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337K</a:t>
            </a:r>
            <a:endParaRPr lang="en-US" sz="1100" dirty="0"/>
          </a:p>
        </p:txBody>
      </p:sp>
      <p:sp>
        <p:nvSpPr>
          <p:cNvPr id="12" name="Text 10"/>
          <p:cNvSpPr/>
          <p:nvPr/>
        </p:nvSpPr>
        <p:spPr>
          <a:xfrm>
            <a:off x="4754880" y="192024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Hire 2 engineers. Cloud infrastructure scaling.</a:t>
            </a:r>
            <a:endParaRPr lang="en-US" sz="1000" dirty="0"/>
          </a:p>
        </p:txBody>
      </p:sp>
      <p:sp>
        <p:nvSpPr>
          <p:cNvPr id="13" name="Shape 11"/>
          <p:cNvSpPr/>
          <p:nvPr/>
        </p:nvSpPr>
        <p:spPr>
          <a:xfrm>
            <a:off x="457200" y="2514600"/>
            <a:ext cx="8229600" cy="502920"/>
          </a:xfrm>
          <a:prstGeom prst="rect">
            <a:avLst/>
          </a:prstGeom>
          <a:solidFill>
            <a:srgbClr val="1A2E4A"/>
          </a:solidFill>
          <a:ln/>
        </p:spPr>
      </p:sp>
      <p:sp>
        <p:nvSpPr>
          <p:cNvPr id="14" name="Shape 12"/>
          <p:cNvSpPr/>
          <p:nvPr/>
        </p:nvSpPr>
        <p:spPr>
          <a:xfrm>
            <a:off x="457200" y="2514600"/>
            <a:ext cx="45720" cy="502920"/>
          </a:xfrm>
          <a:prstGeom prst="rect">
            <a:avLst/>
          </a:prstGeom>
          <a:solidFill>
            <a:srgbClr val="C9A84C"/>
          </a:solidFill>
          <a:ln/>
        </p:spPr>
      </p:sp>
      <p:sp>
        <p:nvSpPr>
          <p:cNvPr id="15" name="Text 13"/>
          <p:cNvSpPr/>
          <p:nvPr/>
        </p:nvSpPr>
        <p:spPr>
          <a:xfrm>
            <a:off x="594360" y="2514600"/>
            <a:ext cx="548640" cy="50292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25%</a:t>
            </a:r>
            <a:endParaRPr lang="en-US" sz="1800" dirty="0"/>
          </a:p>
        </p:txBody>
      </p:sp>
      <p:sp>
        <p:nvSpPr>
          <p:cNvPr id="16" name="Text 14"/>
          <p:cNvSpPr/>
          <p:nvPr/>
        </p:nvSpPr>
        <p:spPr>
          <a:xfrm>
            <a:off x="1188720" y="254203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Sales &amp; Marketing</a:t>
            </a:r>
            <a:endParaRPr lang="en-US" sz="1100" dirty="0"/>
          </a:p>
        </p:txBody>
      </p:sp>
      <p:sp>
        <p:nvSpPr>
          <p:cNvPr id="17" name="Text 15"/>
          <p:cNvSpPr/>
          <p:nvPr/>
        </p:nvSpPr>
        <p:spPr>
          <a:xfrm>
            <a:off x="1188720" y="277063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المبيعات والتسويق</a:t>
            </a:r>
            <a:endParaRPr lang="en-US" sz="900" dirty="0"/>
          </a:p>
        </p:txBody>
      </p:sp>
      <p:sp>
        <p:nvSpPr>
          <p:cNvPr id="18" name="Text 16"/>
          <p:cNvSpPr/>
          <p:nvPr/>
        </p:nvSpPr>
        <p:spPr>
          <a:xfrm>
            <a:off x="3474720" y="251460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187K</a:t>
            </a:r>
            <a:endParaRPr lang="en-US" sz="1100" dirty="0"/>
          </a:p>
        </p:txBody>
      </p:sp>
      <p:sp>
        <p:nvSpPr>
          <p:cNvPr id="19" name="Text 17"/>
          <p:cNvSpPr/>
          <p:nvPr/>
        </p:nvSpPr>
        <p:spPr>
          <a:xfrm>
            <a:off x="4754880" y="251460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Digital campaigns. First 50 clients acquisition.</a:t>
            </a:r>
            <a:endParaRPr lang="en-US" sz="1000" dirty="0"/>
          </a:p>
        </p:txBody>
      </p:sp>
      <p:sp>
        <p:nvSpPr>
          <p:cNvPr id="20" name="Shape 18"/>
          <p:cNvSpPr/>
          <p:nvPr/>
        </p:nvSpPr>
        <p:spPr>
          <a:xfrm>
            <a:off x="457200" y="3108960"/>
            <a:ext cx="8229600" cy="502920"/>
          </a:xfrm>
          <a:prstGeom prst="rect">
            <a:avLst/>
          </a:prstGeom>
          <a:solidFill>
            <a:srgbClr val="1A2E4A"/>
          </a:solidFill>
          <a:ln/>
        </p:spPr>
      </p:sp>
      <p:sp>
        <p:nvSpPr>
          <p:cNvPr id="21" name="Shape 19"/>
          <p:cNvSpPr/>
          <p:nvPr/>
        </p:nvSpPr>
        <p:spPr>
          <a:xfrm>
            <a:off x="457200" y="3108960"/>
            <a:ext cx="45720" cy="502920"/>
          </a:xfrm>
          <a:prstGeom prst="rect">
            <a:avLst/>
          </a:prstGeom>
          <a:solidFill>
            <a:srgbClr val="10B981"/>
          </a:solidFill>
          <a:ln/>
        </p:spPr>
      </p:sp>
      <p:sp>
        <p:nvSpPr>
          <p:cNvPr id="22" name="Text 20"/>
          <p:cNvSpPr/>
          <p:nvPr/>
        </p:nvSpPr>
        <p:spPr>
          <a:xfrm>
            <a:off x="594360" y="3108960"/>
            <a:ext cx="548640" cy="50292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15%</a:t>
            </a:r>
            <a:endParaRPr lang="en-US" sz="1800" dirty="0"/>
          </a:p>
        </p:txBody>
      </p:sp>
      <p:sp>
        <p:nvSpPr>
          <p:cNvPr id="23" name="Text 21"/>
          <p:cNvSpPr/>
          <p:nvPr/>
        </p:nvSpPr>
        <p:spPr>
          <a:xfrm>
            <a:off x="1188720" y="313639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Operations &amp; Legal</a:t>
            </a:r>
            <a:endParaRPr lang="en-US" sz="1100" dirty="0"/>
          </a:p>
        </p:txBody>
      </p:sp>
      <p:sp>
        <p:nvSpPr>
          <p:cNvPr id="24" name="Text 22"/>
          <p:cNvSpPr/>
          <p:nvPr/>
        </p:nvSpPr>
        <p:spPr>
          <a:xfrm>
            <a:off x="1188720" y="336499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العمليات والتراخيص</a:t>
            </a:r>
            <a:endParaRPr lang="en-US" sz="900" dirty="0"/>
          </a:p>
        </p:txBody>
      </p:sp>
      <p:sp>
        <p:nvSpPr>
          <p:cNvPr id="25" name="Text 23"/>
          <p:cNvSpPr/>
          <p:nvPr/>
        </p:nvSpPr>
        <p:spPr>
          <a:xfrm>
            <a:off x="3474720" y="310896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112K</a:t>
            </a:r>
            <a:endParaRPr lang="en-US" sz="1100" dirty="0"/>
          </a:p>
        </p:txBody>
      </p:sp>
      <p:sp>
        <p:nvSpPr>
          <p:cNvPr id="26" name="Text 24"/>
          <p:cNvSpPr/>
          <p:nvPr/>
        </p:nvSpPr>
        <p:spPr>
          <a:xfrm>
            <a:off x="4754880" y="310896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SAMA sandbox application. Legal setup.</a:t>
            </a:r>
            <a:endParaRPr lang="en-US" sz="1000" dirty="0"/>
          </a:p>
        </p:txBody>
      </p:sp>
      <p:sp>
        <p:nvSpPr>
          <p:cNvPr id="27" name="Shape 25"/>
          <p:cNvSpPr/>
          <p:nvPr/>
        </p:nvSpPr>
        <p:spPr>
          <a:xfrm>
            <a:off x="457200" y="3703320"/>
            <a:ext cx="8229600" cy="502920"/>
          </a:xfrm>
          <a:prstGeom prst="rect">
            <a:avLst/>
          </a:prstGeom>
          <a:solidFill>
            <a:srgbClr val="1A2E4A"/>
          </a:solidFill>
          <a:ln/>
        </p:spPr>
      </p:sp>
      <p:sp>
        <p:nvSpPr>
          <p:cNvPr id="28" name="Shape 26"/>
          <p:cNvSpPr/>
          <p:nvPr/>
        </p:nvSpPr>
        <p:spPr>
          <a:xfrm>
            <a:off x="457200" y="3703320"/>
            <a:ext cx="45720" cy="502920"/>
          </a:xfrm>
          <a:prstGeom prst="rect">
            <a:avLst/>
          </a:prstGeom>
          <a:solidFill>
            <a:srgbClr val="64748B"/>
          </a:solidFill>
          <a:ln/>
        </p:spPr>
      </p:sp>
      <p:sp>
        <p:nvSpPr>
          <p:cNvPr id="29" name="Text 27"/>
          <p:cNvSpPr/>
          <p:nvPr/>
        </p:nvSpPr>
        <p:spPr>
          <a:xfrm>
            <a:off x="594360" y="3703320"/>
            <a:ext cx="548640" cy="502920"/>
          </a:xfrm>
          <a:prstGeom prst="rect">
            <a:avLst/>
          </a:prstGeom>
          <a:noFill/>
          <a:ln/>
        </p:spPr>
        <p:txBody>
          <a:bodyPr wrap="square" lIns="0" tIns="0" rIns="0" bIns="0" rtlCol="0" anchor="ctr"/>
          <a:lstStyle/>
          <a:p>
            <a:pPr indent="0" marL="0">
              <a:buNone/>
            </a:pPr>
            <a:r>
              <a:rPr lang="en-US" sz="1800" dirty="0">
                <a:solidFill>
                  <a:srgbClr val="64748B"/>
                </a:solidFill>
                <a:latin typeface="Arial Black" pitchFamily="34" charset="0"/>
                <a:ea typeface="Arial Black" pitchFamily="34" charset="-122"/>
                <a:cs typeface="Arial Black" pitchFamily="34" charset="-120"/>
              </a:rPr>
              <a:t>15%</a:t>
            </a:r>
            <a:endParaRPr lang="en-US" sz="1800" dirty="0"/>
          </a:p>
        </p:txBody>
      </p:sp>
      <p:sp>
        <p:nvSpPr>
          <p:cNvPr id="30" name="Text 28"/>
          <p:cNvSpPr/>
          <p:nvPr/>
        </p:nvSpPr>
        <p:spPr>
          <a:xfrm>
            <a:off x="1188720" y="373075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Working Capital</a:t>
            </a:r>
            <a:endParaRPr lang="en-US" sz="1100" dirty="0"/>
          </a:p>
        </p:txBody>
      </p:sp>
      <p:sp>
        <p:nvSpPr>
          <p:cNvPr id="31" name="Text 29"/>
          <p:cNvSpPr/>
          <p:nvPr/>
        </p:nvSpPr>
        <p:spPr>
          <a:xfrm>
            <a:off x="1188720" y="395935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رأس مال تشغيلي</a:t>
            </a:r>
            <a:endParaRPr lang="en-US" sz="900" dirty="0"/>
          </a:p>
        </p:txBody>
      </p:sp>
      <p:sp>
        <p:nvSpPr>
          <p:cNvPr id="32" name="Text 30"/>
          <p:cNvSpPr/>
          <p:nvPr/>
        </p:nvSpPr>
        <p:spPr>
          <a:xfrm>
            <a:off x="3474720" y="370332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112K</a:t>
            </a:r>
            <a:endParaRPr lang="en-US" sz="1100" dirty="0"/>
          </a:p>
        </p:txBody>
      </p:sp>
      <p:sp>
        <p:nvSpPr>
          <p:cNvPr id="33" name="Text 31"/>
          <p:cNvSpPr/>
          <p:nvPr/>
        </p:nvSpPr>
        <p:spPr>
          <a:xfrm>
            <a:off x="4754880" y="370332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6-month operational runway buffer.</a:t>
            </a:r>
            <a:endParaRPr lang="en-US" sz="1000" dirty="0"/>
          </a:p>
        </p:txBody>
      </p:sp>
      <p:sp>
        <p:nvSpPr>
          <p:cNvPr id="34" name="Shape 32"/>
          <p:cNvSpPr/>
          <p:nvPr/>
        </p:nvSpPr>
        <p:spPr>
          <a:xfrm>
            <a:off x="457200" y="4343400"/>
            <a:ext cx="8229600" cy="320040"/>
          </a:xfrm>
          <a:prstGeom prst="rect">
            <a:avLst/>
          </a:prstGeom>
          <a:solidFill>
            <a:srgbClr val="162940"/>
          </a:solidFill>
          <a:ln/>
        </p:spPr>
      </p:sp>
      <p:sp>
        <p:nvSpPr>
          <p:cNvPr id="35" name="Text 33"/>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12-mo target: 150 clients · SAR 1.2M ARR · Path to break-even  |  هدف 12 شهر: 150 عميل · 1.2 مليون إيرادات سنوية · مسار نحو التعادل</a:t>
            </a:r>
            <a:endParaRPr lang="en-US" sz="1000" dirty="0"/>
          </a:p>
        </p:txBody>
      </p:sp>
      <p:sp>
        <p:nvSpPr>
          <p:cNvPr id="36" name="Shape 34"/>
          <p:cNvSpPr/>
          <p:nvPr/>
        </p:nvSpPr>
        <p:spPr>
          <a:xfrm>
            <a:off x="0" y="4709160"/>
            <a:ext cx="9144000" cy="434340"/>
          </a:xfrm>
          <a:prstGeom prst="rect">
            <a:avLst/>
          </a:prstGeom>
          <a:solidFill>
            <a:srgbClr val="0A1220"/>
          </a:solidFill>
          <a:ln/>
        </p:spPr>
      </p:sp>
      <p:sp>
        <p:nvSpPr>
          <p:cNvPr id="37" name="Text 35"/>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8" name="Text 36"/>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17 / 19</a:t>
            </a:r>
            <a:endParaRPr lang="en-US" sz="750" dirty="0"/>
          </a:p>
        </p:txBody>
      </p:sp>
      <p:sp>
        <p:nvSpPr>
          <p:cNvPr id="39" name="Text 37"/>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2743200" y="457200"/>
            <a:ext cx="5029200" cy="5029200"/>
          </a:xfrm>
          <a:prstGeom prst="ellipse">
            <a:avLst/>
          </a:prstGeom>
          <a:solidFill>
            <a:srgbClr val="1C3254">
              <a:alpha val="40000"/>
            </a:srgbClr>
          </a:solidFill>
          <a:ln/>
        </p:spPr>
      </p:sp>
      <p:sp>
        <p:nvSpPr>
          <p:cNvPr id="4" name="Shape 2"/>
          <p:cNvSpPr/>
          <p:nvPr/>
        </p:nvSpPr>
        <p:spPr>
          <a:xfrm>
            <a:off x="3200400" y="731520"/>
            <a:ext cx="4114800" cy="4114800"/>
          </a:xfrm>
          <a:prstGeom prst="ellipse">
            <a:avLst/>
          </a:prstGeom>
          <a:solidFill>
            <a:srgbClr val="162940">
              <a:alpha val="60000"/>
            </a:srgbClr>
          </a:solidFill>
          <a:ln/>
        </p:spPr>
      </p:sp>
      <p:sp>
        <p:nvSpPr>
          <p:cNvPr id="5" name="Text 3"/>
          <p:cNvSpPr/>
          <p:nvPr/>
        </p:nvSpPr>
        <p:spPr>
          <a:xfrm>
            <a:off x="457200" y="731520"/>
            <a:ext cx="8229600" cy="914400"/>
          </a:xfrm>
          <a:prstGeom prst="rect">
            <a:avLst/>
          </a:prstGeom>
          <a:noFill/>
          <a:ln/>
        </p:spPr>
        <p:txBody>
          <a:bodyPr wrap="square" lIns="0" tIns="0" rIns="0" bIns="0" rtlCol="0" anchor="ctr"/>
          <a:lstStyle/>
          <a:p>
            <a:pPr algn="ctr" indent="0" marL="0">
              <a:buNone/>
            </a:pPr>
            <a:r>
              <a:rPr lang="en-US" sz="7200"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6" name="Shape 4"/>
          <p:cNvSpPr/>
          <p:nvPr/>
        </p:nvSpPr>
        <p:spPr>
          <a:xfrm>
            <a:off x="3200400" y="1691640"/>
            <a:ext cx="2743200" cy="36576"/>
          </a:xfrm>
          <a:prstGeom prst="rect">
            <a:avLst/>
          </a:prstGeom>
          <a:solidFill>
            <a:srgbClr val="C9A84C"/>
          </a:solidFill>
          <a:ln/>
        </p:spPr>
      </p:sp>
      <p:sp>
        <p:nvSpPr>
          <p:cNvPr id="7" name="Text 5"/>
          <p:cNvSpPr/>
          <p:nvPr/>
        </p:nvSpPr>
        <p:spPr>
          <a:xfrm>
            <a:off x="914400" y="1920240"/>
            <a:ext cx="7315200" cy="411480"/>
          </a:xfrm>
          <a:prstGeom prst="rect">
            <a:avLst/>
          </a:prstGeom>
          <a:noFill/>
          <a:ln/>
        </p:spPr>
        <p:txBody>
          <a:bodyPr wrap="square" lIns="0" tIns="0" rIns="0" bIns="0" rtlCol="0" anchor="ctr"/>
          <a:lstStyle/>
          <a:p>
            <a:pPr algn="ctr" indent="0" marL="0">
              <a:buNone/>
            </a:pPr>
            <a:r>
              <a:rPr lang="en-US" sz="2000" dirty="0">
                <a:solidFill>
                  <a:srgbClr val="CBD5E1"/>
                </a:solidFill>
                <a:latin typeface="Calibri" pitchFamily="34" charset="0"/>
                <a:ea typeface="Calibri" pitchFamily="34" charset="-122"/>
                <a:cs typeface="Calibri" pitchFamily="34" charset="-120"/>
              </a:rPr>
              <a:t>The Future of Financial Intelligence is Already Built.</a:t>
            </a:r>
            <a:endParaRPr lang="en-US" sz="2000" dirty="0"/>
          </a:p>
        </p:txBody>
      </p:sp>
      <p:sp>
        <p:nvSpPr>
          <p:cNvPr id="8" name="Text 6"/>
          <p:cNvSpPr/>
          <p:nvPr/>
        </p:nvSpPr>
        <p:spPr>
          <a:xfrm>
            <a:off x="914400" y="2331720"/>
            <a:ext cx="7315200" cy="36576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مستقبل الذكاء المالي مبنيٌّ بالفعل.</a:t>
            </a:r>
            <a:endParaRPr lang="en-US" sz="1800" dirty="0"/>
          </a:p>
        </p:txBody>
      </p:sp>
      <p:sp>
        <p:nvSpPr>
          <p:cNvPr id="9" name="Text 7"/>
          <p:cNvSpPr/>
          <p:nvPr/>
        </p:nvSpPr>
        <p:spPr>
          <a:xfrm>
            <a:off x="914400" y="2743200"/>
            <a:ext cx="7315200" cy="274320"/>
          </a:xfrm>
          <a:prstGeom prst="rect">
            <a:avLst/>
          </a:prstGeom>
          <a:noFill/>
          <a:ln/>
        </p:spPr>
        <p:txBody>
          <a:bodyPr wrap="square" lIns="0" tIns="0" rIns="0" bIns="0" rtlCol="0" anchor="ctr"/>
          <a:lstStyle/>
          <a:p>
            <a:pPr algn="ctr" indent="0" marL="0">
              <a:buNone/>
            </a:pPr>
            <a:r>
              <a:rPr lang="en-US" sz="1400" b="1" i="1" dirty="0">
                <a:solidFill>
                  <a:srgbClr val="0891B2"/>
                </a:solidFill>
                <a:latin typeface="Calibri" pitchFamily="34" charset="0"/>
                <a:ea typeface="Calibri" pitchFamily="34" charset="-122"/>
                <a:cs typeface="Calibri" pitchFamily="34" charset="-120"/>
              </a:rPr>
              <a:t>Ready for your first client.  ·  جاهز لأول عميل.</a:t>
            </a:r>
            <a:endParaRPr lang="en-US" sz="1400" dirty="0"/>
          </a:p>
        </p:txBody>
      </p:sp>
      <p:sp>
        <p:nvSpPr>
          <p:cNvPr id="10" name="Shape 8"/>
          <p:cNvSpPr/>
          <p:nvPr/>
        </p:nvSpPr>
        <p:spPr>
          <a:xfrm>
            <a:off x="45720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457200" y="3246120"/>
            <a:ext cx="45720" cy="640080"/>
          </a:xfrm>
          <a:prstGeom prst="rect">
            <a:avLst/>
          </a:prstGeom>
          <a:solidFill>
            <a:srgbClr val="C9A84C"/>
          </a:solidFill>
          <a:ln/>
        </p:spPr>
      </p:sp>
      <p:sp>
        <p:nvSpPr>
          <p:cNvPr id="12" name="Text 10"/>
          <p:cNvSpPr/>
          <p:nvPr/>
        </p:nvSpPr>
        <p:spPr>
          <a:xfrm>
            <a:off x="59436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apex-api-ootk.onrender.com</a:t>
            </a:r>
            <a:endParaRPr lang="en-US" sz="950" dirty="0"/>
          </a:p>
        </p:txBody>
      </p:sp>
      <p:sp>
        <p:nvSpPr>
          <p:cNvPr id="13" name="Text 11"/>
          <p:cNvSpPr/>
          <p:nvPr/>
        </p:nvSpPr>
        <p:spPr>
          <a:xfrm>
            <a:off x="59436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الموقع الإلكتروني</a:t>
            </a:r>
            <a:endParaRPr lang="en-US" sz="850" dirty="0"/>
          </a:p>
        </p:txBody>
      </p:sp>
      <p:sp>
        <p:nvSpPr>
          <p:cNvPr id="14" name="Shape 12"/>
          <p:cNvSpPr/>
          <p:nvPr/>
        </p:nvSpPr>
        <p:spPr>
          <a:xfrm>
            <a:off x="292608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5" name="Shape 13"/>
          <p:cNvSpPr/>
          <p:nvPr/>
        </p:nvSpPr>
        <p:spPr>
          <a:xfrm>
            <a:off x="2926080" y="3246120"/>
            <a:ext cx="45720" cy="640080"/>
          </a:xfrm>
          <a:prstGeom prst="rect">
            <a:avLst/>
          </a:prstGeom>
          <a:solidFill>
            <a:srgbClr val="C9A84C"/>
          </a:solidFill>
          <a:ln/>
        </p:spPr>
      </p:sp>
      <p:sp>
        <p:nvSpPr>
          <p:cNvPr id="16" name="Text 14"/>
          <p:cNvSpPr/>
          <p:nvPr/>
        </p:nvSpPr>
        <p:spPr>
          <a:xfrm>
            <a:off x="306324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Jeddah, Saudi Arabia</a:t>
            </a:r>
            <a:endParaRPr lang="en-US" sz="950" dirty="0"/>
          </a:p>
        </p:txBody>
      </p:sp>
      <p:sp>
        <p:nvSpPr>
          <p:cNvPr id="17" name="Text 15"/>
          <p:cNvSpPr/>
          <p:nvPr/>
        </p:nvSpPr>
        <p:spPr>
          <a:xfrm>
            <a:off x="306324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جدة، المملكة العربية السعودية</a:t>
            </a:r>
            <a:endParaRPr lang="en-US" sz="850" dirty="0"/>
          </a:p>
        </p:txBody>
      </p:sp>
      <p:sp>
        <p:nvSpPr>
          <p:cNvPr id="18" name="Shape 16"/>
          <p:cNvSpPr/>
          <p:nvPr/>
        </p:nvSpPr>
        <p:spPr>
          <a:xfrm>
            <a:off x="539496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5394960" y="3246120"/>
            <a:ext cx="45720" cy="640080"/>
          </a:xfrm>
          <a:prstGeom prst="rect">
            <a:avLst/>
          </a:prstGeom>
          <a:solidFill>
            <a:srgbClr val="C9A84C"/>
          </a:solidFill>
          <a:ln/>
        </p:spPr>
      </p:sp>
      <p:sp>
        <p:nvSpPr>
          <p:cNvPr id="20" name="Text 18"/>
          <p:cNvSpPr/>
          <p:nvPr/>
        </p:nvSpPr>
        <p:spPr>
          <a:xfrm>
            <a:off x="553212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2026 · Ready Now</a:t>
            </a:r>
            <a:endParaRPr lang="en-US" sz="950" dirty="0"/>
          </a:p>
        </p:txBody>
      </p:sp>
      <p:sp>
        <p:nvSpPr>
          <p:cNvPr id="21" name="Text 19"/>
          <p:cNvSpPr/>
          <p:nvPr/>
        </p:nvSpPr>
        <p:spPr>
          <a:xfrm>
            <a:off x="553212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جاهز الآن · 2026</a:t>
            </a:r>
            <a:endParaRPr lang="en-US" sz="850" dirty="0"/>
          </a:p>
        </p:txBody>
      </p:sp>
      <p:sp>
        <p:nvSpPr>
          <p:cNvPr id="22" name="Shape 20"/>
          <p:cNvSpPr/>
          <p:nvPr/>
        </p:nvSpPr>
        <p:spPr>
          <a:xfrm>
            <a:off x="7863840" y="3246120"/>
            <a:ext cx="822960" cy="822960"/>
          </a:xfrm>
          <a:prstGeom prst="rect">
            <a:avLst/>
          </a:prstGeom>
          <a:solidFill>
            <a:srgbClr val="FFFFFF"/>
          </a:solidFill>
          <a:ln/>
        </p:spPr>
      </p:sp>
      <p:pic>
        <p:nvPicPr>
          <p:cNvPr id="23" name="Image 0" descr="/sessions/festive-vibrant-feynman/qr_code.png">    </p:cNvPr>
          <p:cNvPicPr>
            <a:picLocks noChangeAspect="1"/>
          </p:cNvPicPr>
          <p:nvPr/>
        </p:nvPicPr>
        <p:blipFill>
          <a:blip r:embed="rId1"/>
          <a:stretch>
            <a:fillRect/>
          </a:stretch>
        </p:blipFill>
        <p:spPr>
          <a:xfrm>
            <a:off x="7909560" y="3291840"/>
            <a:ext cx="731520" cy="731520"/>
          </a:xfrm>
          <a:prstGeom prst="rect">
            <a:avLst/>
          </a:prstGeom>
        </p:spPr>
      </p:pic>
      <p:sp>
        <p:nvSpPr>
          <p:cNvPr id="24" name="Text 21"/>
          <p:cNvSpPr/>
          <p:nvPr/>
        </p:nvSpPr>
        <p:spPr>
          <a:xfrm>
            <a:off x="7680960" y="4069080"/>
            <a:ext cx="1188720" cy="137160"/>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Scan to Visit</a:t>
            </a:r>
            <a:endParaRPr lang="en-US" sz="650" dirty="0"/>
          </a:p>
        </p:txBody>
      </p:sp>
      <p:sp>
        <p:nvSpPr>
          <p:cNvPr id="25" name="Shape 22"/>
          <p:cNvSpPr/>
          <p:nvPr/>
        </p:nvSpPr>
        <p:spPr>
          <a:xfrm>
            <a:off x="0" y="4709160"/>
            <a:ext cx="9144000" cy="434340"/>
          </a:xfrm>
          <a:prstGeom prst="rect">
            <a:avLst/>
          </a:prstGeom>
          <a:solidFill>
            <a:srgbClr val="0A1220"/>
          </a:solidFill>
          <a:ln/>
        </p:spPr>
      </p:sp>
      <p:sp>
        <p:nvSpPr>
          <p:cNvPr id="26"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7"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18 / 19</a:t>
            </a:r>
            <a:endParaRPr lang="en-US" sz="750" dirty="0"/>
          </a:p>
        </p:txBody>
      </p:sp>
      <p:sp>
        <p:nvSpPr>
          <p:cNvPr id="28"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748B"/>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APPENDIX  ·  الملاحق</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Deep Dive &amp; Market Data</a:t>
            </a:r>
            <a:endParaRPr lang="en-US" sz="2400" dirty="0"/>
          </a:p>
          <a:p>
            <a:pPr indent="0" marL="0">
              <a:buNone/>
            </a:pPr>
            <a:r>
              <a:rPr lang="en-US" sz="1200" dirty="0">
                <a:solidFill>
                  <a:srgbClr val="C9A84C"/>
                </a:solidFill>
                <a:latin typeface="Calibri" pitchFamily="34" charset="0"/>
                <a:ea typeface="Calibri" pitchFamily="34" charset="-122"/>
                <a:cs typeface="Calibri" pitchFamily="34" charset="-120"/>
              </a:rPr>
              <a:t>تفاصيل تقنية وبيانات السوق — للأسئلة التفصيلية</a:t>
            </a:r>
            <a:endParaRPr lang="en-US" sz="2400" dirty="0"/>
          </a:p>
        </p:txBody>
      </p:sp>
      <p:sp>
        <p:nvSpPr>
          <p:cNvPr id="5" name="Text 3"/>
          <p:cNvSpPr/>
          <p:nvPr/>
        </p:nvSpPr>
        <p:spPr>
          <a:xfrm>
            <a:off x="457200" y="123444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TAM / SAM / SOM  ·  حجم السوق</a:t>
            </a:r>
            <a:endParaRPr lang="en-US" sz="1000" dirty="0"/>
          </a:p>
        </p:txBody>
      </p:sp>
      <p:sp>
        <p:nvSpPr>
          <p:cNvPr id="6" name="Shape 4"/>
          <p:cNvSpPr/>
          <p:nvPr/>
        </p:nvSpPr>
        <p:spPr>
          <a:xfrm>
            <a:off x="457200" y="155448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554480"/>
            <a:ext cx="8229600" cy="36576"/>
          </a:xfrm>
          <a:prstGeom prst="rect">
            <a:avLst/>
          </a:prstGeom>
          <a:solidFill>
            <a:srgbClr val="C9A84C"/>
          </a:solidFill>
          <a:ln/>
        </p:spPr>
      </p:sp>
      <p:sp>
        <p:nvSpPr>
          <p:cNvPr id="8" name="Text 6"/>
          <p:cNvSpPr/>
          <p:nvPr/>
        </p:nvSpPr>
        <p:spPr>
          <a:xfrm>
            <a:off x="594360" y="1627632"/>
            <a:ext cx="548640" cy="320040"/>
          </a:xfrm>
          <a:prstGeom prst="rect">
            <a:avLst/>
          </a:prstGeom>
          <a:noFill/>
          <a:ln/>
        </p:spPr>
        <p:txBody>
          <a:bodyPr wrap="square" lIns="0" tIns="0" rIns="0" bIns="0" rtlCol="0" anchor="ctr"/>
          <a:lstStyle/>
          <a:p>
            <a:pPr indent="0" marL="0">
              <a:buNone/>
            </a:pPr>
            <a:r>
              <a:rPr lang="en-US" sz="1200" dirty="0">
                <a:solidFill>
                  <a:srgbClr val="C9A84C"/>
                </a:solidFill>
                <a:latin typeface="Arial Black" pitchFamily="34" charset="0"/>
                <a:ea typeface="Arial Black" pitchFamily="34" charset="-122"/>
                <a:cs typeface="Arial Black" pitchFamily="34" charset="-120"/>
              </a:rPr>
              <a:t>TAM</a:t>
            </a:r>
            <a:endParaRPr lang="en-US" sz="1200" dirty="0"/>
          </a:p>
        </p:txBody>
      </p:sp>
      <p:sp>
        <p:nvSpPr>
          <p:cNvPr id="9" name="Text 7"/>
          <p:cNvSpPr/>
          <p:nvPr/>
        </p:nvSpPr>
        <p:spPr>
          <a:xfrm>
            <a:off x="1188720" y="162763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4.5B</a:t>
            </a:r>
            <a:endParaRPr lang="en-US" sz="1600" dirty="0"/>
          </a:p>
        </p:txBody>
      </p:sp>
      <p:sp>
        <p:nvSpPr>
          <p:cNvPr id="10" name="Text 8"/>
          <p:cNvSpPr/>
          <p:nvPr/>
        </p:nvSpPr>
        <p:spPr>
          <a:xfrm>
            <a:off x="2651760" y="160934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Saudi fintech market 2025 (SAMA + Fintech Saudi reports)</a:t>
            </a:r>
            <a:endParaRPr lang="en-US" sz="900" dirty="0"/>
          </a:p>
        </p:txBody>
      </p:sp>
      <p:sp>
        <p:nvSpPr>
          <p:cNvPr id="11" name="Text 9"/>
          <p:cNvSpPr/>
          <p:nvPr/>
        </p:nvSpPr>
        <p:spPr>
          <a:xfrm>
            <a:off x="2651760" y="181051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إجمالي سوق التقنية المالية السعودي</a:t>
            </a:r>
            <a:endParaRPr lang="en-US" sz="800" dirty="0"/>
          </a:p>
        </p:txBody>
      </p:sp>
      <p:sp>
        <p:nvSpPr>
          <p:cNvPr id="12" name="Shape 10"/>
          <p:cNvSpPr/>
          <p:nvPr/>
        </p:nvSpPr>
        <p:spPr>
          <a:xfrm>
            <a:off x="457200" y="214884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148840"/>
            <a:ext cx="6400800" cy="36576"/>
          </a:xfrm>
          <a:prstGeom prst="rect">
            <a:avLst/>
          </a:prstGeom>
          <a:solidFill>
            <a:srgbClr val="0891B2"/>
          </a:solidFill>
          <a:ln/>
        </p:spPr>
      </p:sp>
      <p:sp>
        <p:nvSpPr>
          <p:cNvPr id="14" name="Text 12"/>
          <p:cNvSpPr/>
          <p:nvPr/>
        </p:nvSpPr>
        <p:spPr>
          <a:xfrm>
            <a:off x="594360" y="2221992"/>
            <a:ext cx="548640" cy="320040"/>
          </a:xfrm>
          <a:prstGeom prst="rect">
            <a:avLst/>
          </a:prstGeom>
          <a:noFill/>
          <a:ln/>
        </p:spPr>
        <p:txBody>
          <a:bodyPr wrap="square" lIns="0" tIns="0" rIns="0" bIns="0" rtlCol="0" anchor="ctr"/>
          <a:lstStyle/>
          <a:p>
            <a:pPr indent="0" marL="0">
              <a:buNone/>
            </a:pPr>
            <a:r>
              <a:rPr lang="en-US" sz="1200" dirty="0">
                <a:solidFill>
                  <a:srgbClr val="0891B2"/>
                </a:solidFill>
                <a:latin typeface="Arial Black" pitchFamily="34" charset="0"/>
                <a:ea typeface="Arial Black" pitchFamily="34" charset="-122"/>
                <a:cs typeface="Arial Black" pitchFamily="34" charset="-120"/>
              </a:rPr>
              <a:t>SAM</a:t>
            </a:r>
            <a:endParaRPr lang="en-US" sz="1200" dirty="0"/>
          </a:p>
        </p:txBody>
      </p:sp>
      <p:sp>
        <p:nvSpPr>
          <p:cNvPr id="15" name="Text 13"/>
          <p:cNvSpPr/>
          <p:nvPr/>
        </p:nvSpPr>
        <p:spPr>
          <a:xfrm>
            <a:off x="1188720" y="222199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800M</a:t>
            </a:r>
            <a:endParaRPr lang="en-US" sz="1600" dirty="0"/>
          </a:p>
        </p:txBody>
      </p:sp>
      <p:sp>
        <p:nvSpPr>
          <p:cNvPr id="16" name="Text 14"/>
          <p:cNvSpPr/>
          <p:nvPr/>
        </p:nvSpPr>
        <p:spPr>
          <a:xfrm>
            <a:off x="2651760" y="220370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SME financial tools segment — accounting, analysis, compliance</a:t>
            </a:r>
            <a:endParaRPr lang="en-US" sz="900" dirty="0"/>
          </a:p>
        </p:txBody>
      </p:sp>
      <p:sp>
        <p:nvSpPr>
          <p:cNvPr id="17" name="Text 15"/>
          <p:cNvSpPr/>
          <p:nvPr/>
        </p:nvSpPr>
        <p:spPr>
          <a:xfrm>
            <a:off x="2651760" y="240487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شريحة أدوات التحليل المالي للمنشآت</a:t>
            </a:r>
            <a:endParaRPr lang="en-US" sz="800" dirty="0"/>
          </a:p>
        </p:txBody>
      </p:sp>
      <p:sp>
        <p:nvSpPr>
          <p:cNvPr id="18" name="Shape 16"/>
          <p:cNvSpPr/>
          <p:nvPr/>
        </p:nvSpPr>
        <p:spPr>
          <a:xfrm>
            <a:off x="457200" y="274320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2743200"/>
            <a:ext cx="4114800" cy="36576"/>
          </a:xfrm>
          <a:prstGeom prst="rect">
            <a:avLst/>
          </a:prstGeom>
          <a:solidFill>
            <a:srgbClr val="10B981"/>
          </a:solidFill>
          <a:ln/>
        </p:spPr>
      </p:sp>
      <p:sp>
        <p:nvSpPr>
          <p:cNvPr id="20" name="Text 18"/>
          <p:cNvSpPr/>
          <p:nvPr/>
        </p:nvSpPr>
        <p:spPr>
          <a:xfrm>
            <a:off x="594360" y="2816352"/>
            <a:ext cx="548640" cy="320040"/>
          </a:xfrm>
          <a:prstGeom prst="rect">
            <a:avLst/>
          </a:prstGeom>
          <a:noFill/>
          <a:ln/>
        </p:spPr>
        <p:txBody>
          <a:bodyPr wrap="square" lIns="0" tIns="0" rIns="0" bIns="0" rtlCol="0" anchor="ctr"/>
          <a:lstStyle/>
          <a:p>
            <a:pPr indent="0" marL="0">
              <a:buNone/>
            </a:pPr>
            <a:r>
              <a:rPr lang="en-US" sz="1200" dirty="0">
                <a:solidFill>
                  <a:srgbClr val="10B981"/>
                </a:solidFill>
                <a:latin typeface="Arial Black" pitchFamily="34" charset="0"/>
                <a:ea typeface="Arial Black" pitchFamily="34" charset="-122"/>
                <a:cs typeface="Arial Black" pitchFamily="34" charset="-120"/>
              </a:rPr>
              <a:t>SOM</a:t>
            </a:r>
            <a:endParaRPr lang="en-US" sz="1200" dirty="0"/>
          </a:p>
        </p:txBody>
      </p:sp>
      <p:sp>
        <p:nvSpPr>
          <p:cNvPr id="21" name="Text 19"/>
          <p:cNvSpPr/>
          <p:nvPr/>
        </p:nvSpPr>
        <p:spPr>
          <a:xfrm>
            <a:off x="1188720" y="281635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8M</a:t>
            </a:r>
            <a:endParaRPr lang="en-US" sz="1600" dirty="0"/>
          </a:p>
        </p:txBody>
      </p:sp>
      <p:sp>
        <p:nvSpPr>
          <p:cNvPr id="22" name="Text 20"/>
          <p:cNvSpPr/>
          <p:nvPr/>
        </p:nvSpPr>
        <p:spPr>
          <a:xfrm>
            <a:off x="2651760" y="279806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Realistic 3-year target — 1% SAM penetration</a:t>
            </a:r>
            <a:endParaRPr lang="en-US" sz="900" dirty="0"/>
          </a:p>
        </p:txBody>
      </p:sp>
      <p:sp>
        <p:nvSpPr>
          <p:cNvPr id="23" name="Text 21"/>
          <p:cNvSpPr/>
          <p:nvPr/>
        </p:nvSpPr>
        <p:spPr>
          <a:xfrm>
            <a:off x="2651760" y="299923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الهدف الواقعي خلال 3 سنوات</a:t>
            </a:r>
            <a:endParaRPr lang="en-US" sz="800" dirty="0"/>
          </a:p>
        </p:txBody>
      </p:sp>
      <p:sp>
        <p:nvSpPr>
          <p:cNvPr id="24" name="Text 22"/>
          <p:cNvSpPr/>
          <p:nvPr/>
        </p:nvSpPr>
        <p:spPr>
          <a:xfrm>
            <a:off x="457200" y="338328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ARCHITECTURE OVERVIEW  ·  نظرة معمارية</a:t>
            </a:r>
            <a:endParaRPr lang="en-US" sz="1000" dirty="0"/>
          </a:p>
        </p:txBody>
      </p:sp>
      <p:sp>
        <p:nvSpPr>
          <p:cNvPr id="25" name="Shape 23"/>
          <p:cNvSpPr/>
          <p:nvPr/>
        </p:nvSpPr>
        <p:spPr>
          <a:xfrm>
            <a:off x="457200" y="3657600"/>
            <a:ext cx="8229600" cy="228600"/>
          </a:xfrm>
          <a:prstGeom prst="rect">
            <a:avLst/>
          </a:prstGeom>
          <a:solidFill>
            <a:srgbClr val="1A2E4A"/>
          </a:solidFill>
          <a:ln/>
        </p:spPr>
      </p:sp>
      <p:sp>
        <p:nvSpPr>
          <p:cNvPr id="26" name="Text 24"/>
          <p:cNvSpPr/>
          <p:nvPr/>
        </p:nvSpPr>
        <p:spPr>
          <a:xfrm>
            <a:off x="548640" y="3657600"/>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API Endpoints</a:t>
            </a:r>
            <a:endParaRPr lang="en-US" sz="900" dirty="0"/>
          </a:p>
        </p:txBody>
      </p:sp>
      <p:sp>
        <p:nvSpPr>
          <p:cNvPr id="27" name="Text 25"/>
          <p:cNvSpPr/>
          <p:nvPr/>
        </p:nvSpPr>
        <p:spPr>
          <a:xfrm>
            <a:off x="2286000" y="3657600"/>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30+ RESTful</a:t>
            </a:r>
            <a:endParaRPr lang="en-US" sz="900" dirty="0"/>
          </a:p>
        </p:txBody>
      </p:sp>
      <p:sp>
        <p:nvSpPr>
          <p:cNvPr id="28" name="Text 26"/>
          <p:cNvSpPr/>
          <p:nvPr/>
        </p:nvSpPr>
        <p:spPr>
          <a:xfrm>
            <a:off x="4206240" y="3657600"/>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FastAPI auto-docs, Swagger UI, rate-limited</a:t>
            </a:r>
            <a:endParaRPr lang="en-US" sz="850" dirty="0"/>
          </a:p>
        </p:txBody>
      </p:sp>
      <p:sp>
        <p:nvSpPr>
          <p:cNvPr id="29" name="Shape 27"/>
          <p:cNvSpPr/>
          <p:nvPr/>
        </p:nvSpPr>
        <p:spPr>
          <a:xfrm>
            <a:off x="457200" y="3913632"/>
            <a:ext cx="8229600" cy="228600"/>
          </a:xfrm>
          <a:prstGeom prst="rect">
            <a:avLst/>
          </a:prstGeom>
          <a:solidFill>
            <a:srgbClr val="1E3654"/>
          </a:solidFill>
          <a:ln/>
        </p:spPr>
      </p:sp>
      <p:sp>
        <p:nvSpPr>
          <p:cNvPr id="30" name="Text 28"/>
          <p:cNvSpPr/>
          <p:nvPr/>
        </p:nvSpPr>
        <p:spPr>
          <a:xfrm>
            <a:off x="548640" y="3913632"/>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AI Modules</a:t>
            </a:r>
            <a:endParaRPr lang="en-US" sz="900" dirty="0"/>
          </a:p>
        </p:txBody>
      </p:sp>
      <p:sp>
        <p:nvSpPr>
          <p:cNvPr id="31" name="Text 29"/>
          <p:cNvSpPr/>
          <p:nvPr/>
        </p:nvSpPr>
        <p:spPr>
          <a:xfrm>
            <a:off x="2286000" y="3913632"/>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11 Knowledge Brain</a:t>
            </a:r>
            <a:endParaRPr lang="en-US" sz="900" dirty="0"/>
          </a:p>
        </p:txBody>
      </p:sp>
      <p:sp>
        <p:nvSpPr>
          <p:cNvPr id="32" name="Text 30"/>
          <p:cNvSpPr/>
          <p:nvPr/>
        </p:nvSpPr>
        <p:spPr>
          <a:xfrm>
            <a:off x="4206240" y="3913632"/>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SOCPA, IFRS, ZAKAT, VAT, Labor, Commercial, Tax, Audit, Industry, Compliance, Legal</a:t>
            </a:r>
            <a:endParaRPr lang="en-US" sz="850" dirty="0"/>
          </a:p>
        </p:txBody>
      </p:sp>
      <p:sp>
        <p:nvSpPr>
          <p:cNvPr id="33" name="Shape 31"/>
          <p:cNvSpPr/>
          <p:nvPr/>
        </p:nvSpPr>
        <p:spPr>
          <a:xfrm>
            <a:off x="457200" y="4169664"/>
            <a:ext cx="8229600" cy="228600"/>
          </a:xfrm>
          <a:prstGeom prst="rect">
            <a:avLst/>
          </a:prstGeom>
          <a:solidFill>
            <a:srgbClr val="1A2E4A"/>
          </a:solidFill>
          <a:ln/>
        </p:spPr>
      </p:sp>
      <p:sp>
        <p:nvSpPr>
          <p:cNvPr id="34" name="Text 32"/>
          <p:cNvSpPr/>
          <p:nvPr/>
        </p:nvSpPr>
        <p:spPr>
          <a:xfrm>
            <a:off x="548640" y="4169664"/>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Test Coverage</a:t>
            </a:r>
            <a:endParaRPr lang="en-US" sz="900" dirty="0"/>
          </a:p>
        </p:txBody>
      </p:sp>
      <p:sp>
        <p:nvSpPr>
          <p:cNvPr id="35" name="Text 33"/>
          <p:cNvSpPr/>
          <p:nvPr/>
        </p:nvSpPr>
        <p:spPr>
          <a:xfrm>
            <a:off x="2286000" y="4169664"/>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204 automated</a:t>
            </a:r>
            <a:endParaRPr lang="en-US" sz="900" dirty="0"/>
          </a:p>
        </p:txBody>
      </p:sp>
      <p:sp>
        <p:nvSpPr>
          <p:cNvPr id="36" name="Text 34"/>
          <p:cNvSpPr/>
          <p:nvPr/>
        </p:nvSpPr>
        <p:spPr>
          <a:xfrm>
            <a:off x="4206240" y="4169664"/>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Integration, unit, auth, admin, health, security, CORS</a:t>
            </a:r>
            <a:endParaRPr lang="en-US" sz="850" dirty="0"/>
          </a:p>
        </p:txBody>
      </p:sp>
      <p:sp>
        <p:nvSpPr>
          <p:cNvPr id="37" name="Shape 35"/>
          <p:cNvSpPr/>
          <p:nvPr/>
        </p:nvSpPr>
        <p:spPr>
          <a:xfrm>
            <a:off x="457200" y="4425696"/>
            <a:ext cx="8229600" cy="228600"/>
          </a:xfrm>
          <a:prstGeom prst="rect">
            <a:avLst/>
          </a:prstGeom>
          <a:solidFill>
            <a:srgbClr val="1E3654"/>
          </a:solidFill>
          <a:ln/>
        </p:spPr>
      </p:sp>
      <p:sp>
        <p:nvSpPr>
          <p:cNvPr id="38" name="Text 36"/>
          <p:cNvSpPr/>
          <p:nvPr/>
        </p:nvSpPr>
        <p:spPr>
          <a:xfrm>
            <a:off x="548640" y="4425696"/>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Auth System</a:t>
            </a:r>
            <a:endParaRPr lang="en-US" sz="900" dirty="0"/>
          </a:p>
        </p:txBody>
      </p:sp>
      <p:sp>
        <p:nvSpPr>
          <p:cNvPr id="39" name="Text 37"/>
          <p:cNvSpPr/>
          <p:nvPr/>
        </p:nvSpPr>
        <p:spPr>
          <a:xfrm>
            <a:off x="2286000" y="4425696"/>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JWT + 11 roles</a:t>
            </a:r>
            <a:endParaRPr lang="en-US" sz="900" dirty="0"/>
          </a:p>
        </p:txBody>
      </p:sp>
      <p:sp>
        <p:nvSpPr>
          <p:cNvPr id="40" name="Text 38"/>
          <p:cNvSpPr/>
          <p:nvPr/>
        </p:nvSpPr>
        <p:spPr>
          <a:xfrm>
            <a:off x="4206240" y="4425696"/>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bcrypt, audit logs, social auth stubs, session management</a:t>
            </a:r>
            <a:endParaRPr lang="en-US" sz="850" dirty="0"/>
          </a:p>
        </p:txBody>
      </p:sp>
      <p:sp>
        <p:nvSpPr>
          <p:cNvPr id="41" name="Shape 39"/>
          <p:cNvSpPr/>
          <p:nvPr/>
        </p:nvSpPr>
        <p:spPr>
          <a:xfrm>
            <a:off x="457200" y="4681728"/>
            <a:ext cx="8229600" cy="228600"/>
          </a:xfrm>
          <a:prstGeom prst="rect">
            <a:avLst/>
          </a:prstGeom>
          <a:solidFill>
            <a:srgbClr val="1A2E4A"/>
          </a:solidFill>
          <a:ln/>
        </p:spPr>
      </p:sp>
      <p:sp>
        <p:nvSpPr>
          <p:cNvPr id="42" name="Text 40"/>
          <p:cNvSpPr/>
          <p:nvPr/>
        </p:nvSpPr>
        <p:spPr>
          <a:xfrm>
            <a:off x="548640" y="4681728"/>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Database</a:t>
            </a:r>
            <a:endParaRPr lang="en-US" sz="900" dirty="0"/>
          </a:p>
        </p:txBody>
      </p:sp>
      <p:sp>
        <p:nvSpPr>
          <p:cNvPr id="43" name="Text 41"/>
          <p:cNvSpPr/>
          <p:nvPr/>
        </p:nvSpPr>
        <p:spPr>
          <a:xfrm>
            <a:off x="2286000" y="4681728"/>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PostgreSQL + SQLAlchemy</a:t>
            </a:r>
            <a:endParaRPr lang="en-US" sz="900" dirty="0"/>
          </a:p>
        </p:txBody>
      </p:sp>
      <p:sp>
        <p:nvSpPr>
          <p:cNvPr id="44" name="Text 42"/>
          <p:cNvSpPr/>
          <p:nvPr/>
        </p:nvSpPr>
        <p:spPr>
          <a:xfrm>
            <a:off x="4206240" y="4681728"/>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Alembic migrations, read replica ready, KB separate DB</a:t>
            </a:r>
            <a:endParaRPr lang="en-US" sz="85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19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 Financial Intelligence Platform</dc:title>
  <dc:subject>PptxGenJS Presentation</dc:subject>
  <dc:creator>APEX Team</dc:creator>
  <cp:lastModifiedBy>APEX Team</cp:lastModifiedBy>
  <cp:revision>1</cp:revision>
  <dcterms:created xsi:type="dcterms:W3CDTF">2026-04-15T22:42:25Z</dcterms:created>
  <dcterms:modified xsi:type="dcterms:W3CDTF">2026-04-15T22:42:25Z</dcterms:modified>
</cp:coreProperties>
</file>