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65760"/>
            <a:ext cx="45720" cy="2286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18288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C3254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162940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48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Platform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منصة الذكاء المالي المتكامل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411480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 ·  Saudi Arabia  ·  SOCPA &amp; IFRS Compliant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مدعومة بالذكاء الاصطناعي · متوافقة مع المعايير السعودية والدولية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3840480"/>
            <a:ext cx="9144000" cy="731520"/>
          </a:xfrm>
          <a:prstGeom prst="rect">
            <a:avLst/>
          </a:prstGeom>
          <a:solidFill>
            <a:srgbClr val="16294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86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نقطة 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3977640"/>
            <a:ext cx="18288" cy="457200"/>
          </a:xfrm>
          <a:prstGeom prst="rect">
            <a:avLst/>
          </a:prstGeom>
          <a:solidFill>
            <a:srgbClr val="1C3254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3886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66160" y="3886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وحدة ذكاء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3977640"/>
            <a:ext cx="18288" cy="457200"/>
          </a:xfrm>
          <a:prstGeom prst="rect">
            <a:avLst/>
          </a:prstGeom>
          <a:solidFill>
            <a:srgbClr val="1C325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886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760720" y="3886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3977640"/>
            <a:ext cx="18288" cy="457200"/>
          </a:xfrm>
          <a:prstGeom prst="rect">
            <a:avLst/>
          </a:prstGeom>
          <a:solidFill>
            <a:srgbClr val="1C3254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886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955280" y="3886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أتمتة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27532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المشكلة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Arabia's Financial Sector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Deserves Smarter Tools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يستحق القطاع المالي السعودي أدوات أكثر ذكاءً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77640" cy="118872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39776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87452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828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Error-Prone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0574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يدوي وعرضة للأخطاء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Excel-based analysis. Hours of manual work with zero audit trail.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3977640" cy="118872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691640"/>
            <a:ext cx="39776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874520"/>
            <a:ext cx="411480" cy="4114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40680" y="1828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for Arabic Finance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40680" y="20574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ذكاء اصطناعي للمحاسبة العربية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331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ignore SOCPA, ZAKAT, and Saudi-specific standards.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3977640" cy="118872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63240"/>
            <a:ext cx="39776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24612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200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Readiness Scoring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4290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غياب تقييم الجاهزية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7033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objective, automated measure of financial health or funding readiness.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3977640" cy="118872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063240"/>
            <a:ext cx="3977640" cy="457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8" name="Shape 26"/>
          <p:cNvSpPr/>
          <p:nvPr/>
        </p:nvSpPr>
        <p:spPr>
          <a:xfrm>
            <a:off x="4892040" y="3246120"/>
            <a:ext cx="411480" cy="41148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0680" y="3200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Costly Consulting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34290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استشارات بطيئة ومكلفة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7033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for a report. Thousands SAR per engagement. SMEs excluded.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27532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 ·  الحل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— Your AI Financial Brain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عقلك المالي الذكي — كل شيء في منصة واحدة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1874520" cy="256032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18745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شجرة الحسابات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AI-classify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48840" y="2468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1508760"/>
            <a:ext cx="1874520" cy="256032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508760"/>
            <a:ext cx="187452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645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51760" y="2148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51760" y="2788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ميزان المراجعة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Bind, validate &amp; detect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43400" y="2468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508760"/>
            <a:ext cx="1874520" cy="256032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508760"/>
            <a:ext cx="187452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645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46320" y="2148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2788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القوائم المالية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IFRS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2468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1508760"/>
            <a:ext cx="1874520" cy="256032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1508760"/>
            <a:ext cx="1874520" cy="45720"/>
          </a:xfrm>
          <a:prstGeom prst="rect">
            <a:avLst/>
          </a:prstGeom>
          <a:solidFill>
            <a:srgbClr val="E8CC73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1645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CC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040880" y="2148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0880" y="2788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التحليل المالي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&amp; Readiness Score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51960"/>
            <a:ext cx="8229600" cy="27432"/>
          </a:xfrm>
          <a:prstGeom prst="rect">
            <a:avLst/>
          </a:prstGeom>
          <a:solidFill>
            <a:srgbClr val="C9A84C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315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· Four layers · Complete financial intelligence  |  منصة واحدة · أربع طبقات · ذكاء مالي متكامل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27532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 ·  قدرات المنصة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APEX Different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الذي يميّز APEX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28016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060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087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481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Brain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العقل المعرفي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AI modules: SOCPA, IFRS, ZAKAT, VAT, Saudi regulations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606040" cy="128016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37160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3401568" y="15087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40156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&gt;&gt;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1481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Onboarding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تأهيل ذكي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29000" y="2011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wizard. Auto-detects company type, industry &amp; docs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371600"/>
            <a:ext cx="2606040" cy="128016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37160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Shape 19"/>
          <p:cNvSpPr/>
          <p:nvPr/>
        </p:nvSpPr>
        <p:spPr>
          <a:xfrm>
            <a:off x="6236208" y="150876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623620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1481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Workflow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سير عمل المراجعة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2011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7-phase review engine. Human-in-the-loop triggers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2606040" cy="128016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34640"/>
            <a:ext cx="260604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297180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{ }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5840" y="29443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Live APIs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3154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أكثر من 30 API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4360" y="3474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REST suite. FastAPI + Flutter. Swagger documented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2834640"/>
            <a:ext cx="2606040" cy="128016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34640"/>
            <a:ext cx="26060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5" name="Shape 33"/>
          <p:cNvSpPr/>
          <p:nvPr/>
        </p:nvSpPr>
        <p:spPr>
          <a:xfrm>
            <a:off x="3401568" y="29718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3401568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##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40480" y="29443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40480" y="3154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أمن قائم على الأدوار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29000" y="3474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roles, JWT auth, audit logs on every financial action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2834640"/>
            <a:ext cx="2606040" cy="128016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34640"/>
            <a:ext cx="2606040" cy="45720"/>
          </a:xfrm>
          <a:prstGeom prst="rect">
            <a:avLst/>
          </a:prstGeom>
          <a:solidFill>
            <a:srgbClr val="E8CC73"/>
          </a:solidFill>
          <a:ln/>
        </p:spPr>
      </p:sp>
      <p:sp>
        <p:nvSpPr>
          <p:cNvPr id="42" name="Shape 40"/>
          <p:cNvSpPr/>
          <p:nvPr/>
        </p:nvSpPr>
        <p:spPr>
          <a:xfrm>
            <a:off x="6236208" y="2971800"/>
            <a:ext cx="365760" cy="365760"/>
          </a:xfrm>
          <a:prstGeom prst="ellipse">
            <a:avLst/>
          </a:prstGeom>
          <a:solidFill>
            <a:srgbClr val="E8CC73"/>
          </a:solidFill>
          <a:ln/>
        </p:spPr>
      </p:sp>
      <p:sp>
        <p:nvSpPr>
          <p:cNvPr id="43" name="Text 41"/>
          <p:cNvSpPr/>
          <p:nvPr/>
        </p:nvSpPr>
        <p:spPr>
          <a:xfrm>
            <a:off x="6236208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$$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75120" y="29443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75120" y="3154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خطط الاشتراك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63640" y="3474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tiers: Starter, Growth, Professional, Enterprise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343400"/>
            <a:ext cx="9144000" cy="27432"/>
          </a:xfrm>
          <a:prstGeom prst="rect">
            <a:avLst/>
          </a:prstGeom>
          <a:solidFill>
            <a:srgbClr val="C9A84C">
              <a:alpha val="5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407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05840" y="4407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واجهة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194560" y="4407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743200" y="4407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وحدة ذكاء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931920" y="4407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55+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480560" y="4407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669280" y="4407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217920" y="4407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خطط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406640" y="4407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955280" y="4407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دور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27532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CLIENTS  ·  للعملاء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Complete Financial Health Report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Minutes, Not Weeks</a:t>
            </a:r>
            <a:endParaRPr lang="en-US" sz="26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المنشآت الصغيرة · مكاتب المحاسبة · الشركات · الناشئات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200400" cy="164592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32004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financial analysis tasks automated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مهام التحليل المالي مؤتمتة بالكامل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1645920"/>
            <a:ext cx="4663440" cy="4572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0" y="1645920"/>
            <a:ext cx="457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645920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Arabic or English financials — AI understands both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6240" y="18928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ارفع ملفاتك بالعربية أو الإنجليزية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0" y="2194560"/>
            <a:ext cx="4663440" cy="4572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3360" y="2194560"/>
            <a:ext cx="457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2194560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financial health report in minutes, not weeks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0" y="244144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صحة مالية كامل في دقائق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3360" y="2743200"/>
            <a:ext cx="4663440" cy="4572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4023360" y="2743200"/>
            <a:ext cx="4572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2743200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Readiness Score 0–100 with actionable steps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06240" y="299008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درجة جاهزية تمويلية من 0 إلى 100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23360" y="3291840"/>
            <a:ext cx="4663440" cy="4572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4023360" y="3291840"/>
            <a:ext cx="4572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3291840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SOCPA &amp; IFRS compliant. Audit-ready documentation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0" y="353872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متوافق مع المعايير. توثيق جاهز للمراجعة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23360" y="3840480"/>
            <a:ext cx="4663440" cy="4572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3840480"/>
            <a:ext cx="4572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4206240" y="3840480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certified professionals via Marketplace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06240" y="40873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تواصل مع متخصصين معتمدين عبر السوق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27532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  ·  للمستثمرين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SAR 780B Market Opportunity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فرصة سوقية بقيمة 780 مليار ريال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13716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" y="1481328"/>
            <a:ext cx="36576" cy="13350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72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SAR 780B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SME Market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سوق المنشآت السعودية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463040"/>
            <a:ext cx="2606040" cy="13716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463040"/>
            <a:ext cx="26060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3355848" y="1481328"/>
            <a:ext cx="36576" cy="13350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572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337560" y="20116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CAGR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21284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 الفنتك السعودي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42316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2024–2030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2606040" cy="13716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46304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6236208" y="1481328"/>
            <a:ext cx="36576" cy="13350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572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217920" y="20116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Target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221284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هدف السنة الأولى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42316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clients projected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 ·  نموذج الإيرادات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383280"/>
            <a:ext cx="4572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383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اشتراكات SaaS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49040" y="3383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199 → SAR 4,999/mo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3383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57200" y="3794760"/>
            <a:ext cx="8229600" cy="347472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794760"/>
            <a:ext cx="45720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794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3794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اشتراك الـ API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749040" y="3794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Pay-per-analysis. Usage-based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3794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4206240"/>
            <a:ext cx="4572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468880" y="4206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السوق التخصصي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749040" y="4206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professional services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0" y="4206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27532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 ·  المشهد التنافسي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APEX Wins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لماذا APEX تتفوق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01752"/>
          </a:xfrm>
          <a:prstGeom prst="rect">
            <a:avLst/>
          </a:prstGeom>
          <a:solidFill>
            <a:srgbClr val="1C325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1371600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43984" y="1371600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04688" y="1371600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Wafeq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65392" y="1371600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Qoyod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26096" y="1371600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673352"/>
            <a:ext cx="8229600" cy="30175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7335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Financial Analysis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0" y="1673352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43984" y="1673352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04688" y="1673352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65392" y="1673352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26096" y="1673352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975104"/>
            <a:ext cx="8229600" cy="301752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197510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+ SOCPA Support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83280" y="1975104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43984" y="1975104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1975104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65392" y="1975104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26096" y="1975104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276856"/>
            <a:ext cx="8229600" cy="30175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27685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 (0-100)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83280" y="2276856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43984" y="2276856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04688" y="2276856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65392" y="2276856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26096" y="2276856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2578608"/>
            <a:ext cx="8229600" cy="301752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257860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Workflow Engine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83280" y="2578608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443984" y="2578608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04688" y="2578608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65392" y="2578608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26096" y="2578608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2880360"/>
            <a:ext cx="8229600" cy="30175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288036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Brain (11 modules)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83280" y="2880360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443984" y="2880360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04688" y="2880360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65392" y="2880360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26096" y="2880360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182112"/>
            <a:ext cx="8229600" cy="301752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318211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Marketplace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383280" y="3182112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443984" y="3182112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04688" y="3182112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565392" y="3182112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626096" y="3182112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3483864"/>
            <a:ext cx="8229600" cy="30175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5" name="Text 53"/>
          <p:cNvSpPr/>
          <p:nvPr/>
        </p:nvSpPr>
        <p:spPr>
          <a:xfrm>
            <a:off x="548640" y="348386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(AR/EN)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383280" y="3483864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443984" y="3483864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504688" y="3483864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565392" y="3483864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7626096" y="3483864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383280" y="1371600"/>
            <a:ext cx="1060704" cy="2414016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is the only platform combining AI financial analysis with full Arabic/SOCPA compliance — </a:t>
            </a:r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comes close.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27532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 ·  التسعير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for Every Business Size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خطط تناسب كل حجم أعمال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920240" cy="30632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192024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08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المبتدئ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199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423160"/>
            <a:ext cx="1371600" cy="18288"/>
          </a:xfrm>
          <a:prstGeom prst="rect">
            <a:avLst/>
          </a:prstGeom>
          <a:solidFill>
            <a:srgbClr val="94A3B8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146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Company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COA Upload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Reports/month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1371600"/>
            <a:ext cx="1920240" cy="30632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37160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508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1737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النمو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799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2423160"/>
            <a:ext cx="1371600" cy="18288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25146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Companies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Reports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1371600"/>
            <a:ext cx="1920240" cy="3063240"/>
          </a:xfrm>
          <a:prstGeom prst="rect">
            <a:avLst/>
          </a:prstGeom>
          <a:solidFill>
            <a:srgbClr val="1C325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371600"/>
            <a:ext cx="192024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Shape 19"/>
          <p:cNvSpPr/>
          <p:nvPr/>
        </p:nvSpPr>
        <p:spPr>
          <a:xfrm>
            <a:off x="4983480" y="1261872"/>
            <a:ext cx="1371600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261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800600" y="1508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737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الاحترافي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1,999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2423160"/>
            <a:ext cx="1371600" cy="18288"/>
          </a:xfrm>
          <a:prstGeom prst="rect">
            <a:avLst/>
          </a:prstGeom>
          <a:solidFill>
            <a:srgbClr val="C9A84C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5146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Companies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Suite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Workflow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Manager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1371600"/>
            <a:ext cx="1920240" cy="30632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1371600"/>
            <a:ext cx="19202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1508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95160" y="1737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المؤسسي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4,999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78040" y="2423160"/>
            <a:ext cx="1371600" cy="18288"/>
          </a:xfrm>
          <a:prstGeom prst="rect">
            <a:avLst/>
          </a:prstGeom>
          <a:solidFill>
            <a:srgbClr val="22D3EE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25146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Modules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Guarantee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Option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Ready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27532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  ·  مسار العرض التجريبي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APEX in Action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شاهد APEX أثناء العمل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7772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6184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تأهيل العميل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wizard auto-configures for company type &amp; industry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77640" cy="7772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50876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1417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6184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رفع شجرة الحسابات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0" y="18288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Arabic/English Excel — AI classifies 200+ accounts instantly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3977640" cy="7772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2377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 Bind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25786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ربط ميزان المراجعة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88720" y="2788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Auto-links TB to COA, anomaly scoring &amp; issue flagging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331720"/>
            <a:ext cx="3977640" cy="7772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468880"/>
            <a:ext cx="502920" cy="502920"/>
          </a:xfrm>
          <a:prstGeom prst="ellipse">
            <a:avLst/>
          </a:prstGeom>
          <a:solidFill>
            <a:srgbClr val="E8CC73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0" y="2377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25786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القوائم المالية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0" y="2788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Balance Sheet, Cash Flow generated in one click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3977640" cy="7772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88720" y="3337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Dashboard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88720" y="3538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التحليل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88720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ratios, Readiness Score, funding gap analysis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291840"/>
            <a:ext cx="3977640" cy="7772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42900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486400" y="3337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0" y="3538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سجل التدقيق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86400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logged, timestamped &amp; explainable by AI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297680"/>
            <a:ext cx="8229600" cy="27432"/>
          </a:xfrm>
          <a:prstGeom prst="rect">
            <a:avLst/>
          </a:prstGeom>
          <a:solidFill>
            <a:srgbClr val="C9A84C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live screenshots of the APEX dashboard here for maximum impact ]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27532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·  قصة نجاح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Upload to Insight in 3 Minutes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الرفع إلى النتائج في 3 دقائق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7432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APEX  ·  قبل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Financial Report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Weeks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Analysis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5,000+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2697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Assessment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Missing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51960" y="2468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3931920" cy="27432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371600"/>
            <a:ext cx="39319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APEX  ·  بعد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Financial Report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Analysis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199/mo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2697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Assessment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AI-Logged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solidFill>
            <a:srgbClr val="16294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96% faster · 95% cheaper · 90% fewer errors  |  النتيجة: أسرع بـ 96% · أرخص بـ 95% · أخطاء أقل بـ 90%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27532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 ·  المنظومة التقنية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 &amp; Security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مبنية للتوسع والأمان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297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44752"/>
            <a:ext cx="100584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44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91640" y="1371600"/>
            <a:ext cx="4572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3.11)  ·  30+ REST APIs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واجهة خلفية عالية الأداء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429768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947672"/>
            <a:ext cx="1005840" cy="274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476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91640" y="1874520"/>
            <a:ext cx="4572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Web + Mobile  ·  55+ Screens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87452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تطبيق ويب وموبايل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4297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450592"/>
            <a:ext cx="1005840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450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91640" y="2377440"/>
            <a:ext cx="4572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Read Replicas Ready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37744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قاعدة بيانات قابلة للتوسع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8229600" cy="429768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953512"/>
            <a:ext cx="100584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53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91640" y="2880360"/>
            <a:ext cx="4572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Brain  ·  11 Modules  ·  Claude 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88036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عقل معرفي ذكي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8229600" cy="4297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456432"/>
            <a:ext cx="100584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4564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91640" y="3383280"/>
            <a:ext cx="4572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 ·  11 Roles  ·  Full Audit Logs  ·  bcrypt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38328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أمان متعدد الطبقات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8229600" cy="429768"/>
          </a:xfrm>
          <a:prstGeom prst="rect">
            <a:avLst/>
          </a:prstGeom>
          <a:solidFill>
            <a:srgbClr val="1E3654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3959352"/>
            <a:ext cx="1005840" cy="274320"/>
          </a:xfrm>
          <a:prstGeom prst="rect">
            <a:avLst/>
          </a:prstGeom>
          <a:solidFill>
            <a:srgbClr val="E8CC73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959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91640" y="3886200"/>
            <a:ext cx="4572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·  CI/CD  ·  GitHub Actions  ·  Render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388620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نشر مستمر ومؤتمت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434840"/>
            <a:ext cx="1920240" cy="9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Shape 34"/>
          <p:cNvSpPr/>
          <p:nvPr/>
        </p:nvSpPr>
        <p:spPr>
          <a:xfrm>
            <a:off x="2606040" y="4434840"/>
            <a:ext cx="192024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Shape 35"/>
          <p:cNvSpPr/>
          <p:nvPr/>
        </p:nvSpPr>
        <p:spPr>
          <a:xfrm>
            <a:off x="4754880" y="4434840"/>
            <a:ext cx="1920240" cy="914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8" name="Shape 36"/>
          <p:cNvSpPr/>
          <p:nvPr/>
        </p:nvSpPr>
        <p:spPr>
          <a:xfrm>
            <a:off x="6903720" y="4434840"/>
            <a:ext cx="1920240" cy="914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27532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SCALE  ·  خارطة طريق التوسع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Saudi to the Gulf &amp; Beyond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السعودية إلى الخليج والعالم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20240" cy="29718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19202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087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3M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التثبيت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146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Bug Fixes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Optimization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&amp; GitHub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1417320"/>
            <a:ext cx="1920240" cy="29718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417320"/>
            <a:ext cx="19202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5087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16916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9M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0604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06040" y="2194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التوسع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5146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Monitoring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Versioning (v1)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1417320"/>
            <a:ext cx="1920240" cy="29718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417320"/>
            <a:ext cx="19202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5087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16916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9M+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0060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00600" y="2194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الهيمنة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5146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&amp; Edge Cache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Compliance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1417320"/>
            <a:ext cx="1920240" cy="29718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1417320"/>
            <a:ext cx="1920240" cy="45720"/>
          </a:xfrm>
          <a:prstGeom prst="rect">
            <a:avLst/>
          </a:prstGeom>
          <a:solidFill>
            <a:srgbClr val="E8CC73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15087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95160" y="16916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9516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95160" y="2194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التوسع الخليجي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25146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Markets (UAE, BH)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Core + AI Platform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Multi-Standard Engine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SaaS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4348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decision: FastAPI → 50k users  ·  Go Core → 500k+ users  |  قرار اللغة: FastAPI حتى 50 ألف ثم Go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27532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457200"/>
            <a:ext cx="5029200" cy="5029200"/>
          </a:xfrm>
          <a:prstGeom prst="ellipse">
            <a:avLst/>
          </a:prstGeom>
          <a:solidFill>
            <a:srgbClr val="1C325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731520"/>
            <a:ext cx="4114800" cy="4114800"/>
          </a:xfrm>
          <a:prstGeom prst="ellipse">
            <a:avLst/>
          </a:prstGeom>
          <a:solidFill>
            <a:srgbClr val="162940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3200400" y="2011680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Financial Intelligence is Already Built.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مستقبل الذكاء المالي مبنيٌّ بالفعل.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your first client.  ·  جاهز لأول عميل.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2651760" cy="6858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794760"/>
            <a:ext cx="45720" cy="685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apex-api-ootk.onrender.com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 الإلكتروني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3794760"/>
            <a:ext cx="2651760" cy="6858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3794760"/>
            <a:ext cx="45720" cy="685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Jeddah, Saudi Arabia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جدة، المملكة العربية السعودية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3794760"/>
            <a:ext cx="2651760" cy="6858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794760"/>
            <a:ext cx="45720" cy="685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Ready Now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جاهز الآن · 2026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315200" y="4709160"/>
            <a:ext cx="1371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27532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— Financial Intelligence Platform</dc:title>
  <dc:subject>PptxGenJS Presentation</dc:subject>
  <dc:creator>APEX Team</dc:creator>
  <cp:lastModifiedBy>APEX Team</cp:lastModifiedBy>
  <cp:revision>1</cp:revision>
  <dcterms:created xsi:type="dcterms:W3CDTF">2026-04-15T20:01:18Z</dcterms:created>
  <dcterms:modified xsi:type="dcterms:W3CDTF">2026-04-15T20:01:18Z</dcterms:modified>
</cp:coreProperties>
</file>