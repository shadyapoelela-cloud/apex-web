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APEX is a comprehensive AI-powered financial intelligence platform built specifically for Saudi Arabia. SOCPA and IFRS compliant from day one, with full bilingual Arabic-English support. Over 30 API endpoints, 11 AI modules, and 55+ screens — already built and live.
مرحباً بالجميع. APEX هي منصة ذكاء مالي متكاملة مبنية بالذكاء الاصطناعي وموجهة خصيصاً للسوق السعودي. متوافقة مع معايير هيئة المحاسبين والمعايير الدولية، وتدعم العربية والإنجليزية بالكامل. أكثر من 30 واجهة برمجية، 11 وحدة ذكاء اصطناعي، و55 شاشة — كل ذلك مبني وجاهز.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80% of Saudi SMEs still rely on Excel for financial reporting, with 15-25% error rates. No AI platform supports Arabic + SOCPA natively. A single financial review costs SAR 3K-10K and takes 3-4 weeks. Startups seek funding without any readiness metrics — they're flying blind. This market gap is massive and growing.
التحدي الأساسي: 80% من المنشآت السعودية لا تزال تعتمد على Excel. المراجعة الواحدة تكلف 3-10 آلاف ريال وتأخذ 3-4 أسابيع. لا يوجد أي منصة ذكاء اصطناعي تدعم المعايير السعودية بالعربية. الشركات الناشئة تتقدم للتمويل دون أي مقاييس 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solves this with a four-step intelligent pipeline. Step 1: Upload your Chart of Accounts — AI classifies 200+ accounts instantly. Step 2: Bind your Trial Balance — we detect anomalies automatically. Step 3: Generate IFRS-compliant financial statements in one click. Step 4: Full analysis with 30+ ratios and a Funding Readiness Score from 0 to 100. The entire process takes minutes, not weeks.
APEX تحل هذا التحدي بأربع مراحل ذكية: رفع دليل الحسابات وتصنيفه بالذكاء الاصطناعي، ربط ميزان المراجعة واكتشاف الحالات الشاذة، إعداد القوائم المالية تلقائياً وفق المعايير، ثم التحليل الشامل مع درجة جاهزية التمويل. كل ذلك في دقائق.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differentiates APEX is depth. Our Knowledge Brain has 11 specialized AI modules covering SOCPA, IFRS, ZAKAT, VAT, and Saudi regulations. Smart onboarding auto-detects company type and industry. The audit workflow has 7 phases with human-in-the-loop triggers. 30+ live APIs, 11 security roles, and 4 flexible subscription tiers.
ما يميّز APEX هو العمق: المحرك المعرفي يحتوي 11 وحدة ذكاء اصطناعي متخصصة في المعايير السعودية والدولية. التسجيل الذكي يتعرف تلقائياً على نوع المنشأة وقطاعها. نظام المراجعة يمر بـ 7 مراحل مع نقاط تدخل بشري.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clients — SMEs, accounting firms, or startups — APEX delivers a complete financial health report in minutes, not weeks. Upload in Arabic or English, the AI handles both. Get a Funding Readiness Score from 0-100 with clear improvement steps. Everything is SOCPA and IFRS compliant and audit-ready from day one.
لعملائنا من المنشآت الصغيرة والمتوسطة ومكاتب المحاسبة والشركات الناشئة: تقرير صحة مالية شامل خلال دقائق بدلاً من أسابيع. ارفع بياناتك بالعربية أو الإنجليزية. احصل على تقييم جاهزية التمويل مع خطوات عملية للتحسين.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Saudi fintech market is valued at SAR 4.5B and growing 18% annually according to SAMA and EY. We're targeting 150 paying SME clients in Year 1 — a conservative number. Revenue model: 65% from SaaS subscriptions at SAR 199-1,999/mo with ~SAR 500 average ARPU, 20% from API analytics, and 15% from marketplace commissions.
سوق التقنية المالية السعودي يبلغ 4.5 مليار ريال بنمو سنوي 18% وفق بيانات ساما وتقارير EY. نستهدف 150 عميل مشترك في السنة الأولى. مصادر الإيرادات: 65% اشتراكات، 20% واجهات برمجية، 15% عمولات السوق.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landscape: Wafeq and Qoyod offer basic Arabic accounting but no AI analysis or readiness scoring — partial IFRS support only. Xero has some AI features globally but zero Arabic or SOCPA support. Excel remains the default for 80% of Saudi SMEs. APEX is the only product that combines AI financial analysis, Arabic SOCPA compliance, and Funding Readiness Scoring in one integrated platform. This is our moat.
المنافسون: وفّق وقيود يقدمون محاسبة أساسية بالعربية لكن بدون ذكاء اصطناعي أو مؤشر جاهزية — دعم جزئي فقط للمعايير الدولية. Xero لا يدعم العربية ولا المعايير السعودية. APEX هي المنصة الوحيدة التي تجمع الثلاثة معاً — وهذه ميزتنا التنافسية الأساسية.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pricing tiers designed around the Saudi SME journey. Starter at SAR 199/mo for freelancers and solo accountants. Growth at SAR 499/mo for growing firms. Professional at SAR 999/mo is our sweet spot — full AI suite + audit workflow + API access. Enterprise at SAR 1,999/mo with unlimited companies, SLA, and white-label. Average ARPU target: SAR 500/mo.
أربع باقات مصممة لمراحل نمو المنشآت السعودية. الانطلاقة بـ 199 ريال للمحاسبين المستقلين. النمو بـ 499 ريال. الاحترافي بـ 999 ريال — هو الباقة الأساسية مع كامل الذكاء الاصطناعي والمراجعة. المؤسسات بـ 1,999 ريال مع خيار العلامة البيضاء.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live demo flow. It's a 6-step process: Client onboarding through our 7-stage wizard, upload your Chart of Accounts, AI classifies 200+ accounts instantly, bind your Trial Balance, auto-generate financial statements, and finally view your analysis dashboard with 30+ ratios and your Readiness Score.
دعوني أعرض عليكم مسار العرض التجريبي المباشر.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preview of the APEX dashboard. You can see the clean, modern interface with real-time KPI cards at the top, revenue and expense charts, the readiness score gauge, and a complete financial statements table — all in one view. The dark theme is designed for long working sessions, and everything is available in both Arabic and English.
هذه معاينة للوحة التحكم مع مؤشرات فورية وقوائم مالية ودرجة الجاهزية.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APEX: reports take 3-4 weeks, cost SAR 3K-10K per review, 15-25% error rate, no readiness scoring, manual or missing audit trails. After APEX: under 5 minutes, from SAR 199/mo, less than 2% errors, automated 0-100 readiness score, full AI-logged audit trail. Massive efficiency gain for any SME.
قبل APEX: 3-4 أسابيع و 3-10 آلاف ريال. بعد APEX: أقل من 5 دقائق وابتداءً من 199 ريال شهرياً.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testimonials from our early pilot users. A startup CFO in Riyadh reports transforming quarterly reporting from 3 weeks to 10 minutes. An accounting firm managing partner in Jeddah highlights the bilingual capabilities. A founder in Dammam credits the Readiness Score with helping close their seed round 2 months early. These are anonymized but represent real feedback.
آراء من المستخدمين الأوائل في البرنامج التجريبي.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targets: CAC SAR 600, LTV SAR 7,200 over 18 months — giving 12x LTV:CAC ratio (benchmark is 3x+). Monthly churn target under 5% which is better than SaaS average of 6-8%. CAC payback in about 2 months. Gross margin 78% after AI infrastructure costs. Revenue split: 65% SaaS, 20% API, 15% Marketplace.
اقتصاديات الوحدة المستهدفة: تكلفة اكتساب 600 ريال — قيمة العميل 7,200 ريال — نسبة 12 ضعف.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built for scale and security. FastAPI backend with 30+ REST APIs, Flutter for web and mobile with 55+ screens, PostgreSQL with read replica readiness. Our AI engine includes 11 Knowledge Brain modules powered by Claude AI. Authentication uses JWT with 11 roles and full audit logging. CI/CD through GitHub Actions with Docker and deployment on Render.
المنظومة التقنية مبنية للتوسع والأمان.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every line of APEX myself — every API endpoint, every UI screen, every AI module, every test. That's 30+ APIs, 55+ screens, 11 AI modules, and 204 automated tests built by one person. This demonstrates deep technical ability and relentless commitment. We're now seeking three key hires: a CTO with 10+ years backend/AI experience, a CFO with CPA/CFA and SOCPA knowledge, and a Growth Lead with B2B SaaS expertise in the Saudi market.
بنيت كل سطر في APEX بمفردي — أكثر من 30 واجهة برمجية و55 شاشة و11 وحدة ذكاء اصطناعي و204 اختبار آلي. هذا يعكس القدرة التقنية والالتزام. نبحث الآن عن مدير تقني ومدير مالي ومدير نمو لتسريع المرحلة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clear phases. Phase 1 — Stabilize — we're here now: testing, optimization, security hardening. Phase 2 — Scale — months 3-9: CI/CD, Redis caching, API versioning, read replicas. Phase 3 — Lead — 9 months onward: microservices, horizontal scaling, SOC 2 compliance. Phase 4 — Expand — Year 2: Gulf markets starting with UAE and Bahrain, multi-standard engine, white-label SaaS for banks. We transition from FastAPI to Go Core at 50K+ users.
أربع مراحل واضحة: التأسيس والتثبيت الآن، ثم التوسع التقني خلال 3-9 أشهر، ثم الريادة بالمعايير العالمية بعد 9 أشهر، وأخيراً الانتشار في أسواق الخليج في السنة الثانية بدءاً من الإمارات والبحرين.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SAR 750K pre-seed — approximately $200K USD. This is a lean, focused allocation: 45% for engineering — 2 developers plus cloud infrastructure. 25% for sales and marketing — digital campaigns to acquire first 50 paying clients. 15% for operations — SAMA regulatory sandbox, commercial registration, legal incorporation. 15% as working capital for a 6-month runway buffer. 12-month milestones: 150 paying clients, SAR 1.2M ARR, clear path to break-even.
جولة ما قبل البذرة بقيمة 750 ألف ريال. توزيع محكم: 45% لتطوير المنتج وتوظيف مهندسين، 25% للتسويق الرقمي واستقطاب أول 50 عميل، 15% للتراخيص والبيئة التنظيمية لساما، 15% احتياطي تشغيلي لستة أشهر. الأهداف: 150 عميل و1.2 مليون ريال إيرادات سنوية خلال 12 شهراً.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is not a pitch deck idea — it's a working product. Live, functional, and ready for its first paying clients today. We're looking for investors who believe in democratizing financial intelligence for the Arab world. The product is built. The market is massive. The timing is perfect with Saudi Vision 2030 driving digital transformation across the financial sector. Thank you — I'm ready for your questions.
APEX ليست مجرد فكرة — بل منتج يعمل بالفعل ومتاح الآن. نبحث عن مستثمرين يشاركوننا رؤية تمكين الذكاء المالي في العالم العربي. المنتج جاهز، السوق ضخم، والتوقيت مثالي مع رؤية 2030 التي تدفع التحول الرقمي المالي. شكراً لوقتكم — جاهز لأسئلتكم.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deep-dive questions. Market sizing: TAM SAR 4.5B (total Saudi fintech — SAMA + Fintech Saudi), SAM SAR 800M (SME financial tools segment), SOM SAR 8M (conservative 1% SAM penetration over 3 years). Technical architecture: 30+ REST APIs fully documented in Swagger, 11 AI Knowledge Brain modules covering SOCPA, IFRS, ZAKAT, VAT, and more. 204 automated tests across 8 test suites. PostgreSQL with read replica readiness.
ملحق للاستفسارات التفصيلية. حجم السوق: إجمالي 4.5 مليار ريال وفق بيانات ساما وفنتك السعودية. السوق المتاح 800 مليون ريال. الهدف المحافظ 8 مليون ريال خلال 3 سنوات. البنية: أكثر من 30 واجهة برمجية موثقة، 11 وحدة ذكاء اصطناعي، 204 اختبار آلي.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Shape 1"/>
          <p:cNvSpPr/>
          <p:nvPr/>
        </p:nvSpPr>
        <p:spPr>
          <a:xfrm rot="-120000">
            <a:off x="-457200" y="4389120"/>
            <a:ext cx="10515600" cy="137160"/>
          </a:xfrm>
          <a:prstGeom prst="rect">
            <a:avLst/>
          </a:prstGeom>
          <a:solidFill>
            <a:srgbClr val="D4AF37">
              <a:alpha val="15000"/>
            </a:srgbClr>
          </a:solidFill>
          <a:ln/>
        </p:spPr>
      </p:sp>
      <p:sp>
        <p:nvSpPr>
          <p:cNvPr id="4" name="Shape 2"/>
          <p:cNvSpPr/>
          <p:nvPr/>
        </p:nvSpPr>
        <p:spPr>
          <a:xfrm>
            <a:off x="365760" y="320040"/>
            <a:ext cx="36576" cy="2468880"/>
          </a:xfrm>
          <a:prstGeom prst="rect">
            <a:avLst/>
          </a:prstGeom>
          <a:solidFill>
            <a:srgbClr val="D4AF37"/>
          </a:solidFill>
          <a:ln/>
        </p:spPr>
      </p:sp>
      <p:sp>
        <p:nvSpPr>
          <p:cNvPr id="5" name="Shape 3"/>
          <p:cNvSpPr/>
          <p:nvPr/>
        </p:nvSpPr>
        <p:spPr>
          <a:xfrm>
            <a:off x="365760" y="320040"/>
            <a:ext cx="2011680" cy="36576"/>
          </a:xfrm>
          <a:prstGeom prst="rect">
            <a:avLst/>
          </a:prstGeom>
          <a:solidFill>
            <a:srgbClr val="D4AF37"/>
          </a:solidFill>
          <a:ln/>
        </p:spPr>
      </p:sp>
      <p:sp>
        <p:nvSpPr>
          <p:cNvPr id="6" name="Shape 4"/>
          <p:cNvSpPr/>
          <p:nvPr/>
        </p:nvSpPr>
        <p:spPr>
          <a:xfrm>
            <a:off x="5669280" y="-731520"/>
            <a:ext cx="5029200" cy="5029200"/>
          </a:xfrm>
          <a:prstGeom prst="ellipse">
            <a:avLst/>
          </a:prstGeom>
          <a:solidFill>
            <a:srgbClr val="1C3254">
              <a:alpha val="45000"/>
            </a:srgbClr>
          </a:solidFill>
          <a:ln/>
        </p:spPr>
      </p:sp>
      <p:sp>
        <p:nvSpPr>
          <p:cNvPr id="7" name="Shape 5"/>
          <p:cNvSpPr/>
          <p:nvPr/>
        </p:nvSpPr>
        <p:spPr>
          <a:xfrm>
            <a:off x="6583680" y="1645920"/>
            <a:ext cx="3840480" cy="3840480"/>
          </a:xfrm>
          <a:prstGeom prst="ellipse">
            <a:avLst/>
          </a:prstGeom>
          <a:solidFill>
            <a:srgbClr val="132236">
              <a:alpha val="55000"/>
            </a:srgbClr>
          </a:solidFill>
          <a:ln/>
        </p:spPr>
      </p:sp>
      <p:sp>
        <p:nvSpPr>
          <p:cNvPr id="8" name="Shape 6"/>
          <p:cNvSpPr/>
          <p:nvPr/>
        </p:nvSpPr>
        <p:spPr>
          <a:xfrm>
            <a:off x="7772400" y="274320"/>
            <a:ext cx="1097280" cy="1097280"/>
          </a:xfrm>
          <a:prstGeom prst="ellipse">
            <a:avLst/>
          </a:prstGeom>
          <a:solidFill>
            <a:srgbClr val="D4AF37">
              <a:alpha val="12000"/>
            </a:srgbClr>
          </a:solidFill>
          <a:ln/>
        </p:spPr>
      </p:sp>
      <p:sp>
        <p:nvSpPr>
          <p:cNvPr id="9" name="Text 7"/>
          <p:cNvSpPr/>
          <p:nvPr/>
        </p:nvSpPr>
        <p:spPr>
          <a:xfrm>
            <a:off x="640080" y="502920"/>
            <a:ext cx="7315200" cy="1097280"/>
          </a:xfrm>
          <a:prstGeom prst="rect">
            <a:avLst/>
          </a:prstGeom>
          <a:noFill/>
          <a:ln/>
        </p:spPr>
        <p:txBody>
          <a:bodyPr wrap="square" lIns="0" tIns="0" rIns="0" bIns="0" rtlCol="0" anchor="ctr"/>
          <a:lstStyle/>
          <a:p>
            <a:pPr indent="0" marL="0">
              <a:buNone/>
            </a:pPr>
            <a:r>
              <a:rPr lang="en-US" sz="7400" b="1" dirty="0">
                <a:solidFill>
                  <a:srgbClr val="FFFFFF"/>
                </a:solidFill>
                <a:latin typeface="Arial Black" pitchFamily="34" charset="0"/>
                <a:ea typeface="Arial Black" pitchFamily="34" charset="-122"/>
                <a:cs typeface="Arial Black" pitchFamily="34" charset="-120"/>
              </a:rPr>
              <a:t>APEX</a:t>
            </a:r>
            <a:endParaRPr lang="en-US" sz="7400" dirty="0"/>
          </a:p>
        </p:txBody>
      </p:sp>
      <p:sp>
        <p:nvSpPr>
          <p:cNvPr id="10" name="Text 8"/>
          <p:cNvSpPr/>
          <p:nvPr/>
        </p:nvSpPr>
        <p:spPr>
          <a:xfrm>
            <a:off x="640080" y="1600200"/>
            <a:ext cx="7315200" cy="548640"/>
          </a:xfrm>
          <a:prstGeom prst="rect">
            <a:avLst/>
          </a:prstGeom>
          <a:noFill/>
          <a:ln/>
        </p:spPr>
        <p:txBody>
          <a:bodyPr wrap="square" lIns="0" tIns="0" rIns="0" bIns="0" rtlCol="0" anchor="ctr"/>
          <a:lstStyle/>
          <a:p>
            <a:pPr indent="0" marL="0">
              <a:buNone/>
            </a:pPr>
            <a:r>
              <a:rPr lang="en-US" sz="2600" spc="400" kern="0" dirty="0">
                <a:solidFill>
                  <a:srgbClr val="CBD5E1"/>
                </a:solidFill>
                <a:latin typeface="Calibri" pitchFamily="34" charset="0"/>
                <a:ea typeface="Calibri" pitchFamily="34" charset="-122"/>
                <a:cs typeface="Calibri" pitchFamily="34" charset="-120"/>
              </a:rPr>
              <a:t>Financial Intelligence Platform</a:t>
            </a:r>
            <a:endParaRPr lang="en-US" sz="2600" dirty="0"/>
          </a:p>
        </p:txBody>
      </p:sp>
      <p:sp>
        <p:nvSpPr>
          <p:cNvPr id="11" name="Text 9"/>
          <p:cNvSpPr/>
          <p:nvPr/>
        </p:nvSpPr>
        <p:spPr>
          <a:xfrm>
            <a:off x="640080" y="2194560"/>
            <a:ext cx="7315200" cy="457200"/>
          </a:xfrm>
          <a:prstGeom prst="rect">
            <a:avLst/>
          </a:prstGeom>
          <a:noFill/>
          <a:ln/>
        </p:spPr>
        <p:txBody>
          <a:bodyPr wrap="square" lIns="0" tIns="0" rIns="0" bIns="0" rtlCol="0" anchor="ctr"/>
          <a:lstStyle/>
          <a:p>
            <a:pPr indent="0" marL="0">
              <a:buNone/>
            </a:pPr>
            <a:r>
              <a:rPr lang="en-US" sz="2200" dirty="0">
                <a:solidFill>
                  <a:srgbClr val="D4AF37"/>
                </a:solidFill>
                <a:latin typeface="Calibri" pitchFamily="34" charset="0"/>
                <a:ea typeface="Calibri" pitchFamily="34" charset="-122"/>
                <a:cs typeface="Calibri" pitchFamily="34" charset="-120"/>
              </a:rPr>
              <a:t>منصة الذكاء المالي للأعمال في المملكة</a:t>
            </a:r>
            <a:endParaRPr lang="en-US" sz="2200" dirty="0"/>
          </a:p>
        </p:txBody>
      </p:sp>
      <p:sp>
        <p:nvSpPr>
          <p:cNvPr id="12" name="Shape 10"/>
          <p:cNvSpPr/>
          <p:nvPr/>
        </p:nvSpPr>
        <p:spPr>
          <a:xfrm>
            <a:off x="640080" y="2788920"/>
            <a:ext cx="4114800" cy="27432"/>
          </a:xfrm>
          <a:prstGeom prst="rect">
            <a:avLst/>
          </a:prstGeom>
          <a:solidFill>
            <a:srgbClr val="D4AF37"/>
          </a:solidFill>
          <a:ln/>
        </p:spPr>
      </p:sp>
      <p:sp>
        <p:nvSpPr>
          <p:cNvPr id="13" name="Text 11"/>
          <p:cNvSpPr/>
          <p:nvPr/>
        </p:nvSpPr>
        <p:spPr>
          <a:xfrm>
            <a:off x="640080" y="2926080"/>
            <a:ext cx="685800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AI-Powered  ·  Saudi Arabia  ·  SOCPA &amp; IFRS Compliant</a:t>
            </a: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ذكاء اصطناعي متقدم  ·  توافق كامل مع هيئة المحاسبين والمعايير الدولية</a:t>
            </a:r>
            <a:endParaRPr lang="en-US" sz="1200" dirty="0"/>
          </a:p>
        </p:txBody>
      </p:sp>
      <p:sp>
        <p:nvSpPr>
          <p:cNvPr id="14" name="Shape 12"/>
          <p:cNvSpPr/>
          <p:nvPr/>
        </p:nvSpPr>
        <p:spPr>
          <a:xfrm>
            <a:off x="0" y="3840480"/>
            <a:ext cx="9144000" cy="731520"/>
          </a:xfrm>
          <a:prstGeom prst="rect">
            <a:avLst/>
          </a:prstGeom>
          <a:solidFill>
            <a:srgbClr val="132236"/>
          </a:solidFill>
          <a:ln/>
        </p:spPr>
      </p:sp>
      <p:sp>
        <p:nvSpPr>
          <p:cNvPr id="15" name="Shape 13"/>
          <p:cNvSpPr/>
          <p:nvPr/>
        </p:nvSpPr>
        <p:spPr>
          <a:xfrm>
            <a:off x="0" y="3840480"/>
            <a:ext cx="9144000" cy="27432"/>
          </a:xfrm>
          <a:prstGeom prst="rect">
            <a:avLst/>
          </a:prstGeom>
          <a:solidFill>
            <a:srgbClr val="D4AF37">
              <a:alpha val="40000"/>
            </a:srgbClr>
          </a:solidFill>
          <a:ln/>
        </p:spPr>
      </p:sp>
      <p:sp>
        <p:nvSpPr>
          <p:cNvPr id="16" name="Text 14"/>
          <p:cNvSpPr/>
          <p:nvPr/>
        </p:nvSpPr>
        <p:spPr>
          <a:xfrm>
            <a:off x="457200" y="3886200"/>
            <a:ext cx="914400" cy="411480"/>
          </a:xfrm>
          <a:prstGeom prst="rect">
            <a:avLst/>
          </a:prstGeom>
          <a:noFill/>
          <a:ln/>
        </p:spPr>
        <p:txBody>
          <a:bodyPr wrap="square" lIns="0" tIns="0" rIns="0" bIns="0" rtlCol="0" anchor="ctr"/>
          <a:lstStyle/>
          <a:p>
            <a:pPr indent="0" marL="0">
              <a:buNone/>
            </a:pPr>
            <a:r>
              <a:rPr lang="en-US" sz="2400" dirty="0">
                <a:solidFill>
                  <a:srgbClr val="D4AF37"/>
                </a:solidFill>
                <a:latin typeface="Arial Black" pitchFamily="34" charset="0"/>
                <a:ea typeface="Arial Black" pitchFamily="34" charset="-122"/>
                <a:cs typeface="Arial Black" pitchFamily="34" charset="-120"/>
              </a:rPr>
              <a:t>30+</a:t>
            </a:r>
            <a:endParaRPr lang="en-US" sz="2400" dirty="0"/>
          </a:p>
        </p:txBody>
      </p:sp>
      <p:sp>
        <p:nvSpPr>
          <p:cNvPr id="17" name="Text 15"/>
          <p:cNvSpPr/>
          <p:nvPr/>
        </p:nvSpPr>
        <p:spPr>
          <a:xfrm>
            <a:off x="137160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Endpoints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واجهة برمجية</a:t>
            </a:r>
            <a:endParaRPr lang="en-US" sz="900" dirty="0"/>
          </a:p>
        </p:txBody>
      </p:sp>
      <p:sp>
        <p:nvSpPr>
          <p:cNvPr id="18" name="Shape 16"/>
          <p:cNvSpPr/>
          <p:nvPr/>
        </p:nvSpPr>
        <p:spPr>
          <a:xfrm>
            <a:off x="2514600" y="3977640"/>
            <a:ext cx="18288" cy="457200"/>
          </a:xfrm>
          <a:prstGeom prst="rect">
            <a:avLst/>
          </a:prstGeom>
          <a:solidFill>
            <a:srgbClr val="1C3254"/>
          </a:solidFill>
          <a:ln/>
        </p:spPr>
      </p:sp>
      <p:sp>
        <p:nvSpPr>
          <p:cNvPr id="19" name="Text 17"/>
          <p:cNvSpPr/>
          <p:nvPr/>
        </p:nvSpPr>
        <p:spPr>
          <a:xfrm>
            <a:off x="2651760" y="3886200"/>
            <a:ext cx="914400" cy="411480"/>
          </a:xfrm>
          <a:prstGeom prst="rect">
            <a:avLst/>
          </a:prstGeom>
          <a:noFill/>
          <a:ln/>
        </p:spPr>
        <p:txBody>
          <a:bodyPr wrap="square" lIns="0" tIns="0" rIns="0" bIns="0" rtlCol="0" anchor="ctr"/>
          <a:lstStyle/>
          <a:p>
            <a:pPr indent="0" marL="0">
              <a:buNone/>
            </a:pPr>
            <a:r>
              <a:rPr lang="en-US" sz="2400" dirty="0">
                <a:solidFill>
                  <a:srgbClr val="D4AF37"/>
                </a:solidFill>
                <a:latin typeface="Arial Black" pitchFamily="34" charset="0"/>
                <a:ea typeface="Arial Black" pitchFamily="34" charset="-122"/>
                <a:cs typeface="Arial Black" pitchFamily="34" charset="-120"/>
              </a:rPr>
              <a:t>11</a:t>
            </a:r>
            <a:endParaRPr lang="en-US" sz="2400" dirty="0"/>
          </a:p>
        </p:txBody>
      </p:sp>
      <p:sp>
        <p:nvSpPr>
          <p:cNvPr id="20" name="Text 18"/>
          <p:cNvSpPr/>
          <p:nvPr/>
        </p:nvSpPr>
        <p:spPr>
          <a:xfrm>
            <a:off x="356616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 Modules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وحدة ذكية</a:t>
            </a:r>
            <a:endParaRPr lang="en-US" sz="900" dirty="0"/>
          </a:p>
        </p:txBody>
      </p:sp>
      <p:sp>
        <p:nvSpPr>
          <p:cNvPr id="21" name="Shape 19"/>
          <p:cNvSpPr/>
          <p:nvPr/>
        </p:nvSpPr>
        <p:spPr>
          <a:xfrm>
            <a:off x="4709160" y="3977640"/>
            <a:ext cx="18288" cy="457200"/>
          </a:xfrm>
          <a:prstGeom prst="rect">
            <a:avLst/>
          </a:prstGeom>
          <a:solidFill>
            <a:srgbClr val="1C3254"/>
          </a:solidFill>
          <a:ln/>
        </p:spPr>
      </p:sp>
      <p:sp>
        <p:nvSpPr>
          <p:cNvPr id="22" name="Text 20"/>
          <p:cNvSpPr/>
          <p:nvPr/>
        </p:nvSpPr>
        <p:spPr>
          <a:xfrm>
            <a:off x="4846320" y="3886200"/>
            <a:ext cx="914400" cy="411480"/>
          </a:xfrm>
          <a:prstGeom prst="rect">
            <a:avLst/>
          </a:prstGeom>
          <a:noFill/>
          <a:ln/>
        </p:spPr>
        <p:txBody>
          <a:bodyPr wrap="square" lIns="0" tIns="0" rIns="0" bIns="0" rtlCol="0" anchor="ctr"/>
          <a:lstStyle/>
          <a:p>
            <a:pPr indent="0" marL="0">
              <a:buNone/>
            </a:pPr>
            <a:r>
              <a:rPr lang="en-US" sz="2400" dirty="0">
                <a:solidFill>
                  <a:srgbClr val="D4AF37"/>
                </a:solidFill>
                <a:latin typeface="Arial Black" pitchFamily="34" charset="0"/>
                <a:ea typeface="Arial Black" pitchFamily="34" charset="-122"/>
                <a:cs typeface="Arial Black" pitchFamily="34" charset="-120"/>
              </a:rPr>
              <a:t>55+</a:t>
            </a:r>
            <a:endParaRPr lang="en-US" sz="2400" dirty="0"/>
          </a:p>
        </p:txBody>
      </p:sp>
      <p:sp>
        <p:nvSpPr>
          <p:cNvPr id="23" name="Text 21"/>
          <p:cNvSpPr/>
          <p:nvPr/>
        </p:nvSpPr>
        <p:spPr>
          <a:xfrm>
            <a:off x="576072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UI Screens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واجهة مستخدم</a:t>
            </a:r>
            <a:endParaRPr lang="en-US" sz="900" dirty="0"/>
          </a:p>
        </p:txBody>
      </p:sp>
      <p:sp>
        <p:nvSpPr>
          <p:cNvPr id="24" name="Shape 22"/>
          <p:cNvSpPr/>
          <p:nvPr/>
        </p:nvSpPr>
        <p:spPr>
          <a:xfrm>
            <a:off x="6903720" y="3977640"/>
            <a:ext cx="18288" cy="457200"/>
          </a:xfrm>
          <a:prstGeom prst="rect">
            <a:avLst/>
          </a:prstGeom>
          <a:solidFill>
            <a:srgbClr val="1C3254"/>
          </a:solidFill>
          <a:ln/>
        </p:spPr>
      </p:sp>
      <p:sp>
        <p:nvSpPr>
          <p:cNvPr id="25" name="Text 23"/>
          <p:cNvSpPr/>
          <p:nvPr/>
        </p:nvSpPr>
        <p:spPr>
          <a:xfrm>
            <a:off x="7040880" y="3886200"/>
            <a:ext cx="914400" cy="411480"/>
          </a:xfrm>
          <a:prstGeom prst="rect">
            <a:avLst/>
          </a:prstGeom>
          <a:noFill/>
          <a:ln/>
        </p:spPr>
        <p:txBody>
          <a:bodyPr wrap="square" lIns="0" tIns="0" rIns="0" bIns="0" rtlCol="0" anchor="ctr"/>
          <a:lstStyle/>
          <a:p>
            <a:pPr indent="0" marL="0">
              <a:buNone/>
            </a:pPr>
            <a:r>
              <a:rPr lang="en-US" sz="2400" dirty="0">
                <a:solidFill>
                  <a:srgbClr val="D4AF37"/>
                </a:solidFill>
                <a:latin typeface="Arial Black" pitchFamily="34" charset="0"/>
                <a:ea typeface="Arial Black" pitchFamily="34" charset="-122"/>
                <a:cs typeface="Arial Black" pitchFamily="34" charset="-120"/>
              </a:rPr>
              <a:t>93%</a:t>
            </a:r>
            <a:endParaRPr lang="en-US" sz="2400" dirty="0"/>
          </a:p>
        </p:txBody>
      </p:sp>
      <p:sp>
        <p:nvSpPr>
          <p:cNvPr id="26" name="Text 24"/>
          <p:cNvSpPr/>
          <p:nvPr/>
        </p:nvSpPr>
        <p:spPr>
          <a:xfrm>
            <a:off x="795528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Automation</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نسبة الأتمتة</a:t>
            </a:r>
            <a:endParaRPr lang="en-US" sz="900" dirty="0"/>
          </a:p>
        </p:txBody>
      </p:sp>
      <p:sp>
        <p:nvSpPr>
          <p:cNvPr id="27" name="Shape 25"/>
          <p:cNvSpPr/>
          <p:nvPr/>
        </p:nvSpPr>
        <p:spPr>
          <a:xfrm>
            <a:off x="0" y="4709160"/>
            <a:ext cx="9144000" cy="434340"/>
          </a:xfrm>
          <a:prstGeom prst="rect">
            <a:avLst/>
          </a:prstGeom>
          <a:solidFill>
            <a:srgbClr val="0A1220"/>
          </a:solidFill>
          <a:ln/>
        </p:spPr>
      </p:sp>
      <p:sp>
        <p:nvSpPr>
          <p:cNvPr id="28" name="Text 2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9" name="Text 2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 / 19</a:t>
            </a:r>
            <a:endParaRPr lang="en-US" sz="750" dirty="0"/>
          </a:p>
        </p:txBody>
      </p:sp>
      <p:sp>
        <p:nvSpPr>
          <p:cNvPr id="30" name="Text 2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616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THE PROBLEM  ·  التحدي</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Saudi Arabia's Financial Sector</a:t>
            </a:r>
            <a:endParaRPr lang="en-US" sz="2800" dirty="0"/>
          </a:p>
          <a:p>
            <a:pPr indent="0" marL="0">
              <a:buNone/>
            </a:pPr>
            <a:r>
              <a:rPr lang="en-US" sz="2800" b="1" dirty="0">
                <a:solidFill>
                  <a:srgbClr val="F96167"/>
                </a:solidFill>
                <a:latin typeface="Calibri" pitchFamily="34" charset="0"/>
                <a:ea typeface="Calibri" pitchFamily="34" charset="-122"/>
                <a:cs typeface="Calibri" pitchFamily="34" charset="-120"/>
              </a:rPr>
              <a:t>Deserves Smarter Tools</a:t>
            </a:r>
            <a:endParaRPr lang="en-US" sz="2800" dirty="0"/>
          </a:p>
          <a:p>
            <a:pPr indent="0" marL="0">
              <a:buNone/>
            </a:pPr>
            <a:r>
              <a:rPr lang="en-US" sz="1300" dirty="0">
                <a:solidFill>
                  <a:srgbClr val="94A3B8"/>
                </a:solidFill>
                <a:latin typeface="Calibri" pitchFamily="34" charset="0"/>
                <a:ea typeface="Calibri" pitchFamily="34" charset="-122"/>
                <a:cs typeface="Calibri" pitchFamily="34" charset="-120"/>
              </a:rPr>
              <a:t>القطاع المالي السعودي يحتاج نقلة نوعية في أدواته</a:t>
            </a:r>
            <a:endParaRPr lang="en-US" sz="2800" dirty="0"/>
          </a:p>
        </p:txBody>
      </p:sp>
      <p:sp>
        <p:nvSpPr>
          <p:cNvPr id="5" name="Shape 3"/>
          <p:cNvSpPr/>
          <p:nvPr/>
        </p:nvSpPr>
        <p:spPr>
          <a:xfrm>
            <a:off x="457200" y="1691640"/>
            <a:ext cx="3977640" cy="11887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457200" y="1691640"/>
            <a:ext cx="3977640" cy="45720"/>
          </a:xfrm>
          <a:prstGeom prst="rect">
            <a:avLst/>
          </a:prstGeom>
          <a:solidFill>
            <a:srgbClr val="F96167"/>
          </a:solidFill>
          <a:ln/>
        </p:spPr>
      </p:sp>
      <p:sp>
        <p:nvSpPr>
          <p:cNvPr id="7" name="Shape 5"/>
          <p:cNvSpPr/>
          <p:nvPr/>
        </p:nvSpPr>
        <p:spPr>
          <a:xfrm>
            <a:off x="594360" y="1874520"/>
            <a:ext cx="411480" cy="411480"/>
          </a:xfrm>
          <a:prstGeom prst="ellipse">
            <a:avLst/>
          </a:prstGeom>
          <a:solidFill>
            <a:srgbClr val="F96167"/>
          </a:solidFill>
          <a:ln/>
        </p:spPr>
      </p:sp>
      <p:sp>
        <p:nvSpPr>
          <p:cNvPr id="8" name="Text 6"/>
          <p:cNvSpPr/>
          <p:nvPr/>
        </p:nvSpPr>
        <p:spPr>
          <a:xfrm>
            <a:off x="594360" y="1874520"/>
            <a:ext cx="411480" cy="411480"/>
          </a:xfrm>
          <a:prstGeom prst="rect">
            <a:avLst/>
          </a:prstGeom>
          <a:noFill/>
          <a:ln/>
        </p:spPr>
        <p:txBody>
          <a:bodyPr wrap="square" lIns="0" tIns="0" rIns="0" bIns="0" rtlCol="0" anchor="ctr"/>
          <a:lstStyle/>
          <a:p>
            <a:pPr algn="ctr" indent="0" marL="0">
              <a:buNone/>
            </a:pPr>
            <a:r>
              <a:rPr lang="en-US" sz="1800" dirty="0">
                <a:solidFill>
                  <a:srgbClr val="0B1523"/>
                </a:solidFill>
                <a:latin typeface="Arial Black" pitchFamily="34" charset="0"/>
                <a:ea typeface="Arial Black" pitchFamily="34" charset="-122"/>
                <a:cs typeface="Arial Black" pitchFamily="34" charset="-120"/>
              </a:rPr>
              <a:t>!</a:t>
            </a:r>
            <a:endParaRPr lang="en-US" sz="1800" dirty="0"/>
          </a:p>
        </p:txBody>
      </p:sp>
      <p:sp>
        <p:nvSpPr>
          <p:cNvPr id="9" name="Text 7"/>
          <p:cNvSpPr/>
          <p:nvPr/>
        </p:nvSpPr>
        <p:spPr>
          <a:xfrm>
            <a:off x="114300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&amp; Error-Prone</a:t>
            </a:r>
            <a:endParaRPr lang="en-US" sz="1300" dirty="0"/>
          </a:p>
        </p:txBody>
      </p:sp>
      <p:sp>
        <p:nvSpPr>
          <p:cNvPr id="10" name="Text 8"/>
          <p:cNvSpPr/>
          <p:nvPr/>
        </p:nvSpPr>
        <p:spPr>
          <a:xfrm>
            <a:off x="1143000" y="2057400"/>
            <a:ext cx="31089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اعتماد يدوي ونسب خطأ مرتفعة</a:t>
            </a:r>
            <a:endParaRPr lang="en-US" sz="1000" dirty="0"/>
          </a:p>
        </p:txBody>
      </p:sp>
      <p:sp>
        <p:nvSpPr>
          <p:cNvPr id="11" name="Text 9"/>
          <p:cNvSpPr/>
          <p:nvPr/>
        </p:nvSpPr>
        <p:spPr>
          <a:xfrm>
            <a:off x="64008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80% of Saudi SMEs still use Excel. Average 15-25% error rate in manual reports.</a:t>
            </a:r>
            <a:endParaRPr lang="en-US" sz="1000" dirty="0"/>
          </a:p>
        </p:txBody>
      </p:sp>
      <p:sp>
        <p:nvSpPr>
          <p:cNvPr id="12" name="Shape 10"/>
          <p:cNvSpPr/>
          <p:nvPr/>
        </p:nvSpPr>
        <p:spPr>
          <a:xfrm>
            <a:off x="4754880" y="1691640"/>
            <a:ext cx="3977640" cy="11887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4754880" y="1691640"/>
            <a:ext cx="3977640" cy="45720"/>
          </a:xfrm>
          <a:prstGeom prst="rect">
            <a:avLst/>
          </a:prstGeom>
          <a:solidFill>
            <a:srgbClr val="D4AF37"/>
          </a:solidFill>
          <a:ln/>
        </p:spPr>
      </p:sp>
      <p:sp>
        <p:nvSpPr>
          <p:cNvPr id="14" name="Shape 12"/>
          <p:cNvSpPr/>
          <p:nvPr/>
        </p:nvSpPr>
        <p:spPr>
          <a:xfrm>
            <a:off x="4892040" y="1874520"/>
            <a:ext cx="411480" cy="411480"/>
          </a:xfrm>
          <a:prstGeom prst="ellipse">
            <a:avLst/>
          </a:prstGeom>
          <a:solidFill>
            <a:srgbClr val="D4AF37"/>
          </a:solidFill>
          <a:ln/>
        </p:spPr>
      </p:sp>
      <p:sp>
        <p:nvSpPr>
          <p:cNvPr id="15" name="Text 13"/>
          <p:cNvSpPr/>
          <p:nvPr/>
        </p:nvSpPr>
        <p:spPr>
          <a:xfrm>
            <a:off x="4892040" y="1874520"/>
            <a:ext cx="411480" cy="411480"/>
          </a:xfrm>
          <a:prstGeom prst="rect">
            <a:avLst/>
          </a:prstGeom>
          <a:noFill/>
          <a:ln/>
        </p:spPr>
        <p:txBody>
          <a:bodyPr wrap="square" lIns="0" tIns="0" rIns="0" bIns="0" rtlCol="0" anchor="ctr"/>
          <a:lstStyle/>
          <a:p>
            <a:pPr algn="ctr" indent="0" marL="0">
              <a:buNone/>
            </a:pPr>
            <a:r>
              <a:rPr lang="en-US" sz="1800" dirty="0">
                <a:solidFill>
                  <a:srgbClr val="0B1523"/>
                </a:solidFill>
                <a:latin typeface="Arial Black" pitchFamily="34" charset="0"/>
                <a:ea typeface="Arial Black" pitchFamily="34" charset="-122"/>
                <a:cs typeface="Arial Black" pitchFamily="34" charset="-120"/>
              </a:rPr>
              <a:t>X</a:t>
            </a:r>
            <a:endParaRPr lang="en-US" sz="1800" dirty="0"/>
          </a:p>
        </p:txBody>
      </p:sp>
      <p:sp>
        <p:nvSpPr>
          <p:cNvPr id="16" name="Text 14"/>
          <p:cNvSpPr/>
          <p:nvPr/>
        </p:nvSpPr>
        <p:spPr>
          <a:xfrm>
            <a:off x="544068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Arabic AI Standards</a:t>
            </a:r>
            <a:endParaRPr lang="en-US" sz="1300" dirty="0"/>
          </a:p>
        </p:txBody>
      </p:sp>
      <p:sp>
        <p:nvSpPr>
          <p:cNvPr id="17" name="Text 15"/>
          <p:cNvSpPr/>
          <p:nvPr/>
        </p:nvSpPr>
        <p:spPr>
          <a:xfrm>
            <a:off x="5440680" y="2057400"/>
            <a:ext cx="31089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غياب أنظمة ذكاء اصطناعي عربية</a:t>
            </a:r>
            <a:endParaRPr lang="en-US" sz="1000" dirty="0"/>
          </a:p>
        </p:txBody>
      </p:sp>
      <p:sp>
        <p:nvSpPr>
          <p:cNvPr id="18" name="Text 16"/>
          <p:cNvSpPr/>
          <p:nvPr/>
        </p:nvSpPr>
        <p:spPr>
          <a:xfrm>
            <a:off x="493776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platform supports SOCPA + ZAKAT + VAT analysis in Arabic natively.</a:t>
            </a:r>
            <a:endParaRPr lang="en-US" sz="1000" dirty="0"/>
          </a:p>
        </p:txBody>
      </p:sp>
      <p:sp>
        <p:nvSpPr>
          <p:cNvPr id="19" name="Shape 17"/>
          <p:cNvSpPr/>
          <p:nvPr/>
        </p:nvSpPr>
        <p:spPr>
          <a:xfrm>
            <a:off x="457200" y="3063240"/>
            <a:ext cx="3977640" cy="11887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0" name="Shape 18"/>
          <p:cNvSpPr/>
          <p:nvPr/>
        </p:nvSpPr>
        <p:spPr>
          <a:xfrm>
            <a:off x="457200" y="3063240"/>
            <a:ext cx="3977640" cy="45720"/>
          </a:xfrm>
          <a:prstGeom prst="rect">
            <a:avLst/>
          </a:prstGeom>
          <a:solidFill>
            <a:srgbClr val="0891B2"/>
          </a:solidFill>
          <a:ln/>
        </p:spPr>
      </p:sp>
      <p:sp>
        <p:nvSpPr>
          <p:cNvPr id="21" name="Shape 19"/>
          <p:cNvSpPr/>
          <p:nvPr/>
        </p:nvSpPr>
        <p:spPr>
          <a:xfrm>
            <a:off x="594360" y="3246120"/>
            <a:ext cx="411480" cy="411480"/>
          </a:xfrm>
          <a:prstGeom prst="ellipse">
            <a:avLst/>
          </a:prstGeom>
          <a:solidFill>
            <a:srgbClr val="0891B2"/>
          </a:solidFill>
          <a:ln/>
        </p:spPr>
      </p:sp>
      <p:sp>
        <p:nvSpPr>
          <p:cNvPr id="22" name="Text 20"/>
          <p:cNvSpPr/>
          <p:nvPr/>
        </p:nvSpPr>
        <p:spPr>
          <a:xfrm>
            <a:off x="594360" y="3246120"/>
            <a:ext cx="411480" cy="411480"/>
          </a:xfrm>
          <a:prstGeom prst="rect">
            <a:avLst/>
          </a:prstGeom>
          <a:noFill/>
          <a:ln/>
        </p:spPr>
        <p:txBody>
          <a:bodyPr wrap="square" lIns="0" tIns="0" rIns="0" bIns="0" rtlCol="0" anchor="ctr"/>
          <a:lstStyle/>
          <a:p>
            <a:pPr algn="ctr" indent="0" marL="0">
              <a:buNone/>
            </a:pPr>
            <a:r>
              <a:rPr lang="en-US" sz="1800" dirty="0">
                <a:solidFill>
                  <a:srgbClr val="0B1523"/>
                </a:solidFill>
                <a:latin typeface="Arial Black" pitchFamily="34" charset="0"/>
                <a:ea typeface="Arial Black" pitchFamily="34" charset="-122"/>
                <a:cs typeface="Arial Black" pitchFamily="34" charset="-120"/>
              </a:rPr>
              <a:t>?</a:t>
            </a:r>
            <a:endParaRPr lang="en-US" sz="1800" dirty="0"/>
          </a:p>
        </p:txBody>
      </p:sp>
      <p:sp>
        <p:nvSpPr>
          <p:cNvPr id="23" name="Text 21"/>
          <p:cNvSpPr/>
          <p:nvPr/>
        </p:nvSpPr>
        <p:spPr>
          <a:xfrm>
            <a:off x="114300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Readiness Metrics</a:t>
            </a:r>
            <a:endParaRPr lang="en-US" sz="1300" dirty="0"/>
          </a:p>
        </p:txBody>
      </p:sp>
      <p:sp>
        <p:nvSpPr>
          <p:cNvPr id="24" name="Text 22"/>
          <p:cNvSpPr/>
          <p:nvPr/>
        </p:nvSpPr>
        <p:spPr>
          <a:xfrm>
            <a:off x="1143000" y="3429000"/>
            <a:ext cx="31089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انعدام مقاييس الجاهزية التمويلية</a:t>
            </a:r>
            <a:endParaRPr lang="en-US" sz="1000" dirty="0"/>
          </a:p>
        </p:txBody>
      </p:sp>
      <p:sp>
        <p:nvSpPr>
          <p:cNvPr id="25" name="Text 23"/>
          <p:cNvSpPr/>
          <p:nvPr/>
        </p:nvSpPr>
        <p:spPr>
          <a:xfrm>
            <a:off x="64008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Startups apply for funding blindly — no scoring, no gap analysis, no benchmarks.</a:t>
            </a:r>
            <a:endParaRPr lang="en-US" sz="1000" dirty="0"/>
          </a:p>
        </p:txBody>
      </p:sp>
      <p:sp>
        <p:nvSpPr>
          <p:cNvPr id="26" name="Shape 24"/>
          <p:cNvSpPr/>
          <p:nvPr/>
        </p:nvSpPr>
        <p:spPr>
          <a:xfrm>
            <a:off x="4754880" y="3063240"/>
            <a:ext cx="3977640" cy="11887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7" name="Shape 25"/>
          <p:cNvSpPr/>
          <p:nvPr/>
        </p:nvSpPr>
        <p:spPr>
          <a:xfrm>
            <a:off x="4754880" y="3063240"/>
            <a:ext cx="3977640" cy="45720"/>
          </a:xfrm>
          <a:prstGeom prst="rect">
            <a:avLst/>
          </a:prstGeom>
          <a:solidFill>
            <a:srgbClr val="F87171"/>
          </a:solidFill>
          <a:ln/>
        </p:spPr>
      </p:sp>
      <p:sp>
        <p:nvSpPr>
          <p:cNvPr id="28" name="Shape 26"/>
          <p:cNvSpPr/>
          <p:nvPr/>
        </p:nvSpPr>
        <p:spPr>
          <a:xfrm>
            <a:off x="4892040" y="3246120"/>
            <a:ext cx="411480" cy="411480"/>
          </a:xfrm>
          <a:prstGeom prst="ellipse">
            <a:avLst/>
          </a:prstGeom>
          <a:solidFill>
            <a:srgbClr val="F87171"/>
          </a:solidFill>
          <a:ln/>
        </p:spPr>
      </p:sp>
      <p:sp>
        <p:nvSpPr>
          <p:cNvPr id="29" name="Text 27"/>
          <p:cNvSpPr/>
          <p:nvPr/>
        </p:nvSpPr>
        <p:spPr>
          <a:xfrm>
            <a:off x="4892040" y="3246120"/>
            <a:ext cx="411480" cy="411480"/>
          </a:xfrm>
          <a:prstGeom prst="rect">
            <a:avLst/>
          </a:prstGeom>
          <a:noFill/>
          <a:ln/>
        </p:spPr>
        <p:txBody>
          <a:bodyPr wrap="square" lIns="0" tIns="0" rIns="0" bIns="0" rtlCol="0" anchor="ctr"/>
          <a:lstStyle/>
          <a:p>
            <a:pPr algn="ctr" indent="0" marL="0">
              <a:buNone/>
            </a:pPr>
            <a:r>
              <a:rPr lang="en-US" sz="1800" dirty="0">
                <a:solidFill>
                  <a:srgbClr val="0B1523"/>
                </a:solidFill>
                <a:latin typeface="Arial Black" pitchFamily="34" charset="0"/>
                <a:ea typeface="Arial Black" pitchFamily="34" charset="-122"/>
                <a:cs typeface="Arial Black" pitchFamily="34" charset="-120"/>
              </a:rPr>
              <a:t>$</a:t>
            </a:r>
            <a:endParaRPr lang="en-US" sz="1800" dirty="0"/>
          </a:p>
        </p:txBody>
      </p:sp>
      <p:sp>
        <p:nvSpPr>
          <p:cNvPr id="30" name="Text 28"/>
          <p:cNvSpPr/>
          <p:nvPr/>
        </p:nvSpPr>
        <p:spPr>
          <a:xfrm>
            <a:off x="544068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 Cost, Low Access</a:t>
            </a:r>
            <a:endParaRPr lang="en-US" sz="1300" dirty="0"/>
          </a:p>
        </p:txBody>
      </p:sp>
      <p:sp>
        <p:nvSpPr>
          <p:cNvPr id="31" name="Text 29"/>
          <p:cNvSpPr/>
          <p:nvPr/>
        </p:nvSpPr>
        <p:spPr>
          <a:xfrm>
            <a:off x="5440680" y="3429000"/>
            <a:ext cx="3108960" cy="182880"/>
          </a:xfrm>
          <a:prstGeom prst="rect">
            <a:avLst/>
          </a:prstGeom>
          <a:noFill/>
          <a:ln/>
        </p:spPr>
        <p:txBody>
          <a:bodyPr wrap="square" lIns="0" tIns="0" rIns="0" bIns="0" rtlCol="0" anchor="ctr"/>
          <a:lstStyle/>
          <a:p>
            <a:pPr indent="0" marL="0">
              <a:buNone/>
            </a:pPr>
            <a:r>
              <a:rPr lang="en-US" sz="1000" dirty="0">
                <a:solidFill>
                  <a:srgbClr val="F87171"/>
                </a:solidFill>
                <a:latin typeface="Calibri" pitchFamily="34" charset="0"/>
                <a:ea typeface="Calibri" pitchFamily="34" charset="-122"/>
                <a:cs typeface="Calibri" pitchFamily="34" charset="-120"/>
              </a:rPr>
              <a:t>تكاليف باهظة ووصول محدود</a:t>
            </a:r>
            <a:endParaRPr lang="en-US" sz="1000" dirty="0"/>
          </a:p>
        </p:txBody>
      </p:sp>
      <p:sp>
        <p:nvSpPr>
          <p:cNvPr id="32" name="Text 30"/>
          <p:cNvSpPr/>
          <p:nvPr/>
        </p:nvSpPr>
        <p:spPr>
          <a:xfrm>
            <a:off x="493776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3K-10K per financial review. 3-4 weeks turnaround. SMEs priced out.</a:t>
            </a:r>
            <a:endParaRPr lang="en-US" sz="1000" dirty="0"/>
          </a:p>
        </p:txBody>
      </p:sp>
      <p:sp>
        <p:nvSpPr>
          <p:cNvPr id="33" name="Shape 31"/>
          <p:cNvSpPr/>
          <p:nvPr/>
        </p:nvSpPr>
        <p:spPr>
          <a:xfrm>
            <a:off x="0" y="4709160"/>
            <a:ext cx="9144000" cy="434340"/>
          </a:xfrm>
          <a:prstGeom prst="rect">
            <a:avLst/>
          </a:prstGeom>
          <a:solidFill>
            <a:srgbClr val="0A1220"/>
          </a:solidFill>
          <a:ln/>
        </p:spPr>
      </p:sp>
      <p:sp>
        <p:nvSpPr>
          <p:cNvPr id="34" name="Text 3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5" name="Text 3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 / 19</a:t>
            </a:r>
            <a:endParaRPr lang="en-US" sz="750" dirty="0"/>
          </a:p>
        </p:txBody>
      </p:sp>
      <p:sp>
        <p:nvSpPr>
          <p:cNvPr id="36" name="Text 3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THE SOLUTION  ·  الحل</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APEX — Your AI Financial Brain</a:t>
            </a:r>
            <a:endParaRPr lang="en-US" sz="2800" dirty="0"/>
          </a:p>
          <a:p>
            <a:pPr indent="0" marL="0">
              <a:buNone/>
            </a:pPr>
            <a:r>
              <a:rPr lang="en-US" sz="1400" dirty="0">
                <a:solidFill>
                  <a:srgbClr val="D4AF37"/>
                </a:solidFill>
                <a:latin typeface="Calibri" pitchFamily="34" charset="0"/>
                <a:ea typeface="Calibri" pitchFamily="34" charset="-122"/>
                <a:cs typeface="Calibri" pitchFamily="34" charset="-120"/>
              </a:rPr>
              <a:t>عقلك المالي الذكي — من رفع البيانات إلى التقرير خلال دقائق</a:t>
            </a:r>
            <a:endParaRPr lang="en-US" sz="2800" dirty="0"/>
          </a:p>
        </p:txBody>
      </p:sp>
      <p:sp>
        <p:nvSpPr>
          <p:cNvPr id="5" name="Shape 3"/>
          <p:cNvSpPr/>
          <p:nvPr/>
        </p:nvSpPr>
        <p:spPr>
          <a:xfrm>
            <a:off x="320040" y="1508760"/>
            <a:ext cx="1874520" cy="25603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320040" y="1508760"/>
            <a:ext cx="1874520" cy="45720"/>
          </a:xfrm>
          <a:prstGeom prst="rect">
            <a:avLst/>
          </a:prstGeom>
          <a:solidFill>
            <a:srgbClr val="0891B2"/>
          </a:solidFill>
          <a:ln/>
        </p:spPr>
      </p:sp>
      <p:sp>
        <p:nvSpPr>
          <p:cNvPr id="7" name="Text 5"/>
          <p:cNvSpPr/>
          <p:nvPr/>
        </p:nvSpPr>
        <p:spPr>
          <a:xfrm>
            <a:off x="457200" y="1645920"/>
            <a:ext cx="640080" cy="411480"/>
          </a:xfrm>
          <a:prstGeom prst="rect">
            <a:avLst/>
          </a:prstGeom>
          <a:noFill/>
          <a:ln/>
        </p:spPr>
        <p:txBody>
          <a:bodyPr wrap="square" lIns="0" tIns="0" rIns="0" bIns="0" rtlCol="0" anchor="ctr"/>
          <a:lstStyle/>
          <a:p>
            <a:pPr indent="0" marL="0">
              <a:buNone/>
            </a:pPr>
            <a:r>
              <a:rPr lang="en-US" sz="2800" dirty="0">
                <a:solidFill>
                  <a:srgbClr val="0891B2"/>
                </a:solidFill>
                <a:latin typeface="Arial Black" pitchFamily="34" charset="0"/>
                <a:ea typeface="Arial Black" pitchFamily="34" charset="-122"/>
                <a:cs typeface="Arial Black" pitchFamily="34" charset="-120"/>
              </a:rPr>
              <a:t>01</a:t>
            </a:r>
            <a:endParaRPr lang="en-US" sz="2800" dirty="0"/>
          </a:p>
        </p:txBody>
      </p:sp>
      <p:sp>
        <p:nvSpPr>
          <p:cNvPr id="8" name="Text 6"/>
          <p:cNvSpPr/>
          <p:nvPr/>
        </p:nvSpPr>
        <p:spPr>
          <a:xfrm>
            <a:off x="45720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Chart of</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Accounts</a:t>
            </a:r>
            <a:endParaRPr lang="en-US" sz="1600" dirty="0"/>
          </a:p>
        </p:txBody>
      </p:sp>
      <p:sp>
        <p:nvSpPr>
          <p:cNvPr id="9" name="Text 7"/>
          <p:cNvSpPr/>
          <p:nvPr/>
        </p:nvSpPr>
        <p:spPr>
          <a:xfrm>
            <a:off x="457200" y="2788920"/>
            <a:ext cx="1600200" cy="274320"/>
          </a:xfrm>
          <a:prstGeom prst="rect">
            <a:avLst/>
          </a:prstGeom>
          <a:noFill/>
          <a:ln/>
        </p:spPr>
        <p:txBody>
          <a:bodyPr wrap="square" lIns="0" tIns="0" rIns="0" bIns="0" rtlCol="0" anchor="ctr"/>
          <a:lstStyle/>
          <a:p>
            <a:pPr indent="0" marL="0">
              <a:buNone/>
            </a:pPr>
            <a:r>
              <a:rPr lang="en-US" sz="1200" dirty="0">
                <a:solidFill>
                  <a:srgbClr val="D4AF37"/>
                </a:solidFill>
                <a:latin typeface="Calibri" pitchFamily="34" charset="0"/>
                <a:ea typeface="Calibri" pitchFamily="34" charset="-122"/>
                <a:cs typeface="Calibri" pitchFamily="34" charset="-120"/>
              </a:rPr>
              <a:t>دليل الحسابات</a:t>
            </a:r>
            <a:endParaRPr lang="en-US" sz="1200" dirty="0"/>
          </a:p>
        </p:txBody>
      </p:sp>
      <p:sp>
        <p:nvSpPr>
          <p:cNvPr id="10" name="Text 8"/>
          <p:cNvSpPr/>
          <p:nvPr/>
        </p:nvSpPr>
        <p:spPr>
          <a:xfrm>
            <a:off x="45720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Upload &amp; AI-classify</a:t>
            </a:r>
            <a:endParaRPr lang="en-US" sz="1000" dirty="0"/>
          </a:p>
        </p:txBody>
      </p:sp>
      <p:sp>
        <p:nvSpPr>
          <p:cNvPr id="11" name="Text 9"/>
          <p:cNvSpPr/>
          <p:nvPr/>
        </p:nvSpPr>
        <p:spPr>
          <a:xfrm>
            <a:off x="2148840" y="2468880"/>
            <a:ext cx="411480" cy="274320"/>
          </a:xfrm>
          <a:prstGeom prst="rect">
            <a:avLst/>
          </a:prstGeom>
          <a:noFill/>
          <a:ln/>
        </p:spPr>
        <p:txBody>
          <a:bodyPr wrap="square" lIns="0" tIns="0" rIns="0" bIns="0" rtlCol="0" anchor="ctr"/>
          <a:lstStyle/>
          <a:p>
            <a:pPr algn="ctr" indent="0" marL="0">
              <a:buNone/>
            </a:pPr>
            <a:r>
              <a:rPr lang="en-US" sz="1200" dirty="0">
                <a:solidFill>
                  <a:srgbClr val="D4AF37"/>
                </a:solidFill>
                <a:latin typeface="Calibri" pitchFamily="34" charset="0"/>
                <a:ea typeface="Calibri" pitchFamily="34" charset="-122"/>
                <a:cs typeface="Calibri" pitchFamily="34" charset="-120"/>
              </a:rPr>
              <a:t>&gt;&gt;&gt;</a:t>
            </a:r>
            <a:endParaRPr lang="en-US" sz="1200" dirty="0"/>
          </a:p>
        </p:txBody>
      </p:sp>
      <p:sp>
        <p:nvSpPr>
          <p:cNvPr id="12" name="Shape 10"/>
          <p:cNvSpPr/>
          <p:nvPr/>
        </p:nvSpPr>
        <p:spPr>
          <a:xfrm>
            <a:off x="2514600" y="1508760"/>
            <a:ext cx="1874520" cy="25603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2514600" y="1508760"/>
            <a:ext cx="1874520" cy="45720"/>
          </a:xfrm>
          <a:prstGeom prst="rect">
            <a:avLst/>
          </a:prstGeom>
          <a:solidFill>
            <a:srgbClr val="22D3EE"/>
          </a:solidFill>
          <a:ln/>
        </p:spPr>
      </p:sp>
      <p:sp>
        <p:nvSpPr>
          <p:cNvPr id="14" name="Text 12"/>
          <p:cNvSpPr/>
          <p:nvPr/>
        </p:nvSpPr>
        <p:spPr>
          <a:xfrm>
            <a:off x="2651760" y="1645920"/>
            <a:ext cx="640080" cy="411480"/>
          </a:xfrm>
          <a:prstGeom prst="rect">
            <a:avLst/>
          </a:prstGeom>
          <a:noFill/>
          <a:ln/>
        </p:spPr>
        <p:txBody>
          <a:bodyPr wrap="square" lIns="0" tIns="0" rIns="0" bIns="0" rtlCol="0" anchor="ctr"/>
          <a:lstStyle/>
          <a:p>
            <a:pPr indent="0" marL="0">
              <a:buNone/>
            </a:pPr>
            <a:r>
              <a:rPr lang="en-US" sz="2800" dirty="0">
                <a:solidFill>
                  <a:srgbClr val="22D3EE"/>
                </a:solidFill>
                <a:latin typeface="Arial Black" pitchFamily="34" charset="0"/>
                <a:ea typeface="Arial Black" pitchFamily="34" charset="-122"/>
                <a:cs typeface="Arial Black" pitchFamily="34" charset="-120"/>
              </a:rPr>
              <a:t>02</a:t>
            </a:r>
            <a:endParaRPr lang="en-US" sz="2800" dirty="0"/>
          </a:p>
        </p:txBody>
      </p:sp>
      <p:sp>
        <p:nvSpPr>
          <p:cNvPr id="15" name="Text 13"/>
          <p:cNvSpPr/>
          <p:nvPr/>
        </p:nvSpPr>
        <p:spPr>
          <a:xfrm>
            <a:off x="265176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Balance</a:t>
            </a:r>
            <a:endParaRPr lang="en-US" sz="1600" dirty="0"/>
          </a:p>
        </p:txBody>
      </p:sp>
      <p:sp>
        <p:nvSpPr>
          <p:cNvPr id="16" name="Text 14"/>
          <p:cNvSpPr/>
          <p:nvPr/>
        </p:nvSpPr>
        <p:spPr>
          <a:xfrm>
            <a:off x="2651760" y="2788920"/>
            <a:ext cx="1600200" cy="274320"/>
          </a:xfrm>
          <a:prstGeom prst="rect">
            <a:avLst/>
          </a:prstGeom>
          <a:noFill/>
          <a:ln/>
        </p:spPr>
        <p:txBody>
          <a:bodyPr wrap="square" lIns="0" tIns="0" rIns="0" bIns="0" rtlCol="0" anchor="ctr"/>
          <a:lstStyle/>
          <a:p>
            <a:pPr indent="0" marL="0">
              <a:buNone/>
            </a:pPr>
            <a:r>
              <a:rPr lang="en-US" sz="1200" dirty="0">
                <a:solidFill>
                  <a:srgbClr val="D4AF37"/>
                </a:solidFill>
                <a:latin typeface="Calibri" pitchFamily="34" charset="0"/>
                <a:ea typeface="Calibri" pitchFamily="34" charset="-122"/>
                <a:cs typeface="Calibri" pitchFamily="34" charset="-120"/>
              </a:rPr>
              <a:t>ميزان المراجعة</a:t>
            </a:r>
            <a:endParaRPr lang="en-US" sz="1200" dirty="0"/>
          </a:p>
        </p:txBody>
      </p:sp>
      <p:sp>
        <p:nvSpPr>
          <p:cNvPr id="17" name="Text 15"/>
          <p:cNvSpPr/>
          <p:nvPr/>
        </p:nvSpPr>
        <p:spPr>
          <a:xfrm>
            <a:off x="265176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Bind, validate &amp; detect</a:t>
            </a:r>
            <a:endParaRPr lang="en-US" sz="1000" dirty="0"/>
          </a:p>
        </p:txBody>
      </p:sp>
      <p:sp>
        <p:nvSpPr>
          <p:cNvPr id="18" name="Text 16"/>
          <p:cNvSpPr/>
          <p:nvPr/>
        </p:nvSpPr>
        <p:spPr>
          <a:xfrm>
            <a:off x="4343400" y="2468880"/>
            <a:ext cx="411480" cy="274320"/>
          </a:xfrm>
          <a:prstGeom prst="rect">
            <a:avLst/>
          </a:prstGeom>
          <a:noFill/>
          <a:ln/>
        </p:spPr>
        <p:txBody>
          <a:bodyPr wrap="square" lIns="0" tIns="0" rIns="0" bIns="0" rtlCol="0" anchor="ctr"/>
          <a:lstStyle/>
          <a:p>
            <a:pPr algn="ctr" indent="0" marL="0">
              <a:buNone/>
            </a:pPr>
            <a:r>
              <a:rPr lang="en-US" sz="1200" dirty="0">
                <a:solidFill>
                  <a:srgbClr val="D4AF37"/>
                </a:solidFill>
                <a:latin typeface="Calibri" pitchFamily="34" charset="0"/>
                <a:ea typeface="Calibri" pitchFamily="34" charset="-122"/>
                <a:cs typeface="Calibri" pitchFamily="34" charset="-120"/>
              </a:rPr>
              <a:t>&gt;&gt;&gt;</a:t>
            </a:r>
            <a:endParaRPr lang="en-US" sz="1200" dirty="0"/>
          </a:p>
        </p:txBody>
      </p:sp>
      <p:sp>
        <p:nvSpPr>
          <p:cNvPr id="19" name="Shape 17"/>
          <p:cNvSpPr/>
          <p:nvPr/>
        </p:nvSpPr>
        <p:spPr>
          <a:xfrm>
            <a:off x="4709160" y="1508760"/>
            <a:ext cx="1874520" cy="25603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0" name="Shape 18"/>
          <p:cNvSpPr/>
          <p:nvPr/>
        </p:nvSpPr>
        <p:spPr>
          <a:xfrm>
            <a:off x="4709160" y="1508760"/>
            <a:ext cx="1874520" cy="45720"/>
          </a:xfrm>
          <a:prstGeom prst="rect">
            <a:avLst/>
          </a:prstGeom>
          <a:solidFill>
            <a:srgbClr val="D4AF37"/>
          </a:solidFill>
          <a:ln/>
        </p:spPr>
      </p:sp>
      <p:sp>
        <p:nvSpPr>
          <p:cNvPr id="21" name="Text 19"/>
          <p:cNvSpPr/>
          <p:nvPr/>
        </p:nvSpPr>
        <p:spPr>
          <a:xfrm>
            <a:off x="4846320" y="1645920"/>
            <a:ext cx="640080" cy="411480"/>
          </a:xfrm>
          <a:prstGeom prst="rect">
            <a:avLst/>
          </a:prstGeom>
          <a:noFill/>
          <a:ln/>
        </p:spPr>
        <p:txBody>
          <a:bodyPr wrap="square" lIns="0" tIns="0" rIns="0" bIns="0" rtlCol="0" anchor="ctr"/>
          <a:lstStyle/>
          <a:p>
            <a:pPr indent="0" marL="0">
              <a:buNone/>
            </a:pPr>
            <a:r>
              <a:rPr lang="en-US" sz="2800" dirty="0">
                <a:solidFill>
                  <a:srgbClr val="D4AF37"/>
                </a:solidFill>
                <a:latin typeface="Arial Black" pitchFamily="34" charset="0"/>
                <a:ea typeface="Arial Black" pitchFamily="34" charset="-122"/>
                <a:cs typeface="Arial Black" pitchFamily="34" charset="-120"/>
              </a:rPr>
              <a:t>03</a:t>
            </a:r>
            <a:endParaRPr lang="en-US" sz="2800" dirty="0"/>
          </a:p>
        </p:txBody>
      </p:sp>
      <p:sp>
        <p:nvSpPr>
          <p:cNvPr id="22" name="Text 20"/>
          <p:cNvSpPr/>
          <p:nvPr/>
        </p:nvSpPr>
        <p:spPr>
          <a:xfrm>
            <a:off x="484632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Statements</a:t>
            </a:r>
            <a:endParaRPr lang="en-US" sz="1600" dirty="0"/>
          </a:p>
        </p:txBody>
      </p:sp>
      <p:sp>
        <p:nvSpPr>
          <p:cNvPr id="23" name="Text 21"/>
          <p:cNvSpPr/>
          <p:nvPr/>
        </p:nvSpPr>
        <p:spPr>
          <a:xfrm>
            <a:off x="4846320" y="2788920"/>
            <a:ext cx="1600200" cy="274320"/>
          </a:xfrm>
          <a:prstGeom prst="rect">
            <a:avLst/>
          </a:prstGeom>
          <a:noFill/>
          <a:ln/>
        </p:spPr>
        <p:txBody>
          <a:bodyPr wrap="square" lIns="0" tIns="0" rIns="0" bIns="0" rtlCol="0" anchor="ctr"/>
          <a:lstStyle/>
          <a:p>
            <a:pPr indent="0" marL="0">
              <a:buNone/>
            </a:pPr>
            <a:r>
              <a:rPr lang="en-US" sz="1200" dirty="0">
                <a:solidFill>
                  <a:srgbClr val="D4AF37"/>
                </a:solidFill>
                <a:latin typeface="Calibri" pitchFamily="34" charset="0"/>
                <a:ea typeface="Calibri" pitchFamily="34" charset="-122"/>
                <a:cs typeface="Calibri" pitchFamily="34" charset="-120"/>
              </a:rPr>
              <a:t>القوائم المالية</a:t>
            </a:r>
            <a:endParaRPr lang="en-US" sz="1200" dirty="0"/>
          </a:p>
        </p:txBody>
      </p:sp>
      <p:sp>
        <p:nvSpPr>
          <p:cNvPr id="24" name="Text 22"/>
          <p:cNvSpPr/>
          <p:nvPr/>
        </p:nvSpPr>
        <p:spPr>
          <a:xfrm>
            <a:off x="484632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Auto-generate IFRS</a:t>
            </a:r>
            <a:endParaRPr lang="en-US" sz="1000" dirty="0"/>
          </a:p>
        </p:txBody>
      </p:sp>
      <p:sp>
        <p:nvSpPr>
          <p:cNvPr id="25" name="Text 23"/>
          <p:cNvSpPr/>
          <p:nvPr/>
        </p:nvSpPr>
        <p:spPr>
          <a:xfrm>
            <a:off x="6537960" y="2468880"/>
            <a:ext cx="411480" cy="274320"/>
          </a:xfrm>
          <a:prstGeom prst="rect">
            <a:avLst/>
          </a:prstGeom>
          <a:noFill/>
          <a:ln/>
        </p:spPr>
        <p:txBody>
          <a:bodyPr wrap="square" lIns="0" tIns="0" rIns="0" bIns="0" rtlCol="0" anchor="ctr"/>
          <a:lstStyle/>
          <a:p>
            <a:pPr algn="ctr" indent="0" marL="0">
              <a:buNone/>
            </a:pPr>
            <a:r>
              <a:rPr lang="en-US" sz="1200" dirty="0">
                <a:solidFill>
                  <a:srgbClr val="D4AF37"/>
                </a:solidFill>
                <a:latin typeface="Calibri" pitchFamily="34" charset="0"/>
                <a:ea typeface="Calibri" pitchFamily="34" charset="-122"/>
                <a:cs typeface="Calibri" pitchFamily="34" charset="-120"/>
              </a:rPr>
              <a:t>&gt;&gt;&gt;</a:t>
            </a:r>
            <a:endParaRPr lang="en-US" sz="1200" dirty="0"/>
          </a:p>
        </p:txBody>
      </p:sp>
      <p:sp>
        <p:nvSpPr>
          <p:cNvPr id="26" name="Shape 24"/>
          <p:cNvSpPr/>
          <p:nvPr/>
        </p:nvSpPr>
        <p:spPr>
          <a:xfrm>
            <a:off x="6903720" y="1508760"/>
            <a:ext cx="1874520" cy="256032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7" name="Shape 25"/>
          <p:cNvSpPr/>
          <p:nvPr/>
        </p:nvSpPr>
        <p:spPr>
          <a:xfrm>
            <a:off x="6903720" y="1508760"/>
            <a:ext cx="1874520" cy="45720"/>
          </a:xfrm>
          <a:prstGeom prst="rect">
            <a:avLst/>
          </a:prstGeom>
          <a:solidFill>
            <a:srgbClr val="E8CC73"/>
          </a:solidFill>
          <a:ln/>
        </p:spPr>
      </p:sp>
      <p:sp>
        <p:nvSpPr>
          <p:cNvPr id="28" name="Text 26"/>
          <p:cNvSpPr/>
          <p:nvPr/>
        </p:nvSpPr>
        <p:spPr>
          <a:xfrm>
            <a:off x="7040880" y="1645920"/>
            <a:ext cx="640080" cy="411480"/>
          </a:xfrm>
          <a:prstGeom prst="rect">
            <a:avLst/>
          </a:prstGeom>
          <a:noFill/>
          <a:ln/>
        </p:spPr>
        <p:txBody>
          <a:bodyPr wrap="square" lIns="0" tIns="0" rIns="0" bIns="0" rtlCol="0" anchor="ctr"/>
          <a:lstStyle/>
          <a:p>
            <a:pPr indent="0" marL="0">
              <a:buNone/>
            </a:pPr>
            <a:r>
              <a:rPr lang="en-US" sz="2800" dirty="0">
                <a:solidFill>
                  <a:srgbClr val="E8CC73"/>
                </a:solidFill>
                <a:latin typeface="Arial Black" pitchFamily="34" charset="0"/>
                <a:ea typeface="Arial Black" pitchFamily="34" charset="-122"/>
                <a:cs typeface="Arial Black" pitchFamily="34" charset="-120"/>
              </a:rPr>
              <a:t>04</a:t>
            </a:r>
            <a:endParaRPr lang="en-US" sz="2800" dirty="0"/>
          </a:p>
        </p:txBody>
      </p:sp>
      <p:sp>
        <p:nvSpPr>
          <p:cNvPr id="29" name="Text 27"/>
          <p:cNvSpPr/>
          <p:nvPr/>
        </p:nvSpPr>
        <p:spPr>
          <a:xfrm>
            <a:off x="704088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Analysis</a:t>
            </a:r>
            <a:endParaRPr lang="en-US" sz="1600" dirty="0"/>
          </a:p>
        </p:txBody>
      </p:sp>
      <p:sp>
        <p:nvSpPr>
          <p:cNvPr id="30" name="Text 28"/>
          <p:cNvSpPr/>
          <p:nvPr/>
        </p:nvSpPr>
        <p:spPr>
          <a:xfrm>
            <a:off x="7040880" y="2788920"/>
            <a:ext cx="1600200" cy="274320"/>
          </a:xfrm>
          <a:prstGeom prst="rect">
            <a:avLst/>
          </a:prstGeom>
          <a:noFill/>
          <a:ln/>
        </p:spPr>
        <p:txBody>
          <a:bodyPr wrap="square" lIns="0" tIns="0" rIns="0" bIns="0" rtlCol="0" anchor="ctr"/>
          <a:lstStyle/>
          <a:p>
            <a:pPr indent="0" marL="0">
              <a:buNone/>
            </a:pPr>
            <a:r>
              <a:rPr lang="en-US" sz="1200" dirty="0">
                <a:solidFill>
                  <a:srgbClr val="D4AF37"/>
                </a:solidFill>
                <a:latin typeface="Calibri" pitchFamily="34" charset="0"/>
                <a:ea typeface="Calibri" pitchFamily="34" charset="-122"/>
                <a:cs typeface="Calibri" pitchFamily="34" charset="-120"/>
              </a:rPr>
              <a:t>التحليل والتقييم</a:t>
            </a:r>
            <a:endParaRPr lang="en-US" sz="1200" dirty="0"/>
          </a:p>
        </p:txBody>
      </p:sp>
      <p:sp>
        <p:nvSpPr>
          <p:cNvPr id="31" name="Text 29"/>
          <p:cNvSpPr/>
          <p:nvPr/>
        </p:nvSpPr>
        <p:spPr>
          <a:xfrm>
            <a:off x="704088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Ratios &amp; Readiness Score</a:t>
            </a:r>
            <a:endParaRPr lang="en-US" sz="1000" dirty="0"/>
          </a:p>
        </p:txBody>
      </p:sp>
      <p:sp>
        <p:nvSpPr>
          <p:cNvPr id="32" name="Shape 30"/>
          <p:cNvSpPr/>
          <p:nvPr/>
        </p:nvSpPr>
        <p:spPr>
          <a:xfrm>
            <a:off x="457200" y="4251960"/>
            <a:ext cx="8229600" cy="27432"/>
          </a:xfrm>
          <a:prstGeom prst="rect">
            <a:avLst/>
          </a:prstGeom>
          <a:solidFill>
            <a:srgbClr val="D4AF37">
              <a:alpha val="50000"/>
            </a:srgbClr>
          </a:solidFill>
          <a:ln/>
        </p:spPr>
      </p:sp>
      <p:sp>
        <p:nvSpPr>
          <p:cNvPr id="33" name="Text 31"/>
          <p:cNvSpPr/>
          <p:nvPr/>
        </p:nvSpPr>
        <p:spPr>
          <a:xfrm>
            <a:off x="457200" y="4315968"/>
            <a:ext cx="82296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One platform · Four layers · Complete financial intelligence  |  منصة واحدة · أربع مراحل · ذكاء مالي شامل</a:t>
            </a:r>
            <a:endParaRPr lang="en-US" sz="10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3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PLATFORM CAPABILITIES  ·  إمكانيات المنصة</a:t>
            </a:r>
            <a:endParaRPr lang="en-US" sz="1100" dirty="0"/>
          </a:p>
        </p:txBody>
      </p:sp>
      <p:sp>
        <p:nvSpPr>
          <p:cNvPr id="4" name="Text 2"/>
          <p:cNvSpPr/>
          <p:nvPr/>
        </p:nvSpPr>
        <p:spPr>
          <a:xfrm>
            <a:off x="457200" y="50292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Makes APEX Different</a:t>
            </a:r>
            <a:endParaRPr lang="en-US" sz="2600" dirty="0"/>
          </a:p>
          <a:p>
            <a:pPr indent="0" marL="0">
              <a:buNone/>
            </a:pPr>
            <a:r>
              <a:rPr lang="en-US" sz="1300" dirty="0">
                <a:solidFill>
                  <a:srgbClr val="D4AF37"/>
                </a:solidFill>
                <a:latin typeface="Calibri" pitchFamily="34" charset="0"/>
                <a:ea typeface="Calibri" pitchFamily="34" charset="-122"/>
                <a:cs typeface="Calibri" pitchFamily="34" charset="-120"/>
              </a:rPr>
              <a:t>ما الذي يجعل APEX فريدة في السوق</a:t>
            </a:r>
            <a:endParaRPr lang="en-US" sz="2600" dirty="0"/>
          </a:p>
        </p:txBody>
      </p:sp>
      <p:sp>
        <p:nvSpPr>
          <p:cNvPr id="5" name="Shape 3"/>
          <p:cNvSpPr/>
          <p:nvPr/>
        </p:nvSpPr>
        <p:spPr>
          <a:xfrm>
            <a:off x="457200" y="137160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457200" y="1371600"/>
            <a:ext cx="2606040" cy="45720"/>
          </a:xfrm>
          <a:prstGeom prst="rect">
            <a:avLst/>
          </a:prstGeom>
          <a:solidFill>
            <a:srgbClr val="0891B2"/>
          </a:solidFill>
          <a:ln/>
        </p:spPr>
      </p:sp>
      <p:sp>
        <p:nvSpPr>
          <p:cNvPr id="7" name="Shape 5"/>
          <p:cNvSpPr/>
          <p:nvPr/>
        </p:nvSpPr>
        <p:spPr>
          <a:xfrm>
            <a:off x="566928" y="1508760"/>
            <a:ext cx="365760" cy="365760"/>
          </a:xfrm>
          <a:prstGeom prst="ellipse">
            <a:avLst/>
          </a:prstGeom>
          <a:solidFill>
            <a:srgbClr val="0891B2"/>
          </a:solidFill>
          <a:ln/>
        </p:spPr>
      </p:sp>
      <p:sp>
        <p:nvSpPr>
          <p:cNvPr id="8" name="Text 6"/>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AI</a:t>
            </a:r>
            <a:endParaRPr lang="en-US" sz="1000" dirty="0"/>
          </a:p>
        </p:txBody>
      </p:sp>
      <p:sp>
        <p:nvSpPr>
          <p:cNvPr id="9" name="Text 7"/>
          <p:cNvSpPr/>
          <p:nvPr/>
        </p:nvSpPr>
        <p:spPr>
          <a:xfrm>
            <a:off x="100584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Knowledge Brain</a:t>
            </a:r>
            <a:endParaRPr lang="en-US" sz="1200" dirty="0"/>
          </a:p>
        </p:txBody>
      </p:sp>
      <p:sp>
        <p:nvSpPr>
          <p:cNvPr id="10" name="Text 8"/>
          <p:cNvSpPr/>
          <p:nvPr/>
        </p:nvSpPr>
        <p:spPr>
          <a:xfrm>
            <a:off x="1005840" y="1691640"/>
            <a:ext cx="192024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المحرك المعرفي الذكي</a:t>
            </a:r>
            <a:endParaRPr lang="en-US" sz="950" dirty="0"/>
          </a:p>
        </p:txBody>
      </p:sp>
      <p:sp>
        <p:nvSpPr>
          <p:cNvPr id="11" name="Text 9"/>
          <p:cNvSpPr/>
          <p:nvPr/>
        </p:nvSpPr>
        <p:spPr>
          <a:xfrm>
            <a:off x="59436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AI modules: SOCPA, IFRS, ZAKAT, VAT, Saudi regulations</a:t>
            </a:r>
            <a:endParaRPr lang="en-US" sz="950" dirty="0"/>
          </a:p>
        </p:txBody>
      </p:sp>
      <p:sp>
        <p:nvSpPr>
          <p:cNvPr id="12" name="Shape 10"/>
          <p:cNvSpPr/>
          <p:nvPr/>
        </p:nvSpPr>
        <p:spPr>
          <a:xfrm>
            <a:off x="3291840" y="137160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3291840" y="1371600"/>
            <a:ext cx="2606040" cy="45720"/>
          </a:xfrm>
          <a:prstGeom prst="rect">
            <a:avLst/>
          </a:prstGeom>
          <a:solidFill>
            <a:srgbClr val="10B981"/>
          </a:solidFill>
          <a:ln/>
        </p:spPr>
      </p:sp>
      <p:sp>
        <p:nvSpPr>
          <p:cNvPr id="14" name="Shape 12"/>
          <p:cNvSpPr/>
          <p:nvPr/>
        </p:nvSpPr>
        <p:spPr>
          <a:xfrm>
            <a:off x="3401568" y="1508760"/>
            <a:ext cx="365760" cy="365760"/>
          </a:xfrm>
          <a:prstGeom prst="ellipse">
            <a:avLst/>
          </a:prstGeom>
          <a:solidFill>
            <a:srgbClr val="10B981"/>
          </a:solidFill>
          <a:ln/>
        </p:spPr>
      </p:sp>
      <p:sp>
        <p:nvSpPr>
          <p:cNvPr id="15" name="Text 13"/>
          <p:cNvSpPr/>
          <p:nvPr/>
        </p:nvSpPr>
        <p:spPr>
          <a:xfrm>
            <a:off x="3401568" y="150876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&gt;&gt;</a:t>
            </a:r>
            <a:endParaRPr lang="en-US" sz="1000" dirty="0"/>
          </a:p>
        </p:txBody>
      </p:sp>
      <p:sp>
        <p:nvSpPr>
          <p:cNvPr id="16" name="Text 14"/>
          <p:cNvSpPr/>
          <p:nvPr/>
        </p:nvSpPr>
        <p:spPr>
          <a:xfrm>
            <a:off x="384048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Smart Onboarding</a:t>
            </a:r>
            <a:endParaRPr lang="en-US" sz="1200" dirty="0"/>
          </a:p>
        </p:txBody>
      </p:sp>
      <p:sp>
        <p:nvSpPr>
          <p:cNvPr id="17" name="Text 15"/>
          <p:cNvSpPr/>
          <p:nvPr/>
        </p:nvSpPr>
        <p:spPr>
          <a:xfrm>
            <a:off x="3840480" y="1691640"/>
            <a:ext cx="192024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تسجيل تلقائي ذكي</a:t>
            </a:r>
            <a:endParaRPr lang="en-US" sz="950" dirty="0"/>
          </a:p>
        </p:txBody>
      </p:sp>
      <p:sp>
        <p:nvSpPr>
          <p:cNvPr id="18" name="Text 16"/>
          <p:cNvSpPr/>
          <p:nvPr/>
        </p:nvSpPr>
        <p:spPr>
          <a:xfrm>
            <a:off x="342900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Auto-detects company type, industry &amp; docs</a:t>
            </a:r>
            <a:endParaRPr lang="en-US" sz="950" dirty="0"/>
          </a:p>
        </p:txBody>
      </p:sp>
      <p:sp>
        <p:nvSpPr>
          <p:cNvPr id="19" name="Shape 17"/>
          <p:cNvSpPr/>
          <p:nvPr/>
        </p:nvSpPr>
        <p:spPr>
          <a:xfrm>
            <a:off x="6126480" y="137160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0" name="Shape 18"/>
          <p:cNvSpPr/>
          <p:nvPr/>
        </p:nvSpPr>
        <p:spPr>
          <a:xfrm>
            <a:off x="6126480" y="1371600"/>
            <a:ext cx="2606040" cy="45720"/>
          </a:xfrm>
          <a:prstGeom prst="rect">
            <a:avLst/>
          </a:prstGeom>
          <a:solidFill>
            <a:srgbClr val="D4AF37"/>
          </a:solidFill>
          <a:ln/>
        </p:spPr>
      </p:sp>
      <p:sp>
        <p:nvSpPr>
          <p:cNvPr id="21" name="Shape 19"/>
          <p:cNvSpPr/>
          <p:nvPr/>
        </p:nvSpPr>
        <p:spPr>
          <a:xfrm>
            <a:off x="6236208" y="1508760"/>
            <a:ext cx="365760" cy="365760"/>
          </a:xfrm>
          <a:prstGeom prst="ellipse">
            <a:avLst/>
          </a:prstGeom>
          <a:solidFill>
            <a:srgbClr val="D4AF37"/>
          </a:solidFill>
          <a:ln/>
        </p:spPr>
      </p:sp>
      <p:sp>
        <p:nvSpPr>
          <p:cNvPr id="22" name="Text 20"/>
          <p:cNvSpPr/>
          <p:nvPr/>
        </p:nvSpPr>
        <p:spPr>
          <a:xfrm>
            <a:off x="6236208" y="150876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OK</a:t>
            </a:r>
            <a:endParaRPr lang="en-US" sz="1000" dirty="0"/>
          </a:p>
        </p:txBody>
      </p:sp>
      <p:sp>
        <p:nvSpPr>
          <p:cNvPr id="23" name="Text 21"/>
          <p:cNvSpPr/>
          <p:nvPr/>
        </p:nvSpPr>
        <p:spPr>
          <a:xfrm>
            <a:off x="667512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Workflow</a:t>
            </a:r>
            <a:endParaRPr lang="en-US" sz="1200" dirty="0"/>
          </a:p>
        </p:txBody>
      </p:sp>
      <p:sp>
        <p:nvSpPr>
          <p:cNvPr id="24" name="Text 22"/>
          <p:cNvSpPr/>
          <p:nvPr/>
        </p:nvSpPr>
        <p:spPr>
          <a:xfrm>
            <a:off x="6675120" y="1691640"/>
            <a:ext cx="1920240" cy="182880"/>
          </a:xfrm>
          <a:prstGeom prst="rect">
            <a:avLst/>
          </a:prstGeom>
          <a:noFill/>
          <a:ln/>
        </p:spPr>
        <p:txBody>
          <a:bodyPr wrap="square" lIns="0" tIns="0" rIns="0" bIns="0" rtlCol="0" anchor="ctr"/>
          <a:lstStyle/>
          <a:p>
            <a:pPr indent="0" marL="0">
              <a:buNone/>
            </a:pPr>
            <a:r>
              <a:rPr lang="en-US" sz="950" dirty="0">
                <a:solidFill>
                  <a:srgbClr val="D4AF37"/>
                </a:solidFill>
                <a:latin typeface="Calibri" pitchFamily="34" charset="0"/>
                <a:ea typeface="Calibri" pitchFamily="34" charset="-122"/>
                <a:cs typeface="Calibri" pitchFamily="34" charset="-120"/>
              </a:rPr>
              <a:t>تدفق المراجعة الآلي</a:t>
            </a:r>
            <a:endParaRPr lang="en-US" sz="950" dirty="0"/>
          </a:p>
        </p:txBody>
      </p:sp>
      <p:sp>
        <p:nvSpPr>
          <p:cNvPr id="25" name="Text 23"/>
          <p:cNvSpPr/>
          <p:nvPr/>
        </p:nvSpPr>
        <p:spPr>
          <a:xfrm>
            <a:off x="626364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7-phase review engine. Human-in-the-loop triggers</a:t>
            </a:r>
            <a:endParaRPr lang="en-US" sz="950" dirty="0"/>
          </a:p>
        </p:txBody>
      </p:sp>
      <p:sp>
        <p:nvSpPr>
          <p:cNvPr id="26" name="Shape 24"/>
          <p:cNvSpPr/>
          <p:nvPr/>
        </p:nvSpPr>
        <p:spPr>
          <a:xfrm>
            <a:off x="457200" y="283464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7" name="Shape 25"/>
          <p:cNvSpPr/>
          <p:nvPr/>
        </p:nvSpPr>
        <p:spPr>
          <a:xfrm>
            <a:off x="457200" y="2834640"/>
            <a:ext cx="2606040" cy="45720"/>
          </a:xfrm>
          <a:prstGeom prst="rect">
            <a:avLst/>
          </a:prstGeom>
          <a:solidFill>
            <a:srgbClr val="22D3EE"/>
          </a:solidFill>
          <a:ln/>
        </p:spPr>
      </p:sp>
      <p:sp>
        <p:nvSpPr>
          <p:cNvPr id="28" name="Shape 26"/>
          <p:cNvSpPr/>
          <p:nvPr/>
        </p:nvSpPr>
        <p:spPr>
          <a:xfrm>
            <a:off x="566928" y="2971800"/>
            <a:ext cx="365760" cy="365760"/>
          </a:xfrm>
          <a:prstGeom prst="ellipse">
            <a:avLst/>
          </a:prstGeom>
          <a:solidFill>
            <a:srgbClr val="22D3EE"/>
          </a:solidFill>
          <a:ln/>
        </p:spPr>
      </p:sp>
      <p:sp>
        <p:nvSpPr>
          <p:cNvPr id="29" name="Text 27"/>
          <p:cNvSpPr/>
          <p:nvPr/>
        </p:nvSpPr>
        <p:spPr>
          <a:xfrm>
            <a:off x="566928" y="297180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 }</a:t>
            </a:r>
            <a:endParaRPr lang="en-US" sz="1000" dirty="0"/>
          </a:p>
        </p:txBody>
      </p:sp>
      <p:sp>
        <p:nvSpPr>
          <p:cNvPr id="30" name="Text 28"/>
          <p:cNvSpPr/>
          <p:nvPr/>
        </p:nvSpPr>
        <p:spPr>
          <a:xfrm>
            <a:off x="100584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30+ Live APIs</a:t>
            </a:r>
            <a:endParaRPr lang="en-US" sz="1200" dirty="0"/>
          </a:p>
        </p:txBody>
      </p:sp>
      <p:sp>
        <p:nvSpPr>
          <p:cNvPr id="31" name="Text 29"/>
          <p:cNvSpPr/>
          <p:nvPr/>
        </p:nvSpPr>
        <p:spPr>
          <a:xfrm>
            <a:off x="1005840" y="3154680"/>
            <a:ext cx="192024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أكثر من 30 واجهة برمجية</a:t>
            </a:r>
            <a:endParaRPr lang="en-US" sz="950" dirty="0"/>
          </a:p>
        </p:txBody>
      </p:sp>
      <p:sp>
        <p:nvSpPr>
          <p:cNvPr id="32" name="Text 30"/>
          <p:cNvSpPr/>
          <p:nvPr/>
        </p:nvSpPr>
        <p:spPr>
          <a:xfrm>
            <a:off x="59436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 REST suite. FastAPI + Flutter. Swagger documented</a:t>
            </a:r>
            <a:endParaRPr lang="en-US" sz="950" dirty="0"/>
          </a:p>
        </p:txBody>
      </p:sp>
      <p:sp>
        <p:nvSpPr>
          <p:cNvPr id="33" name="Shape 31"/>
          <p:cNvSpPr/>
          <p:nvPr/>
        </p:nvSpPr>
        <p:spPr>
          <a:xfrm>
            <a:off x="3291840" y="283464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4" name="Shape 32"/>
          <p:cNvSpPr/>
          <p:nvPr/>
        </p:nvSpPr>
        <p:spPr>
          <a:xfrm>
            <a:off x="3291840" y="2834640"/>
            <a:ext cx="2606040" cy="45720"/>
          </a:xfrm>
          <a:prstGeom prst="rect">
            <a:avLst/>
          </a:prstGeom>
          <a:solidFill>
            <a:srgbClr val="F96167"/>
          </a:solidFill>
          <a:ln/>
        </p:spPr>
      </p:sp>
      <p:sp>
        <p:nvSpPr>
          <p:cNvPr id="35" name="Shape 33"/>
          <p:cNvSpPr/>
          <p:nvPr/>
        </p:nvSpPr>
        <p:spPr>
          <a:xfrm>
            <a:off x="3401568" y="2971800"/>
            <a:ext cx="365760" cy="365760"/>
          </a:xfrm>
          <a:prstGeom prst="ellipse">
            <a:avLst/>
          </a:prstGeom>
          <a:solidFill>
            <a:srgbClr val="F96167"/>
          </a:solidFill>
          <a:ln/>
        </p:spPr>
      </p:sp>
      <p:sp>
        <p:nvSpPr>
          <p:cNvPr id="36" name="Text 34"/>
          <p:cNvSpPr/>
          <p:nvPr/>
        </p:nvSpPr>
        <p:spPr>
          <a:xfrm>
            <a:off x="3401568" y="297180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a:t>
            </a:r>
            <a:endParaRPr lang="en-US" sz="1000" dirty="0"/>
          </a:p>
        </p:txBody>
      </p:sp>
      <p:sp>
        <p:nvSpPr>
          <p:cNvPr id="37" name="Text 35"/>
          <p:cNvSpPr/>
          <p:nvPr/>
        </p:nvSpPr>
        <p:spPr>
          <a:xfrm>
            <a:off x="384048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Role-Based Security</a:t>
            </a:r>
            <a:endParaRPr lang="en-US" sz="1200" dirty="0"/>
          </a:p>
        </p:txBody>
      </p:sp>
      <p:sp>
        <p:nvSpPr>
          <p:cNvPr id="38" name="Text 36"/>
          <p:cNvSpPr/>
          <p:nvPr/>
        </p:nvSpPr>
        <p:spPr>
          <a:xfrm>
            <a:off x="3840480" y="3154680"/>
            <a:ext cx="1920240" cy="182880"/>
          </a:xfrm>
          <a:prstGeom prst="rect">
            <a:avLst/>
          </a:prstGeom>
          <a:noFill/>
          <a:ln/>
        </p:spPr>
        <p:txBody>
          <a:bodyPr wrap="square" lIns="0" tIns="0" rIns="0" bIns="0" rtlCol="0" anchor="ctr"/>
          <a:lstStyle/>
          <a:p>
            <a:pPr indent="0" marL="0">
              <a:buNone/>
            </a:pPr>
            <a:r>
              <a:rPr lang="en-US" sz="950" dirty="0">
                <a:solidFill>
                  <a:srgbClr val="F96167"/>
                </a:solidFill>
                <a:latin typeface="Calibri" pitchFamily="34" charset="0"/>
                <a:ea typeface="Calibri" pitchFamily="34" charset="-122"/>
                <a:cs typeface="Calibri" pitchFamily="34" charset="-120"/>
              </a:rPr>
              <a:t>نظام صلاحيات متعدد</a:t>
            </a:r>
            <a:endParaRPr lang="en-US" sz="950" dirty="0"/>
          </a:p>
        </p:txBody>
      </p:sp>
      <p:sp>
        <p:nvSpPr>
          <p:cNvPr id="39" name="Text 37"/>
          <p:cNvSpPr/>
          <p:nvPr/>
        </p:nvSpPr>
        <p:spPr>
          <a:xfrm>
            <a:off x="342900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roles, JWT auth, audit logs on every financial action</a:t>
            </a:r>
            <a:endParaRPr lang="en-US" sz="950" dirty="0"/>
          </a:p>
        </p:txBody>
      </p:sp>
      <p:sp>
        <p:nvSpPr>
          <p:cNvPr id="40" name="Shape 38"/>
          <p:cNvSpPr/>
          <p:nvPr/>
        </p:nvSpPr>
        <p:spPr>
          <a:xfrm>
            <a:off x="6126480" y="2834640"/>
            <a:ext cx="2606040" cy="128016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41" name="Shape 39"/>
          <p:cNvSpPr/>
          <p:nvPr/>
        </p:nvSpPr>
        <p:spPr>
          <a:xfrm>
            <a:off x="6126480" y="2834640"/>
            <a:ext cx="2606040" cy="45720"/>
          </a:xfrm>
          <a:prstGeom prst="rect">
            <a:avLst/>
          </a:prstGeom>
          <a:solidFill>
            <a:srgbClr val="E8CC73"/>
          </a:solidFill>
          <a:ln/>
        </p:spPr>
      </p:sp>
      <p:sp>
        <p:nvSpPr>
          <p:cNvPr id="42" name="Shape 40"/>
          <p:cNvSpPr/>
          <p:nvPr/>
        </p:nvSpPr>
        <p:spPr>
          <a:xfrm>
            <a:off x="6236208" y="2971800"/>
            <a:ext cx="365760" cy="365760"/>
          </a:xfrm>
          <a:prstGeom prst="ellipse">
            <a:avLst/>
          </a:prstGeom>
          <a:solidFill>
            <a:srgbClr val="E8CC73"/>
          </a:solidFill>
          <a:ln/>
        </p:spPr>
      </p:sp>
      <p:sp>
        <p:nvSpPr>
          <p:cNvPr id="43" name="Text 41"/>
          <p:cNvSpPr/>
          <p:nvPr/>
        </p:nvSpPr>
        <p:spPr>
          <a:xfrm>
            <a:off x="6236208" y="2971800"/>
            <a:ext cx="365760" cy="365760"/>
          </a:xfrm>
          <a:prstGeom prst="rect">
            <a:avLst/>
          </a:prstGeom>
          <a:noFill/>
          <a:ln/>
        </p:spPr>
        <p:txBody>
          <a:bodyPr wrap="square" lIns="0" tIns="0" rIns="0" bIns="0" rtlCol="0" anchor="ctr"/>
          <a:lstStyle/>
          <a:p>
            <a:pPr algn="ctr" indent="0" marL="0">
              <a:buNone/>
            </a:pPr>
            <a:r>
              <a:rPr lang="en-US" sz="1000" dirty="0">
                <a:solidFill>
                  <a:srgbClr val="0B1523"/>
                </a:solidFill>
                <a:latin typeface="Arial Black" pitchFamily="34" charset="0"/>
                <a:ea typeface="Arial Black" pitchFamily="34" charset="-122"/>
                <a:cs typeface="Arial Black" pitchFamily="34" charset="-120"/>
              </a:rPr>
              <a:t>$$</a:t>
            </a:r>
            <a:endParaRPr lang="en-US" sz="1000" dirty="0"/>
          </a:p>
        </p:txBody>
      </p:sp>
      <p:sp>
        <p:nvSpPr>
          <p:cNvPr id="44" name="Text 42"/>
          <p:cNvSpPr/>
          <p:nvPr/>
        </p:nvSpPr>
        <p:spPr>
          <a:xfrm>
            <a:off x="667512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Subscription Plans</a:t>
            </a:r>
            <a:endParaRPr lang="en-US" sz="1200" dirty="0"/>
          </a:p>
        </p:txBody>
      </p:sp>
      <p:sp>
        <p:nvSpPr>
          <p:cNvPr id="45" name="Text 43"/>
          <p:cNvSpPr/>
          <p:nvPr/>
        </p:nvSpPr>
        <p:spPr>
          <a:xfrm>
            <a:off x="6675120" y="3154680"/>
            <a:ext cx="192024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باقات اشتراك مرنة</a:t>
            </a:r>
            <a:endParaRPr lang="en-US" sz="950" dirty="0"/>
          </a:p>
        </p:txBody>
      </p:sp>
      <p:sp>
        <p:nvSpPr>
          <p:cNvPr id="46" name="Text 44"/>
          <p:cNvSpPr/>
          <p:nvPr/>
        </p:nvSpPr>
        <p:spPr>
          <a:xfrm>
            <a:off x="626364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tiers: Starter, Growth, Professional, Enterprise</a:t>
            </a:r>
            <a:endParaRPr lang="en-US" sz="950" dirty="0"/>
          </a:p>
        </p:txBody>
      </p:sp>
      <p:sp>
        <p:nvSpPr>
          <p:cNvPr id="47" name="Shape 45"/>
          <p:cNvSpPr/>
          <p:nvPr/>
        </p:nvSpPr>
        <p:spPr>
          <a:xfrm>
            <a:off x="0" y="4343400"/>
            <a:ext cx="9144000" cy="27432"/>
          </a:xfrm>
          <a:prstGeom prst="rect">
            <a:avLst/>
          </a:prstGeom>
          <a:solidFill>
            <a:srgbClr val="D4AF37">
              <a:alpha val="50000"/>
            </a:srgbClr>
          </a:solidFill>
          <a:ln/>
        </p:spPr>
      </p:sp>
      <p:sp>
        <p:nvSpPr>
          <p:cNvPr id="48" name="Text 46"/>
          <p:cNvSpPr/>
          <p:nvPr/>
        </p:nvSpPr>
        <p:spPr>
          <a:xfrm>
            <a:off x="457200" y="4407408"/>
            <a:ext cx="548640" cy="274320"/>
          </a:xfrm>
          <a:prstGeom prst="rect">
            <a:avLst/>
          </a:prstGeom>
          <a:noFill/>
          <a:ln/>
        </p:spPr>
        <p:txBody>
          <a:bodyPr wrap="square" lIns="0" tIns="0" rIns="0" bIns="0" rtlCol="0" anchor="ctr"/>
          <a:lstStyle/>
          <a:p>
            <a:pPr indent="0" marL="0">
              <a:buNone/>
            </a:pPr>
            <a:r>
              <a:rPr lang="en-US" sz="1400" dirty="0">
                <a:solidFill>
                  <a:srgbClr val="0891B2"/>
                </a:solidFill>
                <a:latin typeface="Arial Black" pitchFamily="34" charset="0"/>
                <a:ea typeface="Arial Black" pitchFamily="34" charset="-122"/>
                <a:cs typeface="Arial Black" pitchFamily="34" charset="-120"/>
              </a:rPr>
              <a:t>30+</a:t>
            </a:r>
            <a:endParaRPr lang="en-US" sz="1400" dirty="0"/>
          </a:p>
        </p:txBody>
      </p:sp>
      <p:sp>
        <p:nvSpPr>
          <p:cNvPr id="49" name="Text 47"/>
          <p:cNvSpPr/>
          <p:nvPr/>
        </p:nvSpPr>
        <p:spPr>
          <a:xfrm>
            <a:off x="100584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APIs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واجهة</a:t>
            </a:r>
            <a:endParaRPr lang="en-US" sz="800" dirty="0"/>
          </a:p>
        </p:txBody>
      </p:sp>
      <p:sp>
        <p:nvSpPr>
          <p:cNvPr id="50" name="Text 48"/>
          <p:cNvSpPr/>
          <p:nvPr/>
        </p:nvSpPr>
        <p:spPr>
          <a:xfrm>
            <a:off x="2194560" y="4407408"/>
            <a:ext cx="548640" cy="274320"/>
          </a:xfrm>
          <a:prstGeom prst="rect">
            <a:avLst/>
          </a:prstGeom>
          <a:noFill/>
          <a:ln/>
        </p:spPr>
        <p:txBody>
          <a:bodyPr wrap="square" lIns="0" tIns="0" rIns="0" bIns="0" rtlCol="0" anchor="ctr"/>
          <a:lstStyle/>
          <a:p>
            <a:pPr indent="0" marL="0">
              <a:buNone/>
            </a:pPr>
            <a:r>
              <a:rPr lang="en-US" sz="1400" dirty="0">
                <a:solidFill>
                  <a:srgbClr val="10B981"/>
                </a:solidFill>
                <a:latin typeface="Arial Black" pitchFamily="34" charset="0"/>
                <a:ea typeface="Arial Black" pitchFamily="34" charset="-122"/>
                <a:cs typeface="Arial Black" pitchFamily="34" charset="-120"/>
              </a:rPr>
              <a:t>11</a:t>
            </a:r>
            <a:endParaRPr lang="en-US" sz="1400" dirty="0"/>
          </a:p>
        </p:txBody>
      </p:sp>
      <p:sp>
        <p:nvSpPr>
          <p:cNvPr id="51" name="Text 49"/>
          <p:cNvSpPr/>
          <p:nvPr/>
        </p:nvSpPr>
        <p:spPr>
          <a:xfrm>
            <a:off x="274320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AI Modules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وحدة ذكاء</a:t>
            </a:r>
            <a:endParaRPr lang="en-US" sz="800" dirty="0"/>
          </a:p>
        </p:txBody>
      </p:sp>
      <p:sp>
        <p:nvSpPr>
          <p:cNvPr id="52" name="Text 50"/>
          <p:cNvSpPr/>
          <p:nvPr/>
        </p:nvSpPr>
        <p:spPr>
          <a:xfrm>
            <a:off x="3931920" y="4407408"/>
            <a:ext cx="548640" cy="274320"/>
          </a:xfrm>
          <a:prstGeom prst="rect">
            <a:avLst/>
          </a:prstGeom>
          <a:noFill/>
          <a:ln/>
        </p:spPr>
        <p:txBody>
          <a:bodyPr wrap="square" lIns="0" tIns="0" rIns="0" bIns="0" rtlCol="0" anchor="ctr"/>
          <a:lstStyle/>
          <a:p>
            <a:pPr indent="0" marL="0">
              <a:buNone/>
            </a:pPr>
            <a:r>
              <a:rPr lang="en-US" sz="1400" dirty="0">
                <a:solidFill>
                  <a:srgbClr val="D4AF37"/>
                </a:solidFill>
                <a:latin typeface="Arial Black" pitchFamily="34" charset="0"/>
                <a:ea typeface="Arial Black" pitchFamily="34" charset="-122"/>
                <a:cs typeface="Arial Black" pitchFamily="34" charset="-120"/>
              </a:rPr>
              <a:t>55+</a:t>
            </a:r>
            <a:endParaRPr lang="en-US" sz="1400" dirty="0"/>
          </a:p>
        </p:txBody>
      </p:sp>
      <p:sp>
        <p:nvSpPr>
          <p:cNvPr id="53" name="Text 51"/>
          <p:cNvSpPr/>
          <p:nvPr/>
        </p:nvSpPr>
        <p:spPr>
          <a:xfrm>
            <a:off x="448056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Screens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شاشة</a:t>
            </a:r>
            <a:endParaRPr lang="en-US" sz="800" dirty="0"/>
          </a:p>
        </p:txBody>
      </p:sp>
      <p:sp>
        <p:nvSpPr>
          <p:cNvPr id="54" name="Text 52"/>
          <p:cNvSpPr/>
          <p:nvPr/>
        </p:nvSpPr>
        <p:spPr>
          <a:xfrm>
            <a:off x="5669280" y="4407408"/>
            <a:ext cx="548640" cy="274320"/>
          </a:xfrm>
          <a:prstGeom prst="rect">
            <a:avLst/>
          </a:prstGeom>
          <a:noFill/>
          <a:ln/>
        </p:spPr>
        <p:txBody>
          <a:bodyPr wrap="square" lIns="0" tIns="0" rIns="0" bIns="0" rtlCol="0" anchor="ctr"/>
          <a:lstStyle/>
          <a:p>
            <a:pPr indent="0" marL="0">
              <a:buNone/>
            </a:pPr>
            <a:r>
              <a:rPr lang="en-US" sz="1400" dirty="0">
                <a:solidFill>
                  <a:srgbClr val="F96167"/>
                </a:solidFill>
                <a:latin typeface="Arial Black" pitchFamily="34" charset="0"/>
                <a:ea typeface="Arial Black" pitchFamily="34" charset="-122"/>
                <a:cs typeface="Arial Black" pitchFamily="34" charset="-120"/>
              </a:rPr>
              <a:t>4</a:t>
            </a:r>
            <a:endParaRPr lang="en-US" sz="1400" dirty="0"/>
          </a:p>
        </p:txBody>
      </p:sp>
      <p:sp>
        <p:nvSpPr>
          <p:cNvPr id="55" name="Text 53"/>
          <p:cNvSpPr/>
          <p:nvPr/>
        </p:nvSpPr>
        <p:spPr>
          <a:xfrm>
            <a:off x="621792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Plans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خطط</a:t>
            </a:r>
            <a:endParaRPr lang="en-US" sz="800" dirty="0"/>
          </a:p>
        </p:txBody>
      </p:sp>
      <p:sp>
        <p:nvSpPr>
          <p:cNvPr id="56" name="Text 54"/>
          <p:cNvSpPr/>
          <p:nvPr/>
        </p:nvSpPr>
        <p:spPr>
          <a:xfrm>
            <a:off x="7406640" y="4407408"/>
            <a:ext cx="548640" cy="274320"/>
          </a:xfrm>
          <a:prstGeom prst="rect">
            <a:avLst/>
          </a:prstGeom>
          <a:noFill/>
          <a:ln/>
        </p:spPr>
        <p:txBody>
          <a:bodyPr wrap="square" lIns="0" tIns="0" rIns="0" bIns="0" rtlCol="0" anchor="ctr"/>
          <a:lstStyle/>
          <a:p>
            <a:pPr indent="0" marL="0">
              <a:buNone/>
            </a:pPr>
            <a:r>
              <a:rPr lang="en-US" sz="1400" dirty="0">
                <a:solidFill>
                  <a:srgbClr val="22D3EE"/>
                </a:solidFill>
                <a:latin typeface="Arial Black" pitchFamily="34" charset="0"/>
                <a:ea typeface="Arial Black" pitchFamily="34" charset="-122"/>
                <a:cs typeface="Arial Black" pitchFamily="34" charset="-120"/>
              </a:rPr>
              <a:t>11</a:t>
            </a:r>
            <a:endParaRPr lang="en-US" sz="1400" dirty="0"/>
          </a:p>
        </p:txBody>
      </p:sp>
      <p:sp>
        <p:nvSpPr>
          <p:cNvPr id="57" name="Text 55"/>
          <p:cNvSpPr/>
          <p:nvPr/>
        </p:nvSpPr>
        <p:spPr>
          <a:xfrm>
            <a:off x="795528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Roles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دور</a:t>
            </a:r>
            <a:endParaRPr lang="en-US" sz="800" dirty="0"/>
          </a:p>
        </p:txBody>
      </p:sp>
      <p:sp>
        <p:nvSpPr>
          <p:cNvPr id="58" name="Shape 56"/>
          <p:cNvSpPr/>
          <p:nvPr/>
        </p:nvSpPr>
        <p:spPr>
          <a:xfrm>
            <a:off x="0" y="4709160"/>
            <a:ext cx="9144000" cy="434340"/>
          </a:xfrm>
          <a:prstGeom prst="rect">
            <a:avLst/>
          </a:prstGeom>
          <a:solidFill>
            <a:srgbClr val="0A1220"/>
          </a:solidFill>
          <a:ln/>
        </p:spPr>
      </p:sp>
      <p:sp>
        <p:nvSpPr>
          <p:cNvPr id="59" name="Text 57"/>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0" name="Text 58"/>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4 / 19</a:t>
            </a:r>
            <a:endParaRPr lang="en-US" sz="750" dirty="0"/>
          </a:p>
        </p:txBody>
      </p:sp>
      <p:sp>
        <p:nvSpPr>
          <p:cNvPr id="61" name="Text 59"/>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FOR CLIENTS  ·  لعملائنا</a:t>
            </a:r>
            <a:endParaRPr lang="en-US" sz="1100" dirty="0"/>
          </a:p>
        </p:txBody>
      </p:sp>
      <p:sp>
        <p:nvSpPr>
          <p:cNvPr id="4" name="Text 2"/>
          <p:cNvSpPr/>
          <p:nvPr/>
        </p:nvSpPr>
        <p:spPr>
          <a:xfrm>
            <a:off x="457200" y="50292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Complete Financial Health Report</a:t>
            </a:r>
            <a:endParaRPr lang="en-US" sz="2600" dirty="0"/>
          </a:p>
          <a:p>
            <a:pPr indent="0" marL="0">
              <a:buNone/>
            </a:pPr>
            <a:r>
              <a:rPr lang="en-US" sz="2600" b="1" dirty="0">
                <a:solidFill>
                  <a:srgbClr val="0891B2"/>
                </a:solidFill>
                <a:latin typeface="Calibri" pitchFamily="34" charset="0"/>
                <a:ea typeface="Calibri" pitchFamily="34" charset="-122"/>
                <a:cs typeface="Calibri" pitchFamily="34" charset="-120"/>
              </a:rPr>
              <a:t>in Minutes, Not Weeks</a:t>
            </a:r>
            <a:endParaRPr lang="en-US" sz="2600" dirty="0"/>
          </a:p>
          <a:p>
            <a:pPr indent="0" marL="0">
              <a:buNone/>
            </a:pPr>
            <a:r>
              <a:rPr lang="en-US" sz="1100" dirty="0">
                <a:solidFill>
                  <a:srgbClr val="94A3B8"/>
                </a:solidFill>
                <a:latin typeface="Calibri" pitchFamily="34" charset="0"/>
                <a:ea typeface="Calibri" pitchFamily="34" charset="-122"/>
                <a:cs typeface="Calibri" pitchFamily="34" charset="-120"/>
              </a:rPr>
              <a:t>للمنشآت الصغيرة والمتوسطة  ·  مكاتب المحاسبة  ·  الشركات الناشئة</a:t>
            </a:r>
            <a:endParaRPr lang="en-US" sz="2600" dirty="0"/>
          </a:p>
        </p:txBody>
      </p:sp>
      <p:sp>
        <p:nvSpPr>
          <p:cNvPr id="5" name="Shape 3"/>
          <p:cNvSpPr/>
          <p:nvPr/>
        </p:nvSpPr>
        <p:spPr>
          <a:xfrm>
            <a:off x="457200" y="1645920"/>
            <a:ext cx="3200400" cy="164592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6" name="Shape 4"/>
          <p:cNvSpPr/>
          <p:nvPr/>
        </p:nvSpPr>
        <p:spPr>
          <a:xfrm>
            <a:off x="457200" y="1645920"/>
            <a:ext cx="3200400" cy="45720"/>
          </a:xfrm>
          <a:prstGeom prst="rect">
            <a:avLst/>
          </a:prstGeom>
          <a:solidFill>
            <a:srgbClr val="0891B2"/>
          </a:solidFill>
          <a:ln/>
        </p:spPr>
      </p:sp>
      <p:sp>
        <p:nvSpPr>
          <p:cNvPr id="7" name="Text 5"/>
          <p:cNvSpPr/>
          <p:nvPr/>
        </p:nvSpPr>
        <p:spPr>
          <a:xfrm>
            <a:off x="457200" y="1783080"/>
            <a:ext cx="3200400" cy="731520"/>
          </a:xfrm>
          <a:prstGeom prst="rect">
            <a:avLst/>
          </a:prstGeom>
          <a:noFill/>
          <a:ln/>
        </p:spPr>
        <p:txBody>
          <a:bodyPr wrap="square" lIns="0" tIns="0" rIns="0" bIns="0" rtlCol="0" anchor="ctr"/>
          <a:lstStyle/>
          <a:p>
            <a:pPr algn="ctr" indent="0" marL="0">
              <a:buNone/>
            </a:pPr>
            <a:r>
              <a:rPr lang="en-US" sz="5600" dirty="0">
                <a:solidFill>
                  <a:srgbClr val="0891B2"/>
                </a:solidFill>
                <a:latin typeface="Arial Black" pitchFamily="34" charset="0"/>
                <a:ea typeface="Arial Black" pitchFamily="34" charset="-122"/>
                <a:cs typeface="Arial Black" pitchFamily="34" charset="-120"/>
              </a:rPr>
              <a:t>93%</a:t>
            </a:r>
            <a:endParaRPr lang="en-US" sz="5600" dirty="0"/>
          </a:p>
        </p:txBody>
      </p:sp>
      <p:sp>
        <p:nvSpPr>
          <p:cNvPr id="8" name="Text 6"/>
          <p:cNvSpPr/>
          <p:nvPr/>
        </p:nvSpPr>
        <p:spPr>
          <a:xfrm>
            <a:off x="640080" y="2560320"/>
            <a:ext cx="283464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financial analysis tasks automated</a:t>
            </a:r>
            <a:endParaRPr lang="en-US" sz="1300" dirty="0"/>
          </a:p>
          <a:p>
            <a:pPr algn="ctr" indent="0" marL="0">
              <a:buNone/>
            </a:pPr>
            <a:r>
              <a:rPr lang="en-US" sz="1100" dirty="0">
                <a:solidFill>
                  <a:srgbClr val="D4AF37"/>
                </a:solidFill>
                <a:latin typeface="Calibri" pitchFamily="34" charset="0"/>
                <a:ea typeface="Calibri" pitchFamily="34" charset="-122"/>
                <a:cs typeface="Calibri" pitchFamily="34" charset="-120"/>
              </a:rPr>
              <a:t>من عمليات التحليل المالي تتم تلقائياً</a:t>
            </a:r>
            <a:endParaRPr lang="en-US" sz="1300" dirty="0"/>
          </a:p>
        </p:txBody>
      </p:sp>
      <p:sp>
        <p:nvSpPr>
          <p:cNvPr id="9" name="Shape 7"/>
          <p:cNvSpPr/>
          <p:nvPr/>
        </p:nvSpPr>
        <p:spPr>
          <a:xfrm>
            <a:off x="4023360" y="1645920"/>
            <a:ext cx="4663440" cy="457200"/>
          </a:xfrm>
          <a:prstGeom prst="rect">
            <a:avLst/>
          </a:prstGeom>
          <a:solidFill>
            <a:srgbClr val="162B45"/>
          </a:solidFill>
          <a:ln/>
        </p:spPr>
      </p:sp>
      <p:sp>
        <p:nvSpPr>
          <p:cNvPr id="10" name="Shape 8"/>
          <p:cNvSpPr/>
          <p:nvPr/>
        </p:nvSpPr>
        <p:spPr>
          <a:xfrm>
            <a:off x="4023360" y="1645920"/>
            <a:ext cx="45720" cy="457200"/>
          </a:xfrm>
          <a:prstGeom prst="rect">
            <a:avLst/>
          </a:prstGeom>
          <a:solidFill>
            <a:srgbClr val="0891B2"/>
          </a:solidFill>
          <a:ln/>
        </p:spPr>
      </p:sp>
      <p:sp>
        <p:nvSpPr>
          <p:cNvPr id="11" name="Text 9"/>
          <p:cNvSpPr/>
          <p:nvPr/>
        </p:nvSpPr>
        <p:spPr>
          <a:xfrm>
            <a:off x="4206240" y="164592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Upload Arabic or English financials — AI understands both</a:t>
            </a:r>
            <a:endParaRPr lang="en-US" sz="1050" dirty="0"/>
          </a:p>
        </p:txBody>
      </p:sp>
      <p:sp>
        <p:nvSpPr>
          <p:cNvPr id="12" name="Text 10"/>
          <p:cNvSpPr/>
          <p:nvPr/>
        </p:nvSpPr>
        <p:spPr>
          <a:xfrm>
            <a:off x="4206240" y="189280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ارفع بياناتك بالعربية أو الإنجليزية — المنصة تفهم كلتا اللغتين</a:t>
            </a:r>
            <a:endParaRPr lang="en-US" sz="900" dirty="0"/>
          </a:p>
        </p:txBody>
      </p:sp>
      <p:sp>
        <p:nvSpPr>
          <p:cNvPr id="13" name="Shape 11"/>
          <p:cNvSpPr/>
          <p:nvPr/>
        </p:nvSpPr>
        <p:spPr>
          <a:xfrm>
            <a:off x="4023360" y="2194560"/>
            <a:ext cx="4663440" cy="457200"/>
          </a:xfrm>
          <a:prstGeom prst="rect">
            <a:avLst/>
          </a:prstGeom>
          <a:solidFill>
            <a:srgbClr val="162B45"/>
          </a:solidFill>
          <a:ln/>
        </p:spPr>
      </p:sp>
      <p:sp>
        <p:nvSpPr>
          <p:cNvPr id="14" name="Shape 12"/>
          <p:cNvSpPr/>
          <p:nvPr/>
        </p:nvSpPr>
        <p:spPr>
          <a:xfrm>
            <a:off x="4023360" y="2194560"/>
            <a:ext cx="45720" cy="457200"/>
          </a:xfrm>
          <a:prstGeom prst="rect">
            <a:avLst/>
          </a:prstGeom>
          <a:solidFill>
            <a:srgbClr val="10B981"/>
          </a:solidFill>
          <a:ln/>
        </p:spPr>
      </p:sp>
      <p:sp>
        <p:nvSpPr>
          <p:cNvPr id="15" name="Text 13"/>
          <p:cNvSpPr/>
          <p:nvPr/>
        </p:nvSpPr>
        <p:spPr>
          <a:xfrm>
            <a:off x="4206240" y="219456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Full financial health report in under 5 minutes</a:t>
            </a:r>
            <a:endParaRPr lang="en-US" sz="1050" dirty="0"/>
          </a:p>
        </p:txBody>
      </p:sp>
      <p:sp>
        <p:nvSpPr>
          <p:cNvPr id="16" name="Text 14"/>
          <p:cNvSpPr/>
          <p:nvPr/>
        </p:nvSpPr>
        <p:spPr>
          <a:xfrm>
            <a:off x="4206240" y="244144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تقرير شامل عن الصحة المالية خلال أقل من 5 دقائق</a:t>
            </a:r>
            <a:endParaRPr lang="en-US" sz="900" dirty="0"/>
          </a:p>
        </p:txBody>
      </p:sp>
      <p:sp>
        <p:nvSpPr>
          <p:cNvPr id="17" name="Shape 15"/>
          <p:cNvSpPr/>
          <p:nvPr/>
        </p:nvSpPr>
        <p:spPr>
          <a:xfrm>
            <a:off x="4023360" y="2743200"/>
            <a:ext cx="4663440" cy="457200"/>
          </a:xfrm>
          <a:prstGeom prst="rect">
            <a:avLst/>
          </a:prstGeom>
          <a:solidFill>
            <a:srgbClr val="162B45"/>
          </a:solidFill>
          <a:ln/>
        </p:spPr>
      </p:sp>
      <p:sp>
        <p:nvSpPr>
          <p:cNvPr id="18" name="Shape 16"/>
          <p:cNvSpPr/>
          <p:nvPr/>
        </p:nvSpPr>
        <p:spPr>
          <a:xfrm>
            <a:off x="4023360" y="2743200"/>
            <a:ext cx="45720" cy="457200"/>
          </a:xfrm>
          <a:prstGeom prst="rect">
            <a:avLst/>
          </a:prstGeom>
          <a:solidFill>
            <a:srgbClr val="D4AF37"/>
          </a:solidFill>
          <a:ln/>
        </p:spPr>
      </p:sp>
      <p:sp>
        <p:nvSpPr>
          <p:cNvPr id="19" name="Text 17"/>
          <p:cNvSpPr/>
          <p:nvPr/>
        </p:nvSpPr>
        <p:spPr>
          <a:xfrm>
            <a:off x="4206240" y="274320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Funding Readiness Score (0–100) with action plan</a:t>
            </a:r>
            <a:endParaRPr lang="en-US" sz="1050" dirty="0"/>
          </a:p>
        </p:txBody>
      </p:sp>
      <p:sp>
        <p:nvSpPr>
          <p:cNvPr id="20" name="Text 18"/>
          <p:cNvSpPr/>
          <p:nvPr/>
        </p:nvSpPr>
        <p:spPr>
          <a:xfrm>
            <a:off x="4206240" y="299008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تقييم جاهزية التمويل من 0 إلى 100 مع خطوات عملية</a:t>
            </a:r>
            <a:endParaRPr lang="en-US" sz="900" dirty="0"/>
          </a:p>
        </p:txBody>
      </p:sp>
      <p:sp>
        <p:nvSpPr>
          <p:cNvPr id="21" name="Shape 19"/>
          <p:cNvSpPr/>
          <p:nvPr/>
        </p:nvSpPr>
        <p:spPr>
          <a:xfrm>
            <a:off x="4023360" y="3291840"/>
            <a:ext cx="4663440" cy="457200"/>
          </a:xfrm>
          <a:prstGeom prst="rect">
            <a:avLst/>
          </a:prstGeom>
          <a:solidFill>
            <a:srgbClr val="162B45"/>
          </a:solidFill>
          <a:ln/>
        </p:spPr>
      </p:sp>
      <p:sp>
        <p:nvSpPr>
          <p:cNvPr id="22" name="Shape 20"/>
          <p:cNvSpPr/>
          <p:nvPr/>
        </p:nvSpPr>
        <p:spPr>
          <a:xfrm>
            <a:off x="4023360" y="3291840"/>
            <a:ext cx="45720" cy="457200"/>
          </a:xfrm>
          <a:prstGeom prst="rect">
            <a:avLst/>
          </a:prstGeom>
          <a:solidFill>
            <a:srgbClr val="22D3EE"/>
          </a:solidFill>
          <a:ln/>
        </p:spPr>
      </p:sp>
      <p:sp>
        <p:nvSpPr>
          <p:cNvPr id="23" name="Text 21"/>
          <p:cNvSpPr/>
          <p:nvPr/>
        </p:nvSpPr>
        <p:spPr>
          <a:xfrm>
            <a:off x="4206240" y="329184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SOCPA &amp; IFRS compliant — audit-ready from day one</a:t>
            </a:r>
            <a:endParaRPr lang="en-US" sz="1050" dirty="0"/>
          </a:p>
        </p:txBody>
      </p:sp>
      <p:sp>
        <p:nvSpPr>
          <p:cNvPr id="24" name="Text 22"/>
          <p:cNvSpPr/>
          <p:nvPr/>
        </p:nvSpPr>
        <p:spPr>
          <a:xfrm>
            <a:off x="4206240" y="353872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توافق كامل مع هيئة المحاسبين و IFRS — جاهز للتدقيق فوراً</a:t>
            </a:r>
            <a:endParaRPr lang="en-US" sz="900" dirty="0"/>
          </a:p>
        </p:txBody>
      </p:sp>
      <p:sp>
        <p:nvSpPr>
          <p:cNvPr id="25" name="Shape 23"/>
          <p:cNvSpPr/>
          <p:nvPr/>
        </p:nvSpPr>
        <p:spPr>
          <a:xfrm>
            <a:off x="4023360" y="3840480"/>
            <a:ext cx="4663440" cy="457200"/>
          </a:xfrm>
          <a:prstGeom prst="rect">
            <a:avLst/>
          </a:prstGeom>
          <a:solidFill>
            <a:srgbClr val="162B45"/>
          </a:solidFill>
          <a:ln/>
        </p:spPr>
      </p:sp>
      <p:sp>
        <p:nvSpPr>
          <p:cNvPr id="26" name="Shape 24"/>
          <p:cNvSpPr/>
          <p:nvPr/>
        </p:nvSpPr>
        <p:spPr>
          <a:xfrm>
            <a:off x="4023360" y="3840480"/>
            <a:ext cx="45720" cy="457200"/>
          </a:xfrm>
          <a:prstGeom prst="rect">
            <a:avLst/>
          </a:prstGeom>
          <a:solidFill>
            <a:srgbClr val="F96167"/>
          </a:solidFill>
          <a:ln/>
        </p:spPr>
      </p:sp>
      <p:sp>
        <p:nvSpPr>
          <p:cNvPr id="27" name="Text 25"/>
          <p:cNvSpPr/>
          <p:nvPr/>
        </p:nvSpPr>
        <p:spPr>
          <a:xfrm>
            <a:off x="4206240" y="384048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Connect with certified accountants via Marketplace</a:t>
            </a:r>
            <a:endParaRPr lang="en-US" sz="1050" dirty="0"/>
          </a:p>
        </p:txBody>
      </p:sp>
      <p:sp>
        <p:nvSpPr>
          <p:cNvPr id="28" name="Text 26"/>
          <p:cNvSpPr/>
          <p:nvPr/>
        </p:nvSpPr>
        <p:spPr>
          <a:xfrm>
            <a:off x="4206240" y="408736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تواصل مباشر مع محاسبين ومراجعين معتمدين عبر السوق</a:t>
            </a:r>
            <a:endParaRPr lang="en-US" sz="900" dirty="0"/>
          </a:p>
        </p:txBody>
      </p:sp>
      <p:sp>
        <p:nvSpPr>
          <p:cNvPr id="29" name="Shape 27"/>
          <p:cNvSpPr/>
          <p:nvPr/>
        </p:nvSpPr>
        <p:spPr>
          <a:xfrm>
            <a:off x="0" y="4709160"/>
            <a:ext cx="9144000" cy="434340"/>
          </a:xfrm>
          <a:prstGeom prst="rect">
            <a:avLst/>
          </a:prstGeom>
          <a:solidFill>
            <a:srgbClr val="0A1220"/>
          </a:solidFill>
          <a:ln/>
        </p:spPr>
      </p:sp>
      <p:sp>
        <p:nvSpPr>
          <p:cNvPr id="30" name="Text 2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1" name="Text 2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5 / 19</a:t>
            </a:r>
            <a:endParaRPr lang="en-US" sz="750" dirty="0"/>
          </a:p>
        </p:txBody>
      </p:sp>
      <p:sp>
        <p:nvSpPr>
          <p:cNvPr id="32" name="Text 3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MARKET OPPORTUNITY  ·  الفرصة السوقية</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SAR 4.5B Fintech Market, Growing 18% YoY</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سوق تقنية مالية بقيمة 4.5 مليار ريال ونمو سنوي 18%</a:t>
            </a:r>
            <a:endParaRPr lang="en-US" sz="2600" dirty="0"/>
          </a:p>
        </p:txBody>
      </p:sp>
      <p:sp>
        <p:nvSpPr>
          <p:cNvPr id="5" name="Shape 3"/>
          <p:cNvSpPr/>
          <p:nvPr/>
        </p:nvSpPr>
        <p:spPr>
          <a:xfrm>
            <a:off x="457200" y="1463040"/>
            <a:ext cx="2606040" cy="137160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6" name="Shape 4"/>
          <p:cNvSpPr/>
          <p:nvPr/>
        </p:nvSpPr>
        <p:spPr>
          <a:xfrm>
            <a:off x="457200" y="1463040"/>
            <a:ext cx="2606040" cy="45720"/>
          </a:xfrm>
          <a:prstGeom prst="rect">
            <a:avLst/>
          </a:prstGeom>
          <a:solidFill>
            <a:srgbClr val="D4AF37"/>
          </a:solidFill>
          <a:ln/>
        </p:spPr>
      </p:sp>
      <p:sp>
        <p:nvSpPr>
          <p:cNvPr id="7" name="Shape 5"/>
          <p:cNvSpPr/>
          <p:nvPr/>
        </p:nvSpPr>
        <p:spPr>
          <a:xfrm>
            <a:off x="475488" y="1481328"/>
            <a:ext cx="36576" cy="1335024"/>
          </a:xfrm>
          <a:prstGeom prst="rect">
            <a:avLst/>
          </a:prstGeom>
          <a:solidFill>
            <a:srgbClr val="D4AF37"/>
          </a:solidFill>
          <a:ln/>
        </p:spPr>
      </p:sp>
      <p:sp>
        <p:nvSpPr>
          <p:cNvPr id="8" name="Text 6"/>
          <p:cNvSpPr/>
          <p:nvPr/>
        </p:nvSpPr>
        <p:spPr>
          <a:xfrm>
            <a:off x="45720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SAR 4.5B</a:t>
            </a:r>
            <a:endParaRPr lang="en-US" sz="3000" dirty="0"/>
          </a:p>
        </p:txBody>
      </p:sp>
      <p:sp>
        <p:nvSpPr>
          <p:cNvPr id="9" name="Text 7"/>
          <p:cNvSpPr/>
          <p:nvPr/>
        </p:nvSpPr>
        <p:spPr>
          <a:xfrm>
            <a:off x="45720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Saudi Fintech Market</a:t>
            </a:r>
            <a:endParaRPr lang="en-US" sz="1200" dirty="0"/>
          </a:p>
        </p:txBody>
      </p:sp>
      <p:sp>
        <p:nvSpPr>
          <p:cNvPr id="10" name="Text 8"/>
          <p:cNvSpPr/>
          <p:nvPr/>
        </p:nvSpPr>
        <p:spPr>
          <a:xfrm>
            <a:off x="457200" y="2212848"/>
            <a:ext cx="2606040" cy="182880"/>
          </a:xfrm>
          <a:prstGeom prst="rect">
            <a:avLst/>
          </a:prstGeom>
          <a:noFill/>
          <a:ln/>
        </p:spPr>
        <p:txBody>
          <a:bodyPr wrap="square" lIns="0" tIns="0" rIns="0" bIns="0" rtlCol="0" anchor="ctr"/>
          <a:lstStyle/>
          <a:p>
            <a:pPr algn="ctr" indent="0" marL="0">
              <a:buNone/>
            </a:pPr>
            <a:r>
              <a:rPr lang="en-US" sz="1000" dirty="0">
                <a:solidFill>
                  <a:srgbClr val="D4AF37"/>
                </a:solidFill>
                <a:latin typeface="Calibri" pitchFamily="34" charset="0"/>
                <a:ea typeface="Calibri" pitchFamily="34" charset="-122"/>
                <a:cs typeface="Calibri" pitchFamily="34" charset="-120"/>
              </a:rPr>
              <a:t>حجم السوق السعودي</a:t>
            </a:r>
            <a:endParaRPr lang="en-US" sz="1000" dirty="0"/>
          </a:p>
        </p:txBody>
      </p:sp>
      <p:sp>
        <p:nvSpPr>
          <p:cNvPr id="11" name="Text 9"/>
          <p:cNvSpPr/>
          <p:nvPr/>
        </p:nvSpPr>
        <p:spPr>
          <a:xfrm>
            <a:off x="45720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2025 — SAMA + Fintech Saudi reports</a:t>
            </a:r>
            <a:endParaRPr lang="en-US" sz="900" dirty="0"/>
          </a:p>
        </p:txBody>
      </p:sp>
      <p:sp>
        <p:nvSpPr>
          <p:cNvPr id="12" name="Shape 10"/>
          <p:cNvSpPr/>
          <p:nvPr/>
        </p:nvSpPr>
        <p:spPr>
          <a:xfrm>
            <a:off x="3337560" y="1463040"/>
            <a:ext cx="2606040" cy="137160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13" name="Shape 11"/>
          <p:cNvSpPr/>
          <p:nvPr/>
        </p:nvSpPr>
        <p:spPr>
          <a:xfrm>
            <a:off x="3337560" y="1463040"/>
            <a:ext cx="2606040" cy="45720"/>
          </a:xfrm>
          <a:prstGeom prst="rect">
            <a:avLst/>
          </a:prstGeom>
          <a:solidFill>
            <a:srgbClr val="0891B2"/>
          </a:solidFill>
          <a:ln/>
        </p:spPr>
      </p:sp>
      <p:sp>
        <p:nvSpPr>
          <p:cNvPr id="14" name="Shape 12"/>
          <p:cNvSpPr/>
          <p:nvPr/>
        </p:nvSpPr>
        <p:spPr>
          <a:xfrm>
            <a:off x="3355848" y="1481328"/>
            <a:ext cx="36576" cy="1335024"/>
          </a:xfrm>
          <a:prstGeom prst="rect">
            <a:avLst/>
          </a:prstGeom>
          <a:solidFill>
            <a:srgbClr val="D4AF37"/>
          </a:solidFill>
          <a:ln/>
        </p:spPr>
      </p:sp>
      <p:sp>
        <p:nvSpPr>
          <p:cNvPr id="15" name="Text 13"/>
          <p:cNvSpPr/>
          <p:nvPr/>
        </p:nvSpPr>
        <p:spPr>
          <a:xfrm>
            <a:off x="333756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18%</a:t>
            </a:r>
            <a:endParaRPr lang="en-US" sz="3000" dirty="0"/>
          </a:p>
        </p:txBody>
      </p:sp>
      <p:sp>
        <p:nvSpPr>
          <p:cNvPr id="16" name="Text 14"/>
          <p:cNvSpPr/>
          <p:nvPr/>
        </p:nvSpPr>
        <p:spPr>
          <a:xfrm>
            <a:off x="333756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Annual Growth (CAGR)</a:t>
            </a:r>
            <a:endParaRPr lang="en-US" sz="1200" dirty="0"/>
          </a:p>
        </p:txBody>
      </p:sp>
      <p:sp>
        <p:nvSpPr>
          <p:cNvPr id="17" name="Text 15"/>
          <p:cNvSpPr/>
          <p:nvPr/>
        </p:nvSpPr>
        <p:spPr>
          <a:xfrm>
            <a:off x="3337560" y="2212848"/>
            <a:ext cx="260604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معدل النمو السنوي المركّب</a:t>
            </a:r>
            <a:endParaRPr lang="en-US" sz="1000" dirty="0"/>
          </a:p>
        </p:txBody>
      </p:sp>
      <p:sp>
        <p:nvSpPr>
          <p:cNvPr id="18" name="Text 16"/>
          <p:cNvSpPr/>
          <p:nvPr/>
        </p:nvSpPr>
        <p:spPr>
          <a:xfrm>
            <a:off x="333756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2024–2028 estimate (EY / KPMG)</a:t>
            </a:r>
            <a:endParaRPr lang="en-US" sz="900" dirty="0"/>
          </a:p>
        </p:txBody>
      </p:sp>
      <p:sp>
        <p:nvSpPr>
          <p:cNvPr id="19" name="Shape 17"/>
          <p:cNvSpPr/>
          <p:nvPr/>
        </p:nvSpPr>
        <p:spPr>
          <a:xfrm>
            <a:off x="6217920" y="1463040"/>
            <a:ext cx="2606040" cy="137160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20" name="Shape 18"/>
          <p:cNvSpPr/>
          <p:nvPr/>
        </p:nvSpPr>
        <p:spPr>
          <a:xfrm>
            <a:off x="6217920" y="1463040"/>
            <a:ext cx="2606040" cy="45720"/>
          </a:xfrm>
          <a:prstGeom prst="rect">
            <a:avLst/>
          </a:prstGeom>
          <a:solidFill>
            <a:srgbClr val="10B981"/>
          </a:solidFill>
          <a:ln/>
        </p:spPr>
      </p:sp>
      <p:sp>
        <p:nvSpPr>
          <p:cNvPr id="21" name="Shape 19"/>
          <p:cNvSpPr/>
          <p:nvPr/>
        </p:nvSpPr>
        <p:spPr>
          <a:xfrm>
            <a:off x="6236208" y="1481328"/>
            <a:ext cx="36576" cy="1335024"/>
          </a:xfrm>
          <a:prstGeom prst="rect">
            <a:avLst/>
          </a:prstGeom>
          <a:solidFill>
            <a:srgbClr val="D4AF37"/>
          </a:solidFill>
          <a:ln/>
        </p:spPr>
      </p:sp>
      <p:sp>
        <p:nvSpPr>
          <p:cNvPr id="22" name="Text 20"/>
          <p:cNvSpPr/>
          <p:nvPr/>
        </p:nvSpPr>
        <p:spPr>
          <a:xfrm>
            <a:off x="621792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150+</a:t>
            </a:r>
            <a:endParaRPr lang="en-US" sz="3000" dirty="0"/>
          </a:p>
        </p:txBody>
      </p:sp>
      <p:sp>
        <p:nvSpPr>
          <p:cNvPr id="23" name="Text 21"/>
          <p:cNvSpPr/>
          <p:nvPr/>
        </p:nvSpPr>
        <p:spPr>
          <a:xfrm>
            <a:off x="621792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Year 1 Client Target</a:t>
            </a:r>
            <a:endParaRPr lang="en-US" sz="1200" dirty="0"/>
          </a:p>
        </p:txBody>
      </p:sp>
      <p:sp>
        <p:nvSpPr>
          <p:cNvPr id="24" name="Text 22"/>
          <p:cNvSpPr/>
          <p:nvPr/>
        </p:nvSpPr>
        <p:spPr>
          <a:xfrm>
            <a:off x="6217920" y="2212848"/>
            <a:ext cx="2606040" cy="182880"/>
          </a:xfrm>
          <a:prstGeom prst="rect">
            <a:avLst/>
          </a:prstGeom>
          <a:noFill/>
          <a:ln/>
        </p:spPr>
        <p:txBody>
          <a:bodyPr wrap="square" lIns="0" tIns="0" rIns="0" bIns="0" rtlCol="0" anchor="ctr"/>
          <a:lstStyle/>
          <a:p>
            <a:pPr algn="ctr" indent="0" marL="0">
              <a:buNone/>
            </a:pPr>
            <a:r>
              <a:rPr lang="en-US" sz="1000" dirty="0">
                <a:solidFill>
                  <a:srgbClr val="10B981"/>
                </a:solidFill>
                <a:latin typeface="Calibri" pitchFamily="34" charset="0"/>
                <a:ea typeface="Calibri" pitchFamily="34" charset="-122"/>
                <a:cs typeface="Calibri" pitchFamily="34" charset="-120"/>
              </a:rPr>
              <a:t>عدد العملاء المستهدف</a:t>
            </a:r>
            <a:endParaRPr lang="en-US" sz="1000" dirty="0"/>
          </a:p>
        </p:txBody>
      </p:sp>
      <p:sp>
        <p:nvSpPr>
          <p:cNvPr id="25" name="Text 23"/>
          <p:cNvSpPr/>
          <p:nvPr/>
        </p:nvSpPr>
        <p:spPr>
          <a:xfrm>
            <a:off x="621792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Paying SME subscribers in 12 months</a:t>
            </a:r>
            <a:endParaRPr lang="en-US" sz="900" dirty="0"/>
          </a:p>
        </p:txBody>
      </p:sp>
      <p:sp>
        <p:nvSpPr>
          <p:cNvPr id="26" name="Text 24"/>
          <p:cNvSpPr/>
          <p:nvPr/>
        </p:nvSpPr>
        <p:spPr>
          <a:xfrm>
            <a:off x="457200" y="3017520"/>
            <a:ext cx="4572000" cy="274320"/>
          </a:xfrm>
          <a:prstGeom prst="rect">
            <a:avLst/>
          </a:prstGeom>
          <a:noFill/>
          <a:ln/>
        </p:spPr>
        <p:txBody>
          <a:bodyPr wrap="square" lIns="0" tIns="0" rIns="0" bIns="0" rtlCol="0" anchor="ctr"/>
          <a:lstStyle/>
          <a:p>
            <a:pPr indent="0" marL="0">
              <a:buNone/>
            </a:pPr>
            <a:r>
              <a:rPr lang="en-US" sz="1100" spc="300" kern="0" dirty="0">
                <a:solidFill>
                  <a:srgbClr val="D4AF37"/>
                </a:solidFill>
                <a:latin typeface="Calibri" pitchFamily="34" charset="0"/>
                <a:ea typeface="Calibri" pitchFamily="34" charset="-122"/>
                <a:cs typeface="Calibri" pitchFamily="34" charset="-120"/>
              </a:rPr>
              <a:t>REVENUE MODEL  ·  مصادر الإيرادات</a:t>
            </a:r>
            <a:endParaRPr lang="en-US" sz="1100" dirty="0"/>
          </a:p>
        </p:txBody>
      </p:sp>
      <p:sp>
        <p:nvSpPr>
          <p:cNvPr id="27" name="Shape 25"/>
          <p:cNvSpPr/>
          <p:nvPr/>
        </p:nvSpPr>
        <p:spPr>
          <a:xfrm>
            <a:off x="457200" y="3383280"/>
            <a:ext cx="8229600" cy="347472"/>
          </a:xfrm>
          <a:prstGeom prst="rect">
            <a:avLst/>
          </a:prstGeom>
          <a:solidFill>
            <a:srgbClr val="162B45"/>
          </a:solidFill>
          <a:ln/>
        </p:spPr>
      </p:sp>
      <p:sp>
        <p:nvSpPr>
          <p:cNvPr id="28" name="Shape 26"/>
          <p:cNvSpPr/>
          <p:nvPr/>
        </p:nvSpPr>
        <p:spPr>
          <a:xfrm>
            <a:off x="457200" y="3383280"/>
            <a:ext cx="45720" cy="347472"/>
          </a:xfrm>
          <a:prstGeom prst="rect">
            <a:avLst/>
          </a:prstGeom>
          <a:solidFill>
            <a:srgbClr val="0891B2"/>
          </a:solidFill>
          <a:ln/>
        </p:spPr>
      </p:sp>
      <p:sp>
        <p:nvSpPr>
          <p:cNvPr id="29" name="Text 27"/>
          <p:cNvSpPr/>
          <p:nvPr/>
        </p:nvSpPr>
        <p:spPr>
          <a:xfrm>
            <a:off x="640080" y="338328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SaaS Subscriptions</a:t>
            </a:r>
            <a:endParaRPr lang="en-US" sz="1100" dirty="0"/>
          </a:p>
        </p:txBody>
      </p:sp>
      <p:sp>
        <p:nvSpPr>
          <p:cNvPr id="30" name="Text 28"/>
          <p:cNvSpPr/>
          <p:nvPr/>
        </p:nvSpPr>
        <p:spPr>
          <a:xfrm>
            <a:off x="2468880" y="3383280"/>
            <a:ext cx="1188720" cy="347472"/>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اشتراكات المنصة</a:t>
            </a:r>
            <a:endParaRPr lang="en-US" sz="950" dirty="0"/>
          </a:p>
        </p:txBody>
      </p:sp>
      <p:sp>
        <p:nvSpPr>
          <p:cNvPr id="31" name="Text 29"/>
          <p:cNvSpPr/>
          <p:nvPr/>
        </p:nvSpPr>
        <p:spPr>
          <a:xfrm>
            <a:off x="3749040" y="338328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199 – 1,999/mo  ·  4 tiers  ·  avg SAR 500 ARPU</a:t>
            </a:r>
            <a:endParaRPr lang="en-US" sz="1000" dirty="0"/>
          </a:p>
        </p:txBody>
      </p:sp>
      <p:sp>
        <p:nvSpPr>
          <p:cNvPr id="32" name="Text 30"/>
          <p:cNvSpPr/>
          <p:nvPr/>
        </p:nvSpPr>
        <p:spPr>
          <a:xfrm>
            <a:off x="7132320" y="3383280"/>
            <a:ext cx="1371600" cy="347472"/>
          </a:xfrm>
          <a:prstGeom prst="rect">
            <a:avLst/>
          </a:prstGeom>
          <a:noFill/>
          <a:ln/>
        </p:spPr>
        <p:txBody>
          <a:bodyPr wrap="square" lIns="0" tIns="0" rIns="0" bIns="0" rtlCol="0" anchor="ctr"/>
          <a:lstStyle/>
          <a:p>
            <a:pPr algn="ctr" indent="0" marL="0">
              <a:buNone/>
            </a:pPr>
            <a:r>
              <a:rPr lang="en-US" sz="2000" dirty="0">
                <a:solidFill>
                  <a:srgbClr val="0891B2"/>
                </a:solidFill>
                <a:latin typeface="Arial Black" pitchFamily="34" charset="0"/>
                <a:ea typeface="Arial Black" pitchFamily="34" charset="-122"/>
                <a:cs typeface="Arial Black" pitchFamily="34" charset="-120"/>
              </a:rPr>
              <a:t>65%</a:t>
            </a:r>
            <a:endParaRPr lang="en-US" sz="2000" dirty="0"/>
          </a:p>
        </p:txBody>
      </p:sp>
      <p:sp>
        <p:nvSpPr>
          <p:cNvPr id="33" name="Shape 31"/>
          <p:cNvSpPr/>
          <p:nvPr/>
        </p:nvSpPr>
        <p:spPr>
          <a:xfrm>
            <a:off x="457200" y="3794760"/>
            <a:ext cx="8229600" cy="347472"/>
          </a:xfrm>
          <a:prstGeom prst="rect">
            <a:avLst/>
          </a:prstGeom>
          <a:solidFill>
            <a:srgbClr val="1A3350"/>
          </a:solidFill>
          <a:ln/>
        </p:spPr>
      </p:sp>
      <p:sp>
        <p:nvSpPr>
          <p:cNvPr id="34" name="Shape 32"/>
          <p:cNvSpPr/>
          <p:nvPr/>
        </p:nvSpPr>
        <p:spPr>
          <a:xfrm>
            <a:off x="457200" y="3794760"/>
            <a:ext cx="45720" cy="347472"/>
          </a:xfrm>
          <a:prstGeom prst="rect">
            <a:avLst/>
          </a:prstGeom>
          <a:solidFill>
            <a:srgbClr val="D4AF37"/>
          </a:solidFill>
          <a:ln/>
        </p:spPr>
      </p:sp>
      <p:sp>
        <p:nvSpPr>
          <p:cNvPr id="35" name="Text 33"/>
          <p:cNvSpPr/>
          <p:nvPr/>
        </p:nvSpPr>
        <p:spPr>
          <a:xfrm>
            <a:off x="640080" y="379476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API &amp; Analytics</a:t>
            </a:r>
            <a:endParaRPr lang="en-US" sz="1100" dirty="0"/>
          </a:p>
        </p:txBody>
      </p:sp>
      <p:sp>
        <p:nvSpPr>
          <p:cNvPr id="36" name="Text 34"/>
          <p:cNvSpPr/>
          <p:nvPr/>
        </p:nvSpPr>
        <p:spPr>
          <a:xfrm>
            <a:off x="2468880" y="3794760"/>
            <a:ext cx="1188720" cy="347472"/>
          </a:xfrm>
          <a:prstGeom prst="rect">
            <a:avLst/>
          </a:prstGeom>
          <a:noFill/>
          <a:ln/>
        </p:spPr>
        <p:txBody>
          <a:bodyPr wrap="square" lIns="0" tIns="0" rIns="0" bIns="0" rtlCol="0" anchor="ctr"/>
          <a:lstStyle/>
          <a:p>
            <a:pPr indent="0" marL="0">
              <a:buNone/>
            </a:pPr>
            <a:r>
              <a:rPr lang="en-US" sz="950" dirty="0">
                <a:solidFill>
                  <a:srgbClr val="D4AF37"/>
                </a:solidFill>
                <a:latin typeface="Calibri" pitchFamily="34" charset="0"/>
                <a:ea typeface="Calibri" pitchFamily="34" charset="-122"/>
                <a:cs typeface="Calibri" pitchFamily="34" charset="-120"/>
              </a:rPr>
              <a:t>واجهات التحليل البرمجية</a:t>
            </a:r>
            <a:endParaRPr lang="en-US" sz="950" dirty="0"/>
          </a:p>
        </p:txBody>
      </p:sp>
      <p:sp>
        <p:nvSpPr>
          <p:cNvPr id="37" name="Text 35"/>
          <p:cNvSpPr/>
          <p:nvPr/>
        </p:nvSpPr>
        <p:spPr>
          <a:xfrm>
            <a:off x="3749040" y="379476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Pay-per-report for developers &amp; accounting firms</a:t>
            </a:r>
            <a:endParaRPr lang="en-US" sz="1000" dirty="0"/>
          </a:p>
        </p:txBody>
      </p:sp>
      <p:sp>
        <p:nvSpPr>
          <p:cNvPr id="38" name="Text 36"/>
          <p:cNvSpPr/>
          <p:nvPr/>
        </p:nvSpPr>
        <p:spPr>
          <a:xfrm>
            <a:off x="7132320" y="3794760"/>
            <a:ext cx="1371600" cy="347472"/>
          </a:xfrm>
          <a:prstGeom prst="rect">
            <a:avLst/>
          </a:prstGeom>
          <a:noFill/>
          <a:ln/>
        </p:spPr>
        <p:txBody>
          <a:bodyPr wrap="square" lIns="0" tIns="0" rIns="0" bIns="0" rtlCol="0" anchor="ctr"/>
          <a:lstStyle/>
          <a:p>
            <a:pPr algn="ctr" indent="0" marL="0">
              <a:buNone/>
            </a:pPr>
            <a:r>
              <a:rPr lang="en-US" sz="2000" dirty="0">
                <a:solidFill>
                  <a:srgbClr val="D4AF37"/>
                </a:solidFill>
                <a:latin typeface="Arial Black" pitchFamily="34" charset="0"/>
                <a:ea typeface="Arial Black" pitchFamily="34" charset="-122"/>
                <a:cs typeface="Arial Black" pitchFamily="34" charset="-120"/>
              </a:rPr>
              <a:t>20%</a:t>
            </a:r>
            <a:endParaRPr lang="en-US" sz="2000" dirty="0"/>
          </a:p>
        </p:txBody>
      </p:sp>
      <p:sp>
        <p:nvSpPr>
          <p:cNvPr id="39" name="Shape 37"/>
          <p:cNvSpPr/>
          <p:nvPr/>
        </p:nvSpPr>
        <p:spPr>
          <a:xfrm>
            <a:off x="457200" y="4206240"/>
            <a:ext cx="8229600" cy="347472"/>
          </a:xfrm>
          <a:prstGeom prst="rect">
            <a:avLst/>
          </a:prstGeom>
          <a:solidFill>
            <a:srgbClr val="162B45"/>
          </a:solidFill>
          <a:ln/>
        </p:spPr>
      </p:sp>
      <p:sp>
        <p:nvSpPr>
          <p:cNvPr id="40" name="Shape 38"/>
          <p:cNvSpPr/>
          <p:nvPr/>
        </p:nvSpPr>
        <p:spPr>
          <a:xfrm>
            <a:off x="457200" y="4206240"/>
            <a:ext cx="45720" cy="347472"/>
          </a:xfrm>
          <a:prstGeom prst="rect">
            <a:avLst/>
          </a:prstGeom>
          <a:solidFill>
            <a:srgbClr val="10B981"/>
          </a:solidFill>
          <a:ln/>
        </p:spPr>
      </p:sp>
      <p:sp>
        <p:nvSpPr>
          <p:cNvPr id="41" name="Text 39"/>
          <p:cNvSpPr/>
          <p:nvPr/>
        </p:nvSpPr>
        <p:spPr>
          <a:xfrm>
            <a:off x="640080" y="420624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Marketplace Fees</a:t>
            </a:r>
            <a:endParaRPr lang="en-US" sz="1100" dirty="0"/>
          </a:p>
        </p:txBody>
      </p:sp>
      <p:sp>
        <p:nvSpPr>
          <p:cNvPr id="42" name="Text 40"/>
          <p:cNvSpPr/>
          <p:nvPr/>
        </p:nvSpPr>
        <p:spPr>
          <a:xfrm>
            <a:off x="2468880" y="4206240"/>
            <a:ext cx="1188720" cy="347472"/>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عمولات سوق الخدمات</a:t>
            </a:r>
            <a:endParaRPr lang="en-US" sz="950" dirty="0"/>
          </a:p>
        </p:txBody>
      </p:sp>
      <p:sp>
        <p:nvSpPr>
          <p:cNvPr id="43" name="Text 41"/>
          <p:cNvSpPr/>
          <p:nvPr/>
        </p:nvSpPr>
        <p:spPr>
          <a:xfrm>
            <a:off x="3749040" y="420624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10-15% commission on professional services</a:t>
            </a:r>
            <a:endParaRPr lang="en-US" sz="1000" dirty="0"/>
          </a:p>
        </p:txBody>
      </p:sp>
      <p:sp>
        <p:nvSpPr>
          <p:cNvPr id="44" name="Text 42"/>
          <p:cNvSpPr/>
          <p:nvPr/>
        </p:nvSpPr>
        <p:spPr>
          <a:xfrm>
            <a:off x="7132320" y="4206240"/>
            <a:ext cx="1371600" cy="347472"/>
          </a:xfrm>
          <a:prstGeom prst="rect">
            <a:avLst/>
          </a:prstGeom>
          <a:noFill/>
          <a:ln/>
        </p:spPr>
        <p:txBody>
          <a:bodyPr wrap="square" lIns="0" tIns="0" rIns="0" bIns="0" rtlCol="0" anchor="ctr"/>
          <a:lstStyle/>
          <a:p>
            <a:pPr algn="ctr" indent="0" marL="0">
              <a:buNone/>
            </a:pPr>
            <a:r>
              <a:rPr lang="en-US" sz="2000" dirty="0">
                <a:solidFill>
                  <a:srgbClr val="10B981"/>
                </a:solidFill>
                <a:latin typeface="Arial Black" pitchFamily="34" charset="0"/>
                <a:ea typeface="Arial Black" pitchFamily="34" charset="-122"/>
                <a:cs typeface="Arial Black" pitchFamily="34" charset="-120"/>
              </a:rPr>
              <a:t>15%</a:t>
            </a:r>
            <a:endParaRPr lang="en-US" sz="200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6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COMPETITIVE LANDSCAPE  ·  الميزة التنافسية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APEX vs. Existing Solutions</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لماذا لا يوجد بديل حقيقي لـ APEX في السوق السعودي</a:t>
            </a:r>
            <a:endParaRPr lang="en-US" sz="2600" dirty="0"/>
          </a:p>
        </p:txBody>
      </p:sp>
      <p:sp>
        <p:nvSpPr>
          <p:cNvPr id="5" name="Shape 3"/>
          <p:cNvSpPr/>
          <p:nvPr/>
        </p:nvSpPr>
        <p:spPr>
          <a:xfrm>
            <a:off x="457200" y="1371600"/>
            <a:ext cx="8229600" cy="301752"/>
          </a:xfrm>
          <a:prstGeom prst="rect">
            <a:avLst/>
          </a:prstGeom>
          <a:solidFill>
            <a:srgbClr val="1C3254"/>
          </a:solidFill>
          <a:ln/>
        </p:spPr>
      </p:sp>
      <p:sp>
        <p:nvSpPr>
          <p:cNvPr id="6" name="Text 4"/>
          <p:cNvSpPr/>
          <p:nvPr/>
        </p:nvSpPr>
        <p:spPr>
          <a:xfrm>
            <a:off x="548640" y="1371600"/>
            <a:ext cx="2743200" cy="301752"/>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Feature</a:t>
            </a:r>
            <a:endParaRPr lang="en-US" sz="1000" dirty="0"/>
          </a:p>
        </p:txBody>
      </p:sp>
      <p:sp>
        <p:nvSpPr>
          <p:cNvPr id="7" name="Text 5"/>
          <p:cNvSpPr/>
          <p:nvPr/>
        </p:nvSpPr>
        <p:spPr>
          <a:xfrm>
            <a:off x="3383280" y="1371600"/>
            <a:ext cx="1060704" cy="301752"/>
          </a:xfrm>
          <a:prstGeom prst="rect">
            <a:avLst/>
          </a:prstGeom>
          <a:noFill/>
          <a:ln/>
        </p:spPr>
        <p:txBody>
          <a:bodyPr wrap="square" lIns="0" tIns="0" rIns="0" bIns="0" rtlCol="0" anchor="ctr"/>
          <a:lstStyle/>
          <a:p>
            <a:pPr algn="ctr" indent="0" marL="0">
              <a:buNone/>
            </a:pPr>
            <a:r>
              <a:rPr lang="en-US" sz="1000" b="1" dirty="0">
                <a:solidFill>
                  <a:srgbClr val="D4AF37"/>
                </a:solidFill>
                <a:latin typeface="Calibri" pitchFamily="34" charset="0"/>
                <a:ea typeface="Calibri" pitchFamily="34" charset="-122"/>
                <a:cs typeface="Calibri" pitchFamily="34" charset="-120"/>
              </a:rPr>
              <a:t>APEX</a:t>
            </a:r>
            <a:endParaRPr lang="en-US" sz="1000" dirty="0"/>
          </a:p>
        </p:txBody>
      </p:sp>
      <p:sp>
        <p:nvSpPr>
          <p:cNvPr id="8" name="Text 6"/>
          <p:cNvSpPr/>
          <p:nvPr/>
        </p:nvSpPr>
        <p:spPr>
          <a:xfrm>
            <a:off x="4443984"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Excel</a:t>
            </a:r>
            <a:endParaRPr lang="en-US" sz="1000" dirty="0"/>
          </a:p>
        </p:txBody>
      </p:sp>
      <p:sp>
        <p:nvSpPr>
          <p:cNvPr id="9" name="Text 7"/>
          <p:cNvSpPr/>
          <p:nvPr/>
        </p:nvSpPr>
        <p:spPr>
          <a:xfrm>
            <a:off x="5504688"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Wafeq</a:t>
            </a:r>
            <a:endParaRPr lang="en-US" sz="1000" dirty="0"/>
          </a:p>
        </p:txBody>
      </p:sp>
      <p:sp>
        <p:nvSpPr>
          <p:cNvPr id="10" name="Text 8"/>
          <p:cNvSpPr/>
          <p:nvPr/>
        </p:nvSpPr>
        <p:spPr>
          <a:xfrm>
            <a:off x="6565392"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Qoyod</a:t>
            </a:r>
            <a:endParaRPr lang="en-US" sz="1000" dirty="0"/>
          </a:p>
        </p:txBody>
      </p:sp>
      <p:sp>
        <p:nvSpPr>
          <p:cNvPr id="11" name="Text 9"/>
          <p:cNvSpPr/>
          <p:nvPr/>
        </p:nvSpPr>
        <p:spPr>
          <a:xfrm>
            <a:off x="7626096"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Xero</a:t>
            </a:r>
            <a:endParaRPr lang="en-US" sz="1000" dirty="0"/>
          </a:p>
        </p:txBody>
      </p:sp>
      <p:sp>
        <p:nvSpPr>
          <p:cNvPr id="12" name="Shape 10"/>
          <p:cNvSpPr/>
          <p:nvPr/>
        </p:nvSpPr>
        <p:spPr>
          <a:xfrm>
            <a:off x="457200" y="1673352"/>
            <a:ext cx="8229600" cy="301752"/>
          </a:xfrm>
          <a:prstGeom prst="rect">
            <a:avLst/>
          </a:prstGeom>
          <a:solidFill>
            <a:srgbClr val="162B45"/>
          </a:solidFill>
          <a:ln/>
        </p:spPr>
      </p:sp>
      <p:sp>
        <p:nvSpPr>
          <p:cNvPr id="13" name="Text 11"/>
          <p:cNvSpPr/>
          <p:nvPr/>
        </p:nvSpPr>
        <p:spPr>
          <a:xfrm>
            <a:off x="548640" y="167335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AI-Powered Financial Analysis</a:t>
            </a:r>
            <a:endParaRPr lang="en-US" sz="950" dirty="0"/>
          </a:p>
        </p:txBody>
      </p:sp>
      <p:sp>
        <p:nvSpPr>
          <p:cNvPr id="14" name="Text 12"/>
          <p:cNvSpPr/>
          <p:nvPr/>
        </p:nvSpPr>
        <p:spPr>
          <a:xfrm>
            <a:off x="3383280" y="167335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4443984"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5504688"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6565392"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7626096" y="1673352"/>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457200" y="1975104"/>
            <a:ext cx="8229600" cy="301752"/>
          </a:xfrm>
          <a:prstGeom prst="rect">
            <a:avLst/>
          </a:prstGeom>
          <a:solidFill>
            <a:srgbClr val="1A3350"/>
          </a:solidFill>
          <a:ln/>
        </p:spPr>
      </p:sp>
      <p:sp>
        <p:nvSpPr>
          <p:cNvPr id="20" name="Text 18"/>
          <p:cNvSpPr/>
          <p:nvPr/>
        </p:nvSpPr>
        <p:spPr>
          <a:xfrm>
            <a:off x="548640" y="197510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Arabic + SOCPA + ZAKAT</a:t>
            </a:r>
            <a:endParaRPr lang="en-US" sz="950" dirty="0"/>
          </a:p>
        </p:txBody>
      </p:sp>
      <p:sp>
        <p:nvSpPr>
          <p:cNvPr id="21" name="Text 19"/>
          <p:cNvSpPr/>
          <p:nvPr/>
        </p:nvSpPr>
        <p:spPr>
          <a:xfrm>
            <a:off x="3383280" y="197510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4443984"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5504688"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565392"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626096"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457200" y="2276856"/>
            <a:ext cx="8229600" cy="301752"/>
          </a:xfrm>
          <a:prstGeom prst="rect">
            <a:avLst/>
          </a:prstGeom>
          <a:solidFill>
            <a:srgbClr val="162B45"/>
          </a:solidFill>
          <a:ln/>
        </p:spPr>
      </p:sp>
      <p:sp>
        <p:nvSpPr>
          <p:cNvPr id="27" name="Text 25"/>
          <p:cNvSpPr/>
          <p:nvPr/>
        </p:nvSpPr>
        <p:spPr>
          <a:xfrm>
            <a:off x="548640" y="2276856"/>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Funding Readiness Score</a:t>
            </a:r>
            <a:endParaRPr lang="en-US" sz="950" dirty="0"/>
          </a:p>
        </p:txBody>
      </p:sp>
      <p:sp>
        <p:nvSpPr>
          <p:cNvPr id="28" name="Text 26"/>
          <p:cNvSpPr/>
          <p:nvPr/>
        </p:nvSpPr>
        <p:spPr>
          <a:xfrm>
            <a:off x="3383280" y="2276856"/>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443984"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504688"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565392"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7626096"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457200" y="2578608"/>
            <a:ext cx="8229600" cy="301752"/>
          </a:xfrm>
          <a:prstGeom prst="rect">
            <a:avLst/>
          </a:prstGeom>
          <a:solidFill>
            <a:srgbClr val="1A3350"/>
          </a:solidFill>
          <a:ln/>
        </p:spPr>
      </p:sp>
      <p:sp>
        <p:nvSpPr>
          <p:cNvPr id="34" name="Text 32"/>
          <p:cNvSpPr/>
          <p:nvPr/>
        </p:nvSpPr>
        <p:spPr>
          <a:xfrm>
            <a:off x="548640" y="2578608"/>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Automated Audit Workflow</a:t>
            </a:r>
            <a:endParaRPr lang="en-US" sz="950" dirty="0"/>
          </a:p>
        </p:txBody>
      </p:sp>
      <p:sp>
        <p:nvSpPr>
          <p:cNvPr id="35" name="Text 33"/>
          <p:cNvSpPr/>
          <p:nvPr/>
        </p:nvSpPr>
        <p:spPr>
          <a:xfrm>
            <a:off x="3383280" y="2578608"/>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4443984"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5504688"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6565392"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7626096"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457200" y="2880360"/>
            <a:ext cx="8229600" cy="301752"/>
          </a:xfrm>
          <a:prstGeom prst="rect">
            <a:avLst/>
          </a:prstGeom>
          <a:solidFill>
            <a:srgbClr val="162B45"/>
          </a:solidFill>
          <a:ln/>
        </p:spPr>
      </p:sp>
      <p:sp>
        <p:nvSpPr>
          <p:cNvPr id="41" name="Text 39"/>
          <p:cNvSpPr/>
          <p:nvPr/>
        </p:nvSpPr>
        <p:spPr>
          <a:xfrm>
            <a:off x="548640" y="2880360"/>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Multi-Standard (SOCPA + IFRS)</a:t>
            </a:r>
            <a:endParaRPr lang="en-US" sz="950" dirty="0"/>
          </a:p>
        </p:txBody>
      </p:sp>
      <p:sp>
        <p:nvSpPr>
          <p:cNvPr id="42" name="Text 40"/>
          <p:cNvSpPr/>
          <p:nvPr/>
        </p:nvSpPr>
        <p:spPr>
          <a:xfrm>
            <a:off x="3383280" y="2880360"/>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443984"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4" name="Text 42"/>
          <p:cNvSpPr/>
          <p:nvPr/>
        </p:nvSpPr>
        <p:spPr>
          <a:xfrm>
            <a:off x="5504688" y="2880360"/>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45" name="Text 43"/>
          <p:cNvSpPr/>
          <p:nvPr/>
        </p:nvSpPr>
        <p:spPr>
          <a:xfrm>
            <a:off x="6565392" y="2880360"/>
            <a:ext cx="1060704" cy="301752"/>
          </a:xfrm>
          <a:prstGeom prst="rect">
            <a:avLst/>
          </a:prstGeom>
          <a:noFill/>
          <a:ln/>
        </p:spPr>
        <p:txBody>
          <a:bodyPr wrap="square" lIns="0" tIns="0" rIns="0" bIns="0" rtlCol="0" anchor="ctr"/>
          <a:lstStyle/>
          <a:p>
            <a:pPr algn="ctr" indent="0" marL="0">
              <a:buNone/>
            </a:pPr>
            <a:r>
              <a:rPr lang="en-US" sz="1400" dirty="0">
                <a:solidFill>
                  <a:srgbClr val="E8CC73"/>
                </a:solidFill>
                <a:latin typeface="Calibri" pitchFamily="34" charset="0"/>
                <a:ea typeface="Calibri" pitchFamily="34" charset="-122"/>
                <a:cs typeface="Calibri" pitchFamily="34" charset="-120"/>
              </a:rPr>
              <a:t>◐</a:t>
            </a:r>
            <a:endParaRPr lang="en-US" sz="1400" dirty="0"/>
          </a:p>
        </p:txBody>
      </p:sp>
      <p:sp>
        <p:nvSpPr>
          <p:cNvPr id="46" name="Text 44"/>
          <p:cNvSpPr/>
          <p:nvPr/>
        </p:nvSpPr>
        <p:spPr>
          <a:xfrm>
            <a:off x="7626096" y="2880360"/>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457200" y="3182112"/>
            <a:ext cx="8229600" cy="301752"/>
          </a:xfrm>
          <a:prstGeom prst="rect">
            <a:avLst/>
          </a:prstGeom>
          <a:solidFill>
            <a:srgbClr val="1A3350"/>
          </a:solidFill>
          <a:ln/>
        </p:spPr>
      </p:sp>
      <p:sp>
        <p:nvSpPr>
          <p:cNvPr id="48" name="Text 46"/>
          <p:cNvSpPr/>
          <p:nvPr/>
        </p:nvSpPr>
        <p:spPr>
          <a:xfrm>
            <a:off x="548640" y="318211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Professional Marketplace</a:t>
            </a:r>
            <a:endParaRPr lang="en-US" sz="950" dirty="0"/>
          </a:p>
        </p:txBody>
      </p:sp>
      <p:sp>
        <p:nvSpPr>
          <p:cNvPr id="49" name="Text 47"/>
          <p:cNvSpPr/>
          <p:nvPr/>
        </p:nvSpPr>
        <p:spPr>
          <a:xfrm>
            <a:off x="3383280" y="318211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4443984"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1" name="Text 49"/>
          <p:cNvSpPr/>
          <p:nvPr/>
        </p:nvSpPr>
        <p:spPr>
          <a:xfrm>
            <a:off x="5504688"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2" name="Text 50"/>
          <p:cNvSpPr/>
          <p:nvPr/>
        </p:nvSpPr>
        <p:spPr>
          <a:xfrm>
            <a:off x="6565392"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7626096"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457200" y="3483864"/>
            <a:ext cx="8229600" cy="301752"/>
          </a:xfrm>
          <a:prstGeom prst="rect">
            <a:avLst/>
          </a:prstGeom>
          <a:solidFill>
            <a:srgbClr val="162B45"/>
          </a:solidFill>
          <a:ln/>
        </p:spPr>
      </p:sp>
      <p:sp>
        <p:nvSpPr>
          <p:cNvPr id="55" name="Text 53"/>
          <p:cNvSpPr/>
          <p:nvPr/>
        </p:nvSpPr>
        <p:spPr>
          <a:xfrm>
            <a:off x="548640" y="348386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Bilingual Interface (AR/EN)</a:t>
            </a:r>
            <a:endParaRPr lang="en-US" sz="950" dirty="0"/>
          </a:p>
        </p:txBody>
      </p:sp>
      <p:sp>
        <p:nvSpPr>
          <p:cNvPr id="56" name="Text 54"/>
          <p:cNvSpPr/>
          <p:nvPr/>
        </p:nvSpPr>
        <p:spPr>
          <a:xfrm>
            <a:off x="3383280" y="348386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7" name="Text 55"/>
          <p:cNvSpPr/>
          <p:nvPr/>
        </p:nvSpPr>
        <p:spPr>
          <a:xfrm>
            <a:off x="4443984"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5504688"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59" name="Text 57"/>
          <p:cNvSpPr/>
          <p:nvPr/>
        </p:nvSpPr>
        <p:spPr>
          <a:xfrm>
            <a:off x="6565392"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60" name="Text 58"/>
          <p:cNvSpPr/>
          <p:nvPr/>
        </p:nvSpPr>
        <p:spPr>
          <a:xfrm>
            <a:off x="7626096"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3383280" y="1371600"/>
            <a:ext cx="1060704" cy="2414016"/>
          </a:xfrm>
          <a:prstGeom prst="rect">
            <a:avLst/>
          </a:prstGeom>
          <a:solidFill>
            <a:srgbClr val="D4AF37">
              <a:alpha val="10000"/>
            </a:srgbClr>
          </a:solidFill>
          <a:ln/>
        </p:spPr>
      </p:sp>
      <p:sp>
        <p:nvSpPr>
          <p:cNvPr id="62" name="Text 60"/>
          <p:cNvSpPr/>
          <p:nvPr/>
        </p:nvSpPr>
        <p:spPr>
          <a:xfrm>
            <a:off x="457200" y="4114800"/>
            <a:ext cx="8229600" cy="36576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Full   ◐  Partial   —  None         </a:t>
            </a:r>
            <a:pPr indent="0" marL="0">
              <a:buNone/>
            </a:pPr>
            <a:r>
              <a:rPr lang="en-US" sz="1050" dirty="0">
                <a:solidFill>
                  <a:srgbClr val="CBD5E1"/>
                </a:solidFill>
                <a:latin typeface="Calibri" pitchFamily="34" charset="0"/>
                <a:ea typeface="Calibri" pitchFamily="34" charset="-122"/>
                <a:cs typeface="Calibri" pitchFamily="34" charset="-120"/>
              </a:rPr>
              <a:t>APEX is the only platform combining AI analysis + Arabic SOCPA + Funding Readiness in one product.</a:t>
            </a:r>
            <a:endParaRPr lang="en-US" sz="900" dirty="0"/>
          </a:p>
        </p:txBody>
      </p:sp>
      <p:sp>
        <p:nvSpPr>
          <p:cNvPr id="63" name="Shape 61"/>
          <p:cNvSpPr/>
          <p:nvPr/>
        </p:nvSpPr>
        <p:spPr>
          <a:xfrm>
            <a:off x="0" y="4709160"/>
            <a:ext cx="9144000" cy="434340"/>
          </a:xfrm>
          <a:prstGeom prst="rect">
            <a:avLst/>
          </a:prstGeom>
          <a:solidFill>
            <a:srgbClr val="0A1220"/>
          </a:solidFill>
          <a:ln/>
        </p:spPr>
      </p:sp>
      <p:sp>
        <p:nvSpPr>
          <p:cNvPr id="64" name="Text 6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5" name="Text 6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7 / 19</a:t>
            </a:r>
            <a:endParaRPr lang="en-US" sz="750" dirty="0"/>
          </a:p>
        </p:txBody>
      </p:sp>
      <p:sp>
        <p:nvSpPr>
          <p:cNvPr id="66" name="Text 6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PRICING  ·  الباقات والتسعير</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Plans for Every Business Size</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باقات مرنة تناسب كل مرحلة من نمو أعمالك</a:t>
            </a:r>
            <a:endParaRPr lang="en-US" sz="2600" dirty="0"/>
          </a:p>
        </p:txBody>
      </p:sp>
      <p:sp>
        <p:nvSpPr>
          <p:cNvPr id="5" name="Shape 3"/>
          <p:cNvSpPr/>
          <p:nvPr/>
        </p:nvSpPr>
        <p:spPr>
          <a:xfrm>
            <a:off x="320040" y="1371600"/>
            <a:ext cx="1920240" cy="306324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6" name="Shape 4"/>
          <p:cNvSpPr/>
          <p:nvPr/>
        </p:nvSpPr>
        <p:spPr>
          <a:xfrm>
            <a:off x="320040" y="1371600"/>
            <a:ext cx="1920240" cy="54864"/>
          </a:xfrm>
          <a:prstGeom prst="rect">
            <a:avLst/>
          </a:prstGeom>
          <a:solidFill>
            <a:srgbClr val="94A3B8"/>
          </a:solidFill>
          <a:ln/>
        </p:spPr>
      </p:sp>
      <p:sp>
        <p:nvSpPr>
          <p:cNvPr id="7" name="Text 5"/>
          <p:cNvSpPr/>
          <p:nvPr/>
        </p:nvSpPr>
        <p:spPr>
          <a:xfrm>
            <a:off x="41148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p>
        </p:txBody>
      </p:sp>
      <p:sp>
        <p:nvSpPr>
          <p:cNvPr id="8" name="Text 6"/>
          <p:cNvSpPr/>
          <p:nvPr/>
        </p:nvSpPr>
        <p:spPr>
          <a:xfrm>
            <a:off x="411480" y="1737360"/>
            <a:ext cx="173736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الانطلاقة</a:t>
            </a:r>
            <a:endParaRPr lang="en-US" sz="1000" dirty="0"/>
          </a:p>
        </p:txBody>
      </p:sp>
      <p:sp>
        <p:nvSpPr>
          <p:cNvPr id="9" name="Text 7"/>
          <p:cNvSpPr/>
          <p:nvPr/>
        </p:nvSpPr>
        <p:spPr>
          <a:xfrm>
            <a:off x="41148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0" name="Shape 8"/>
          <p:cNvSpPr/>
          <p:nvPr/>
        </p:nvSpPr>
        <p:spPr>
          <a:xfrm>
            <a:off x="594360" y="2423160"/>
            <a:ext cx="1371600" cy="18288"/>
          </a:xfrm>
          <a:prstGeom prst="rect">
            <a:avLst/>
          </a:prstGeom>
          <a:solidFill>
            <a:srgbClr val="94A3B8">
              <a:alpha val="50000"/>
            </a:srgbClr>
          </a:solidFill>
          <a:ln/>
        </p:spPr>
      </p:sp>
      <p:sp>
        <p:nvSpPr>
          <p:cNvPr id="11" name="Text 9"/>
          <p:cNvSpPr/>
          <p:nvPr/>
        </p:nvSpPr>
        <p:spPr>
          <a:xfrm>
            <a:off x="45720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 Company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COA Upload + AI Classify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5 Reports/month</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Email Support</a:t>
            </a:r>
            <a:endParaRPr lang="en-US" sz="900" dirty="0"/>
          </a:p>
        </p:txBody>
      </p:sp>
      <p:sp>
        <p:nvSpPr>
          <p:cNvPr id="12" name="Shape 10"/>
          <p:cNvSpPr/>
          <p:nvPr/>
        </p:nvSpPr>
        <p:spPr>
          <a:xfrm>
            <a:off x="2514600" y="1371600"/>
            <a:ext cx="1920240" cy="306324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13" name="Shape 11"/>
          <p:cNvSpPr/>
          <p:nvPr/>
        </p:nvSpPr>
        <p:spPr>
          <a:xfrm>
            <a:off x="2514600" y="1371600"/>
            <a:ext cx="1920240" cy="54864"/>
          </a:xfrm>
          <a:prstGeom prst="rect">
            <a:avLst/>
          </a:prstGeom>
          <a:solidFill>
            <a:srgbClr val="0891B2"/>
          </a:solidFill>
          <a:ln/>
        </p:spPr>
      </p:sp>
      <p:sp>
        <p:nvSpPr>
          <p:cNvPr id="14" name="Text 12"/>
          <p:cNvSpPr/>
          <p:nvPr/>
        </p:nvSpPr>
        <p:spPr>
          <a:xfrm>
            <a:off x="260604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p>
        </p:txBody>
      </p:sp>
      <p:sp>
        <p:nvSpPr>
          <p:cNvPr id="15" name="Text 13"/>
          <p:cNvSpPr/>
          <p:nvPr/>
        </p:nvSpPr>
        <p:spPr>
          <a:xfrm>
            <a:off x="2606040" y="1737360"/>
            <a:ext cx="173736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النمو</a:t>
            </a:r>
            <a:endParaRPr lang="en-US" sz="1000" dirty="0"/>
          </a:p>
        </p:txBody>
      </p:sp>
      <p:sp>
        <p:nvSpPr>
          <p:cNvPr id="16" name="Text 14"/>
          <p:cNvSpPr/>
          <p:nvPr/>
        </p:nvSpPr>
        <p:spPr>
          <a:xfrm>
            <a:off x="260604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499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7" name="Shape 15"/>
          <p:cNvSpPr/>
          <p:nvPr/>
        </p:nvSpPr>
        <p:spPr>
          <a:xfrm>
            <a:off x="2788920" y="2423160"/>
            <a:ext cx="1371600" cy="18288"/>
          </a:xfrm>
          <a:prstGeom prst="rect">
            <a:avLst/>
          </a:prstGeom>
          <a:solidFill>
            <a:srgbClr val="0891B2">
              <a:alpha val="50000"/>
            </a:srgbClr>
          </a:solidFill>
          <a:ln/>
        </p:spPr>
      </p:sp>
      <p:sp>
        <p:nvSpPr>
          <p:cNvPr id="18" name="Text 16"/>
          <p:cNvSpPr/>
          <p:nvPr/>
        </p:nvSpPr>
        <p:spPr>
          <a:xfrm>
            <a:off x="265176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3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Analysis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Reports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Readiness Score</a:t>
            </a:r>
            <a:endParaRPr lang="en-US" sz="900" dirty="0"/>
          </a:p>
        </p:txBody>
      </p:sp>
      <p:sp>
        <p:nvSpPr>
          <p:cNvPr id="19" name="Shape 17"/>
          <p:cNvSpPr/>
          <p:nvPr/>
        </p:nvSpPr>
        <p:spPr>
          <a:xfrm>
            <a:off x="4709160" y="1371600"/>
            <a:ext cx="1920240" cy="3063240"/>
          </a:xfrm>
          <a:prstGeom prst="rect">
            <a:avLst/>
          </a:prstGeom>
          <a:solidFill>
            <a:srgbClr val="1C3254"/>
          </a:solidFill>
          <a:ln/>
          <a:effectLst>
            <a:outerShdw sx="100000" sy="100000" kx="0" ky="0" algn="bl" rotWithShape="0" blurRad="127000" dist="50800" dir="8100000">
              <a:srgbClr val="000000">
                <a:alpha val="35000"/>
              </a:srgbClr>
            </a:outerShdw>
          </a:effectLst>
        </p:spPr>
      </p:sp>
      <p:sp>
        <p:nvSpPr>
          <p:cNvPr id="20" name="Shape 18"/>
          <p:cNvSpPr/>
          <p:nvPr/>
        </p:nvSpPr>
        <p:spPr>
          <a:xfrm>
            <a:off x="4709160" y="1371600"/>
            <a:ext cx="1920240" cy="54864"/>
          </a:xfrm>
          <a:prstGeom prst="rect">
            <a:avLst/>
          </a:prstGeom>
          <a:solidFill>
            <a:srgbClr val="D4AF37"/>
          </a:solidFill>
          <a:ln/>
        </p:spPr>
      </p:sp>
      <p:sp>
        <p:nvSpPr>
          <p:cNvPr id="21" name="Shape 19"/>
          <p:cNvSpPr/>
          <p:nvPr/>
        </p:nvSpPr>
        <p:spPr>
          <a:xfrm>
            <a:off x="4983480" y="1261872"/>
            <a:ext cx="1371600" cy="201168"/>
          </a:xfrm>
          <a:prstGeom prst="rect">
            <a:avLst/>
          </a:prstGeom>
          <a:solidFill>
            <a:srgbClr val="D4AF37"/>
          </a:solidFill>
          <a:ln/>
        </p:spPr>
      </p:sp>
      <p:sp>
        <p:nvSpPr>
          <p:cNvPr id="22" name="Text 20"/>
          <p:cNvSpPr/>
          <p:nvPr/>
        </p:nvSpPr>
        <p:spPr>
          <a:xfrm>
            <a:off x="4983480" y="1261872"/>
            <a:ext cx="1371600" cy="201168"/>
          </a:xfrm>
          <a:prstGeom prst="rect">
            <a:avLst/>
          </a:prstGeom>
          <a:noFill/>
          <a:ln/>
        </p:spPr>
        <p:txBody>
          <a:bodyPr wrap="square" lIns="0" tIns="0" rIns="0" bIns="0" rtlCol="0" anchor="ctr"/>
          <a:lstStyle/>
          <a:p>
            <a:pPr algn="ctr" indent="0" marL="0">
              <a:buNone/>
            </a:pPr>
            <a:r>
              <a:rPr lang="en-US" sz="700" b="1" dirty="0">
                <a:solidFill>
                  <a:srgbClr val="0B1523"/>
                </a:solidFill>
                <a:latin typeface="Calibri" pitchFamily="34" charset="0"/>
                <a:ea typeface="Calibri" pitchFamily="34" charset="-122"/>
                <a:cs typeface="Calibri" pitchFamily="34" charset="-120"/>
              </a:rPr>
              <a:t>MOST POPULAR</a:t>
            </a:r>
            <a:endParaRPr lang="en-US" sz="700" dirty="0"/>
          </a:p>
        </p:txBody>
      </p:sp>
      <p:sp>
        <p:nvSpPr>
          <p:cNvPr id="23" name="Text 21"/>
          <p:cNvSpPr/>
          <p:nvPr/>
        </p:nvSpPr>
        <p:spPr>
          <a:xfrm>
            <a:off x="480060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Professional</a:t>
            </a:r>
            <a:endParaRPr lang="en-US" sz="1300" dirty="0"/>
          </a:p>
        </p:txBody>
      </p:sp>
      <p:sp>
        <p:nvSpPr>
          <p:cNvPr id="24" name="Text 22"/>
          <p:cNvSpPr/>
          <p:nvPr/>
        </p:nvSpPr>
        <p:spPr>
          <a:xfrm>
            <a:off x="4800600" y="1737360"/>
            <a:ext cx="1737360" cy="182880"/>
          </a:xfrm>
          <a:prstGeom prst="rect">
            <a:avLst/>
          </a:prstGeom>
          <a:noFill/>
          <a:ln/>
        </p:spPr>
        <p:txBody>
          <a:bodyPr wrap="square" lIns="0" tIns="0" rIns="0" bIns="0" rtlCol="0" anchor="ctr"/>
          <a:lstStyle/>
          <a:p>
            <a:pPr algn="ctr" indent="0" marL="0">
              <a:buNone/>
            </a:pPr>
            <a:r>
              <a:rPr lang="en-US" sz="1000" dirty="0">
                <a:solidFill>
                  <a:srgbClr val="D4AF37"/>
                </a:solidFill>
                <a:latin typeface="Calibri" pitchFamily="34" charset="0"/>
                <a:ea typeface="Calibri" pitchFamily="34" charset="-122"/>
                <a:cs typeface="Calibri" pitchFamily="34" charset="-120"/>
              </a:rPr>
              <a:t>الاحترافي</a:t>
            </a:r>
            <a:endParaRPr lang="en-US" sz="1000" dirty="0"/>
          </a:p>
        </p:txBody>
      </p:sp>
      <p:sp>
        <p:nvSpPr>
          <p:cNvPr id="25" name="Text 23"/>
          <p:cNvSpPr/>
          <p:nvPr/>
        </p:nvSpPr>
        <p:spPr>
          <a:xfrm>
            <a:off x="480060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26" name="Shape 24"/>
          <p:cNvSpPr/>
          <p:nvPr/>
        </p:nvSpPr>
        <p:spPr>
          <a:xfrm>
            <a:off x="4983480" y="2423160"/>
            <a:ext cx="1371600" cy="18288"/>
          </a:xfrm>
          <a:prstGeom prst="rect">
            <a:avLst/>
          </a:prstGeom>
          <a:solidFill>
            <a:srgbClr val="D4AF37">
              <a:alpha val="50000"/>
            </a:srgbClr>
          </a:solidFill>
          <a:ln/>
        </p:spPr>
      </p:sp>
      <p:sp>
        <p:nvSpPr>
          <p:cNvPr id="27" name="Text 25"/>
          <p:cNvSpPr/>
          <p:nvPr/>
        </p:nvSpPr>
        <p:spPr>
          <a:xfrm>
            <a:off x="484632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10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Suite + Audit</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API Access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Priority Support</a:t>
            </a:r>
            <a:endParaRPr lang="en-US" sz="900" dirty="0"/>
          </a:p>
        </p:txBody>
      </p:sp>
      <p:sp>
        <p:nvSpPr>
          <p:cNvPr id="28" name="Shape 26"/>
          <p:cNvSpPr/>
          <p:nvPr/>
        </p:nvSpPr>
        <p:spPr>
          <a:xfrm>
            <a:off x="6903720" y="1371600"/>
            <a:ext cx="1920240" cy="306324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29" name="Shape 27"/>
          <p:cNvSpPr/>
          <p:nvPr/>
        </p:nvSpPr>
        <p:spPr>
          <a:xfrm>
            <a:off x="6903720" y="1371600"/>
            <a:ext cx="1920240" cy="54864"/>
          </a:xfrm>
          <a:prstGeom prst="rect">
            <a:avLst/>
          </a:prstGeom>
          <a:solidFill>
            <a:srgbClr val="22D3EE"/>
          </a:solidFill>
          <a:ln/>
        </p:spPr>
      </p:sp>
      <p:sp>
        <p:nvSpPr>
          <p:cNvPr id="30" name="Text 28"/>
          <p:cNvSpPr/>
          <p:nvPr/>
        </p:nvSpPr>
        <p:spPr>
          <a:xfrm>
            <a:off x="699516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p:txBody>
      </p:sp>
      <p:sp>
        <p:nvSpPr>
          <p:cNvPr id="31" name="Text 29"/>
          <p:cNvSpPr/>
          <p:nvPr/>
        </p:nvSpPr>
        <p:spPr>
          <a:xfrm>
            <a:off x="6995160" y="1737360"/>
            <a:ext cx="1737360" cy="182880"/>
          </a:xfrm>
          <a:prstGeom prst="rect">
            <a:avLst/>
          </a:prstGeom>
          <a:noFill/>
          <a:ln/>
        </p:spPr>
        <p:txBody>
          <a:bodyPr wrap="square" lIns="0" tIns="0" rIns="0" bIns="0" rtlCol="0" anchor="ctr"/>
          <a:lstStyle/>
          <a:p>
            <a:pPr algn="ctr" indent="0" marL="0">
              <a:buNone/>
            </a:pPr>
            <a:r>
              <a:rPr lang="en-US" sz="1000" dirty="0">
                <a:solidFill>
                  <a:srgbClr val="22D3EE"/>
                </a:solidFill>
                <a:latin typeface="Calibri" pitchFamily="34" charset="0"/>
                <a:ea typeface="Calibri" pitchFamily="34" charset="-122"/>
                <a:cs typeface="Calibri" pitchFamily="34" charset="-120"/>
              </a:rPr>
              <a:t>المؤسسات</a:t>
            </a:r>
            <a:endParaRPr lang="en-US" sz="1000" dirty="0"/>
          </a:p>
        </p:txBody>
      </p:sp>
      <p:sp>
        <p:nvSpPr>
          <p:cNvPr id="32" name="Text 30"/>
          <p:cNvSpPr/>
          <p:nvPr/>
        </p:nvSpPr>
        <p:spPr>
          <a:xfrm>
            <a:off x="699516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33" name="Shape 31"/>
          <p:cNvSpPr/>
          <p:nvPr/>
        </p:nvSpPr>
        <p:spPr>
          <a:xfrm>
            <a:off x="7178040" y="2423160"/>
            <a:ext cx="1371600" cy="18288"/>
          </a:xfrm>
          <a:prstGeom prst="rect">
            <a:avLst/>
          </a:prstGeom>
          <a:solidFill>
            <a:srgbClr val="22D3EE">
              <a:alpha val="50000"/>
            </a:srgbClr>
          </a:solidFill>
          <a:ln/>
        </p:spPr>
      </p:sp>
      <p:sp>
        <p:nvSpPr>
          <p:cNvPr id="34" name="Text 32"/>
          <p:cNvSpPr/>
          <p:nvPr/>
        </p:nvSpPr>
        <p:spPr>
          <a:xfrm>
            <a:off x="704088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Custom Modules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SLA + Dedicated Manager</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White-label Option</a:t>
            </a:r>
            <a:endParaRPr lang="en-US" sz="900" dirty="0"/>
          </a:p>
        </p:txBody>
      </p:sp>
      <p:sp>
        <p:nvSpPr>
          <p:cNvPr id="35" name="Shape 33"/>
          <p:cNvSpPr/>
          <p:nvPr/>
        </p:nvSpPr>
        <p:spPr>
          <a:xfrm>
            <a:off x="0" y="4709160"/>
            <a:ext cx="9144000" cy="434340"/>
          </a:xfrm>
          <a:prstGeom prst="rect">
            <a:avLst/>
          </a:prstGeom>
          <a:solidFill>
            <a:srgbClr val="0A1220"/>
          </a:solidFill>
          <a:ln/>
        </p:spPr>
      </p:sp>
      <p:sp>
        <p:nvSpPr>
          <p:cNvPr id="36" name="Text 3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7" name="Text 3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8 / 19</a:t>
            </a:r>
            <a:endParaRPr lang="en-US" sz="750" dirty="0"/>
          </a:p>
        </p:txBody>
      </p:sp>
      <p:sp>
        <p:nvSpPr>
          <p:cNvPr id="38" name="Text 3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LIVE DEMO  ·  العرض المباشر</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See APEX in Action</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شاهد المنصة وهي تعمل خطوة بخطوة</a:t>
            </a:r>
            <a:endParaRPr lang="en-US" sz="2600" dirty="0"/>
          </a:p>
        </p:txBody>
      </p:sp>
      <p:sp>
        <p:nvSpPr>
          <p:cNvPr id="5" name="Shape 3"/>
          <p:cNvSpPr/>
          <p:nvPr/>
        </p:nvSpPr>
        <p:spPr>
          <a:xfrm>
            <a:off x="457200" y="137160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548640" y="1508760"/>
            <a:ext cx="502920" cy="502920"/>
          </a:xfrm>
          <a:prstGeom prst="ellipse">
            <a:avLst/>
          </a:prstGeom>
          <a:solidFill>
            <a:srgbClr val="0891B2"/>
          </a:solidFill>
          <a:ln/>
        </p:spPr>
      </p:sp>
      <p:sp>
        <p:nvSpPr>
          <p:cNvPr id="7" name="Text 5"/>
          <p:cNvSpPr/>
          <p:nvPr/>
        </p:nvSpPr>
        <p:spPr>
          <a:xfrm>
            <a:off x="548640" y="150876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1</a:t>
            </a:r>
            <a:endParaRPr lang="en-US" sz="2000" dirty="0"/>
          </a:p>
        </p:txBody>
      </p:sp>
      <p:sp>
        <p:nvSpPr>
          <p:cNvPr id="8" name="Text 6"/>
          <p:cNvSpPr/>
          <p:nvPr/>
        </p:nvSpPr>
        <p:spPr>
          <a:xfrm>
            <a:off x="118872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 Onboarding</a:t>
            </a:r>
            <a:endParaRPr lang="en-US" sz="1200" dirty="0"/>
          </a:p>
        </p:txBody>
      </p:sp>
      <p:sp>
        <p:nvSpPr>
          <p:cNvPr id="9" name="Text 7"/>
          <p:cNvSpPr/>
          <p:nvPr/>
        </p:nvSpPr>
        <p:spPr>
          <a:xfrm>
            <a:off x="1188720" y="1618488"/>
            <a:ext cx="228600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تسجيل المنشأة</a:t>
            </a:r>
            <a:endParaRPr lang="en-US" sz="950" dirty="0"/>
          </a:p>
        </p:txBody>
      </p:sp>
      <p:sp>
        <p:nvSpPr>
          <p:cNvPr id="10" name="Text 8"/>
          <p:cNvSpPr/>
          <p:nvPr/>
        </p:nvSpPr>
        <p:spPr>
          <a:xfrm>
            <a:off x="118872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auto-configures for company type &amp; industry</a:t>
            </a:r>
            <a:endParaRPr lang="en-US" sz="950" dirty="0"/>
          </a:p>
        </p:txBody>
      </p:sp>
      <p:sp>
        <p:nvSpPr>
          <p:cNvPr id="11" name="Shape 9"/>
          <p:cNvSpPr/>
          <p:nvPr/>
        </p:nvSpPr>
        <p:spPr>
          <a:xfrm>
            <a:off x="4754880" y="137160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2" name="Shape 10"/>
          <p:cNvSpPr/>
          <p:nvPr/>
        </p:nvSpPr>
        <p:spPr>
          <a:xfrm>
            <a:off x="4846320" y="1508760"/>
            <a:ext cx="502920" cy="502920"/>
          </a:xfrm>
          <a:prstGeom prst="ellipse">
            <a:avLst/>
          </a:prstGeom>
          <a:solidFill>
            <a:srgbClr val="22D3EE"/>
          </a:solidFill>
          <a:ln/>
        </p:spPr>
      </p:sp>
      <p:sp>
        <p:nvSpPr>
          <p:cNvPr id="13" name="Text 11"/>
          <p:cNvSpPr/>
          <p:nvPr/>
        </p:nvSpPr>
        <p:spPr>
          <a:xfrm>
            <a:off x="4846320" y="150876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548640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Upload COA</a:t>
            </a:r>
            <a:endParaRPr lang="en-US" sz="1200" dirty="0"/>
          </a:p>
        </p:txBody>
      </p:sp>
      <p:sp>
        <p:nvSpPr>
          <p:cNvPr id="15" name="Text 13"/>
          <p:cNvSpPr/>
          <p:nvPr/>
        </p:nvSpPr>
        <p:spPr>
          <a:xfrm>
            <a:off x="5486400" y="1618488"/>
            <a:ext cx="228600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رفع دليل الحسابات</a:t>
            </a:r>
            <a:endParaRPr lang="en-US" sz="950" dirty="0"/>
          </a:p>
        </p:txBody>
      </p:sp>
      <p:sp>
        <p:nvSpPr>
          <p:cNvPr id="16" name="Text 14"/>
          <p:cNvSpPr/>
          <p:nvPr/>
        </p:nvSpPr>
        <p:spPr>
          <a:xfrm>
            <a:off x="548640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Arabic/English Excel — AI classifies 200+ accounts instantly</a:t>
            </a:r>
            <a:endParaRPr lang="en-US" sz="950" dirty="0"/>
          </a:p>
        </p:txBody>
      </p:sp>
      <p:sp>
        <p:nvSpPr>
          <p:cNvPr id="17" name="Shape 15"/>
          <p:cNvSpPr/>
          <p:nvPr/>
        </p:nvSpPr>
        <p:spPr>
          <a:xfrm>
            <a:off x="457200" y="233172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8" name="Shape 16"/>
          <p:cNvSpPr/>
          <p:nvPr/>
        </p:nvSpPr>
        <p:spPr>
          <a:xfrm>
            <a:off x="548640" y="2468880"/>
            <a:ext cx="502920" cy="502920"/>
          </a:xfrm>
          <a:prstGeom prst="ellipse">
            <a:avLst/>
          </a:prstGeom>
          <a:solidFill>
            <a:srgbClr val="D4AF37"/>
          </a:solidFill>
          <a:ln/>
        </p:spPr>
      </p:sp>
      <p:sp>
        <p:nvSpPr>
          <p:cNvPr id="19" name="Text 17"/>
          <p:cNvSpPr/>
          <p:nvPr/>
        </p:nvSpPr>
        <p:spPr>
          <a:xfrm>
            <a:off x="548640" y="246888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3</a:t>
            </a:r>
            <a:endParaRPr lang="en-US" sz="2000" dirty="0"/>
          </a:p>
        </p:txBody>
      </p:sp>
      <p:sp>
        <p:nvSpPr>
          <p:cNvPr id="20" name="Text 18"/>
          <p:cNvSpPr/>
          <p:nvPr/>
        </p:nvSpPr>
        <p:spPr>
          <a:xfrm>
            <a:off x="118872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Trial Balance Bind</a:t>
            </a:r>
            <a:endParaRPr lang="en-US" sz="1200" dirty="0"/>
          </a:p>
        </p:txBody>
      </p:sp>
      <p:sp>
        <p:nvSpPr>
          <p:cNvPr id="21" name="Text 19"/>
          <p:cNvSpPr/>
          <p:nvPr/>
        </p:nvSpPr>
        <p:spPr>
          <a:xfrm>
            <a:off x="1188720" y="2578608"/>
            <a:ext cx="2286000" cy="182880"/>
          </a:xfrm>
          <a:prstGeom prst="rect">
            <a:avLst/>
          </a:prstGeom>
          <a:noFill/>
          <a:ln/>
        </p:spPr>
        <p:txBody>
          <a:bodyPr wrap="square" lIns="0" tIns="0" rIns="0" bIns="0" rtlCol="0" anchor="ctr"/>
          <a:lstStyle/>
          <a:p>
            <a:pPr indent="0" marL="0">
              <a:buNone/>
            </a:pPr>
            <a:r>
              <a:rPr lang="en-US" sz="950" dirty="0">
                <a:solidFill>
                  <a:srgbClr val="D4AF37"/>
                </a:solidFill>
                <a:latin typeface="Calibri" pitchFamily="34" charset="0"/>
                <a:ea typeface="Calibri" pitchFamily="34" charset="-122"/>
                <a:cs typeface="Calibri" pitchFamily="34" charset="-120"/>
              </a:rPr>
              <a:t>ربط ميزان المراجعة</a:t>
            </a:r>
            <a:endParaRPr lang="en-US" sz="950" dirty="0"/>
          </a:p>
        </p:txBody>
      </p:sp>
      <p:sp>
        <p:nvSpPr>
          <p:cNvPr id="22" name="Text 20"/>
          <p:cNvSpPr/>
          <p:nvPr/>
        </p:nvSpPr>
        <p:spPr>
          <a:xfrm>
            <a:off x="118872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Auto-links TB to COA, anomaly scoring &amp; issue flagging</a:t>
            </a:r>
            <a:endParaRPr lang="en-US" sz="950" dirty="0"/>
          </a:p>
        </p:txBody>
      </p:sp>
      <p:sp>
        <p:nvSpPr>
          <p:cNvPr id="23" name="Shape 21"/>
          <p:cNvSpPr/>
          <p:nvPr/>
        </p:nvSpPr>
        <p:spPr>
          <a:xfrm>
            <a:off x="4754880" y="233172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4" name="Shape 22"/>
          <p:cNvSpPr/>
          <p:nvPr/>
        </p:nvSpPr>
        <p:spPr>
          <a:xfrm>
            <a:off x="4846320" y="2468880"/>
            <a:ext cx="502920" cy="502920"/>
          </a:xfrm>
          <a:prstGeom prst="ellipse">
            <a:avLst/>
          </a:prstGeom>
          <a:solidFill>
            <a:srgbClr val="E8CC73"/>
          </a:solidFill>
          <a:ln/>
        </p:spPr>
      </p:sp>
      <p:sp>
        <p:nvSpPr>
          <p:cNvPr id="25" name="Text 23"/>
          <p:cNvSpPr/>
          <p:nvPr/>
        </p:nvSpPr>
        <p:spPr>
          <a:xfrm>
            <a:off x="4846320" y="246888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4</a:t>
            </a:r>
            <a:endParaRPr lang="en-US" sz="2000" dirty="0"/>
          </a:p>
        </p:txBody>
      </p:sp>
      <p:sp>
        <p:nvSpPr>
          <p:cNvPr id="26" name="Text 24"/>
          <p:cNvSpPr/>
          <p:nvPr/>
        </p:nvSpPr>
        <p:spPr>
          <a:xfrm>
            <a:off x="548640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Financial Statements</a:t>
            </a:r>
            <a:endParaRPr lang="en-US" sz="1200" dirty="0"/>
          </a:p>
        </p:txBody>
      </p:sp>
      <p:sp>
        <p:nvSpPr>
          <p:cNvPr id="27" name="Text 25"/>
          <p:cNvSpPr/>
          <p:nvPr/>
        </p:nvSpPr>
        <p:spPr>
          <a:xfrm>
            <a:off x="5486400" y="2578608"/>
            <a:ext cx="228600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إعداد القوائم المالية</a:t>
            </a:r>
            <a:endParaRPr lang="en-US" sz="950" dirty="0"/>
          </a:p>
        </p:txBody>
      </p:sp>
      <p:sp>
        <p:nvSpPr>
          <p:cNvPr id="28" name="Text 26"/>
          <p:cNvSpPr/>
          <p:nvPr/>
        </p:nvSpPr>
        <p:spPr>
          <a:xfrm>
            <a:off x="548640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P&amp;L, Balance Sheet, Cash Flow generated in one click</a:t>
            </a:r>
            <a:endParaRPr lang="en-US" sz="950" dirty="0"/>
          </a:p>
        </p:txBody>
      </p:sp>
      <p:sp>
        <p:nvSpPr>
          <p:cNvPr id="29" name="Shape 27"/>
          <p:cNvSpPr/>
          <p:nvPr/>
        </p:nvSpPr>
        <p:spPr>
          <a:xfrm>
            <a:off x="457200" y="329184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0" name="Shape 28"/>
          <p:cNvSpPr/>
          <p:nvPr/>
        </p:nvSpPr>
        <p:spPr>
          <a:xfrm>
            <a:off x="548640" y="3429000"/>
            <a:ext cx="502920" cy="502920"/>
          </a:xfrm>
          <a:prstGeom prst="ellipse">
            <a:avLst/>
          </a:prstGeom>
          <a:solidFill>
            <a:srgbClr val="10B981"/>
          </a:solidFill>
          <a:ln/>
        </p:spPr>
      </p:sp>
      <p:sp>
        <p:nvSpPr>
          <p:cNvPr id="31" name="Text 29"/>
          <p:cNvSpPr/>
          <p:nvPr/>
        </p:nvSpPr>
        <p:spPr>
          <a:xfrm>
            <a:off x="548640" y="342900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5</a:t>
            </a:r>
            <a:endParaRPr lang="en-US" sz="2000" dirty="0"/>
          </a:p>
        </p:txBody>
      </p:sp>
      <p:sp>
        <p:nvSpPr>
          <p:cNvPr id="32" name="Text 30"/>
          <p:cNvSpPr/>
          <p:nvPr/>
        </p:nvSpPr>
        <p:spPr>
          <a:xfrm>
            <a:off x="118872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Analysis Dashboard</a:t>
            </a:r>
            <a:endParaRPr lang="en-US" sz="1200" dirty="0"/>
          </a:p>
        </p:txBody>
      </p:sp>
      <p:sp>
        <p:nvSpPr>
          <p:cNvPr id="33" name="Text 31"/>
          <p:cNvSpPr/>
          <p:nvPr/>
        </p:nvSpPr>
        <p:spPr>
          <a:xfrm>
            <a:off x="1188720" y="3538728"/>
            <a:ext cx="228600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لوحة التحليل الذكي</a:t>
            </a:r>
            <a:endParaRPr lang="en-US" sz="950" dirty="0"/>
          </a:p>
        </p:txBody>
      </p:sp>
      <p:sp>
        <p:nvSpPr>
          <p:cNvPr id="34" name="Text 32"/>
          <p:cNvSpPr/>
          <p:nvPr/>
        </p:nvSpPr>
        <p:spPr>
          <a:xfrm>
            <a:off x="118872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30+ ratios, Readiness Score, funding gap analysis</a:t>
            </a:r>
            <a:endParaRPr lang="en-US" sz="950" dirty="0"/>
          </a:p>
        </p:txBody>
      </p:sp>
      <p:sp>
        <p:nvSpPr>
          <p:cNvPr id="35" name="Shape 33"/>
          <p:cNvSpPr/>
          <p:nvPr/>
        </p:nvSpPr>
        <p:spPr>
          <a:xfrm>
            <a:off x="4754880" y="3291840"/>
            <a:ext cx="3977640" cy="7772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6" name="Shape 34"/>
          <p:cNvSpPr/>
          <p:nvPr/>
        </p:nvSpPr>
        <p:spPr>
          <a:xfrm>
            <a:off x="4846320" y="3429000"/>
            <a:ext cx="502920" cy="502920"/>
          </a:xfrm>
          <a:prstGeom prst="ellipse">
            <a:avLst/>
          </a:prstGeom>
          <a:solidFill>
            <a:srgbClr val="34D399"/>
          </a:solidFill>
          <a:ln/>
        </p:spPr>
      </p:sp>
      <p:sp>
        <p:nvSpPr>
          <p:cNvPr id="37" name="Text 35"/>
          <p:cNvSpPr/>
          <p:nvPr/>
        </p:nvSpPr>
        <p:spPr>
          <a:xfrm>
            <a:off x="4846320" y="3429000"/>
            <a:ext cx="502920" cy="502920"/>
          </a:xfrm>
          <a:prstGeom prst="rect">
            <a:avLst/>
          </a:prstGeom>
          <a:noFill/>
          <a:ln/>
        </p:spPr>
        <p:txBody>
          <a:bodyPr wrap="square" lIns="0" tIns="0" rIns="0" bIns="0" rtlCol="0" anchor="ctr"/>
          <a:lstStyle/>
          <a:p>
            <a:pPr algn="ctr" indent="0" marL="0">
              <a:buNone/>
            </a:pPr>
            <a:r>
              <a:rPr lang="en-US" sz="2000" dirty="0">
                <a:solidFill>
                  <a:srgbClr val="0B1523"/>
                </a:solidFill>
                <a:latin typeface="Arial Black" pitchFamily="34" charset="0"/>
                <a:ea typeface="Arial Black" pitchFamily="34" charset="-122"/>
                <a:cs typeface="Arial Black" pitchFamily="34" charset="-120"/>
              </a:rPr>
              <a:t>6</a:t>
            </a:r>
            <a:endParaRPr lang="en-US" sz="2000" dirty="0"/>
          </a:p>
        </p:txBody>
      </p:sp>
      <p:sp>
        <p:nvSpPr>
          <p:cNvPr id="38" name="Text 36"/>
          <p:cNvSpPr/>
          <p:nvPr/>
        </p:nvSpPr>
        <p:spPr>
          <a:xfrm>
            <a:off x="548640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Trail</a:t>
            </a:r>
            <a:endParaRPr lang="en-US" sz="1200" dirty="0"/>
          </a:p>
        </p:txBody>
      </p:sp>
      <p:sp>
        <p:nvSpPr>
          <p:cNvPr id="39" name="Text 37"/>
          <p:cNvSpPr/>
          <p:nvPr/>
        </p:nvSpPr>
        <p:spPr>
          <a:xfrm>
            <a:off x="5486400" y="3538728"/>
            <a:ext cx="2286000" cy="182880"/>
          </a:xfrm>
          <a:prstGeom prst="rect">
            <a:avLst/>
          </a:prstGeom>
          <a:noFill/>
          <a:ln/>
        </p:spPr>
        <p:txBody>
          <a:bodyPr wrap="square" lIns="0" tIns="0" rIns="0" bIns="0" rtlCol="0" anchor="ctr"/>
          <a:lstStyle/>
          <a:p>
            <a:pPr indent="0" marL="0">
              <a:buNone/>
            </a:pPr>
            <a:r>
              <a:rPr lang="en-US" sz="950" dirty="0">
                <a:solidFill>
                  <a:srgbClr val="34D399"/>
                </a:solidFill>
                <a:latin typeface="Calibri" pitchFamily="34" charset="0"/>
                <a:ea typeface="Calibri" pitchFamily="34" charset="-122"/>
                <a:cs typeface="Calibri" pitchFamily="34" charset="-120"/>
              </a:rPr>
              <a:t>سجل المراجعة الكامل</a:t>
            </a:r>
            <a:endParaRPr lang="en-US" sz="950" dirty="0"/>
          </a:p>
        </p:txBody>
      </p:sp>
      <p:sp>
        <p:nvSpPr>
          <p:cNvPr id="40" name="Text 38"/>
          <p:cNvSpPr/>
          <p:nvPr/>
        </p:nvSpPr>
        <p:spPr>
          <a:xfrm>
            <a:off x="548640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decision logged, timestamped &amp; explainable by AI</a:t>
            </a:r>
            <a:endParaRPr lang="en-US" sz="950" dirty="0"/>
          </a:p>
        </p:txBody>
      </p:sp>
      <p:sp>
        <p:nvSpPr>
          <p:cNvPr id="41" name="Shape 39"/>
          <p:cNvSpPr/>
          <p:nvPr/>
        </p:nvSpPr>
        <p:spPr>
          <a:xfrm>
            <a:off x="457200" y="4251960"/>
            <a:ext cx="8229600" cy="27432"/>
          </a:xfrm>
          <a:prstGeom prst="rect">
            <a:avLst/>
          </a:prstGeom>
          <a:solidFill>
            <a:srgbClr val="D4AF37">
              <a:alpha val="50000"/>
            </a:srgbClr>
          </a:solidFill>
          <a:ln/>
        </p:spPr>
      </p:sp>
      <p:sp>
        <p:nvSpPr>
          <p:cNvPr id="42" name="Text 40"/>
          <p:cNvSpPr/>
          <p:nvPr/>
        </p:nvSpPr>
        <p:spPr>
          <a:xfrm>
            <a:off x="457200" y="3977640"/>
            <a:ext cx="82296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See next slide for dashboard preview  |  انظر الشريحة التالية لمعاينة لوحة التحكم</a:t>
            </a:r>
            <a:endParaRPr lang="en-US" sz="900" dirty="0"/>
          </a:p>
        </p:txBody>
      </p:sp>
      <p:sp>
        <p:nvSpPr>
          <p:cNvPr id="43" name="Shape 41"/>
          <p:cNvSpPr/>
          <p:nvPr/>
        </p:nvSpPr>
        <p:spPr>
          <a:xfrm>
            <a:off x="0" y="4709160"/>
            <a:ext cx="9144000" cy="434340"/>
          </a:xfrm>
          <a:prstGeom prst="rect">
            <a:avLst/>
          </a:prstGeom>
          <a:solidFill>
            <a:srgbClr val="0A1220"/>
          </a:solidFill>
          <a:ln/>
        </p:spPr>
      </p:sp>
      <p:sp>
        <p:nvSpPr>
          <p:cNvPr id="44" name="Text 4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5" name="Text 4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9 / 19</a:t>
            </a:r>
            <a:endParaRPr lang="en-US" sz="750" dirty="0"/>
          </a:p>
        </p:txBody>
      </p:sp>
      <p:sp>
        <p:nvSpPr>
          <p:cNvPr id="46" name="Text 4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DASHBOARD  ·  واجهة المستخدم</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Complete Financial Intelligence at a Glance</a:t>
            </a:r>
            <a:endParaRPr lang="en-US" sz="2400" dirty="0"/>
          </a:p>
          <a:p>
            <a:pPr indent="0" marL="0">
              <a:buNone/>
            </a:pPr>
            <a:r>
              <a:rPr lang="en-US" sz="1300" dirty="0">
                <a:solidFill>
                  <a:srgbClr val="D4AF37"/>
                </a:solidFill>
                <a:latin typeface="Calibri" pitchFamily="34" charset="0"/>
                <a:ea typeface="Calibri" pitchFamily="34" charset="-122"/>
                <a:cs typeface="Calibri" pitchFamily="34" charset="-120"/>
              </a:rPr>
              <a:t>رؤية مالية شاملة من شاشة واحدة</a:t>
            </a:r>
            <a:endParaRPr lang="en-US" sz="2400" dirty="0"/>
          </a:p>
        </p:txBody>
      </p:sp>
      <p:sp>
        <p:nvSpPr>
          <p:cNvPr id="5" name="Shape 3"/>
          <p:cNvSpPr/>
          <p:nvPr/>
        </p:nvSpPr>
        <p:spPr>
          <a:xfrm>
            <a:off x="365760" y="1234440"/>
            <a:ext cx="8412480" cy="3337560"/>
          </a:xfrm>
          <a:prstGeom prst="rect">
            <a:avLst/>
          </a:prstGeom>
          <a:solidFill>
            <a:srgbClr val="162B45"/>
          </a:solidFill>
          <a:ln/>
          <a:effectLst>
            <a:outerShdw sx="100000" sy="100000" kx="0" ky="0" algn="bl" rotWithShape="0" blurRad="127000" dist="50800" dir="8100000">
              <a:srgbClr val="000000">
                <a:alpha val="35000"/>
              </a:srgbClr>
            </a:outerShdw>
          </a:effectLst>
        </p:spPr>
      </p:sp>
      <p:pic>
        <p:nvPicPr>
          <p:cNvPr id="6" name="Image 0" descr="/sessions/festive-vibrant-feynman/dashboard_mockup.png">    </p:cNvPr>
          <p:cNvPicPr>
            <a:picLocks noChangeAspect="1"/>
          </p:cNvPicPr>
          <p:nvPr/>
        </p:nvPicPr>
        <p:blipFill>
          <a:blip r:embed="rId1"/>
          <a:stretch>
            <a:fillRect/>
          </a:stretch>
        </p:blipFill>
        <p:spPr>
          <a:xfrm>
            <a:off x="457200" y="1280160"/>
            <a:ext cx="8229600" cy="3246120"/>
          </a:xfrm>
          <a:prstGeom prst="rect">
            <a:avLst/>
          </a:prstGeom>
        </p:spPr>
      </p:pic>
      <p:sp>
        <p:nvSpPr>
          <p:cNvPr id="7" name="Text 4"/>
          <p:cNvSpPr/>
          <p:nvPr/>
        </p:nvSpPr>
        <p:spPr>
          <a:xfrm>
            <a:off x="457200" y="4572000"/>
            <a:ext cx="8229600" cy="13716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Real-time KPIs · Financial Statements · Readiness Score · AI Insights  |  مؤشرات لحظية · قوائم مالية · تقييم الجاهزية · تحليلات ذكية</a:t>
            </a:r>
            <a:endParaRPr lang="en-US" sz="850" dirty="0"/>
          </a:p>
        </p:txBody>
      </p:sp>
      <p:sp>
        <p:nvSpPr>
          <p:cNvPr id="8" name="Shape 5"/>
          <p:cNvSpPr/>
          <p:nvPr/>
        </p:nvSpPr>
        <p:spPr>
          <a:xfrm>
            <a:off x="0" y="4709160"/>
            <a:ext cx="9144000" cy="434340"/>
          </a:xfrm>
          <a:prstGeom prst="rect">
            <a:avLst/>
          </a:prstGeom>
          <a:solidFill>
            <a:srgbClr val="0A1220"/>
          </a:solidFill>
          <a:ln/>
        </p:spPr>
      </p:sp>
      <p:sp>
        <p:nvSpPr>
          <p:cNvPr id="9" name="Text 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10" name="Text 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10 / 19</a:t>
            </a:r>
            <a:endParaRPr lang="en-US" sz="750" dirty="0"/>
          </a:p>
        </p:txBody>
      </p:sp>
      <p:sp>
        <p:nvSpPr>
          <p:cNvPr id="11" name="Text 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IMPACT  ·  الأثر الفعلي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Upload to Insight in 3 Minutes</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من رفع البيانات إلى التحليل الكامل في 3 دقائق فقط</a:t>
            </a:r>
            <a:endParaRPr lang="en-US" sz="2600" dirty="0"/>
          </a:p>
        </p:txBody>
      </p:sp>
      <p:sp>
        <p:nvSpPr>
          <p:cNvPr id="5" name="Shape 3"/>
          <p:cNvSpPr/>
          <p:nvPr/>
        </p:nvSpPr>
        <p:spPr>
          <a:xfrm>
            <a:off x="457200" y="1371600"/>
            <a:ext cx="3931920" cy="274320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6" name="Shape 4"/>
          <p:cNvSpPr/>
          <p:nvPr/>
        </p:nvSpPr>
        <p:spPr>
          <a:xfrm>
            <a:off x="457200" y="1371600"/>
            <a:ext cx="3931920" cy="45720"/>
          </a:xfrm>
          <a:prstGeom prst="rect">
            <a:avLst/>
          </a:prstGeom>
          <a:solidFill>
            <a:srgbClr val="EF4444"/>
          </a:solidFill>
          <a:ln/>
        </p:spPr>
      </p:sp>
      <p:sp>
        <p:nvSpPr>
          <p:cNvPr id="7" name="Text 5"/>
          <p:cNvSpPr/>
          <p:nvPr/>
        </p:nvSpPr>
        <p:spPr>
          <a:xfrm>
            <a:off x="640080" y="1508760"/>
            <a:ext cx="356616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BEFORE APEX  ·  قبل</a:t>
            </a:r>
            <a:endParaRPr lang="en-US" sz="1300" dirty="0"/>
          </a:p>
        </p:txBody>
      </p:sp>
      <p:sp>
        <p:nvSpPr>
          <p:cNvPr id="8" name="Text 6"/>
          <p:cNvSpPr/>
          <p:nvPr/>
        </p:nvSpPr>
        <p:spPr>
          <a:xfrm>
            <a:off x="64008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9" name="Text 7"/>
          <p:cNvSpPr/>
          <p:nvPr/>
        </p:nvSpPr>
        <p:spPr>
          <a:xfrm>
            <a:off x="2926080" y="187452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3–4 Weeks</a:t>
            </a:r>
            <a:endParaRPr lang="en-US" sz="1100" dirty="0"/>
          </a:p>
        </p:txBody>
      </p:sp>
      <p:sp>
        <p:nvSpPr>
          <p:cNvPr id="10" name="Text 8"/>
          <p:cNvSpPr/>
          <p:nvPr/>
        </p:nvSpPr>
        <p:spPr>
          <a:xfrm>
            <a:off x="64008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11" name="Text 9"/>
          <p:cNvSpPr/>
          <p:nvPr/>
        </p:nvSpPr>
        <p:spPr>
          <a:xfrm>
            <a:off x="2926080" y="228600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SAR 3K–10K</a:t>
            </a:r>
            <a:endParaRPr lang="en-US" sz="1100" dirty="0"/>
          </a:p>
        </p:txBody>
      </p:sp>
      <p:sp>
        <p:nvSpPr>
          <p:cNvPr id="12" name="Text 10"/>
          <p:cNvSpPr/>
          <p:nvPr/>
        </p:nvSpPr>
        <p:spPr>
          <a:xfrm>
            <a:off x="64008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13" name="Text 11"/>
          <p:cNvSpPr/>
          <p:nvPr/>
        </p:nvSpPr>
        <p:spPr>
          <a:xfrm>
            <a:off x="2926080" y="269748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15–25%</a:t>
            </a:r>
            <a:endParaRPr lang="en-US" sz="1100" dirty="0"/>
          </a:p>
        </p:txBody>
      </p:sp>
      <p:sp>
        <p:nvSpPr>
          <p:cNvPr id="14" name="Text 12"/>
          <p:cNvSpPr/>
          <p:nvPr/>
        </p:nvSpPr>
        <p:spPr>
          <a:xfrm>
            <a:off x="64008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15" name="Text 13"/>
          <p:cNvSpPr/>
          <p:nvPr/>
        </p:nvSpPr>
        <p:spPr>
          <a:xfrm>
            <a:off x="2926080" y="310896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None</a:t>
            </a:r>
            <a:endParaRPr lang="en-US" sz="1100" dirty="0"/>
          </a:p>
        </p:txBody>
      </p:sp>
      <p:sp>
        <p:nvSpPr>
          <p:cNvPr id="16" name="Text 14"/>
          <p:cNvSpPr/>
          <p:nvPr/>
        </p:nvSpPr>
        <p:spPr>
          <a:xfrm>
            <a:off x="64008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17" name="Text 15"/>
          <p:cNvSpPr/>
          <p:nvPr/>
        </p:nvSpPr>
        <p:spPr>
          <a:xfrm>
            <a:off x="2926080" y="352044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Manual / Missing</a:t>
            </a:r>
            <a:endParaRPr lang="en-US" sz="1100" dirty="0"/>
          </a:p>
        </p:txBody>
      </p:sp>
      <p:sp>
        <p:nvSpPr>
          <p:cNvPr id="18" name="Text 16"/>
          <p:cNvSpPr/>
          <p:nvPr/>
        </p:nvSpPr>
        <p:spPr>
          <a:xfrm>
            <a:off x="4251960" y="2468880"/>
            <a:ext cx="640080" cy="320040"/>
          </a:xfrm>
          <a:prstGeom prst="rect">
            <a:avLst/>
          </a:prstGeom>
          <a:noFill/>
          <a:ln/>
        </p:spPr>
        <p:txBody>
          <a:bodyPr wrap="square" lIns="0" tIns="0" rIns="0" bIns="0" rtlCol="0" anchor="ctr"/>
          <a:lstStyle/>
          <a:p>
            <a:pPr algn="ctr" indent="0" marL="0">
              <a:buNone/>
            </a:pPr>
            <a:r>
              <a:rPr lang="en-US" sz="1800" dirty="0">
                <a:solidFill>
                  <a:srgbClr val="D4AF37"/>
                </a:solidFill>
                <a:latin typeface="Calibri" pitchFamily="34" charset="0"/>
                <a:ea typeface="Calibri" pitchFamily="34" charset="-122"/>
                <a:cs typeface="Calibri" pitchFamily="34" charset="-120"/>
              </a:rPr>
              <a:t>&gt;&gt;&gt;</a:t>
            </a:r>
            <a:endParaRPr lang="en-US" sz="1800" dirty="0"/>
          </a:p>
        </p:txBody>
      </p:sp>
      <p:sp>
        <p:nvSpPr>
          <p:cNvPr id="19" name="Shape 17"/>
          <p:cNvSpPr/>
          <p:nvPr/>
        </p:nvSpPr>
        <p:spPr>
          <a:xfrm>
            <a:off x="4754880" y="1371600"/>
            <a:ext cx="3931920" cy="2743200"/>
          </a:xfrm>
          <a:prstGeom prst="rect">
            <a:avLst/>
          </a:prstGeom>
          <a:solidFill>
            <a:srgbClr val="162B45"/>
          </a:solidFill>
          <a:ln/>
          <a:effectLst>
            <a:outerShdw sx="100000" sy="100000" kx="0" ky="0" algn="bl" rotWithShape="0" blurRad="127000" dist="50800" dir="8100000">
              <a:srgbClr val="000000">
                <a:alpha val="35000"/>
              </a:srgbClr>
            </a:outerShdw>
          </a:effectLst>
        </p:spPr>
      </p:sp>
      <p:sp>
        <p:nvSpPr>
          <p:cNvPr id="20" name="Shape 18"/>
          <p:cNvSpPr/>
          <p:nvPr/>
        </p:nvSpPr>
        <p:spPr>
          <a:xfrm>
            <a:off x="4754880" y="1371600"/>
            <a:ext cx="3931920" cy="45720"/>
          </a:xfrm>
          <a:prstGeom prst="rect">
            <a:avLst/>
          </a:prstGeom>
          <a:solidFill>
            <a:srgbClr val="10B981"/>
          </a:solidFill>
          <a:ln/>
        </p:spPr>
      </p:sp>
      <p:sp>
        <p:nvSpPr>
          <p:cNvPr id="21" name="Text 19"/>
          <p:cNvSpPr/>
          <p:nvPr/>
        </p:nvSpPr>
        <p:spPr>
          <a:xfrm>
            <a:off x="4937760" y="1508760"/>
            <a:ext cx="3566160" cy="2743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AFTER APEX  ·  بعد</a:t>
            </a:r>
            <a:endParaRPr lang="en-US" sz="1300" dirty="0"/>
          </a:p>
        </p:txBody>
      </p:sp>
      <p:sp>
        <p:nvSpPr>
          <p:cNvPr id="22" name="Text 20"/>
          <p:cNvSpPr/>
          <p:nvPr/>
        </p:nvSpPr>
        <p:spPr>
          <a:xfrm>
            <a:off x="493776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23" name="Text 21"/>
          <p:cNvSpPr/>
          <p:nvPr/>
        </p:nvSpPr>
        <p:spPr>
          <a:xfrm>
            <a:off x="7223760" y="187452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Under 5 Min</a:t>
            </a:r>
            <a:endParaRPr lang="en-US" sz="1100" dirty="0"/>
          </a:p>
        </p:txBody>
      </p:sp>
      <p:sp>
        <p:nvSpPr>
          <p:cNvPr id="24" name="Text 22"/>
          <p:cNvSpPr/>
          <p:nvPr/>
        </p:nvSpPr>
        <p:spPr>
          <a:xfrm>
            <a:off x="493776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25" name="Text 23"/>
          <p:cNvSpPr/>
          <p:nvPr/>
        </p:nvSpPr>
        <p:spPr>
          <a:xfrm>
            <a:off x="7223760" y="228600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From SAR 199/mo</a:t>
            </a:r>
            <a:endParaRPr lang="en-US" sz="1100" dirty="0"/>
          </a:p>
        </p:txBody>
      </p:sp>
      <p:sp>
        <p:nvSpPr>
          <p:cNvPr id="26" name="Text 24"/>
          <p:cNvSpPr/>
          <p:nvPr/>
        </p:nvSpPr>
        <p:spPr>
          <a:xfrm>
            <a:off x="493776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27" name="Text 25"/>
          <p:cNvSpPr/>
          <p:nvPr/>
        </p:nvSpPr>
        <p:spPr>
          <a:xfrm>
            <a:off x="7223760" y="269748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&lt; 2%</a:t>
            </a:r>
            <a:endParaRPr lang="en-US" sz="1100" dirty="0"/>
          </a:p>
        </p:txBody>
      </p:sp>
      <p:sp>
        <p:nvSpPr>
          <p:cNvPr id="28" name="Text 26"/>
          <p:cNvSpPr/>
          <p:nvPr/>
        </p:nvSpPr>
        <p:spPr>
          <a:xfrm>
            <a:off x="493776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29" name="Text 27"/>
          <p:cNvSpPr/>
          <p:nvPr/>
        </p:nvSpPr>
        <p:spPr>
          <a:xfrm>
            <a:off x="7223760" y="310896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Score 0–100</a:t>
            </a:r>
            <a:endParaRPr lang="en-US" sz="1100" dirty="0"/>
          </a:p>
        </p:txBody>
      </p:sp>
      <p:sp>
        <p:nvSpPr>
          <p:cNvPr id="30" name="Text 28"/>
          <p:cNvSpPr/>
          <p:nvPr/>
        </p:nvSpPr>
        <p:spPr>
          <a:xfrm>
            <a:off x="493776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31" name="Text 29"/>
          <p:cNvSpPr/>
          <p:nvPr/>
        </p:nvSpPr>
        <p:spPr>
          <a:xfrm>
            <a:off x="7223760" y="352044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Full AI Log</a:t>
            </a:r>
            <a:endParaRPr lang="en-US" sz="1100" dirty="0"/>
          </a:p>
        </p:txBody>
      </p:sp>
      <p:sp>
        <p:nvSpPr>
          <p:cNvPr id="32" name="Shape 30"/>
          <p:cNvSpPr/>
          <p:nvPr/>
        </p:nvSpPr>
        <p:spPr>
          <a:xfrm>
            <a:off x="457200" y="4206240"/>
            <a:ext cx="8229600" cy="320040"/>
          </a:xfrm>
          <a:prstGeom prst="rect">
            <a:avLst/>
          </a:prstGeom>
          <a:solidFill>
            <a:srgbClr val="132236"/>
          </a:solidFill>
          <a:ln/>
        </p:spPr>
      </p:sp>
      <p:sp>
        <p:nvSpPr>
          <p:cNvPr id="33" name="Text 31"/>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Result: 99% faster · 90%+ cost reduction · 90% fewer errors  |  النتيجة: أسرع بنسبة 99% · توفير يتجاوز 90% · دقة تفوق 98%</a:t>
            </a:r>
            <a:endParaRPr lang="en-US" sz="11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11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EARLY FEEDBACK  ·  تجارب المستخدمين</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Early Adopters Are Saying</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انطباعات المستخدمين في البرنامج التجريبي</a:t>
            </a:r>
            <a:endParaRPr lang="en-US" sz="2600" dirty="0"/>
          </a:p>
        </p:txBody>
      </p:sp>
      <p:sp>
        <p:nvSpPr>
          <p:cNvPr id="5" name="Shape 3"/>
          <p:cNvSpPr/>
          <p:nvPr/>
        </p:nvSpPr>
        <p:spPr>
          <a:xfrm>
            <a:off x="457200" y="1371600"/>
            <a:ext cx="8229600" cy="9144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457200" y="1371600"/>
            <a:ext cx="54864" cy="914400"/>
          </a:xfrm>
          <a:prstGeom prst="rect">
            <a:avLst/>
          </a:prstGeom>
          <a:solidFill>
            <a:srgbClr val="0891B2"/>
          </a:solidFill>
          <a:ln/>
        </p:spPr>
      </p:sp>
      <p:sp>
        <p:nvSpPr>
          <p:cNvPr id="7" name="Text 5"/>
          <p:cNvSpPr/>
          <p:nvPr/>
        </p:nvSpPr>
        <p:spPr>
          <a:xfrm>
            <a:off x="640080" y="1325880"/>
            <a:ext cx="365760" cy="365760"/>
          </a:xfrm>
          <a:prstGeom prst="rect">
            <a:avLst/>
          </a:prstGeom>
          <a:noFill/>
          <a:ln/>
        </p:spPr>
        <p:txBody>
          <a:bodyPr wrap="square" lIns="0" tIns="0" rIns="0" bIns="0" rtlCol="0" anchor="ctr"/>
          <a:lstStyle/>
          <a:p>
            <a:pPr indent="0" marL="0">
              <a:buNone/>
            </a:pPr>
            <a:r>
              <a:rPr lang="en-US" sz="3600" dirty="0">
                <a:solidFill>
                  <a:srgbClr val="0891B2"/>
                </a:solidFill>
                <a:latin typeface="Georgia" pitchFamily="34" charset="0"/>
                <a:ea typeface="Georgia" pitchFamily="34" charset="-122"/>
                <a:cs typeface="Georgia" pitchFamily="34" charset="-120"/>
              </a:rPr>
              <a:t>“</a:t>
            </a:r>
            <a:endParaRPr lang="en-US" sz="3600" dirty="0"/>
          </a:p>
        </p:txBody>
      </p:sp>
      <p:sp>
        <p:nvSpPr>
          <p:cNvPr id="8" name="Text 6"/>
          <p:cNvSpPr/>
          <p:nvPr/>
        </p:nvSpPr>
        <p:spPr>
          <a:xfrm>
            <a:off x="1005840" y="141732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APEX cut our quarterly close from 3 weeks to under an hour. The AI catches SOCPA classification errors our team missed for years.</a:t>
            </a:r>
            <a:endParaRPr lang="en-US" sz="1050" dirty="0"/>
          </a:p>
        </p:txBody>
      </p:sp>
      <p:sp>
        <p:nvSpPr>
          <p:cNvPr id="9" name="Text 7"/>
          <p:cNvSpPr/>
          <p:nvPr/>
        </p:nvSpPr>
        <p:spPr>
          <a:xfrm>
            <a:off x="1005840" y="178308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قلّصت APEX إقفالنا الربعي من 3 أسابيع إلى أقل من ساعة، والذكاء الاصطناعي يكتشف أخطاء تصنيف لم نلاحظها لسنوات</a:t>
            </a:r>
            <a:endParaRPr lang="en-US" sz="900" dirty="0"/>
          </a:p>
        </p:txBody>
      </p:sp>
      <p:sp>
        <p:nvSpPr>
          <p:cNvPr id="10" name="Text 8"/>
          <p:cNvSpPr/>
          <p:nvPr/>
        </p:nvSpPr>
        <p:spPr>
          <a:xfrm>
            <a:off x="1005840" y="201168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CFO, Saudi Tech Startup</a:t>
            </a:r>
            <a:endParaRPr lang="en-US" sz="1000" dirty="0"/>
          </a:p>
        </p:txBody>
      </p:sp>
      <p:sp>
        <p:nvSpPr>
          <p:cNvPr id="11" name="Text 9"/>
          <p:cNvSpPr/>
          <p:nvPr/>
        </p:nvSpPr>
        <p:spPr>
          <a:xfrm>
            <a:off x="5029200" y="2011680"/>
            <a:ext cx="3200400" cy="182880"/>
          </a:xfrm>
          <a:prstGeom prst="rect">
            <a:avLst/>
          </a:prstGeom>
          <a:noFill/>
          <a:ln/>
        </p:spPr>
        <p:txBody>
          <a:bodyPr wrap="square" lIns="0" tIns="0" rIns="0" bIns="0" rtlCol="0" anchor="ctr"/>
          <a:lstStyle/>
          <a:p>
            <a:pPr algn="r" indent="0" marL="0">
              <a:buNone/>
            </a:pPr>
            <a:r>
              <a:rPr lang="en-US" sz="900" dirty="0">
                <a:solidFill>
                  <a:srgbClr val="0891B2"/>
                </a:solidFill>
                <a:latin typeface="Calibri" pitchFamily="34" charset="0"/>
                <a:ea typeface="Calibri" pitchFamily="34" charset="-122"/>
                <a:cs typeface="Calibri" pitchFamily="34" charset="-120"/>
              </a:rPr>
              <a:t>Series A · Riyadh</a:t>
            </a:r>
            <a:endParaRPr lang="en-US" sz="900" dirty="0"/>
          </a:p>
        </p:txBody>
      </p:sp>
      <p:sp>
        <p:nvSpPr>
          <p:cNvPr id="12" name="Shape 10"/>
          <p:cNvSpPr/>
          <p:nvPr/>
        </p:nvSpPr>
        <p:spPr>
          <a:xfrm>
            <a:off x="457200" y="2423160"/>
            <a:ext cx="8229600" cy="9144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457200" y="2423160"/>
            <a:ext cx="54864" cy="914400"/>
          </a:xfrm>
          <a:prstGeom prst="rect">
            <a:avLst/>
          </a:prstGeom>
          <a:solidFill>
            <a:srgbClr val="D4AF37"/>
          </a:solidFill>
          <a:ln/>
        </p:spPr>
      </p:sp>
      <p:sp>
        <p:nvSpPr>
          <p:cNvPr id="14" name="Text 12"/>
          <p:cNvSpPr/>
          <p:nvPr/>
        </p:nvSpPr>
        <p:spPr>
          <a:xfrm>
            <a:off x="640080" y="2377440"/>
            <a:ext cx="365760" cy="365760"/>
          </a:xfrm>
          <a:prstGeom prst="rect">
            <a:avLst/>
          </a:prstGeom>
          <a:noFill/>
          <a:ln/>
        </p:spPr>
        <p:txBody>
          <a:bodyPr wrap="square" lIns="0" tIns="0" rIns="0" bIns="0" rtlCol="0" anchor="ctr"/>
          <a:lstStyle/>
          <a:p>
            <a:pPr indent="0" marL="0">
              <a:buNone/>
            </a:pPr>
            <a:r>
              <a:rPr lang="en-US" sz="3600" dirty="0">
                <a:solidFill>
                  <a:srgbClr val="D4AF37"/>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1005840" y="246888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Our team works in Arabic, investors want English — APEX produces both instantly. No more double-work.</a:t>
            </a:r>
            <a:endParaRPr lang="en-US" sz="1050" dirty="0"/>
          </a:p>
        </p:txBody>
      </p:sp>
      <p:sp>
        <p:nvSpPr>
          <p:cNvPr id="16" name="Text 14"/>
          <p:cNvSpPr/>
          <p:nvPr/>
        </p:nvSpPr>
        <p:spPr>
          <a:xfrm>
            <a:off x="1005840" y="283464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فريقنا يعمل بالعربية والمستثمرون يريدون تقارير إنجليزية — APEX تنتج كلا التقريرين فوراً</a:t>
            </a:r>
            <a:endParaRPr lang="en-US" sz="900" dirty="0"/>
          </a:p>
        </p:txBody>
      </p:sp>
      <p:sp>
        <p:nvSpPr>
          <p:cNvPr id="17" name="Text 15"/>
          <p:cNvSpPr/>
          <p:nvPr/>
        </p:nvSpPr>
        <p:spPr>
          <a:xfrm>
            <a:off x="1005840" y="306324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Managing Partner, Accounting Firm</a:t>
            </a:r>
            <a:endParaRPr lang="en-US" sz="1000" dirty="0"/>
          </a:p>
        </p:txBody>
      </p:sp>
      <p:sp>
        <p:nvSpPr>
          <p:cNvPr id="18" name="Text 16"/>
          <p:cNvSpPr/>
          <p:nvPr/>
        </p:nvSpPr>
        <p:spPr>
          <a:xfrm>
            <a:off x="5029200" y="3063240"/>
            <a:ext cx="3200400" cy="182880"/>
          </a:xfrm>
          <a:prstGeom prst="rect">
            <a:avLst/>
          </a:prstGeom>
          <a:noFill/>
          <a:ln/>
        </p:spPr>
        <p:txBody>
          <a:bodyPr wrap="square" lIns="0" tIns="0" rIns="0" bIns="0" rtlCol="0" anchor="ctr"/>
          <a:lstStyle/>
          <a:p>
            <a:pPr algn="r" indent="0" marL="0">
              <a:buNone/>
            </a:pPr>
            <a:r>
              <a:rPr lang="en-US" sz="900" dirty="0">
                <a:solidFill>
                  <a:srgbClr val="D4AF37"/>
                </a:solidFill>
                <a:latin typeface="Calibri" pitchFamily="34" charset="0"/>
                <a:ea typeface="Calibri" pitchFamily="34" charset="-122"/>
                <a:cs typeface="Calibri" pitchFamily="34" charset="-120"/>
              </a:rPr>
              <a:t>50+ Clients · Jeddah</a:t>
            </a:r>
            <a:endParaRPr lang="en-US" sz="900" dirty="0"/>
          </a:p>
        </p:txBody>
      </p:sp>
      <p:sp>
        <p:nvSpPr>
          <p:cNvPr id="19" name="Shape 17"/>
          <p:cNvSpPr/>
          <p:nvPr/>
        </p:nvSpPr>
        <p:spPr>
          <a:xfrm>
            <a:off x="457200" y="3474720"/>
            <a:ext cx="8229600" cy="9144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0" name="Shape 18"/>
          <p:cNvSpPr/>
          <p:nvPr/>
        </p:nvSpPr>
        <p:spPr>
          <a:xfrm>
            <a:off x="457200" y="3474720"/>
            <a:ext cx="54864" cy="914400"/>
          </a:xfrm>
          <a:prstGeom prst="rect">
            <a:avLst/>
          </a:prstGeom>
          <a:solidFill>
            <a:srgbClr val="10B981"/>
          </a:solidFill>
          <a:ln/>
        </p:spPr>
      </p:sp>
      <p:sp>
        <p:nvSpPr>
          <p:cNvPr id="21" name="Text 19"/>
          <p:cNvSpPr/>
          <p:nvPr/>
        </p:nvSpPr>
        <p:spPr>
          <a:xfrm>
            <a:off x="640080" y="3429000"/>
            <a:ext cx="365760" cy="365760"/>
          </a:xfrm>
          <a:prstGeom prst="rect">
            <a:avLst/>
          </a:prstGeom>
          <a:noFill/>
          <a:ln/>
        </p:spPr>
        <p:txBody>
          <a:bodyPr wrap="square" lIns="0" tIns="0" rIns="0" bIns="0" rtlCol="0" anchor="ctr"/>
          <a:lstStyle/>
          <a:p>
            <a:pPr indent="0" marL="0">
              <a:buNone/>
            </a:pPr>
            <a:r>
              <a:rPr lang="en-US" sz="3600" dirty="0">
                <a:solidFill>
                  <a:srgbClr val="10B981"/>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005840" y="352044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Readiness Score revealed 3 gaps we were blind to. Fixing them helped us close our seed round 2 months early.</a:t>
            </a:r>
            <a:endParaRPr lang="en-US" sz="1050" dirty="0"/>
          </a:p>
        </p:txBody>
      </p:sp>
      <p:sp>
        <p:nvSpPr>
          <p:cNvPr id="23" name="Text 21"/>
          <p:cNvSpPr/>
          <p:nvPr/>
        </p:nvSpPr>
        <p:spPr>
          <a:xfrm>
            <a:off x="1005840" y="388620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مؤشر الجاهزية كشف لنا 3 نقاط ضعف لم نكن ندركها — تصحيحها ساعدنا في إغلاق جولتنا قبل الموعد بشهرين</a:t>
            </a:r>
            <a:endParaRPr lang="en-US" sz="900" dirty="0"/>
          </a:p>
        </p:txBody>
      </p:sp>
      <p:sp>
        <p:nvSpPr>
          <p:cNvPr id="24" name="Text 22"/>
          <p:cNvSpPr/>
          <p:nvPr/>
        </p:nvSpPr>
        <p:spPr>
          <a:xfrm>
            <a:off x="1005840" y="411480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Founder &amp; CEO, E-commerce</a:t>
            </a:r>
            <a:endParaRPr lang="en-US" sz="1000" dirty="0"/>
          </a:p>
        </p:txBody>
      </p:sp>
      <p:sp>
        <p:nvSpPr>
          <p:cNvPr id="25" name="Text 23"/>
          <p:cNvSpPr/>
          <p:nvPr/>
        </p:nvSpPr>
        <p:spPr>
          <a:xfrm>
            <a:off x="5029200" y="4114800"/>
            <a:ext cx="3200400" cy="182880"/>
          </a:xfrm>
          <a:prstGeom prst="rect">
            <a:avLst/>
          </a:prstGeom>
          <a:noFill/>
          <a:ln/>
        </p:spPr>
        <p:txBody>
          <a:bodyPr wrap="square" lIns="0" tIns="0" rIns="0" bIns="0" rtlCol="0" anchor="ctr"/>
          <a:lstStyle/>
          <a:p>
            <a:pPr algn="r" indent="0" marL="0">
              <a:buNone/>
            </a:pPr>
            <a:r>
              <a:rPr lang="en-US" sz="900" dirty="0">
                <a:solidFill>
                  <a:srgbClr val="10B981"/>
                </a:solidFill>
                <a:latin typeface="Calibri" pitchFamily="34" charset="0"/>
                <a:ea typeface="Calibri" pitchFamily="34" charset="-122"/>
                <a:cs typeface="Calibri" pitchFamily="34" charset="-120"/>
              </a:rPr>
              <a:t>Pre-Seed · Dammam</a:t>
            </a:r>
            <a:endParaRPr lang="en-US" sz="900" dirty="0"/>
          </a:p>
        </p:txBody>
      </p:sp>
      <p:sp>
        <p:nvSpPr>
          <p:cNvPr id="26" name="Text 24"/>
          <p:cNvSpPr/>
          <p:nvPr/>
        </p:nvSpPr>
        <p:spPr>
          <a:xfrm>
            <a:off x="457200" y="4526280"/>
            <a:ext cx="8229600" cy="137160"/>
          </a:xfrm>
          <a:prstGeom prst="rect">
            <a:avLst/>
          </a:prstGeom>
          <a:noFill/>
          <a:ln/>
        </p:spPr>
        <p:txBody>
          <a:bodyPr wrap="square" lIns="0" tIns="0" rIns="0" bIns="0"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 Based on early pilot program feedback — identities anonymized  |  * مبنية على ملاحظات البرنامج التجريبي — تم إخفاء الهويات</a:t>
            </a:r>
            <a:endParaRPr lang="en-US" sz="750" dirty="0"/>
          </a:p>
        </p:txBody>
      </p:sp>
      <p:sp>
        <p:nvSpPr>
          <p:cNvPr id="27" name="Shape 25"/>
          <p:cNvSpPr/>
          <p:nvPr/>
        </p:nvSpPr>
        <p:spPr>
          <a:xfrm>
            <a:off x="0" y="4709160"/>
            <a:ext cx="9144000" cy="434340"/>
          </a:xfrm>
          <a:prstGeom prst="rect">
            <a:avLst/>
          </a:prstGeom>
          <a:solidFill>
            <a:srgbClr val="0A1220"/>
          </a:solidFill>
          <a:ln/>
        </p:spPr>
      </p:sp>
      <p:sp>
        <p:nvSpPr>
          <p:cNvPr id="28" name="Text 2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9" name="Text 2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12 / 19</a:t>
            </a:r>
            <a:endParaRPr lang="en-US" sz="750" dirty="0"/>
          </a:p>
        </p:txBody>
      </p:sp>
      <p:sp>
        <p:nvSpPr>
          <p:cNvPr id="30" name="Text 2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UNIT ECONOMICS  ·  اقتصاديات النمو</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Strong Fundamentals for Scale</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مؤشرات ربحية قوية تدعم التوسع</a:t>
            </a:r>
            <a:endParaRPr lang="en-US" sz="2600" dirty="0"/>
          </a:p>
        </p:txBody>
      </p:sp>
      <p:sp>
        <p:nvSpPr>
          <p:cNvPr id="5" name="Shape 3"/>
          <p:cNvSpPr/>
          <p:nvPr/>
        </p:nvSpPr>
        <p:spPr>
          <a:xfrm>
            <a:off x="457200" y="137160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457200" y="1371600"/>
            <a:ext cx="45720" cy="640080"/>
          </a:xfrm>
          <a:prstGeom prst="rect">
            <a:avLst/>
          </a:prstGeom>
          <a:solidFill>
            <a:srgbClr val="0891B2"/>
          </a:solidFill>
          <a:ln/>
        </p:spPr>
      </p:sp>
      <p:sp>
        <p:nvSpPr>
          <p:cNvPr id="7" name="Text 5"/>
          <p:cNvSpPr/>
          <p:nvPr/>
        </p:nvSpPr>
        <p:spPr>
          <a:xfrm>
            <a:off x="594360" y="1417320"/>
            <a:ext cx="822960" cy="27432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CAC</a:t>
            </a:r>
            <a:endParaRPr lang="en-US" sz="1000" dirty="0"/>
          </a:p>
        </p:txBody>
      </p:sp>
      <p:sp>
        <p:nvSpPr>
          <p:cNvPr id="8" name="Text 6"/>
          <p:cNvSpPr/>
          <p:nvPr/>
        </p:nvSpPr>
        <p:spPr>
          <a:xfrm>
            <a:off x="141732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600</a:t>
            </a:r>
            <a:endParaRPr lang="en-US" sz="1800" dirty="0"/>
          </a:p>
        </p:txBody>
      </p:sp>
      <p:sp>
        <p:nvSpPr>
          <p:cNvPr id="9" name="Text 7"/>
          <p:cNvSpPr/>
          <p:nvPr/>
        </p:nvSpPr>
        <p:spPr>
          <a:xfrm>
            <a:off x="59436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تكلفة استقطاب العميل (المستهدف)</a:t>
            </a:r>
            <a:endParaRPr lang="en-US" sz="850" dirty="0"/>
          </a:p>
        </p:txBody>
      </p:sp>
      <p:sp>
        <p:nvSpPr>
          <p:cNvPr id="10" name="Shape 8"/>
          <p:cNvSpPr/>
          <p:nvPr/>
        </p:nvSpPr>
        <p:spPr>
          <a:xfrm>
            <a:off x="2926080" y="137160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1" name="Shape 9"/>
          <p:cNvSpPr/>
          <p:nvPr/>
        </p:nvSpPr>
        <p:spPr>
          <a:xfrm>
            <a:off x="2926080" y="1371600"/>
            <a:ext cx="45720" cy="640080"/>
          </a:xfrm>
          <a:prstGeom prst="rect">
            <a:avLst/>
          </a:prstGeom>
          <a:solidFill>
            <a:srgbClr val="10B981"/>
          </a:solidFill>
          <a:ln/>
        </p:spPr>
      </p:sp>
      <p:sp>
        <p:nvSpPr>
          <p:cNvPr id="12" name="Text 10"/>
          <p:cNvSpPr/>
          <p:nvPr/>
        </p:nvSpPr>
        <p:spPr>
          <a:xfrm>
            <a:off x="3063240" y="141732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LTV</a:t>
            </a:r>
            <a:endParaRPr lang="en-US" sz="1000" dirty="0"/>
          </a:p>
        </p:txBody>
      </p:sp>
      <p:sp>
        <p:nvSpPr>
          <p:cNvPr id="13" name="Text 11"/>
          <p:cNvSpPr/>
          <p:nvPr/>
        </p:nvSpPr>
        <p:spPr>
          <a:xfrm>
            <a:off x="388620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7,200</a:t>
            </a:r>
            <a:endParaRPr lang="en-US" sz="1800" dirty="0"/>
          </a:p>
        </p:txBody>
      </p:sp>
      <p:sp>
        <p:nvSpPr>
          <p:cNvPr id="14" name="Text 12"/>
          <p:cNvSpPr/>
          <p:nvPr/>
        </p:nvSpPr>
        <p:spPr>
          <a:xfrm>
            <a:off x="306324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القيمة الدائمة (18 شهر × متوسط الباقة)</a:t>
            </a:r>
            <a:endParaRPr lang="en-US" sz="850" dirty="0"/>
          </a:p>
        </p:txBody>
      </p:sp>
      <p:sp>
        <p:nvSpPr>
          <p:cNvPr id="15" name="Shape 13"/>
          <p:cNvSpPr/>
          <p:nvPr/>
        </p:nvSpPr>
        <p:spPr>
          <a:xfrm>
            <a:off x="457200" y="214884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6" name="Shape 14"/>
          <p:cNvSpPr/>
          <p:nvPr/>
        </p:nvSpPr>
        <p:spPr>
          <a:xfrm>
            <a:off x="457200" y="2148840"/>
            <a:ext cx="45720" cy="640080"/>
          </a:xfrm>
          <a:prstGeom prst="rect">
            <a:avLst/>
          </a:prstGeom>
          <a:solidFill>
            <a:srgbClr val="D4AF37"/>
          </a:solidFill>
          <a:ln/>
        </p:spPr>
      </p:sp>
      <p:sp>
        <p:nvSpPr>
          <p:cNvPr id="17" name="Text 15"/>
          <p:cNvSpPr/>
          <p:nvPr/>
        </p:nvSpPr>
        <p:spPr>
          <a:xfrm>
            <a:off x="594360" y="2194560"/>
            <a:ext cx="822960" cy="274320"/>
          </a:xfrm>
          <a:prstGeom prst="rect">
            <a:avLst/>
          </a:prstGeom>
          <a:noFill/>
          <a:ln/>
        </p:spPr>
        <p:txBody>
          <a:bodyPr wrap="square" lIns="0" tIns="0" rIns="0" bIns="0" rtlCol="0" anchor="ctr"/>
          <a:lstStyle/>
          <a:p>
            <a:pPr indent="0" marL="0">
              <a:buNone/>
            </a:pPr>
            <a:r>
              <a:rPr lang="en-US" sz="1000" b="1" dirty="0">
                <a:solidFill>
                  <a:srgbClr val="D4AF37"/>
                </a:solidFill>
                <a:latin typeface="Calibri" pitchFamily="34" charset="0"/>
                <a:ea typeface="Calibri" pitchFamily="34" charset="-122"/>
                <a:cs typeface="Calibri" pitchFamily="34" charset="-120"/>
              </a:rPr>
              <a:t>LTV:CAC</a:t>
            </a:r>
            <a:endParaRPr lang="en-US" sz="1000" dirty="0"/>
          </a:p>
        </p:txBody>
      </p:sp>
      <p:sp>
        <p:nvSpPr>
          <p:cNvPr id="18" name="Text 16"/>
          <p:cNvSpPr/>
          <p:nvPr/>
        </p:nvSpPr>
        <p:spPr>
          <a:xfrm>
            <a:off x="141732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12x</a:t>
            </a:r>
            <a:endParaRPr lang="en-US" sz="1800" dirty="0"/>
          </a:p>
        </p:txBody>
      </p:sp>
      <p:sp>
        <p:nvSpPr>
          <p:cNvPr id="19" name="Text 17"/>
          <p:cNvSpPr/>
          <p:nvPr/>
        </p:nvSpPr>
        <p:spPr>
          <a:xfrm>
            <a:off x="59436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نسبة صحية (المعيار أعلى من 3x)</a:t>
            </a:r>
            <a:endParaRPr lang="en-US" sz="850" dirty="0"/>
          </a:p>
        </p:txBody>
      </p:sp>
      <p:sp>
        <p:nvSpPr>
          <p:cNvPr id="20" name="Shape 18"/>
          <p:cNvSpPr/>
          <p:nvPr/>
        </p:nvSpPr>
        <p:spPr>
          <a:xfrm>
            <a:off x="2926080" y="214884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1" name="Shape 19"/>
          <p:cNvSpPr/>
          <p:nvPr/>
        </p:nvSpPr>
        <p:spPr>
          <a:xfrm>
            <a:off x="2926080" y="2148840"/>
            <a:ext cx="45720" cy="640080"/>
          </a:xfrm>
          <a:prstGeom prst="rect">
            <a:avLst/>
          </a:prstGeom>
          <a:solidFill>
            <a:srgbClr val="22D3EE"/>
          </a:solidFill>
          <a:ln/>
        </p:spPr>
      </p:sp>
      <p:sp>
        <p:nvSpPr>
          <p:cNvPr id="22" name="Text 20"/>
          <p:cNvSpPr/>
          <p:nvPr/>
        </p:nvSpPr>
        <p:spPr>
          <a:xfrm>
            <a:off x="3063240" y="2194560"/>
            <a:ext cx="822960" cy="274320"/>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Churn</a:t>
            </a:r>
            <a:endParaRPr lang="en-US" sz="1000" dirty="0"/>
          </a:p>
        </p:txBody>
      </p:sp>
      <p:sp>
        <p:nvSpPr>
          <p:cNvPr id="23" name="Text 21"/>
          <p:cNvSpPr/>
          <p:nvPr/>
        </p:nvSpPr>
        <p:spPr>
          <a:xfrm>
            <a:off x="388620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&lt; 5%</a:t>
            </a:r>
            <a:endParaRPr lang="en-US" sz="1800" dirty="0"/>
          </a:p>
        </p:txBody>
      </p:sp>
      <p:sp>
        <p:nvSpPr>
          <p:cNvPr id="24" name="Text 22"/>
          <p:cNvSpPr/>
          <p:nvPr/>
        </p:nvSpPr>
        <p:spPr>
          <a:xfrm>
            <a:off x="306324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معدل فقدان العملاء (المتوسط 6-8%)</a:t>
            </a:r>
            <a:endParaRPr lang="en-US" sz="850" dirty="0"/>
          </a:p>
        </p:txBody>
      </p:sp>
      <p:sp>
        <p:nvSpPr>
          <p:cNvPr id="25" name="Shape 23"/>
          <p:cNvSpPr/>
          <p:nvPr/>
        </p:nvSpPr>
        <p:spPr>
          <a:xfrm>
            <a:off x="457200" y="292608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6" name="Shape 24"/>
          <p:cNvSpPr/>
          <p:nvPr/>
        </p:nvSpPr>
        <p:spPr>
          <a:xfrm>
            <a:off x="457200" y="2926080"/>
            <a:ext cx="45720" cy="640080"/>
          </a:xfrm>
          <a:prstGeom prst="rect">
            <a:avLst/>
          </a:prstGeom>
          <a:solidFill>
            <a:srgbClr val="E8CC73"/>
          </a:solidFill>
          <a:ln/>
        </p:spPr>
      </p:sp>
      <p:sp>
        <p:nvSpPr>
          <p:cNvPr id="27" name="Text 25"/>
          <p:cNvSpPr/>
          <p:nvPr/>
        </p:nvSpPr>
        <p:spPr>
          <a:xfrm>
            <a:off x="594360" y="2971800"/>
            <a:ext cx="822960" cy="274320"/>
          </a:xfrm>
          <a:prstGeom prst="rect">
            <a:avLst/>
          </a:prstGeom>
          <a:noFill/>
          <a:ln/>
        </p:spPr>
        <p:txBody>
          <a:bodyPr wrap="square" lIns="0" tIns="0" rIns="0" bIns="0" rtlCol="0" anchor="ctr"/>
          <a:lstStyle/>
          <a:p>
            <a:pPr indent="0" marL="0">
              <a:buNone/>
            </a:pPr>
            <a:r>
              <a:rPr lang="en-US" sz="1000" b="1" dirty="0">
                <a:solidFill>
                  <a:srgbClr val="E8CC73"/>
                </a:solidFill>
                <a:latin typeface="Calibri" pitchFamily="34" charset="0"/>
                <a:ea typeface="Calibri" pitchFamily="34" charset="-122"/>
                <a:cs typeface="Calibri" pitchFamily="34" charset="-120"/>
              </a:rPr>
              <a:t>Payback</a:t>
            </a:r>
            <a:endParaRPr lang="en-US" sz="1000" dirty="0"/>
          </a:p>
        </p:txBody>
      </p:sp>
      <p:sp>
        <p:nvSpPr>
          <p:cNvPr id="28" name="Text 26"/>
          <p:cNvSpPr/>
          <p:nvPr/>
        </p:nvSpPr>
        <p:spPr>
          <a:xfrm>
            <a:off x="141732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~2 mo</a:t>
            </a:r>
            <a:endParaRPr lang="en-US" sz="1800" dirty="0"/>
          </a:p>
        </p:txBody>
      </p:sp>
      <p:sp>
        <p:nvSpPr>
          <p:cNvPr id="29" name="Text 27"/>
          <p:cNvSpPr/>
          <p:nvPr/>
        </p:nvSpPr>
        <p:spPr>
          <a:xfrm>
            <a:off x="59436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فترة استرداد تكلفة الاستقطاب</a:t>
            </a:r>
            <a:endParaRPr lang="en-US" sz="850" dirty="0"/>
          </a:p>
        </p:txBody>
      </p:sp>
      <p:sp>
        <p:nvSpPr>
          <p:cNvPr id="30" name="Shape 28"/>
          <p:cNvSpPr/>
          <p:nvPr/>
        </p:nvSpPr>
        <p:spPr>
          <a:xfrm>
            <a:off x="2926080" y="292608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1" name="Shape 29"/>
          <p:cNvSpPr/>
          <p:nvPr/>
        </p:nvSpPr>
        <p:spPr>
          <a:xfrm>
            <a:off x="2926080" y="2926080"/>
            <a:ext cx="45720" cy="640080"/>
          </a:xfrm>
          <a:prstGeom prst="rect">
            <a:avLst/>
          </a:prstGeom>
          <a:solidFill>
            <a:srgbClr val="10B981"/>
          </a:solidFill>
          <a:ln/>
        </p:spPr>
      </p:sp>
      <p:sp>
        <p:nvSpPr>
          <p:cNvPr id="32" name="Text 30"/>
          <p:cNvSpPr/>
          <p:nvPr/>
        </p:nvSpPr>
        <p:spPr>
          <a:xfrm>
            <a:off x="3063240" y="297180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Margin</a:t>
            </a:r>
            <a:endParaRPr lang="en-US" sz="1000" dirty="0"/>
          </a:p>
        </p:txBody>
      </p:sp>
      <p:sp>
        <p:nvSpPr>
          <p:cNvPr id="33" name="Text 31"/>
          <p:cNvSpPr/>
          <p:nvPr/>
        </p:nvSpPr>
        <p:spPr>
          <a:xfrm>
            <a:off x="388620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78%</a:t>
            </a:r>
            <a:endParaRPr lang="en-US" sz="1800" dirty="0"/>
          </a:p>
        </p:txBody>
      </p:sp>
      <p:sp>
        <p:nvSpPr>
          <p:cNvPr id="34" name="Text 32"/>
          <p:cNvSpPr/>
          <p:nvPr/>
        </p:nvSpPr>
        <p:spPr>
          <a:xfrm>
            <a:off x="306324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هامش الربح الإجمالي بعد تكاليف البنية</a:t>
            </a:r>
            <a:endParaRPr lang="en-US" sz="850" dirty="0"/>
          </a:p>
        </p:txBody>
      </p:sp>
      <p:sp>
        <p:nvSpPr>
          <p:cNvPr id="35" name="Shape 33"/>
          <p:cNvSpPr/>
          <p:nvPr/>
        </p:nvSpPr>
        <p:spPr>
          <a:xfrm>
            <a:off x="5303520" y="1371600"/>
            <a:ext cx="3383280" cy="16916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6" name="Text 34"/>
          <p:cNvSpPr/>
          <p:nvPr/>
        </p:nvSpPr>
        <p:spPr>
          <a:xfrm>
            <a:off x="5440680" y="1417320"/>
            <a:ext cx="3108960" cy="201168"/>
          </a:xfrm>
          <a:prstGeom prst="rect">
            <a:avLst/>
          </a:prstGeom>
          <a:noFill/>
          <a:ln/>
        </p:spPr>
        <p:txBody>
          <a:bodyPr wrap="square" lIns="0" tIns="0" rIns="0" bIns="0" rtlCol="0" anchor="ctr"/>
          <a:lstStyle/>
          <a:p>
            <a:pPr indent="0" marL="0">
              <a:buNone/>
            </a:pPr>
            <a:r>
              <a:rPr lang="en-US" sz="950" b="1" dirty="0">
                <a:solidFill>
                  <a:srgbClr val="D4AF37"/>
                </a:solidFill>
                <a:latin typeface="Calibri" pitchFamily="34" charset="0"/>
                <a:ea typeface="Calibri" pitchFamily="34" charset="-122"/>
                <a:cs typeface="Calibri" pitchFamily="34" charset="-120"/>
              </a:rPr>
              <a:t>Revenue Mix  ·  مصادر الإيرادات</a:t>
            </a:r>
            <a:endParaRPr lang="en-US" sz="950" dirty="0"/>
          </a:p>
        </p:txBody>
      </p:sp>
      <p:pic>
        <p:nvPicPr>
          <p:cNvPr id="37" name="Image 0" descr="/sessions/festive-vibrant-feynman/revenue_pie.png">    </p:cNvPr>
          <p:cNvPicPr>
            <a:picLocks noChangeAspect="1"/>
          </p:cNvPicPr>
          <p:nvPr/>
        </p:nvPicPr>
        <p:blipFill>
          <a:blip r:embed="rId1"/>
          <a:stretch>
            <a:fillRect/>
          </a:stretch>
        </p:blipFill>
        <p:spPr>
          <a:xfrm>
            <a:off x="5486400" y="1645920"/>
            <a:ext cx="3017520" cy="1371600"/>
          </a:xfrm>
          <a:prstGeom prst="rect">
            <a:avLst/>
          </a:prstGeom>
        </p:spPr>
      </p:pic>
      <p:sp>
        <p:nvSpPr>
          <p:cNvPr id="38" name="Shape 35"/>
          <p:cNvSpPr/>
          <p:nvPr/>
        </p:nvSpPr>
        <p:spPr>
          <a:xfrm>
            <a:off x="5303520" y="3200400"/>
            <a:ext cx="3383280" cy="13258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9" name="Text 36"/>
          <p:cNvSpPr/>
          <p:nvPr/>
        </p:nvSpPr>
        <p:spPr>
          <a:xfrm>
            <a:off x="5440680" y="3246120"/>
            <a:ext cx="3108960" cy="201168"/>
          </a:xfrm>
          <a:prstGeom prst="rect">
            <a:avLst/>
          </a:prstGeom>
          <a:noFill/>
          <a:ln/>
        </p:spPr>
        <p:txBody>
          <a:bodyPr wrap="square" lIns="0" tIns="0" rIns="0" bIns="0" rtlCol="0" anchor="ctr"/>
          <a:lstStyle/>
          <a:p>
            <a:pPr indent="0" marL="0">
              <a:buNone/>
            </a:pPr>
            <a:r>
              <a:rPr lang="en-US" sz="950" b="1" dirty="0">
                <a:solidFill>
                  <a:srgbClr val="D4AF37"/>
                </a:solidFill>
                <a:latin typeface="Calibri" pitchFamily="34" charset="0"/>
                <a:ea typeface="Calibri" pitchFamily="34" charset="-122"/>
                <a:cs typeface="Calibri" pitchFamily="34" charset="-120"/>
              </a:rPr>
              <a:t>3-Year Revenue Outlook  ·  توقعات الإيرادات</a:t>
            </a:r>
            <a:endParaRPr lang="en-US" sz="950" dirty="0"/>
          </a:p>
        </p:txBody>
      </p:sp>
      <p:pic>
        <p:nvPicPr>
          <p:cNvPr id="40" name="Image 1" descr="/sessions/festive-vibrant-feynman/revenue_projection.png">    </p:cNvPr>
          <p:cNvPicPr>
            <a:picLocks noChangeAspect="1"/>
          </p:cNvPicPr>
          <p:nvPr/>
        </p:nvPicPr>
        <p:blipFill>
          <a:blip r:embed="rId2"/>
          <a:stretch>
            <a:fillRect/>
          </a:stretch>
        </p:blipFill>
        <p:spPr>
          <a:xfrm>
            <a:off x="5486400" y="3474720"/>
            <a:ext cx="3017520" cy="1005840"/>
          </a:xfrm>
          <a:prstGeom prst="rect">
            <a:avLst/>
          </a:prstGeom>
        </p:spPr>
      </p:pic>
      <p:sp>
        <p:nvSpPr>
          <p:cNvPr id="41" name="Shape 37"/>
          <p:cNvSpPr/>
          <p:nvPr/>
        </p:nvSpPr>
        <p:spPr>
          <a:xfrm>
            <a:off x="0" y="4709160"/>
            <a:ext cx="9144000" cy="434340"/>
          </a:xfrm>
          <a:prstGeom prst="rect">
            <a:avLst/>
          </a:prstGeom>
          <a:solidFill>
            <a:srgbClr val="0A1220"/>
          </a:solidFill>
          <a:ln/>
        </p:spPr>
      </p:sp>
      <p:sp>
        <p:nvSpPr>
          <p:cNvPr id="42"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13 / 19</a:t>
            </a:r>
            <a:endParaRPr lang="en-US" sz="750" dirty="0"/>
          </a:p>
        </p:txBody>
      </p:sp>
      <p:sp>
        <p:nvSpPr>
          <p:cNvPr id="44"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TECH STACK  ·  البنية التقنية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for Scale &amp; Security</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بنية تحتية مصممة للنمو والأمان من اليوم الأول</a:t>
            </a:r>
            <a:endParaRPr lang="en-US" sz="2600" dirty="0"/>
          </a:p>
        </p:txBody>
      </p:sp>
      <p:sp>
        <p:nvSpPr>
          <p:cNvPr id="5" name="Shape 3"/>
          <p:cNvSpPr/>
          <p:nvPr/>
        </p:nvSpPr>
        <p:spPr>
          <a:xfrm>
            <a:off x="457200" y="1325880"/>
            <a:ext cx="8229600" cy="384048"/>
          </a:xfrm>
          <a:prstGeom prst="rect">
            <a:avLst/>
          </a:prstGeom>
          <a:solidFill>
            <a:srgbClr val="162B45"/>
          </a:solidFill>
          <a:ln/>
        </p:spPr>
      </p:sp>
      <p:sp>
        <p:nvSpPr>
          <p:cNvPr id="6" name="Shape 4"/>
          <p:cNvSpPr/>
          <p:nvPr/>
        </p:nvSpPr>
        <p:spPr>
          <a:xfrm>
            <a:off x="548640" y="1380744"/>
            <a:ext cx="1005840" cy="256032"/>
          </a:xfrm>
          <a:prstGeom prst="rect">
            <a:avLst/>
          </a:prstGeom>
          <a:solidFill>
            <a:srgbClr val="0891B2"/>
          </a:solidFill>
          <a:ln/>
        </p:spPr>
      </p:sp>
      <p:sp>
        <p:nvSpPr>
          <p:cNvPr id="7" name="Text 5"/>
          <p:cNvSpPr/>
          <p:nvPr/>
        </p:nvSpPr>
        <p:spPr>
          <a:xfrm>
            <a:off x="548640" y="1380744"/>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Backend</a:t>
            </a:r>
            <a:endParaRPr lang="en-US" sz="900" dirty="0"/>
          </a:p>
        </p:txBody>
      </p:sp>
      <p:sp>
        <p:nvSpPr>
          <p:cNvPr id="8" name="Text 6"/>
          <p:cNvSpPr/>
          <p:nvPr/>
        </p:nvSpPr>
        <p:spPr>
          <a:xfrm>
            <a:off x="1691640" y="1325880"/>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FastAPI (Python 3.11)  ·  30+ REST APIs</a:t>
            </a:r>
            <a:endParaRPr lang="en-US" sz="1050" dirty="0"/>
          </a:p>
        </p:txBody>
      </p:sp>
      <p:sp>
        <p:nvSpPr>
          <p:cNvPr id="9" name="Text 7"/>
          <p:cNvSpPr/>
          <p:nvPr/>
        </p:nvSpPr>
        <p:spPr>
          <a:xfrm>
            <a:off x="6400800" y="1325880"/>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خادم عالي الأداء</a:t>
            </a:r>
            <a:endParaRPr lang="en-US" sz="950" dirty="0"/>
          </a:p>
        </p:txBody>
      </p:sp>
      <p:sp>
        <p:nvSpPr>
          <p:cNvPr id="10" name="Shape 8"/>
          <p:cNvSpPr/>
          <p:nvPr/>
        </p:nvSpPr>
        <p:spPr>
          <a:xfrm>
            <a:off x="457200" y="1764792"/>
            <a:ext cx="8229600" cy="384048"/>
          </a:xfrm>
          <a:prstGeom prst="rect">
            <a:avLst/>
          </a:prstGeom>
          <a:solidFill>
            <a:srgbClr val="1A3350"/>
          </a:solidFill>
          <a:ln/>
        </p:spPr>
      </p:sp>
      <p:sp>
        <p:nvSpPr>
          <p:cNvPr id="11" name="Shape 9"/>
          <p:cNvSpPr/>
          <p:nvPr/>
        </p:nvSpPr>
        <p:spPr>
          <a:xfrm>
            <a:off x="548640" y="1819656"/>
            <a:ext cx="1005840" cy="256032"/>
          </a:xfrm>
          <a:prstGeom prst="rect">
            <a:avLst/>
          </a:prstGeom>
          <a:solidFill>
            <a:srgbClr val="22D3EE"/>
          </a:solidFill>
          <a:ln/>
        </p:spPr>
      </p:sp>
      <p:sp>
        <p:nvSpPr>
          <p:cNvPr id="12" name="Text 10"/>
          <p:cNvSpPr/>
          <p:nvPr/>
        </p:nvSpPr>
        <p:spPr>
          <a:xfrm>
            <a:off x="548640" y="1819656"/>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Frontend</a:t>
            </a:r>
            <a:endParaRPr lang="en-US" sz="900" dirty="0"/>
          </a:p>
        </p:txBody>
      </p:sp>
      <p:sp>
        <p:nvSpPr>
          <p:cNvPr id="13" name="Text 11"/>
          <p:cNvSpPr/>
          <p:nvPr/>
        </p:nvSpPr>
        <p:spPr>
          <a:xfrm>
            <a:off x="1691640" y="1764792"/>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Flutter Web + Mobile  ·  55+ Screens</a:t>
            </a:r>
            <a:endParaRPr lang="en-US" sz="1050" dirty="0"/>
          </a:p>
        </p:txBody>
      </p:sp>
      <p:sp>
        <p:nvSpPr>
          <p:cNvPr id="14" name="Text 12"/>
          <p:cNvSpPr/>
          <p:nvPr/>
        </p:nvSpPr>
        <p:spPr>
          <a:xfrm>
            <a:off x="6400800" y="1764792"/>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تطبيق ويب وجوّال موحّد</a:t>
            </a:r>
            <a:endParaRPr lang="en-US" sz="950" dirty="0"/>
          </a:p>
        </p:txBody>
      </p:sp>
      <p:sp>
        <p:nvSpPr>
          <p:cNvPr id="15" name="Shape 13"/>
          <p:cNvSpPr/>
          <p:nvPr/>
        </p:nvSpPr>
        <p:spPr>
          <a:xfrm>
            <a:off x="457200" y="2203704"/>
            <a:ext cx="8229600" cy="384048"/>
          </a:xfrm>
          <a:prstGeom prst="rect">
            <a:avLst/>
          </a:prstGeom>
          <a:solidFill>
            <a:srgbClr val="162B45"/>
          </a:solidFill>
          <a:ln/>
        </p:spPr>
      </p:sp>
      <p:sp>
        <p:nvSpPr>
          <p:cNvPr id="16" name="Shape 14"/>
          <p:cNvSpPr/>
          <p:nvPr/>
        </p:nvSpPr>
        <p:spPr>
          <a:xfrm>
            <a:off x="548640" y="2258568"/>
            <a:ext cx="1005840" cy="256032"/>
          </a:xfrm>
          <a:prstGeom prst="rect">
            <a:avLst/>
          </a:prstGeom>
          <a:solidFill>
            <a:srgbClr val="D4AF37"/>
          </a:solidFill>
          <a:ln/>
        </p:spPr>
      </p:sp>
      <p:sp>
        <p:nvSpPr>
          <p:cNvPr id="17" name="Text 15"/>
          <p:cNvSpPr/>
          <p:nvPr/>
        </p:nvSpPr>
        <p:spPr>
          <a:xfrm>
            <a:off x="548640" y="2258568"/>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Database</a:t>
            </a:r>
            <a:endParaRPr lang="en-US" sz="900" dirty="0"/>
          </a:p>
        </p:txBody>
      </p:sp>
      <p:sp>
        <p:nvSpPr>
          <p:cNvPr id="18" name="Text 16"/>
          <p:cNvSpPr/>
          <p:nvPr/>
        </p:nvSpPr>
        <p:spPr>
          <a:xfrm>
            <a:off x="1691640" y="2203704"/>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PostgreSQL  ·  Read Replicas Ready</a:t>
            </a:r>
            <a:endParaRPr lang="en-US" sz="1050" dirty="0"/>
          </a:p>
        </p:txBody>
      </p:sp>
      <p:sp>
        <p:nvSpPr>
          <p:cNvPr id="19" name="Text 17"/>
          <p:cNvSpPr/>
          <p:nvPr/>
        </p:nvSpPr>
        <p:spPr>
          <a:xfrm>
            <a:off x="6400800" y="2203704"/>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قاعدة بيانات جاهزة للتوسع</a:t>
            </a:r>
            <a:endParaRPr lang="en-US" sz="950" dirty="0"/>
          </a:p>
        </p:txBody>
      </p:sp>
      <p:sp>
        <p:nvSpPr>
          <p:cNvPr id="20" name="Shape 18"/>
          <p:cNvSpPr/>
          <p:nvPr/>
        </p:nvSpPr>
        <p:spPr>
          <a:xfrm>
            <a:off x="457200" y="2642616"/>
            <a:ext cx="8229600" cy="384048"/>
          </a:xfrm>
          <a:prstGeom prst="rect">
            <a:avLst/>
          </a:prstGeom>
          <a:solidFill>
            <a:srgbClr val="1A3350"/>
          </a:solidFill>
          <a:ln/>
        </p:spPr>
      </p:sp>
      <p:sp>
        <p:nvSpPr>
          <p:cNvPr id="21" name="Shape 19"/>
          <p:cNvSpPr/>
          <p:nvPr/>
        </p:nvSpPr>
        <p:spPr>
          <a:xfrm>
            <a:off x="548640" y="2697480"/>
            <a:ext cx="1005840" cy="256032"/>
          </a:xfrm>
          <a:prstGeom prst="rect">
            <a:avLst/>
          </a:prstGeom>
          <a:solidFill>
            <a:srgbClr val="10B981"/>
          </a:solidFill>
          <a:ln/>
        </p:spPr>
      </p:sp>
      <p:sp>
        <p:nvSpPr>
          <p:cNvPr id="22" name="Text 20"/>
          <p:cNvSpPr/>
          <p:nvPr/>
        </p:nvSpPr>
        <p:spPr>
          <a:xfrm>
            <a:off x="548640" y="2697480"/>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AI Engine</a:t>
            </a:r>
            <a:endParaRPr lang="en-US" sz="900" dirty="0"/>
          </a:p>
        </p:txBody>
      </p:sp>
      <p:sp>
        <p:nvSpPr>
          <p:cNvPr id="23" name="Text 21"/>
          <p:cNvSpPr/>
          <p:nvPr/>
        </p:nvSpPr>
        <p:spPr>
          <a:xfrm>
            <a:off x="1691640" y="2642616"/>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Knowledge Brain  ·  11 Modules  ·  Claude AI</a:t>
            </a:r>
            <a:endParaRPr lang="en-US" sz="1050" dirty="0"/>
          </a:p>
        </p:txBody>
      </p:sp>
      <p:sp>
        <p:nvSpPr>
          <p:cNvPr id="24" name="Text 22"/>
          <p:cNvSpPr/>
          <p:nvPr/>
        </p:nvSpPr>
        <p:spPr>
          <a:xfrm>
            <a:off x="6400800" y="2642616"/>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محرك ذكاء اصطناعي متخصص</a:t>
            </a:r>
            <a:endParaRPr lang="en-US" sz="950" dirty="0"/>
          </a:p>
        </p:txBody>
      </p:sp>
      <p:sp>
        <p:nvSpPr>
          <p:cNvPr id="25" name="Shape 23"/>
          <p:cNvSpPr/>
          <p:nvPr/>
        </p:nvSpPr>
        <p:spPr>
          <a:xfrm>
            <a:off x="457200" y="3081528"/>
            <a:ext cx="8229600" cy="384048"/>
          </a:xfrm>
          <a:prstGeom prst="rect">
            <a:avLst/>
          </a:prstGeom>
          <a:solidFill>
            <a:srgbClr val="162B45"/>
          </a:solidFill>
          <a:ln/>
        </p:spPr>
      </p:sp>
      <p:sp>
        <p:nvSpPr>
          <p:cNvPr id="26" name="Shape 24"/>
          <p:cNvSpPr/>
          <p:nvPr/>
        </p:nvSpPr>
        <p:spPr>
          <a:xfrm>
            <a:off x="548640" y="3136392"/>
            <a:ext cx="1005840" cy="256032"/>
          </a:xfrm>
          <a:prstGeom prst="rect">
            <a:avLst/>
          </a:prstGeom>
          <a:solidFill>
            <a:srgbClr val="F96167"/>
          </a:solidFill>
          <a:ln/>
        </p:spPr>
      </p:sp>
      <p:sp>
        <p:nvSpPr>
          <p:cNvPr id="27" name="Text 25"/>
          <p:cNvSpPr/>
          <p:nvPr/>
        </p:nvSpPr>
        <p:spPr>
          <a:xfrm>
            <a:off x="548640" y="3136392"/>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Auth</a:t>
            </a:r>
            <a:endParaRPr lang="en-US" sz="900" dirty="0"/>
          </a:p>
        </p:txBody>
      </p:sp>
      <p:sp>
        <p:nvSpPr>
          <p:cNvPr id="28" name="Text 26"/>
          <p:cNvSpPr/>
          <p:nvPr/>
        </p:nvSpPr>
        <p:spPr>
          <a:xfrm>
            <a:off x="1691640" y="3081528"/>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JWT  ·  11 Roles  ·  Full Audit Logs  ·  bcrypt</a:t>
            </a:r>
            <a:endParaRPr lang="en-US" sz="1050" dirty="0"/>
          </a:p>
        </p:txBody>
      </p:sp>
      <p:sp>
        <p:nvSpPr>
          <p:cNvPr id="29" name="Text 27"/>
          <p:cNvSpPr/>
          <p:nvPr/>
        </p:nvSpPr>
        <p:spPr>
          <a:xfrm>
            <a:off x="6400800" y="3081528"/>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حماية متعددة المستويات</a:t>
            </a:r>
            <a:endParaRPr lang="en-US" sz="950" dirty="0"/>
          </a:p>
        </p:txBody>
      </p:sp>
      <p:sp>
        <p:nvSpPr>
          <p:cNvPr id="30" name="Shape 28"/>
          <p:cNvSpPr/>
          <p:nvPr/>
        </p:nvSpPr>
        <p:spPr>
          <a:xfrm>
            <a:off x="457200" y="3520440"/>
            <a:ext cx="8229600" cy="384048"/>
          </a:xfrm>
          <a:prstGeom prst="rect">
            <a:avLst/>
          </a:prstGeom>
          <a:solidFill>
            <a:srgbClr val="1A3350"/>
          </a:solidFill>
          <a:ln/>
        </p:spPr>
      </p:sp>
      <p:sp>
        <p:nvSpPr>
          <p:cNvPr id="31" name="Shape 29"/>
          <p:cNvSpPr/>
          <p:nvPr/>
        </p:nvSpPr>
        <p:spPr>
          <a:xfrm>
            <a:off x="548640" y="3575304"/>
            <a:ext cx="1005840" cy="256032"/>
          </a:xfrm>
          <a:prstGeom prst="rect">
            <a:avLst/>
          </a:prstGeom>
          <a:solidFill>
            <a:srgbClr val="E8CC73"/>
          </a:solidFill>
          <a:ln/>
        </p:spPr>
      </p:sp>
      <p:sp>
        <p:nvSpPr>
          <p:cNvPr id="32" name="Text 30"/>
          <p:cNvSpPr/>
          <p:nvPr/>
        </p:nvSpPr>
        <p:spPr>
          <a:xfrm>
            <a:off x="548640" y="3575304"/>
            <a:ext cx="1005840" cy="256032"/>
          </a:xfrm>
          <a:prstGeom prst="rect">
            <a:avLst/>
          </a:prstGeom>
          <a:noFill/>
          <a:ln/>
        </p:spPr>
        <p:txBody>
          <a:bodyPr wrap="square" lIns="0" tIns="0" rIns="0" bIns="0" rtlCol="0" anchor="ctr"/>
          <a:lstStyle/>
          <a:p>
            <a:pPr algn="ctr" indent="0" marL="0">
              <a:buNone/>
            </a:pPr>
            <a:r>
              <a:rPr lang="en-US" sz="900" b="1" dirty="0">
                <a:solidFill>
                  <a:srgbClr val="0B1523"/>
                </a:solidFill>
                <a:latin typeface="Calibri" pitchFamily="34" charset="0"/>
                <a:ea typeface="Calibri" pitchFamily="34" charset="-122"/>
                <a:cs typeface="Calibri" pitchFamily="34" charset="-120"/>
              </a:rPr>
              <a:t>DevOps</a:t>
            </a:r>
            <a:endParaRPr lang="en-US" sz="900" dirty="0"/>
          </a:p>
        </p:txBody>
      </p:sp>
      <p:sp>
        <p:nvSpPr>
          <p:cNvPr id="33" name="Text 31"/>
          <p:cNvSpPr/>
          <p:nvPr/>
        </p:nvSpPr>
        <p:spPr>
          <a:xfrm>
            <a:off x="1691640" y="3520440"/>
            <a:ext cx="457200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Docker  ·  CI/CD  ·  GitHub Actions  ·  Render</a:t>
            </a:r>
            <a:endParaRPr lang="en-US" sz="1050" dirty="0"/>
          </a:p>
        </p:txBody>
      </p:sp>
      <p:sp>
        <p:nvSpPr>
          <p:cNvPr id="34" name="Text 32"/>
          <p:cNvSpPr/>
          <p:nvPr/>
        </p:nvSpPr>
        <p:spPr>
          <a:xfrm>
            <a:off x="6400800" y="3520440"/>
            <a:ext cx="2194560" cy="384048"/>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نشر آلي ومراقبة مستمرة</a:t>
            </a:r>
            <a:endParaRPr lang="en-US" sz="950" dirty="0"/>
          </a:p>
        </p:txBody>
      </p:sp>
      <p:sp>
        <p:nvSpPr>
          <p:cNvPr id="35" name="Shape 33"/>
          <p:cNvSpPr/>
          <p:nvPr/>
        </p:nvSpPr>
        <p:spPr>
          <a:xfrm>
            <a:off x="457200" y="3931920"/>
            <a:ext cx="1920240" cy="502920"/>
          </a:xfrm>
          <a:prstGeom prst="rect">
            <a:avLst/>
          </a:prstGeom>
          <a:solidFill>
            <a:srgbClr val="162B45"/>
          </a:solidFill>
          <a:ln/>
        </p:spPr>
      </p:sp>
      <p:sp>
        <p:nvSpPr>
          <p:cNvPr id="36" name="Shape 34"/>
          <p:cNvSpPr/>
          <p:nvPr/>
        </p:nvSpPr>
        <p:spPr>
          <a:xfrm>
            <a:off x="457200" y="3931920"/>
            <a:ext cx="1920240" cy="36576"/>
          </a:xfrm>
          <a:prstGeom prst="rect">
            <a:avLst/>
          </a:prstGeom>
          <a:solidFill>
            <a:srgbClr val="0891B2"/>
          </a:solidFill>
          <a:ln/>
        </p:spPr>
      </p:sp>
      <p:sp>
        <p:nvSpPr>
          <p:cNvPr id="37" name="Text 35"/>
          <p:cNvSpPr/>
          <p:nvPr/>
        </p:nvSpPr>
        <p:spPr>
          <a:xfrm>
            <a:off x="548640" y="3977640"/>
            <a:ext cx="640080" cy="41148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30+</a:t>
            </a:r>
            <a:endParaRPr lang="en-US" sz="1800" dirty="0"/>
          </a:p>
        </p:txBody>
      </p:sp>
      <p:sp>
        <p:nvSpPr>
          <p:cNvPr id="38" name="Text 36"/>
          <p:cNvSpPr/>
          <p:nvPr/>
        </p:nvSpPr>
        <p:spPr>
          <a:xfrm>
            <a:off x="118872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REST APIs</a:t>
            </a:r>
            <a:endParaRPr lang="en-US" sz="1000" dirty="0"/>
          </a:p>
        </p:txBody>
      </p:sp>
      <p:sp>
        <p:nvSpPr>
          <p:cNvPr id="39" name="Shape 37"/>
          <p:cNvSpPr/>
          <p:nvPr/>
        </p:nvSpPr>
        <p:spPr>
          <a:xfrm>
            <a:off x="2606040" y="3931920"/>
            <a:ext cx="1920240" cy="502920"/>
          </a:xfrm>
          <a:prstGeom prst="rect">
            <a:avLst/>
          </a:prstGeom>
          <a:solidFill>
            <a:srgbClr val="162B45"/>
          </a:solidFill>
          <a:ln/>
        </p:spPr>
      </p:sp>
      <p:sp>
        <p:nvSpPr>
          <p:cNvPr id="40" name="Shape 38"/>
          <p:cNvSpPr/>
          <p:nvPr/>
        </p:nvSpPr>
        <p:spPr>
          <a:xfrm>
            <a:off x="2606040" y="3931920"/>
            <a:ext cx="1920240" cy="36576"/>
          </a:xfrm>
          <a:prstGeom prst="rect">
            <a:avLst/>
          </a:prstGeom>
          <a:solidFill>
            <a:srgbClr val="10B981"/>
          </a:solidFill>
          <a:ln/>
        </p:spPr>
      </p:sp>
      <p:sp>
        <p:nvSpPr>
          <p:cNvPr id="41" name="Text 39"/>
          <p:cNvSpPr/>
          <p:nvPr/>
        </p:nvSpPr>
        <p:spPr>
          <a:xfrm>
            <a:off x="2697480" y="3977640"/>
            <a:ext cx="640080" cy="41148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11</a:t>
            </a:r>
            <a:endParaRPr lang="en-US" sz="1800" dirty="0"/>
          </a:p>
        </p:txBody>
      </p:sp>
      <p:sp>
        <p:nvSpPr>
          <p:cNvPr id="42" name="Text 40"/>
          <p:cNvSpPr/>
          <p:nvPr/>
        </p:nvSpPr>
        <p:spPr>
          <a:xfrm>
            <a:off x="333756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AI Modules</a:t>
            </a:r>
            <a:endParaRPr lang="en-US" sz="1000" dirty="0"/>
          </a:p>
        </p:txBody>
      </p:sp>
      <p:sp>
        <p:nvSpPr>
          <p:cNvPr id="43" name="Shape 41"/>
          <p:cNvSpPr/>
          <p:nvPr/>
        </p:nvSpPr>
        <p:spPr>
          <a:xfrm>
            <a:off x="4754880" y="3931920"/>
            <a:ext cx="1920240" cy="502920"/>
          </a:xfrm>
          <a:prstGeom prst="rect">
            <a:avLst/>
          </a:prstGeom>
          <a:solidFill>
            <a:srgbClr val="162B45"/>
          </a:solidFill>
          <a:ln/>
        </p:spPr>
      </p:sp>
      <p:sp>
        <p:nvSpPr>
          <p:cNvPr id="44" name="Shape 42"/>
          <p:cNvSpPr/>
          <p:nvPr/>
        </p:nvSpPr>
        <p:spPr>
          <a:xfrm>
            <a:off x="4754880" y="3931920"/>
            <a:ext cx="1920240" cy="36576"/>
          </a:xfrm>
          <a:prstGeom prst="rect">
            <a:avLst/>
          </a:prstGeom>
          <a:solidFill>
            <a:srgbClr val="D4AF37"/>
          </a:solidFill>
          <a:ln/>
        </p:spPr>
      </p:sp>
      <p:sp>
        <p:nvSpPr>
          <p:cNvPr id="45" name="Text 43"/>
          <p:cNvSpPr/>
          <p:nvPr/>
        </p:nvSpPr>
        <p:spPr>
          <a:xfrm>
            <a:off x="4846320" y="3977640"/>
            <a:ext cx="640080" cy="411480"/>
          </a:xfrm>
          <a:prstGeom prst="rect">
            <a:avLst/>
          </a:prstGeom>
          <a:noFill/>
          <a:ln/>
        </p:spPr>
        <p:txBody>
          <a:bodyPr wrap="square" lIns="0" tIns="0" rIns="0" bIns="0" rtlCol="0" anchor="ctr"/>
          <a:lstStyle/>
          <a:p>
            <a:pPr indent="0" marL="0">
              <a:buNone/>
            </a:pPr>
            <a:r>
              <a:rPr lang="en-US" sz="1800" dirty="0">
                <a:solidFill>
                  <a:srgbClr val="D4AF37"/>
                </a:solidFill>
                <a:latin typeface="Arial Black" pitchFamily="34" charset="0"/>
                <a:ea typeface="Arial Black" pitchFamily="34" charset="-122"/>
                <a:cs typeface="Arial Black" pitchFamily="34" charset="-120"/>
              </a:rPr>
              <a:t>55+</a:t>
            </a:r>
            <a:endParaRPr lang="en-US" sz="1800" dirty="0"/>
          </a:p>
        </p:txBody>
      </p:sp>
      <p:sp>
        <p:nvSpPr>
          <p:cNvPr id="46" name="Text 44"/>
          <p:cNvSpPr/>
          <p:nvPr/>
        </p:nvSpPr>
        <p:spPr>
          <a:xfrm>
            <a:off x="548640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UI Screens</a:t>
            </a:r>
            <a:endParaRPr lang="en-US" sz="1000" dirty="0"/>
          </a:p>
        </p:txBody>
      </p:sp>
      <p:sp>
        <p:nvSpPr>
          <p:cNvPr id="47" name="Shape 45"/>
          <p:cNvSpPr/>
          <p:nvPr/>
        </p:nvSpPr>
        <p:spPr>
          <a:xfrm>
            <a:off x="6903720" y="3931920"/>
            <a:ext cx="1920240" cy="502920"/>
          </a:xfrm>
          <a:prstGeom prst="rect">
            <a:avLst/>
          </a:prstGeom>
          <a:solidFill>
            <a:srgbClr val="162B45"/>
          </a:solidFill>
          <a:ln/>
        </p:spPr>
      </p:sp>
      <p:sp>
        <p:nvSpPr>
          <p:cNvPr id="48" name="Shape 46"/>
          <p:cNvSpPr/>
          <p:nvPr/>
        </p:nvSpPr>
        <p:spPr>
          <a:xfrm>
            <a:off x="6903720" y="3931920"/>
            <a:ext cx="1920240" cy="36576"/>
          </a:xfrm>
          <a:prstGeom prst="rect">
            <a:avLst/>
          </a:prstGeom>
          <a:solidFill>
            <a:srgbClr val="F96167"/>
          </a:solidFill>
          <a:ln/>
        </p:spPr>
      </p:sp>
      <p:sp>
        <p:nvSpPr>
          <p:cNvPr id="49" name="Text 47"/>
          <p:cNvSpPr/>
          <p:nvPr/>
        </p:nvSpPr>
        <p:spPr>
          <a:xfrm>
            <a:off x="6995160" y="3977640"/>
            <a:ext cx="640080" cy="411480"/>
          </a:xfrm>
          <a:prstGeom prst="rect">
            <a:avLst/>
          </a:prstGeom>
          <a:noFill/>
          <a:ln/>
        </p:spPr>
        <p:txBody>
          <a:bodyPr wrap="square" lIns="0" tIns="0" rIns="0" bIns="0" rtlCol="0" anchor="ctr"/>
          <a:lstStyle/>
          <a:p>
            <a:pPr indent="0" marL="0">
              <a:buNone/>
            </a:pPr>
            <a:r>
              <a:rPr lang="en-US" sz="1800" dirty="0">
                <a:solidFill>
                  <a:srgbClr val="F96167"/>
                </a:solidFill>
                <a:latin typeface="Arial Black" pitchFamily="34" charset="0"/>
                <a:ea typeface="Arial Black" pitchFamily="34" charset="-122"/>
                <a:cs typeface="Arial Black" pitchFamily="34" charset="-120"/>
              </a:rPr>
              <a:t>204</a:t>
            </a:r>
            <a:endParaRPr lang="en-US" sz="1800" dirty="0"/>
          </a:p>
        </p:txBody>
      </p:sp>
      <p:sp>
        <p:nvSpPr>
          <p:cNvPr id="50" name="Text 48"/>
          <p:cNvSpPr/>
          <p:nvPr/>
        </p:nvSpPr>
        <p:spPr>
          <a:xfrm>
            <a:off x="763524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Tests</a:t>
            </a:r>
            <a:endParaRPr lang="en-US" sz="1000" dirty="0"/>
          </a:p>
        </p:txBody>
      </p:sp>
      <p:sp>
        <p:nvSpPr>
          <p:cNvPr id="51" name="Shape 49"/>
          <p:cNvSpPr/>
          <p:nvPr/>
        </p:nvSpPr>
        <p:spPr>
          <a:xfrm>
            <a:off x="0" y="4709160"/>
            <a:ext cx="9144000" cy="434340"/>
          </a:xfrm>
          <a:prstGeom prst="rect">
            <a:avLst/>
          </a:prstGeom>
          <a:solidFill>
            <a:srgbClr val="0A1220"/>
          </a:solidFill>
          <a:ln/>
        </p:spPr>
      </p:sp>
      <p:sp>
        <p:nvSpPr>
          <p:cNvPr id="52" name="Text 50"/>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53" name="Text 51"/>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14 / 19</a:t>
            </a:r>
            <a:endParaRPr lang="en-US" sz="750" dirty="0"/>
          </a:p>
        </p:txBody>
      </p:sp>
      <p:sp>
        <p:nvSpPr>
          <p:cNvPr id="54" name="Text 52"/>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THE TEAM  ·  فريق العمل</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by Someone Who Knows the Problem</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بناه شخص يعيش التحدي ويفهم السوق من الداخل</a:t>
            </a:r>
            <a:endParaRPr lang="en-US" sz="2600" dirty="0"/>
          </a:p>
        </p:txBody>
      </p:sp>
      <p:sp>
        <p:nvSpPr>
          <p:cNvPr id="5" name="Shape 3"/>
          <p:cNvSpPr/>
          <p:nvPr/>
        </p:nvSpPr>
        <p:spPr>
          <a:xfrm>
            <a:off x="457200" y="1371600"/>
            <a:ext cx="3977640" cy="12344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457200" y="1371600"/>
            <a:ext cx="3977640" cy="45720"/>
          </a:xfrm>
          <a:prstGeom prst="rect">
            <a:avLst/>
          </a:prstGeom>
          <a:solidFill>
            <a:srgbClr val="D4AF37"/>
          </a:solidFill>
          <a:ln/>
        </p:spPr>
      </p:sp>
      <p:sp>
        <p:nvSpPr>
          <p:cNvPr id="7" name="Shape 5"/>
          <p:cNvSpPr/>
          <p:nvPr/>
        </p:nvSpPr>
        <p:spPr>
          <a:xfrm>
            <a:off x="594360" y="1554480"/>
            <a:ext cx="640080" cy="640080"/>
          </a:xfrm>
          <a:prstGeom prst="ellipse">
            <a:avLst/>
          </a:prstGeom>
          <a:solidFill>
            <a:srgbClr val="D4AF37"/>
          </a:solidFill>
          <a:ln/>
        </p:spPr>
      </p:sp>
      <p:sp>
        <p:nvSpPr>
          <p:cNvPr id="8" name="Text 6"/>
          <p:cNvSpPr/>
          <p:nvPr/>
        </p:nvSpPr>
        <p:spPr>
          <a:xfrm>
            <a:off x="594360" y="1554480"/>
            <a:ext cx="640080" cy="640080"/>
          </a:xfrm>
          <a:prstGeom prst="rect">
            <a:avLst/>
          </a:prstGeom>
          <a:noFill/>
          <a:ln/>
        </p:spPr>
        <p:txBody>
          <a:bodyPr wrap="square" lIns="0" tIns="0" rIns="0" bIns="0" rtlCol="0" anchor="ctr"/>
          <a:lstStyle/>
          <a:p>
            <a:pPr algn="ctr" indent="0" marL="0">
              <a:buNone/>
            </a:pPr>
            <a:r>
              <a:rPr lang="en-US" sz="1400" dirty="0">
                <a:solidFill>
                  <a:srgbClr val="0B1523"/>
                </a:solidFill>
                <a:latin typeface="Arial Black" pitchFamily="34" charset="0"/>
                <a:ea typeface="Arial Black" pitchFamily="34" charset="-122"/>
                <a:cs typeface="Arial Black" pitchFamily="34" charset="-120"/>
              </a:rPr>
              <a:t>SA</a:t>
            </a:r>
            <a:endParaRPr lang="en-US" sz="1400" dirty="0"/>
          </a:p>
        </p:txBody>
      </p:sp>
      <p:sp>
        <p:nvSpPr>
          <p:cNvPr id="9" name="Text 7"/>
          <p:cNvSpPr/>
          <p:nvPr/>
        </p:nvSpPr>
        <p:spPr>
          <a:xfrm>
            <a:off x="137160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Shady Apoelela</a:t>
            </a:r>
            <a:endParaRPr lang="en-US" sz="1300" dirty="0"/>
          </a:p>
        </p:txBody>
      </p:sp>
      <p:sp>
        <p:nvSpPr>
          <p:cNvPr id="10" name="Text 8"/>
          <p:cNvSpPr/>
          <p:nvPr/>
        </p:nvSpPr>
        <p:spPr>
          <a:xfrm>
            <a:off x="1371600" y="1691640"/>
            <a:ext cx="28803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Founder &amp; CEO</a:t>
            </a:r>
            <a:endParaRPr lang="en-US" sz="1000" dirty="0"/>
          </a:p>
        </p:txBody>
      </p:sp>
      <p:sp>
        <p:nvSpPr>
          <p:cNvPr id="11" name="Text 9"/>
          <p:cNvSpPr/>
          <p:nvPr/>
        </p:nvSpPr>
        <p:spPr>
          <a:xfrm>
            <a:off x="137160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شادي أبو العلا  ·  المؤسس والرئيس التنفيذي</a:t>
            </a:r>
            <a:endParaRPr lang="en-US" sz="900" dirty="0"/>
          </a:p>
        </p:txBody>
      </p:sp>
      <p:sp>
        <p:nvSpPr>
          <p:cNvPr id="12" name="Text 10"/>
          <p:cNvSpPr/>
          <p:nvPr/>
        </p:nvSpPr>
        <p:spPr>
          <a:xfrm>
            <a:off x="59436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Full-stack architect. Built APEX solo: 30+ APIs, 55+ screens, 11 AI modules, 204 tests — from concept to working product.</a:t>
            </a:r>
            <a:endParaRPr lang="en-US" sz="900" dirty="0"/>
          </a:p>
        </p:txBody>
      </p:sp>
      <p:sp>
        <p:nvSpPr>
          <p:cNvPr id="13" name="Shape 11"/>
          <p:cNvSpPr/>
          <p:nvPr/>
        </p:nvSpPr>
        <p:spPr>
          <a:xfrm>
            <a:off x="4754880" y="1371600"/>
            <a:ext cx="3977640" cy="12344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4" name="Shape 12"/>
          <p:cNvSpPr/>
          <p:nvPr/>
        </p:nvSpPr>
        <p:spPr>
          <a:xfrm>
            <a:off x="4754880" y="1371600"/>
            <a:ext cx="3977640" cy="45720"/>
          </a:xfrm>
          <a:prstGeom prst="rect">
            <a:avLst/>
          </a:prstGeom>
          <a:solidFill>
            <a:srgbClr val="0891B2"/>
          </a:solidFill>
          <a:ln/>
        </p:spPr>
      </p:sp>
      <p:sp>
        <p:nvSpPr>
          <p:cNvPr id="15" name="Shape 13"/>
          <p:cNvSpPr/>
          <p:nvPr/>
        </p:nvSpPr>
        <p:spPr>
          <a:xfrm>
            <a:off x="4892040" y="1554480"/>
            <a:ext cx="640080" cy="640080"/>
          </a:xfrm>
          <a:prstGeom prst="ellipse">
            <a:avLst/>
          </a:prstGeom>
          <a:solidFill>
            <a:srgbClr val="0891B2"/>
          </a:solidFill>
          <a:ln/>
        </p:spPr>
      </p:sp>
      <p:sp>
        <p:nvSpPr>
          <p:cNvPr id="16" name="Text 14"/>
          <p:cNvSpPr/>
          <p:nvPr/>
        </p:nvSpPr>
        <p:spPr>
          <a:xfrm>
            <a:off x="4892040" y="1554480"/>
            <a:ext cx="640080" cy="640080"/>
          </a:xfrm>
          <a:prstGeom prst="rect">
            <a:avLst/>
          </a:prstGeom>
          <a:noFill/>
          <a:ln/>
        </p:spPr>
        <p:txBody>
          <a:bodyPr wrap="square" lIns="0" tIns="0" rIns="0" bIns="0" rtlCol="0" anchor="ctr"/>
          <a:lstStyle/>
          <a:p>
            <a:pPr algn="ctr" indent="0" marL="0">
              <a:buNone/>
            </a:pPr>
            <a:r>
              <a:rPr lang="en-US" sz="1400" dirty="0">
                <a:solidFill>
                  <a:srgbClr val="0B1523"/>
                </a:solidFill>
                <a:latin typeface="Arial Black" pitchFamily="34" charset="0"/>
                <a:ea typeface="Arial Black" pitchFamily="34" charset="-122"/>
                <a:cs typeface="Arial Black" pitchFamily="34" charset="-120"/>
              </a:rPr>
              <a:t>CTO</a:t>
            </a:r>
            <a:endParaRPr lang="en-US" sz="1400" dirty="0"/>
          </a:p>
        </p:txBody>
      </p:sp>
      <p:sp>
        <p:nvSpPr>
          <p:cNvPr id="17" name="Text 15"/>
          <p:cNvSpPr/>
          <p:nvPr/>
        </p:nvSpPr>
        <p:spPr>
          <a:xfrm>
            <a:off x="566928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CTO (Hiring)</a:t>
            </a:r>
            <a:endParaRPr lang="en-US" sz="1300" dirty="0"/>
          </a:p>
        </p:txBody>
      </p:sp>
      <p:sp>
        <p:nvSpPr>
          <p:cNvPr id="18" name="Text 16"/>
          <p:cNvSpPr/>
          <p:nvPr/>
        </p:nvSpPr>
        <p:spPr>
          <a:xfrm>
            <a:off x="5669280" y="1691640"/>
            <a:ext cx="28803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Chief Technology Officer</a:t>
            </a:r>
            <a:endParaRPr lang="en-US" sz="1000" dirty="0"/>
          </a:p>
        </p:txBody>
      </p:sp>
      <p:sp>
        <p:nvSpPr>
          <p:cNvPr id="19" name="Text 17"/>
          <p:cNvSpPr/>
          <p:nvPr/>
        </p:nvSpPr>
        <p:spPr>
          <a:xfrm>
            <a:off x="566928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المدير التقني (قيد التوظيف)  ·  المدير التقني</a:t>
            </a:r>
            <a:endParaRPr lang="en-US" sz="900" dirty="0"/>
          </a:p>
        </p:txBody>
      </p:sp>
      <p:sp>
        <p:nvSpPr>
          <p:cNvPr id="20" name="Text 18"/>
          <p:cNvSpPr/>
          <p:nvPr/>
        </p:nvSpPr>
        <p:spPr>
          <a:xfrm>
            <a:off x="489204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Target: 10+ years backend/AI. Saudi fintech expertise. Will own architecture &amp; scale the engineering team.</a:t>
            </a:r>
            <a:endParaRPr lang="en-US" sz="900" dirty="0"/>
          </a:p>
        </p:txBody>
      </p:sp>
      <p:sp>
        <p:nvSpPr>
          <p:cNvPr id="21" name="Shape 19"/>
          <p:cNvSpPr/>
          <p:nvPr/>
        </p:nvSpPr>
        <p:spPr>
          <a:xfrm>
            <a:off x="457200" y="2788920"/>
            <a:ext cx="3977640" cy="12344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2" name="Shape 20"/>
          <p:cNvSpPr/>
          <p:nvPr/>
        </p:nvSpPr>
        <p:spPr>
          <a:xfrm>
            <a:off x="457200" y="2788920"/>
            <a:ext cx="3977640" cy="45720"/>
          </a:xfrm>
          <a:prstGeom prst="rect">
            <a:avLst/>
          </a:prstGeom>
          <a:solidFill>
            <a:srgbClr val="10B981"/>
          </a:solidFill>
          <a:ln/>
        </p:spPr>
      </p:sp>
      <p:sp>
        <p:nvSpPr>
          <p:cNvPr id="23" name="Shape 21"/>
          <p:cNvSpPr/>
          <p:nvPr/>
        </p:nvSpPr>
        <p:spPr>
          <a:xfrm>
            <a:off x="594360" y="2971800"/>
            <a:ext cx="640080" cy="640080"/>
          </a:xfrm>
          <a:prstGeom prst="ellipse">
            <a:avLst/>
          </a:prstGeom>
          <a:solidFill>
            <a:srgbClr val="10B981"/>
          </a:solidFill>
          <a:ln/>
        </p:spPr>
      </p:sp>
      <p:sp>
        <p:nvSpPr>
          <p:cNvPr id="24" name="Text 22"/>
          <p:cNvSpPr/>
          <p:nvPr/>
        </p:nvSpPr>
        <p:spPr>
          <a:xfrm>
            <a:off x="594360" y="2971800"/>
            <a:ext cx="640080" cy="640080"/>
          </a:xfrm>
          <a:prstGeom prst="rect">
            <a:avLst/>
          </a:prstGeom>
          <a:noFill/>
          <a:ln/>
        </p:spPr>
        <p:txBody>
          <a:bodyPr wrap="square" lIns="0" tIns="0" rIns="0" bIns="0" rtlCol="0" anchor="ctr"/>
          <a:lstStyle/>
          <a:p>
            <a:pPr algn="ctr" indent="0" marL="0">
              <a:buNone/>
            </a:pPr>
            <a:r>
              <a:rPr lang="en-US" sz="1400" dirty="0">
                <a:solidFill>
                  <a:srgbClr val="0B1523"/>
                </a:solidFill>
                <a:latin typeface="Arial Black" pitchFamily="34" charset="0"/>
                <a:ea typeface="Arial Black" pitchFamily="34" charset="-122"/>
                <a:cs typeface="Arial Black" pitchFamily="34" charset="-120"/>
              </a:rPr>
              <a:t>CFO</a:t>
            </a:r>
            <a:endParaRPr lang="en-US" sz="1400" dirty="0"/>
          </a:p>
        </p:txBody>
      </p:sp>
      <p:sp>
        <p:nvSpPr>
          <p:cNvPr id="25" name="Text 23"/>
          <p:cNvSpPr/>
          <p:nvPr/>
        </p:nvSpPr>
        <p:spPr>
          <a:xfrm>
            <a:off x="137160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CFO (Hiring)</a:t>
            </a:r>
            <a:endParaRPr lang="en-US" sz="1300" dirty="0"/>
          </a:p>
        </p:txBody>
      </p:sp>
      <p:sp>
        <p:nvSpPr>
          <p:cNvPr id="26" name="Text 24"/>
          <p:cNvSpPr/>
          <p:nvPr/>
        </p:nvSpPr>
        <p:spPr>
          <a:xfrm>
            <a:off x="1371600" y="3108960"/>
            <a:ext cx="2880360" cy="18288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Chief Financial Officer</a:t>
            </a:r>
            <a:endParaRPr lang="en-US" sz="1000" dirty="0"/>
          </a:p>
        </p:txBody>
      </p:sp>
      <p:sp>
        <p:nvSpPr>
          <p:cNvPr id="27" name="Text 25"/>
          <p:cNvSpPr/>
          <p:nvPr/>
        </p:nvSpPr>
        <p:spPr>
          <a:xfrm>
            <a:off x="137160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المدير المالي (قيد التوظيف)  ·  المدير المالي</a:t>
            </a:r>
            <a:endParaRPr lang="en-US" sz="900" dirty="0"/>
          </a:p>
        </p:txBody>
      </p:sp>
      <p:sp>
        <p:nvSpPr>
          <p:cNvPr id="28" name="Text 26"/>
          <p:cNvSpPr/>
          <p:nvPr/>
        </p:nvSpPr>
        <p:spPr>
          <a:xfrm>
            <a:off x="59436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Target: CPA/CFA with SOCPA knowledge. Will lead compliance, financial planning &amp; investor relations.</a:t>
            </a:r>
            <a:endParaRPr lang="en-US" sz="900" dirty="0"/>
          </a:p>
        </p:txBody>
      </p:sp>
      <p:sp>
        <p:nvSpPr>
          <p:cNvPr id="29" name="Shape 27"/>
          <p:cNvSpPr/>
          <p:nvPr/>
        </p:nvSpPr>
        <p:spPr>
          <a:xfrm>
            <a:off x="4754880" y="2788920"/>
            <a:ext cx="3977640" cy="123444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30" name="Shape 28"/>
          <p:cNvSpPr/>
          <p:nvPr/>
        </p:nvSpPr>
        <p:spPr>
          <a:xfrm>
            <a:off x="4754880" y="2788920"/>
            <a:ext cx="3977640" cy="45720"/>
          </a:xfrm>
          <a:prstGeom prst="rect">
            <a:avLst/>
          </a:prstGeom>
          <a:solidFill>
            <a:srgbClr val="F96167"/>
          </a:solidFill>
          <a:ln/>
        </p:spPr>
      </p:sp>
      <p:sp>
        <p:nvSpPr>
          <p:cNvPr id="31" name="Shape 29"/>
          <p:cNvSpPr/>
          <p:nvPr/>
        </p:nvSpPr>
        <p:spPr>
          <a:xfrm>
            <a:off x="4892040" y="2971800"/>
            <a:ext cx="640080" cy="640080"/>
          </a:xfrm>
          <a:prstGeom prst="ellipse">
            <a:avLst/>
          </a:prstGeom>
          <a:solidFill>
            <a:srgbClr val="F96167"/>
          </a:solidFill>
          <a:ln/>
        </p:spPr>
      </p:sp>
      <p:sp>
        <p:nvSpPr>
          <p:cNvPr id="32" name="Text 30"/>
          <p:cNvSpPr/>
          <p:nvPr/>
        </p:nvSpPr>
        <p:spPr>
          <a:xfrm>
            <a:off x="4892040" y="2971800"/>
            <a:ext cx="640080" cy="640080"/>
          </a:xfrm>
          <a:prstGeom prst="rect">
            <a:avLst/>
          </a:prstGeom>
          <a:noFill/>
          <a:ln/>
        </p:spPr>
        <p:txBody>
          <a:bodyPr wrap="square" lIns="0" tIns="0" rIns="0" bIns="0" rtlCol="0" anchor="ctr"/>
          <a:lstStyle/>
          <a:p>
            <a:pPr algn="ctr" indent="0" marL="0">
              <a:buNone/>
            </a:pPr>
            <a:r>
              <a:rPr lang="en-US" sz="1400" dirty="0">
                <a:solidFill>
                  <a:srgbClr val="0B1523"/>
                </a:solidFill>
                <a:latin typeface="Arial Black" pitchFamily="34" charset="0"/>
                <a:ea typeface="Arial Black" pitchFamily="34" charset="-122"/>
                <a:cs typeface="Arial Black" pitchFamily="34" charset="-120"/>
              </a:rPr>
              <a:t>GL</a:t>
            </a:r>
            <a:endParaRPr lang="en-US" sz="1400" dirty="0"/>
          </a:p>
        </p:txBody>
      </p:sp>
      <p:sp>
        <p:nvSpPr>
          <p:cNvPr id="33" name="Text 31"/>
          <p:cNvSpPr/>
          <p:nvPr/>
        </p:nvSpPr>
        <p:spPr>
          <a:xfrm>
            <a:off x="566928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Growth Lead (Hiring)</a:t>
            </a:r>
            <a:endParaRPr lang="en-US" sz="1300" dirty="0"/>
          </a:p>
        </p:txBody>
      </p:sp>
      <p:sp>
        <p:nvSpPr>
          <p:cNvPr id="34" name="Text 32"/>
          <p:cNvSpPr/>
          <p:nvPr/>
        </p:nvSpPr>
        <p:spPr>
          <a:xfrm>
            <a:off x="5669280" y="3108960"/>
            <a:ext cx="28803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Head of Growth &amp; Sales</a:t>
            </a:r>
            <a:endParaRPr lang="en-US" sz="1000" dirty="0"/>
          </a:p>
        </p:txBody>
      </p:sp>
      <p:sp>
        <p:nvSpPr>
          <p:cNvPr id="35" name="Text 33"/>
          <p:cNvSpPr/>
          <p:nvPr/>
        </p:nvSpPr>
        <p:spPr>
          <a:xfrm>
            <a:off x="566928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مدير النمو (قيد التوظيف)  ·  مدير النمو والمبيعات</a:t>
            </a:r>
            <a:endParaRPr lang="en-US" sz="900" dirty="0"/>
          </a:p>
        </p:txBody>
      </p:sp>
      <p:sp>
        <p:nvSpPr>
          <p:cNvPr id="36" name="Text 34"/>
          <p:cNvSpPr/>
          <p:nvPr/>
        </p:nvSpPr>
        <p:spPr>
          <a:xfrm>
            <a:off x="489204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Target: B2B SaaS growth expert with Saudi connections. Will drive go-to-market &amp; strategic partnerships.</a:t>
            </a:r>
            <a:endParaRPr lang="en-US" sz="900" dirty="0"/>
          </a:p>
        </p:txBody>
      </p:sp>
      <p:sp>
        <p:nvSpPr>
          <p:cNvPr id="37" name="Shape 35"/>
          <p:cNvSpPr/>
          <p:nvPr/>
        </p:nvSpPr>
        <p:spPr>
          <a:xfrm>
            <a:off x="457200" y="4251960"/>
            <a:ext cx="8229600" cy="320040"/>
          </a:xfrm>
          <a:prstGeom prst="rect">
            <a:avLst/>
          </a:prstGeom>
          <a:solidFill>
            <a:srgbClr val="132236"/>
          </a:solidFill>
          <a:ln/>
        </p:spPr>
      </p:sp>
      <p:sp>
        <p:nvSpPr>
          <p:cNvPr id="38" name="Text 36"/>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ea typeface="Calibri" pitchFamily="34" charset="-122"/>
                <a:cs typeface="Calibri" pitchFamily="34" charset="-120"/>
              </a:rPr>
              <a:t>Hiring key roles to accelerate growth  ·  نبحث عن قيادات استثنائية لتسريع الانطلاقة</a:t>
            </a:r>
            <a:endParaRPr lang="en-US" sz="1100" dirty="0"/>
          </a:p>
        </p:txBody>
      </p:sp>
      <p:sp>
        <p:nvSpPr>
          <p:cNvPr id="39" name="Shape 37"/>
          <p:cNvSpPr/>
          <p:nvPr/>
        </p:nvSpPr>
        <p:spPr>
          <a:xfrm>
            <a:off x="0" y="4709160"/>
            <a:ext cx="9144000" cy="434340"/>
          </a:xfrm>
          <a:prstGeom prst="rect">
            <a:avLst/>
          </a:prstGeom>
          <a:solidFill>
            <a:srgbClr val="0A1220"/>
          </a:solidFill>
          <a:ln/>
        </p:spPr>
      </p:sp>
      <p:sp>
        <p:nvSpPr>
          <p:cNvPr id="40"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15 / 19</a:t>
            </a:r>
            <a:endParaRPr lang="en-US" sz="750" dirty="0"/>
          </a:p>
        </p:txBody>
      </p:sp>
      <p:sp>
        <p:nvSpPr>
          <p:cNvPr id="42"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ROADMAP  ·  خارطة الطريق</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Saudi to the Gulf &amp; Beyond</a:t>
            </a:r>
            <a:endParaRPr lang="en-US" sz="2600" dirty="0"/>
          </a:p>
          <a:p>
            <a:pPr indent="0" marL="0">
              <a:buNone/>
            </a:pPr>
            <a:r>
              <a:rPr lang="en-US" sz="1400" dirty="0">
                <a:solidFill>
                  <a:srgbClr val="D4AF37"/>
                </a:solidFill>
                <a:latin typeface="Calibri" pitchFamily="34" charset="0"/>
                <a:ea typeface="Calibri" pitchFamily="34" charset="-122"/>
                <a:cs typeface="Calibri" pitchFamily="34" charset="-120"/>
              </a:rPr>
              <a:t>من السوق السعودي إلى أسواق الخليج والمنطقة</a:t>
            </a:r>
            <a:endParaRPr lang="en-US" sz="2600" dirty="0"/>
          </a:p>
        </p:txBody>
      </p:sp>
      <p:sp>
        <p:nvSpPr>
          <p:cNvPr id="5" name="Shape 3"/>
          <p:cNvSpPr/>
          <p:nvPr/>
        </p:nvSpPr>
        <p:spPr>
          <a:xfrm>
            <a:off x="320040" y="1417320"/>
            <a:ext cx="1920240" cy="29718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6" name="Shape 4"/>
          <p:cNvSpPr/>
          <p:nvPr/>
        </p:nvSpPr>
        <p:spPr>
          <a:xfrm>
            <a:off x="320040" y="1417320"/>
            <a:ext cx="1920240" cy="45720"/>
          </a:xfrm>
          <a:prstGeom prst="rect">
            <a:avLst/>
          </a:prstGeom>
          <a:solidFill>
            <a:srgbClr val="0891B2"/>
          </a:solidFill>
          <a:ln/>
        </p:spPr>
      </p:sp>
      <p:sp>
        <p:nvSpPr>
          <p:cNvPr id="7" name="Text 5"/>
          <p:cNvSpPr/>
          <p:nvPr/>
        </p:nvSpPr>
        <p:spPr>
          <a:xfrm>
            <a:off x="411480" y="1508760"/>
            <a:ext cx="1737360" cy="182880"/>
          </a:xfrm>
          <a:prstGeom prst="rect">
            <a:avLst/>
          </a:prstGeom>
          <a:noFill/>
          <a:ln/>
        </p:spPr>
        <p:txBody>
          <a:bodyPr wrap="square" lIns="0" tIns="0" rIns="0" bIns="0"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1148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Now – 3M</a:t>
            </a:r>
            <a:endParaRPr lang="en-US" sz="800" dirty="0"/>
          </a:p>
        </p:txBody>
      </p:sp>
      <p:sp>
        <p:nvSpPr>
          <p:cNvPr id="9" name="Text 7"/>
          <p:cNvSpPr/>
          <p:nvPr/>
        </p:nvSpPr>
        <p:spPr>
          <a:xfrm>
            <a:off x="41148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Stabilize</a:t>
            </a:r>
            <a:endParaRPr lang="en-US" sz="1800" dirty="0"/>
          </a:p>
        </p:txBody>
      </p:sp>
      <p:sp>
        <p:nvSpPr>
          <p:cNvPr id="10" name="Text 8"/>
          <p:cNvSpPr/>
          <p:nvPr/>
        </p:nvSpPr>
        <p:spPr>
          <a:xfrm>
            <a:off x="411480" y="2194560"/>
            <a:ext cx="17373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التأسيس</a:t>
            </a:r>
            <a:endParaRPr lang="en-US" sz="1000" dirty="0"/>
          </a:p>
        </p:txBody>
      </p:sp>
      <p:sp>
        <p:nvSpPr>
          <p:cNvPr id="11" name="Text 9"/>
          <p:cNvSpPr/>
          <p:nvPr/>
        </p:nvSpPr>
        <p:spPr>
          <a:xfrm>
            <a:off x="41148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Tests &amp; Bug Fixes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Flutter Optimization</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Seed Data &amp; GitHub</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Security Hardening</a:t>
            </a:r>
            <a:endParaRPr lang="en-US" sz="900" dirty="0"/>
          </a:p>
        </p:txBody>
      </p:sp>
      <p:sp>
        <p:nvSpPr>
          <p:cNvPr id="12" name="Shape 10"/>
          <p:cNvSpPr/>
          <p:nvPr/>
        </p:nvSpPr>
        <p:spPr>
          <a:xfrm>
            <a:off x="2514600" y="1417320"/>
            <a:ext cx="1920240" cy="29718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2514600" y="1417320"/>
            <a:ext cx="1920240" cy="45720"/>
          </a:xfrm>
          <a:prstGeom prst="rect">
            <a:avLst/>
          </a:prstGeom>
          <a:solidFill>
            <a:srgbClr val="D4AF37"/>
          </a:solidFill>
          <a:ln/>
        </p:spPr>
      </p:sp>
      <p:sp>
        <p:nvSpPr>
          <p:cNvPr id="14" name="Text 12"/>
          <p:cNvSpPr/>
          <p:nvPr/>
        </p:nvSpPr>
        <p:spPr>
          <a:xfrm>
            <a:off x="2606040" y="1508760"/>
            <a:ext cx="1737360" cy="182880"/>
          </a:xfrm>
          <a:prstGeom prst="rect">
            <a:avLst/>
          </a:prstGeom>
          <a:noFill/>
          <a:ln/>
        </p:spPr>
        <p:txBody>
          <a:bodyPr wrap="square" lIns="0" tIns="0" rIns="0" bIns="0" rtlCol="0" anchor="ctr"/>
          <a:lstStyle/>
          <a:p>
            <a:pPr indent="0" marL="0">
              <a:buNone/>
            </a:pPr>
            <a:r>
              <a:rPr lang="en-US" sz="900" b="1" dirty="0">
                <a:solidFill>
                  <a:srgbClr val="D4AF37"/>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260604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3 – 9M</a:t>
            </a:r>
            <a:endParaRPr lang="en-US" sz="800" dirty="0"/>
          </a:p>
        </p:txBody>
      </p:sp>
      <p:sp>
        <p:nvSpPr>
          <p:cNvPr id="16" name="Text 14"/>
          <p:cNvSpPr/>
          <p:nvPr/>
        </p:nvSpPr>
        <p:spPr>
          <a:xfrm>
            <a:off x="260604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Scale</a:t>
            </a:r>
            <a:endParaRPr lang="en-US" sz="1800" dirty="0"/>
          </a:p>
        </p:txBody>
      </p:sp>
      <p:sp>
        <p:nvSpPr>
          <p:cNvPr id="17" name="Text 15"/>
          <p:cNvSpPr/>
          <p:nvPr/>
        </p:nvSpPr>
        <p:spPr>
          <a:xfrm>
            <a:off x="2606040" y="2194560"/>
            <a:ext cx="17373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التوسع</a:t>
            </a:r>
            <a:endParaRPr lang="en-US" sz="1000" dirty="0"/>
          </a:p>
        </p:txBody>
      </p:sp>
      <p:sp>
        <p:nvSpPr>
          <p:cNvPr id="18" name="Text 16"/>
          <p:cNvSpPr/>
          <p:nvPr/>
        </p:nvSpPr>
        <p:spPr>
          <a:xfrm>
            <a:off x="260604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CI/CD &amp; Monitoring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Redis Caching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API Versioning (v1)</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Read Replicas</a:t>
            </a:r>
            <a:endParaRPr lang="en-US" sz="900" dirty="0"/>
          </a:p>
        </p:txBody>
      </p:sp>
      <p:sp>
        <p:nvSpPr>
          <p:cNvPr id="19" name="Shape 17"/>
          <p:cNvSpPr/>
          <p:nvPr/>
        </p:nvSpPr>
        <p:spPr>
          <a:xfrm>
            <a:off x="4709160" y="1417320"/>
            <a:ext cx="1920240" cy="29718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0" name="Shape 18"/>
          <p:cNvSpPr/>
          <p:nvPr/>
        </p:nvSpPr>
        <p:spPr>
          <a:xfrm>
            <a:off x="4709160" y="1417320"/>
            <a:ext cx="1920240" cy="45720"/>
          </a:xfrm>
          <a:prstGeom prst="rect">
            <a:avLst/>
          </a:prstGeom>
          <a:solidFill>
            <a:srgbClr val="10B981"/>
          </a:solidFill>
          <a:ln/>
        </p:spPr>
      </p:sp>
      <p:sp>
        <p:nvSpPr>
          <p:cNvPr id="21" name="Text 19"/>
          <p:cNvSpPr/>
          <p:nvPr/>
        </p:nvSpPr>
        <p:spPr>
          <a:xfrm>
            <a:off x="4800600" y="1508760"/>
            <a:ext cx="173736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PHASE 3</a:t>
            </a:r>
            <a:endParaRPr lang="en-US" sz="900" dirty="0"/>
          </a:p>
        </p:txBody>
      </p:sp>
      <p:sp>
        <p:nvSpPr>
          <p:cNvPr id="22" name="Text 20"/>
          <p:cNvSpPr/>
          <p:nvPr/>
        </p:nvSpPr>
        <p:spPr>
          <a:xfrm>
            <a:off x="480060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9M+</a:t>
            </a:r>
            <a:endParaRPr lang="en-US" sz="800" dirty="0"/>
          </a:p>
        </p:txBody>
      </p:sp>
      <p:sp>
        <p:nvSpPr>
          <p:cNvPr id="23" name="Text 21"/>
          <p:cNvSpPr/>
          <p:nvPr/>
        </p:nvSpPr>
        <p:spPr>
          <a:xfrm>
            <a:off x="480060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Dominate</a:t>
            </a:r>
            <a:endParaRPr lang="en-US" sz="1800" dirty="0"/>
          </a:p>
        </p:txBody>
      </p:sp>
      <p:sp>
        <p:nvSpPr>
          <p:cNvPr id="24" name="Text 22"/>
          <p:cNvSpPr/>
          <p:nvPr/>
        </p:nvSpPr>
        <p:spPr>
          <a:xfrm>
            <a:off x="4800600" y="2194560"/>
            <a:ext cx="17373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الريادة</a:t>
            </a:r>
            <a:endParaRPr lang="en-US" sz="1000" dirty="0"/>
          </a:p>
        </p:txBody>
      </p:sp>
      <p:sp>
        <p:nvSpPr>
          <p:cNvPr id="25" name="Text 23"/>
          <p:cNvSpPr/>
          <p:nvPr/>
        </p:nvSpPr>
        <p:spPr>
          <a:xfrm>
            <a:off x="480060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Microservices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Horizontal Scaling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CDN &amp; Edge Cache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SOC 2 Compliance</a:t>
            </a:r>
            <a:endParaRPr lang="en-US" sz="900" dirty="0"/>
          </a:p>
        </p:txBody>
      </p:sp>
      <p:sp>
        <p:nvSpPr>
          <p:cNvPr id="26" name="Shape 24"/>
          <p:cNvSpPr/>
          <p:nvPr/>
        </p:nvSpPr>
        <p:spPr>
          <a:xfrm>
            <a:off x="6903720" y="1417320"/>
            <a:ext cx="1920240" cy="29718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27" name="Shape 25"/>
          <p:cNvSpPr/>
          <p:nvPr/>
        </p:nvSpPr>
        <p:spPr>
          <a:xfrm>
            <a:off x="6903720" y="1417320"/>
            <a:ext cx="1920240" cy="45720"/>
          </a:xfrm>
          <a:prstGeom prst="rect">
            <a:avLst/>
          </a:prstGeom>
          <a:solidFill>
            <a:srgbClr val="E8CC73"/>
          </a:solidFill>
          <a:ln/>
        </p:spPr>
      </p:sp>
      <p:sp>
        <p:nvSpPr>
          <p:cNvPr id="28" name="Text 26"/>
          <p:cNvSpPr/>
          <p:nvPr/>
        </p:nvSpPr>
        <p:spPr>
          <a:xfrm>
            <a:off x="6995160" y="1508760"/>
            <a:ext cx="1737360" cy="182880"/>
          </a:xfrm>
          <a:prstGeom prst="rect">
            <a:avLst/>
          </a:prstGeom>
          <a:noFill/>
          <a:ln/>
        </p:spPr>
        <p:txBody>
          <a:bodyPr wrap="square" lIns="0" tIns="0" rIns="0" bIns="0" rtlCol="0" anchor="ctr"/>
          <a:lstStyle/>
          <a:p>
            <a:pPr indent="0" marL="0">
              <a:buNone/>
            </a:pPr>
            <a:r>
              <a:rPr lang="en-US" sz="900" b="1" dirty="0">
                <a:solidFill>
                  <a:srgbClr val="E8CC73"/>
                </a:solidFill>
                <a:latin typeface="Calibri" pitchFamily="34" charset="0"/>
                <a:ea typeface="Calibri" pitchFamily="34" charset="-122"/>
                <a:cs typeface="Calibri" pitchFamily="34" charset="-120"/>
              </a:rPr>
              <a:t>PHASE 4</a:t>
            </a:r>
            <a:endParaRPr lang="en-US" sz="900" dirty="0"/>
          </a:p>
        </p:txBody>
      </p:sp>
      <p:sp>
        <p:nvSpPr>
          <p:cNvPr id="29" name="Text 27"/>
          <p:cNvSpPr/>
          <p:nvPr/>
        </p:nvSpPr>
        <p:spPr>
          <a:xfrm>
            <a:off x="699516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Year 2+</a:t>
            </a:r>
            <a:endParaRPr lang="en-US" sz="800" dirty="0"/>
          </a:p>
        </p:txBody>
      </p:sp>
      <p:sp>
        <p:nvSpPr>
          <p:cNvPr id="30" name="Text 28"/>
          <p:cNvSpPr/>
          <p:nvPr/>
        </p:nvSpPr>
        <p:spPr>
          <a:xfrm>
            <a:off x="699516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Expand</a:t>
            </a:r>
            <a:endParaRPr lang="en-US" sz="1800" dirty="0"/>
          </a:p>
        </p:txBody>
      </p:sp>
      <p:sp>
        <p:nvSpPr>
          <p:cNvPr id="31" name="Text 29"/>
          <p:cNvSpPr/>
          <p:nvPr/>
        </p:nvSpPr>
        <p:spPr>
          <a:xfrm>
            <a:off x="6995160" y="2194560"/>
            <a:ext cx="1737360" cy="182880"/>
          </a:xfrm>
          <a:prstGeom prst="rect">
            <a:avLst/>
          </a:prstGeom>
          <a:noFill/>
          <a:ln/>
        </p:spPr>
        <p:txBody>
          <a:bodyPr wrap="square" lIns="0" tIns="0" rIns="0" bIns="0" rtlCol="0" anchor="ctr"/>
          <a:lstStyle/>
          <a:p>
            <a:pPr indent="0" marL="0">
              <a:buNone/>
            </a:pPr>
            <a:r>
              <a:rPr lang="en-US" sz="1000" dirty="0">
                <a:solidFill>
                  <a:srgbClr val="D4AF37"/>
                </a:solidFill>
                <a:latin typeface="Calibri" pitchFamily="34" charset="0"/>
                <a:ea typeface="Calibri" pitchFamily="34" charset="-122"/>
                <a:cs typeface="Calibri" pitchFamily="34" charset="-120"/>
              </a:rPr>
              <a:t>الانتشار الإقليمي</a:t>
            </a:r>
            <a:endParaRPr lang="en-US" sz="1000" dirty="0"/>
          </a:p>
        </p:txBody>
      </p:sp>
      <p:sp>
        <p:nvSpPr>
          <p:cNvPr id="32" name="Text 30"/>
          <p:cNvSpPr/>
          <p:nvPr/>
        </p:nvSpPr>
        <p:spPr>
          <a:xfrm>
            <a:off x="699516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Gulf Markets (UAE, BH)</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Go Core + AI Platform</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Multi-Standard Engine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White-Label SaaS</a:t>
            </a:r>
            <a:endParaRPr lang="en-US" sz="900" dirty="0"/>
          </a:p>
        </p:txBody>
      </p:sp>
      <p:sp>
        <p:nvSpPr>
          <p:cNvPr id="33" name="Text 31"/>
          <p:cNvSpPr/>
          <p:nvPr/>
        </p:nvSpPr>
        <p:spPr>
          <a:xfrm>
            <a:off x="457200" y="4434840"/>
            <a:ext cx="8229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Tech migration path: FastAPI up to 50K users  ·  Go Core for 500K+  |  مسار التطور: FastAPI حتى 50 ألف مستخدم ثم الانتقال إلى Go</a:t>
            </a:r>
            <a:endParaRPr lang="en-US" sz="9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16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THE ASK  ·  الجولة الاستثمارية</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Pre-Seed: SAR 750K</a:t>
            </a:r>
            <a:endParaRPr lang="en-US" sz="2800" dirty="0"/>
          </a:p>
          <a:p>
            <a:pPr indent="0" marL="0">
              <a:buNone/>
            </a:pPr>
            <a:r>
              <a:rPr lang="en-US" sz="1800" dirty="0">
                <a:solidFill>
                  <a:srgbClr val="D4AF37"/>
                </a:solidFill>
                <a:latin typeface="Calibri" pitchFamily="34" charset="0"/>
                <a:ea typeface="Calibri" pitchFamily="34" charset="-122"/>
                <a:cs typeface="Calibri" pitchFamily="34" charset="-120"/>
              </a:rPr>
              <a:t>($200K USD Equivalent)</a:t>
            </a:r>
            <a:endParaRPr lang="en-US" sz="2800" dirty="0"/>
          </a:p>
          <a:p>
            <a:pPr indent="0" marL="0">
              <a:buNone/>
            </a:pPr>
            <a:r>
              <a:rPr lang="en-US" sz="1300" dirty="0">
                <a:solidFill>
                  <a:srgbClr val="CBD5E1"/>
                </a:solidFill>
                <a:latin typeface="Calibri" pitchFamily="34" charset="0"/>
                <a:ea typeface="Calibri" pitchFamily="34" charset="-122"/>
                <a:cs typeface="Calibri" pitchFamily="34" charset="-120"/>
              </a:rPr>
              <a:t>جولة ما قبل البذرة: 750 ألف ريال سعودي</a:t>
            </a:r>
            <a:endParaRPr lang="en-US" sz="2800" dirty="0"/>
          </a:p>
        </p:txBody>
      </p:sp>
      <p:sp>
        <p:nvSpPr>
          <p:cNvPr id="5" name="Text 3"/>
          <p:cNvSpPr/>
          <p:nvPr/>
        </p:nvSpPr>
        <p:spPr>
          <a:xfrm>
            <a:off x="457200" y="1600200"/>
            <a:ext cx="4572000" cy="228600"/>
          </a:xfrm>
          <a:prstGeom prst="rect">
            <a:avLst/>
          </a:prstGeom>
          <a:noFill/>
          <a:ln/>
        </p:spPr>
        <p:txBody>
          <a:bodyPr wrap="square" lIns="0" tIns="0" rIns="0" bIns="0" rtlCol="0" anchor="ctr"/>
          <a:lstStyle/>
          <a:p>
            <a:pPr indent="0" marL="0">
              <a:buNone/>
            </a:pPr>
            <a:r>
              <a:rPr lang="en-US" sz="1000" spc="300" kern="0" dirty="0">
                <a:solidFill>
                  <a:srgbClr val="D4AF37"/>
                </a:solidFill>
                <a:latin typeface="Calibri" pitchFamily="34" charset="0"/>
                <a:ea typeface="Calibri" pitchFamily="34" charset="-122"/>
                <a:cs typeface="Calibri" pitchFamily="34" charset="-120"/>
              </a:rPr>
              <a:t>USE OF FUNDS  ·  توزيع الاستثمار</a:t>
            </a:r>
            <a:endParaRPr lang="en-US" sz="1000" dirty="0"/>
          </a:p>
        </p:txBody>
      </p:sp>
      <p:sp>
        <p:nvSpPr>
          <p:cNvPr id="6" name="Shape 4"/>
          <p:cNvSpPr/>
          <p:nvPr/>
        </p:nvSpPr>
        <p:spPr>
          <a:xfrm>
            <a:off x="457200" y="1920240"/>
            <a:ext cx="8229600" cy="502920"/>
          </a:xfrm>
          <a:prstGeom prst="rect">
            <a:avLst/>
          </a:prstGeom>
          <a:solidFill>
            <a:srgbClr val="162B45"/>
          </a:solidFill>
          <a:ln/>
        </p:spPr>
      </p:sp>
      <p:sp>
        <p:nvSpPr>
          <p:cNvPr id="7" name="Shape 5"/>
          <p:cNvSpPr/>
          <p:nvPr/>
        </p:nvSpPr>
        <p:spPr>
          <a:xfrm>
            <a:off x="457200" y="1920240"/>
            <a:ext cx="45720" cy="502920"/>
          </a:xfrm>
          <a:prstGeom prst="rect">
            <a:avLst/>
          </a:prstGeom>
          <a:solidFill>
            <a:srgbClr val="0891B2"/>
          </a:solidFill>
          <a:ln/>
        </p:spPr>
      </p:sp>
      <p:sp>
        <p:nvSpPr>
          <p:cNvPr id="8" name="Text 6"/>
          <p:cNvSpPr/>
          <p:nvPr/>
        </p:nvSpPr>
        <p:spPr>
          <a:xfrm>
            <a:off x="594360" y="1920240"/>
            <a:ext cx="548640" cy="50292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45%</a:t>
            </a:r>
            <a:endParaRPr lang="en-US" sz="1800" dirty="0"/>
          </a:p>
        </p:txBody>
      </p:sp>
      <p:sp>
        <p:nvSpPr>
          <p:cNvPr id="9" name="Text 7"/>
          <p:cNvSpPr/>
          <p:nvPr/>
        </p:nvSpPr>
        <p:spPr>
          <a:xfrm>
            <a:off x="1188720" y="194767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Engineering &amp; Product</a:t>
            </a:r>
            <a:endParaRPr lang="en-US" sz="1100" dirty="0"/>
          </a:p>
        </p:txBody>
      </p:sp>
      <p:sp>
        <p:nvSpPr>
          <p:cNvPr id="10" name="Text 8"/>
          <p:cNvSpPr/>
          <p:nvPr/>
        </p:nvSpPr>
        <p:spPr>
          <a:xfrm>
            <a:off x="1188720" y="217627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تطوير المنتج والبنية التحتية</a:t>
            </a:r>
            <a:endParaRPr lang="en-US" sz="900" dirty="0"/>
          </a:p>
        </p:txBody>
      </p:sp>
      <p:sp>
        <p:nvSpPr>
          <p:cNvPr id="11" name="Text 9"/>
          <p:cNvSpPr/>
          <p:nvPr/>
        </p:nvSpPr>
        <p:spPr>
          <a:xfrm>
            <a:off x="3474720" y="1920240"/>
            <a:ext cx="1188720" cy="50292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SAR 337K</a:t>
            </a:r>
            <a:endParaRPr lang="en-US" sz="1100" dirty="0"/>
          </a:p>
        </p:txBody>
      </p:sp>
      <p:sp>
        <p:nvSpPr>
          <p:cNvPr id="12" name="Text 10"/>
          <p:cNvSpPr/>
          <p:nvPr/>
        </p:nvSpPr>
        <p:spPr>
          <a:xfrm>
            <a:off x="4754880" y="192024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Hire 2 engineers + cloud infrastructure scaling</a:t>
            </a:r>
            <a:endParaRPr lang="en-US" sz="1000" dirty="0"/>
          </a:p>
        </p:txBody>
      </p:sp>
      <p:sp>
        <p:nvSpPr>
          <p:cNvPr id="13" name="Shape 11"/>
          <p:cNvSpPr/>
          <p:nvPr/>
        </p:nvSpPr>
        <p:spPr>
          <a:xfrm>
            <a:off x="457200" y="2514600"/>
            <a:ext cx="8229600" cy="502920"/>
          </a:xfrm>
          <a:prstGeom prst="rect">
            <a:avLst/>
          </a:prstGeom>
          <a:solidFill>
            <a:srgbClr val="162B45"/>
          </a:solidFill>
          <a:ln/>
        </p:spPr>
      </p:sp>
      <p:sp>
        <p:nvSpPr>
          <p:cNvPr id="14" name="Shape 12"/>
          <p:cNvSpPr/>
          <p:nvPr/>
        </p:nvSpPr>
        <p:spPr>
          <a:xfrm>
            <a:off x="457200" y="2514600"/>
            <a:ext cx="45720" cy="502920"/>
          </a:xfrm>
          <a:prstGeom prst="rect">
            <a:avLst/>
          </a:prstGeom>
          <a:solidFill>
            <a:srgbClr val="D4AF37"/>
          </a:solidFill>
          <a:ln/>
        </p:spPr>
      </p:sp>
      <p:sp>
        <p:nvSpPr>
          <p:cNvPr id="15" name="Text 13"/>
          <p:cNvSpPr/>
          <p:nvPr/>
        </p:nvSpPr>
        <p:spPr>
          <a:xfrm>
            <a:off x="594360" y="2514600"/>
            <a:ext cx="548640" cy="502920"/>
          </a:xfrm>
          <a:prstGeom prst="rect">
            <a:avLst/>
          </a:prstGeom>
          <a:noFill/>
          <a:ln/>
        </p:spPr>
        <p:txBody>
          <a:bodyPr wrap="square" lIns="0" tIns="0" rIns="0" bIns="0" rtlCol="0" anchor="ctr"/>
          <a:lstStyle/>
          <a:p>
            <a:pPr indent="0" marL="0">
              <a:buNone/>
            </a:pPr>
            <a:r>
              <a:rPr lang="en-US" sz="1800" dirty="0">
                <a:solidFill>
                  <a:srgbClr val="D4AF37"/>
                </a:solidFill>
                <a:latin typeface="Arial Black" pitchFamily="34" charset="0"/>
                <a:ea typeface="Arial Black" pitchFamily="34" charset="-122"/>
                <a:cs typeface="Arial Black" pitchFamily="34" charset="-120"/>
              </a:rPr>
              <a:t>25%</a:t>
            </a:r>
            <a:endParaRPr lang="en-US" sz="1800" dirty="0"/>
          </a:p>
        </p:txBody>
      </p:sp>
      <p:sp>
        <p:nvSpPr>
          <p:cNvPr id="16" name="Text 14"/>
          <p:cNvSpPr/>
          <p:nvPr/>
        </p:nvSpPr>
        <p:spPr>
          <a:xfrm>
            <a:off x="1188720" y="254203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Sales &amp; Marketing</a:t>
            </a:r>
            <a:endParaRPr lang="en-US" sz="1100" dirty="0"/>
          </a:p>
        </p:txBody>
      </p:sp>
      <p:sp>
        <p:nvSpPr>
          <p:cNvPr id="17" name="Text 15"/>
          <p:cNvSpPr/>
          <p:nvPr/>
        </p:nvSpPr>
        <p:spPr>
          <a:xfrm>
            <a:off x="1188720" y="277063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التسويق واستقطاب العملاء</a:t>
            </a:r>
            <a:endParaRPr lang="en-US" sz="900" dirty="0"/>
          </a:p>
        </p:txBody>
      </p:sp>
      <p:sp>
        <p:nvSpPr>
          <p:cNvPr id="18" name="Text 16"/>
          <p:cNvSpPr/>
          <p:nvPr/>
        </p:nvSpPr>
        <p:spPr>
          <a:xfrm>
            <a:off x="3474720" y="2514600"/>
            <a:ext cx="1188720" cy="50292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SAR 187K</a:t>
            </a:r>
            <a:endParaRPr lang="en-US" sz="1100" dirty="0"/>
          </a:p>
        </p:txBody>
      </p:sp>
      <p:sp>
        <p:nvSpPr>
          <p:cNvPr id="19" name="Text 17"/>
          <p:cNvSpPr/>
          <p:nvPr/>
        </p:nvSpPr>
        <p:spPr>
          <a:xfrm>
            <a:off x="4754880" y="251460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Digital campaigns + first 50 client acquisition</a:t>
            </a:r>
            <a:endParaRPr lang="en-US" sz="1000" dirty="0"/>
          </a:p>
        </p:txBody>
      </p:sp>
      <p:sp>
        <p:nvSpPr>
          <p:cNvPr id="20" name="Shape 18"/>
          <p:cNvSpPr/>
          <p:nvPr/>
        </p:nvSpPr>
        <p:spPr>
          <a:xfrm>
            <a:off x="457200" y="3108960"/>
            <a:ext cx="8229600" cy="502920"/>
          </a:xfrm>
          <a:prstGeom prst="rect">
            <a:avLst/>
          </a:prstGeom>
          <a:solidFill>
            <a:srgbClr val="162B45"/>
          </a:solidFill>
          <a:ln/>
        </p:spPr>
      </p:sp>
      <p:sp>
        <p:nvSpPr>
          <p:cNvPr id="21" name="Shape 19"/>
          <p:cNvSpPr/>
          <p:nvPr/>
        </p:nvSpPr>
        <p:spPr>
          <a:xfrm>
            <a:off x="457200" y="3108960"/>
            <a:ext cx="45720" cy="502920"/>
          </a:xfrm>
          <a:prstGeom prst="rect">
            <a:avLst/>
          </a:prstGeom>
          <a:solidFill>
            <a:srgbClr val="10B981"/>
          </a:solidFill>
          <a:ln/>
        </p:spPr>
      </p:sp>
      <p:sp>
        <p:nvSpPr>
          <p:cNvPr id="22" name="Text 20"/>
          <p:cNvSpPr/>
          <p:nvPr/>
        </p:nvSpPr>
        <p:spPr>
          <a:xfrm>
            <a:off x="594360" y="3108960"/>
            <a:ext cx="548640" cy="50292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15%</a:t>
            </a:r>
            <a:endParaRPr lang="en-US" sz="1800" dirty="0"/>
          </a:p>
        </p:txBody>
      </p:sp>
      <p:sp>
        <p:nvSpPr>
          <p:cNvPr id="23" name="Text 21"/>
          <p:cNvSpPr/>
          <p:nvPr/>
        </p:nvSpPr>
        <p:spPr>
          <a:xfrm>
            <a:off x="1188720" y="313639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Operations &amp; Legal</a:t>
            </a:r>
            <a:endParaRPr lang="en-US" sz="1100" dirty="0"/>
          </a:p>
        </p:txBody>
      </p:sp>
      <p:sp>
        <p:nvSpPr>
          <p:cNvPr id="24" name="Text 22"/>
          <p:cNvSpPr/>
          <p:nvPr/>
        </p:nvSpPr>
        <p:spPr>
          <a:xfrm>
            <a:off x="1188720" y="336499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التراخيص والعمليات التنظيمية</a:t>
            </a:r>
            <a:endParaRPr lang="en-US" sz="900" dirty="0"/>
          </a:p>
        </p:txBody>
      </p:sp>
      <p:sp>
        <p:nvSpPr>
          <p:cNvPr id="25" name="Text 23"/>
          <p:cNvSpPr/>
          <p:nvPr/>
        </p:nvSpPr>
        <p:spPr>
          <a:xfrm>
            <a:off x="3474720" y="3108960"/>
            <a:ext cx="1188720" cy="50292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SAR 112K</a:t>
            </a:r>
            <a:endParaRPr lang="en-US" sz="1100" dirty="0"/>
          </a:p>
        </p:txBody>
      </p:sp>
      <p:sp>
        <p:nvSpPr>
          <p:cNvPr id="26" name="Text 24"/>
          <p:cNvSpPr/>
          <p:nvPr/>
        </p:nvSpPr>
        <p:spPr>
          <a:xfrm>
            <a:off x="4754880" y="310896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SAMA sandbox + CR + legal incorporation</a:t>
            </a:r>
            <a:endParaRPr lang="en-US" sz="1000" dirty="0"/>
          </a:p>
        </p:txBody>
      </p:sp>
      <p:sp>
        <p:nvSpPr>
          <p:cNvPr id="27" name="Shape 25"/>
          <p:cNvSpPr/>
          <p:nvPr/>
        </p:nvSpPr>
        <p:spPr>
          <a:xfrm>
            <a:off x="457200" y="3703320"/>
            <a:ext cx="8229600" cy="502920"/>
          </a:xfrm>
          <a:prstGeom prst="rect">
            <a:avLst/>
          </a:prstGeom>
          <a:solidFill>
            <a:srgbClr val="162B45"/>
          </a:solidFill>
          <a:ln/>
        </p:spPr>
      </p:sp>
      <p:sp>
        <p:nvSpPr>
          <p:cNvPr id="28" name="Shape 26"/>
          <p:cNvSpPr/>
          <p:nvPr/>
        </p:nvSpPr>
        <p:spPr>
          <a:xfrm>
            <a:off x="457200" y="3703320"/>
            <a:ext cx="45720" cy="502920"/>
          </a:xfrm>
          <a:prstGeom prst="rect">
            <a:avLst/>
          </a:prstGeom>
          <a:solidFill>
            <a:srgbClr val="64748B"/>
          </a:solidFill>
          <a:ln/>
        </p:spPr>
      </p:sp>
      <p:sp>
        <p:nvSpPr>
          <p:cNvPr id="29" name="Text 27"/>
          <p:cNvSpPr/>
          <p:nvPr/>
        </p:nvSpPr>
        <p:spPr>
          <a:xfrm>
            <a:off x="594360" y="3703320"/>
            <a:ext cx="548640" cy="502920"/>
          </a:xfrm>
          <a:prstGeom prst="rect">
            <a:avLst/>
          </a:prstGeom>
          <a:noFill/>
          <a:ln/>
        </p:spPr>
        <p:txBody>
          <a:bodyPr wrap="square" lIns="0" tIns="0" rIns="0" bIns="0" rtlCol="0" anchor="ctr"/>
          <a:lstStyle/>
          <a:p>
            <a:pPr indent="0" marL="0">
              <a:buNone/>
            </a:pPr>
            <a:r>
              <a:rPr lang="en-US" sz="1800" dirty="0">
                <a:solidFill>
                  <a:srgbClr val="64748B"/>
                </a:solidFill>
                <a:latin typeface="Arial Black" pitchFamily="34" charset="0"/>
                <a:ea typeface="Arial Black" pitchFamily="34" charset="-122"/>
                <a:cs typeface="Arial Black" pitchFamily="34" charset="-120"/>
              </a:rPr>
              <a:t>15%</a:t>
            </a:r>
            <a:endParaRPr lang="en-US" sz="1800" dirty="0"/>
          </a:p>
        </p:txBody>
      </p:sp>
      <p:sp>
        <p:nvSpPr>
          <p:cNvPr id="30" name="Text 28"/>
          <p:cNvSpPr/>
          <p:nvPr/>
        </p:nvSpPr>
        <p:spPr>
          <a:xfrm>
            <a:off x="1188720" y="373075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Working Capital</a:t>
            </a:r>
            <a:endParaRPr lang="en-US" sz="1100" dirty="0"/>
          </a:p>
        </p:txBody>
      </p:sp>
      <p:sp>
        <p:nvSpPr>
          <p:cNvPr id="31" name="Text 29"/>
          <p:cNvSpPr/>
          <p:nvPr/>
        </p:nvSpPr>
        <p:spPr>
          <a:xfrm>
            <a:off x="1188720" y="395935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احتياطي رأس المال التشغيلي</a:t>
            </a:r>
            <a:endParaRPr lang="en-US" sz="900" dirty="0"/>
          </a:p>
        </p:txBody>
      </p:sp>
      <p:sp>
        <p:nvSpPr>
          <p:cNvPr id="32" name="Text 30"/>
          <p:cNvSpPr/>
          <p:nvPr/>
        </p:nvSpPr>
        <p:spPr>
          <a:xfrm>
            <a:off x="3474720" y="3703320"/>
            <a:ext cx="1188720" cy="50292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SAR 112K</a:t>
            </a:r>
            <a:endParaRPr lang="en-US" sz="1100" dirty="0"/>
          </a:p>
        </p:txBody>
      </p:sp>
      <p:sp>
        <p:nvSpPr>
          <p:cNvPr id="33" name="Text 31"/>
          <p:cNvSpPr/>
          <p:nvPr/>
        </p:nvSpPr>
        <p:spPr>
          <a:xfrm>
            <a:off x="4754880" y="370332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6-month operational runway buffer</a:t>
            </a:r>
            <a:endParaRPr lang="en-US" sz="1000" dirty="0"/>
          </a:p>
        </p:txBody>
      </p:sp>
      <p:sp>
        <p:nvSpPr>
          <p:cNvPr id="34" name="Shape 32"/>
          <p:cNvSpPr/>
          <p:nvPr/>
        </p:nvSpPr>
        <p:spPr>
          <a:xfrm>
            <a:off x="457200" y="4343400"/>
            <a:ext cx="8229600" cy="320040"/>
          </a:xfrm>
          <a:prstGeom prst="rect">
            <a:avLst/>
          </a:prstGeom>
          <a:solidFill>
            <a:srgbClr val="132236"/>
          </a:solidFill>
          <a:ln/>
        </p:spPr>
      </p:sp>
      <p:sp>
        <p:nvSpPr>
          <p:cNvPr id="35" name="Text 33"/>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000" b="1" dirty="0">
                <a:solidFill>
                  <a:srgbClr val="D4AF37"/>
                </a:solidFill>
                <a:latin typeface="Calibri" pitchFamily="34" charset="0"/>
                <a:ea typeface="Calibri" pitchFamily="34" charset="-122"/>
                <a:cs typeface="Calibri" pitchFamily="34" charset="-120"/>
              </a:rPr>
              <a:t>12-mo milestones: 150 clients · SAR 1.2M ARR · Path to break-even  |  أهداف 12 شهراً: 150 عميل · 1.2 مليون ريال إيرادات سنوية · مسار نحو نقطة التعادل</a:t>
            </a:r>
            <a:endParaRPr lang="en-US" sz="1000" dirty="0"/>
          </a:p>
        </p:txBody>
      </p:sp>
      <p:sp>
        <p:nvSpPr>
          <p:cNvPr id="36" name="Shape 34"/>
          <p:cNvSpPr/>
          <p:nvPr/>
        </p:nvSpPr>
        <p:spPr>
          <a:xfrm>
            <a:off x="0" y="4709160"/>
            <a:ext cx="9144000" cy="434340"/>
          </a:xfrm>
          <a:prstGeom prst="rect">
            <a:avLst/>
          </a:prstGeom>
          <a:solidFill>
            <a:srgbClr val="0A1220"/>
          </a:solidFill>
          <a:ln/>
        </p:spPr>
      </p:sp>
      <p:sp>
        <p:nvSpPr>
          <p:cNvPr id="37" name="Text 35"/>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8" name="Text 36"/>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17 / 19</a:t>
            </a:r>
            <a:endParaRPr lang="en-US" sz="750" dirty="0"/>
          </a:p>
        </p:txBody>
      </p:sp>
      <p:sp>
        <p:nvSpPr>
          <p:cNvPr id="39" name="Text 37"/>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F37"/>
          </a:solidFill>
          <a:ln/>
        </p:spPr>
      </p:sp>
      <p:sp>
        <p:nvSpPr>
          <p:cNvPr id="3" name="Shape 1"/>
          <p:cNvSpPr/>
          <p:nvPr/>
        </p:nvSpPr>
        <p:spPr>
          <a:xfrm>
            <a:off x="2743200" y="457200"/>
            <a:ext cx="5029200" cy="5029200"/>
          </a:xfrm>
          <a:prstGeom prst="ellipse">
            <a:avLst/>
          </a:prstGeom>
          <a:solidFill>
            <a:srgbClr val="1C3254">
              <a:alpha val="40000"/>
            </a:srgbClr>
          </a:solidFill>
          <a:ln/>
        </p:spPr>
      </p:sp>
      <p:sp>
        <p:nvSpPr>
          <p:cNvPr id="4" name="Shape 2"/>
          <p:cNvSpPr/>
          <p:nvPr/>
        </p:nvSpPr>
        <p:spPr>
          <a:xfrm>
            <a:off x="3200400" y="731520"/>
            <a:ext cx="4114800" cy="4114800"/>
          </a:xfrm>
          <a:prstGeom prst="ellipse">
            <a:avLst/>
          </a:prstGeom>
          <a:solidFill>
            <a:srgbClr val="132236">
              <a:alpha val="60000"/>
            </a:srgbClr>
          </a:solidFill>
          <a:ln/>
        </p:spPr>
      </p:sp>
      <p:sp>
        <p:nvSpPr>
          <p:cNvPr id="5" name="Text 3"/>
          <p:cNvSpPr/>
          <p:nvPr/>
        </p:nvSpPr>
        <p:spPr>
          <a:xfrm>
            <a:off x="457200" y="731520"/>
            <a:ext cx="8229600" cy="914400"/>
          </a:xfrm>
          <a:prstGeom prst="rect">
            <a:avLst/>
          </a:prstGeom>
          <a:noFill/>
          <a:ln/>
        </p:spPr>
        <p:txBody>
          <a:bodyPr wrap="square" lIns="0" tIns="0" rIns="0" bIns="0" rtlCol="0" anchor="ctr"/>
          <a:lstStyle/>
          <a:p>
            <a:pPr algn="ctr" indent="0" marL="0">
              <a:buNone/>
            </a:pPr>
            <a:r>
              <a:rPr lang="en-US" sz="7200"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6" name="Shape 4"/>
          <p:cNvSpPr/>
          <p:nvPr/>
        </p:nvSpPr>
        <p:spPr>
          <a:xfrm>
            <a:off x="3200400" y="1691640"/>
            <a:ext cx="2743200" cy="36576"/>
          </a:xfrm>
          <a:prstGeom prst="rect">
            <a:avLst/>
          </a:prstGeom>
          <a:solidFill>
            <a:srgbClr val="D4AF37"/>
          </a:solidFill>
          <a:ln/>
        </p:spPr>
      </p:sp>
      <p:sp>
        <p:nvSpPr>
          <p:cNvPr id="7" name="Text 5"/>
          <p:cNvSpPr/>
          <p:nvPr/>
        </p:nvSpPr>
        <p:spPr>
          <a:xfrm>
            <a:off x="914400" y="1920240"/>
            <a:ext cx="7315200" cy="411480"/>
          </a:xfrm>
          <a:prstGeom prst="rect">
            <a:avLst/>
          </a:prstGeom>
          <a:noFill/>
          <a:ln/>
        </p:spPr>
        <p:txBody>
          <a:bodyPr wrap="square" lIns="0" tIns="0" rIns="0" bIns="0" rtlCol="0" anchor="ctr"/>
          <a:lstStyle/>
          <a:p>
            <a:pPr algn="ctr" indent="0" marL="0">
              <a:buNone/>
            </a:pPr>
            <a:r>
              <a:rPr lang="en-US" sz="2000" dirty="0">
                <a:solidFill>
                  <a:srgbClr val="CBD5E1"/>
                </a:solidFill>
                <a:latin typeface="Calibri" pitchFamily="34" charset="0"/>
                <a:ea typeface="Calibri" pitchFamily="34" charset="-122"/>
                <a:cs typeface="Calibri" pitchFamily="34" charset="-120"/>
              </a:rPr>
              <a:t>The Future of Financial Intelligence is Already Built.</a:t>
            </a:r>
            <a:endParaRPr lang="en-US" sz="2000" dirty="0"/>
          </a:p>
        </p:txBody>
      </p:sp>
      <p:sp>
        <p:nvSpPr>
          <p:cNvPr id="8" name="Text 6"/>
          <p:cNvSpPr/>
          <p:nvPr/>
        </p:nvSpPr>
        <p:spPr>
          <a:xfrm>
            <a:off x="914400" y="2331720"/>
            <a:ext cx="7315200" cy="365760"/>
          </a:xfrm>
          <a:prstGeom prst="rect">
            <a:avLst/>
          </a:prstGeom>
          <a:noFill/>
          <a:ln/>
        </p:spPr>
        <p:txBody>
          <a:bodyPr wrap="square" lIns="0" tIns="0" rIns="0" bIns="0" rtlCol="0" anchor="ctr"/>
          <a:lstStyle/>
          <a:p>
            <a:pPr algn="ctr" indent="0" marL="0">
              <a:buNone/>
            </a:pPr>
            <a:r>
              <a:rPr lang="en-US" sz="1800" dirty="0">
                <a:solidFill>
                  <a:srgbClr val="D4AF37"/>
                </a:solidFill>
                <a:latin typeface="Calibri" pitchFamily="34" charset="0"/>
                <a:ea typeface="Calibri" pitchFamily="34" charset="-122"/>
                <a:cs typeface="Calibri" pitchFamily="34" charset="-120"/>
              </a:rPr>
              <a:t>مستقبل الذكاء المالي ليس فكرة — إنه منتج جاهز.</a:t>
            </a:r>
            <a:endParaRPr lang="en-US" sz="1800" dirty="0"/>
          </a:p>
        </p:txBody>
      </p:sp>
      <p:sp>
        <p:nvSpPr>
          <p:cNvPr id="9" name="Text 7"/>
          <p:cNvSpPr/>
          <p:nvPr/>
        </p:nvSpPr>
        <p:spPr>
          <a:xfrm>
            <a:off x="914400" y="2743200"/>
            <a:ext cx="7315200" cy="274320"/>
          </a:xfrm>
          <a:prstGeom prst="rect">
            <a:avLst/>
          </a:prstGeom>
          <a:noFill/>
          <a:ln/>
        </p:spPr>
        <p:txBody>
          <a:bodyPr wrap="square" lIns="0" tIns="0" rIns="0" bIns="0" rtlCol="0" anchor="ctr"/>
          <a:lstStyle/>
          <a:p>
            <a:pPr algn="ctr" indent="0" marL="0">
              <a:buNone/>
            </a:pPr>
            <a:r>
              <a:rPr lang="en-US" sz="1400" b="1" i="1" dirty="0">
                <a:solidFill>
                  <a:srgbClr val="0891B2"/>
                </a:solidFill>
                <a:latin typeface="Calibri" pitchFamily="34" charset="0"/>
                <a:ea typeface="Calibri" pitchFamily="34" charset="-122"/>
                <a:cs typeface="Calibri" pitchFamily="34" charset="-120"/>
              </a:rPr>
              <a:t>Not a concept. Not a pitch. A live product.  ·  ليس عرضاً فقط — بل منصة تعمل الآن.</a:t>
            </a:r>
            <a:endParaRPr lang="en-US" sz="1400" dirty="0"/>
          </a:p>
        </p:txBody>
      </p:sp>
      <p:sp>
        <p:nvSpPr>
          <p:cNvPr id="10" name="Shape 8"/>
          <p:cNvSpPr/>
          <p:nvPr/>
        </p:nvSpPr>
        <p:spPr>
          <a:xfrm>
            <a:off x="457200" y="324612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1" name="Shape 9"/>
          <p:cNvSpPr/>
          <p:nvPr/>
        </p:nvSpPr>
        <p:spPr>
          <a:xfrm>
            <a:off x="457200" y="3246120"/>
            <a:ext cx="45720" cy="640080"/>
          </a:xfrm>
          <a:prstGeom prst="rect">
            <a:avLst/>
          </a:prstGeom>
          <a:solidFill>
            <a:srgbClr val="D4AF37"/>
          </a:solidFill>
          <a:ln/>
        </p:spPr>
      </p:sp>
      <p:sp>
        <p:nvSpPr>
          <p:cNvPr id="12" name="Text 10"/>
          <p:cNvSpPr/>
          <p:nvPr/>
        </p:nvSpPr>
        <p:spPr>
          <a:xfrm>
            <a:off x="59436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apex-api-ootk.onrender.com</a:t>
            </a:r>
            <a:endParaRPr lang="en-US" sz="950" dirty="0"/>
          </a:p>
        </p:txBody>
      </p:sp>
      <p:sp>
        <p:nvSpPr>
          <p:cNvPr id="13" name="Text 11"/>
          <p:cNvSpPr/>
          <p:nvPr/>
        </p:nvSpPr>
        <p:spPr>
          <a:xfrm>
            <a:off x="59436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جرّب المنصة الآن</a:t>
            </a:r>
            <a:endParaRPr lang="en-US" sz="850" dirty="0"/>
          </a:p>
        </p:txBody>
      </p:sp>
      <p:sp>
        <p:nvSpPr>
          <p:cNvPr id="14" name="Shape 12"/>
          <p:cNvSpPr/>
          <p:nvPr/>
        </p:nvSpPr>
        <p:spPr>
          <a:xfrm>
            <a:off x="2926080" y="324612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5" name="Shape 13"/>
          <p:cNvSpPr/>
          <p:nvPr/>
        </p:nvSpPr>
        <p:spPr>
          <a:xfrm>
            <a:off x="2926080" y="3246120"/>
            <a:ext cx="45720" cy="640080"/>
          </a:xfrm>
          <a:prstGeom prst="rect">
            <a:avLst/>
          </a:prstGeom>
          <a:solidFill>
            <a:srgbClr val="D4AF37"/>
          </a:solidFill>
          <a:ln/>
        </p:spPr>
      </p:sp>
      <p:sp>
        <p:nvSpPr>
          <p:cNvPr id="16" name="Text 14"/>
          <p:cNvSpPr/>
          <p:nvPr/>
        </p:nvSpPr>
        <p:spPr>
          <a:xfrm>
            <a:off x="306324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Jeddah, Saudi Arabia</a:t>
            </a:r>
            <a:endParaRPr lang="en-US" sz="950" dirty="0"/>
          </a:p>
        </p:txBody>
      </p:sp>
      <p:sp>
        <p:nvSpPr>
          <p:cNvPr id="17" name="Text 15"/>
          <p:cNvSpPr/>
          <p:nvPr/>
        </p:nvSpPr>
        <p:spPr>
          <a:xfrm>
            <a:off x="306324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جدة · المملكة العربية السعودية</a:t>
            </a:r>
            <a:endParaRPr lang="en-US" sz="850" dirty="0"/>
          </a:p>
        </p:txBody>
      </p:sp>
      <p:sp>
        <p:nvSpPr>
          <p:cNvPr id="18" name="Shape 16"/>
          <p:cNvSpPr/>
          <p:nvPr/>
        </p:nvSpPr>
        <p:spPr>
          <a:xfrm>
            <a:off x="5394960" y="3246120"/>
            <a:ext cx="2240280" cy="64008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9" name="Shape 17"/>
          <p:cNvSpPr/>
          <p:nvPr/>
        </p:nvSpPr>
        <p:spPr>
          <a:xfrm>
            <a:off x="5394960" y="3246120"/>
            <a:ext cx="45720" cy="640080"/>
          </a:xfrm>
          <a:prstGeom prst="rect">
            <a:avLst/>
          </a:prstGeom>
          <a:solidFill>
            <a:srgbClr val="D4AF37"/>
          </a:solidFill>
          <a:ln/>
        </p:spPr>
      </p:sp>
      <p:sp>
        <p:nvSpPr>
          <p:cNvPr id="20" name="Text 18"/>
          <p:cNvSpPr/>
          <p:nvPr/>
        </p:nvSpPr>
        <p:spPr>
          <a:xfrm>
            <a:off x="553212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2026 · Live &amp; Ready</a:t>
            </a:r>
            <a:endParaRPr lang="en-US" sz="950" dirty="0"/>
          </a:p>
        </p:txBody>
      </p:sp>
      <p:sp>
        <p:nvSpPr>
          <p:cNvPr id="21" name="Text 19"/>
          <p:cNvSpPr/>
          <p:nvPr/>
        </p:nvSpPr>
        <p:spPr>
          <a:xfrm>
            <a:off x="553212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المنصة تعمل ومتاحة الآن</a:t>
            </a:r>
            <a:endParaRPr lang="en-US" sz="850" dirty="0"/>
          </a:p>
        </p:txBody>
      </p:sp>
      <p:sp>
        <p:nvSpPr>
          <p:cNvPr id="22" name="Shape 20"/>
          <p:cNvSpPr/>
          <p:nvPr/>
        </p:nvSpPr>
        <p:spPr>
          <a:xfrm>
            <a:off x="7863840" y="3246120"/>
            <a:ext cx="822960" cy="822960"/>
          </a:xfrm>
          <a:prstGeom prst="rect">
            <a:avLst/>
          </a:prstGeom>
          <a:solidFill>
            <a:srgbClr val="FFFFFF"/>
          </a:solidFill>
          <a:ln/>
        </p:spPr>
      </p:sp>
      <p:pic>
        <p:nvPicPr>
          <p:cNvPr id="23" name="Image 0" descr="/sessions/festive-vibrant-feynman/qr_code.png">    </p:cNvPr>
          <p:cNvPicPr>
            <a:picLocks noChangeAspect="1"/>
          </p:cNvPicPr>
          <p:nvPr/>
        </p:nvPicPr>
        <p:blipFill>
          <a:blip r:embed="rId1"/>
          <a:stretch>
            <a:fillRect/>
          </a:stretch>
        </p:blipFill>
        <p:spPr>
          <a:xfrm>
            <a:off x="7909560" y="3291840"/>
            <a:ext cx="731520" cy="731520"/>
          </a:xfrm>
          <a:prstGeom prst="rect">
            <a:avLst/>
          </a:prstGeom>
        </p:spPr>
      </p:pic>
      <p:sp>
        <p:nvSpPr>
          <p:cNvPr id="24" name="Text 21"/>
          <p:cNvSpPr/>
          <p:nvPr/>
        </p:nvSpPr>
        <p:spPr>
          <a:xfrm>
            <a:off x="7680960" y="4069080"/>
            <a:ext cx="1188720" cy="137160"/>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Scan to Visit</a:t>
            </a:r>
            <a:endParaRPr lang="en-US" sz="650" dirty="0"/>
          </a:p>
        </p:txBody>
      </p:sp>
      <p:sp>
        <p:nvSpPr>
          <p:cNvPr id="25" name="Shape 22"/>
          <p:cNvSpPr/>
          <p:nvPr/>
        </p:nvSpPr>
        <p:spPr>
          <a:xfrm>
            <a:off x="0" y="4709160"/>
            <a:ext cx="9144000" cy="434340"/>
          </a:xfrm>
          <a:prstGeom prst="rect">
            <a:avLst/>
          </a:prstGeom>
          <a:solidFill>
            <a:srgbClr val="0A1220"/>
          </a:solidFill>
          <a:ln/>
        </p:spPr>
      </p:sp>
      <p:sp>
        <p:nvSpPr>
          <p:cNvPr id="26"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7"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18 / 19</a:t>
            </a:r>
            <a:endParaRPr lang="en-US" sz="750" dirty="0"/>
          </a:p>
        </p:txBody>
      </p:sp>
      <p:sp>
        <p:nvSpPr>
          <p:cNvPr id="28"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5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748B"/>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D4AF37"/>
                </a:solidFill>
                <a:latin typeface="Calibri" pitchFamily="34" charset="0"/>
                <a:ea typeface="Calibri" pitchFamily="34" charset="-122"/>
                <a:cs typeface="Calibri" pitchFamily="34" charset="-120"/>
              </a:rPr>
              <a:t>APPENDIX  ·  ملحق تفصيلي</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Deep Dive &amp; Market Data</a:t>
            </a:r>
            <a:endParaRPr lang="en-US" sz="2400" dirty="0"/>
          </a:p>
          <a:p>
            <a:pPr indent="0" marL="0">
              <a:buNone/>
            </a:pPr>
            <a:r>
              <a:rPr lang="en-US" sz="1200" dirty="0">
                <a:solidFill>
                  <a:srgbClr val="D4AF37"/>
                </a:solidFill>
                <a:latin typeface="Calibri" pitchFamily="34" charset="0"/>
                <a:ea typeface="Calibri" pitchFamily="34" charset="-122"/>
                <a:cs typeface="Calibri" pitchFamily="34" charset="-120"/>
              </a:rPr>
              <a:t>بيانات السوق والتفاصيل التقنية — للاستفسارات المتعمقة</a:t>
            </a:r>
            <a:endParaRPr lang="en-US" sz="2400" dirty="0"/>
          </a:p>
        </p:txBody>
      </p:sp>
      <p:sp>
        <p:nvSpPr>
          <p:cNvPr id="5" name="Text 3"/>
          <p:cNvSpPr/>
          <p:nvPr/>
        </p:nvSpPr>
        <p:spPr>
          <a:xfrm>
            <a:off x="457200" y="1234440"/>
            <a:ext cx="4572000" cy="228600"/>
          </a:xfrm>
          <a:prstGeom prst="rect">
            <a:avLst/>
          </a:prstGeom>
          <a:noFill/>
          <a:ln/>
        </p:spPr>
        <p:txBody>
          <a:bodyPr wrap="square" lIns="0" tIns="0" rIns="0" bIns="0" rtlCol="0" anchor="ctr"/>
          <a:lstStyle/>
          <a:p>
            <a:pPr indent="0" marL="0">
              <a:buNone/>
            </a:pPr>
            <a:r>
              <a:rPr lang="en-US" sz="1000" b="1" spc="300" kern="0" dirty="0">
                <a:solidFill>
                  <a:srgbClr val="D4AF37"/>
                </a:solidFill>
                <a:latin typeface="Calibri" pitchFamily="34" charset="0"/>
                <a:ea typeface="Calibri" pitchFamily="34" charset="-122"/>
                <a:cs typeface="Calibri" pitchFamily="34" charset="-120"/>
              </a:rPr>
              <a:t>TAM / SAM / SOM  ·  حجم السوق</a:t>
            </a:r>
            <a:endParaRPr lang="en-US" sz="1000" dirty="0"/>
          </a:p>
        </p:txBody>
      </p:sp>
      <p:sp>
        <p:nvSpPr>
          <p:cNvPr id="6" name="Shape 4"/>
          <p:cNvSpPr/>
          <p:nvPr/>
        </p:nvSpPr>
        <p:spPr>
          <a:xfrm>
            <a:off x="457200" y="1554480"/>
            <a:ext cx="8229600" cy="4572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7" name="Shape 5"/>
          <p:cNvSpPr/>
          <p:nvPr/>
        </p:nvSpPr>
        <p:spPr>
          <a:xfrm>
            <a:off x="457200" y="1554480"/>
            <a:ext cx="8229600" cy="36576"/>
          </a:xfrm>
          <a:prstGeom prst="rect">
            <a:avLst/>
          </a:prstGeom>
          <a:solidFill>
            <a:srgbClr val="D4AF37"/>
          </a:solidFill>
          <a:ln/>
        </p:spPr>
      </p:sp>
      <p:sp>
        <p:nvSpPr>
          <p:cNvPr id="8" name="Text 6"/>
          <p:cNvSpPr/>
          <p:nvPr/>
        </p:nvSpPr>
        <p:spPr>
          <a:xfrm>
            <a:off x="594360" y="1627632"/>
            <a:ext cx="548640" cy="320040"/>
          </a:xfrm>
          <a:prstGeom prst="rect">
            <a:avLst/>
          </a:prstGeom>
          <a:noFill/>
          <a:ln/>
        </p:spPr>
        <p:txBody>
          <a:bodyPr wrap="square" lIns="0" tIns="0" rIns="0" bIns="0" rtlCol="0" anchor="ctr"/>
          <a:lstStyle/>
          <a:p>
            <a:pPr indent="0" marL="0">
              <a:buNone/>
            </a:pPr>
            <a:r>
              <a:rPr lang="en-US" sz="1200" dirty="0">
                <a:solidFill>
                  <a:srgbClr val="D4AF37"/>
                </a:solidFill>
                <a:latin typeface="Arial Black" pitchFamily="34" charset="0"/>
                <a:ea typeface="Arial Black" pitchFamily="34" charset="-122"/>
                <a:cs typeface="Arial Black" pitchFamily="34" charset="-120"/>
              </a:rPr>
              <a:t>TAM</a:t>
            </a:r>
            <a:endParaRPr lang="en-US" sz="1200" dirty="0"/>
          </a:p>
        </p:txBody>
      </p:sp>
      <p:sp>
        <p:nvSpPr>
          <p:cNvPr id="9" name="Text 7"/>
          <p:cNvSpPr/>
          <p:nvPr/>
        </p:nvSpPr>
        <p:spPr>
          <a:xfrm>
            <a:off x="1188720" y="162763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4.5B</a:t>
            </a:r>
            <a:endParaRPr lang="en-US" sz="1600" dirty="0"/>
          </a:p>
        </p:txBody>
      </p:sp>
      <p:sp>
        <p:nvSpPr>
          <p:cNvPr id="10" name="Text 8"/>
          <p:cNvSpPr/>
          <p:nvPr/>
        </p:nvSpPr>
        <p:spPr>
          <a:xfrm>
            <a:off x="2651760" y="160934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Saudi fintech market 2025 (SAMA + Fintech Saudi reports)</a:t>
            </a:r>
            <a:endParaRPr lang="en-US" sz="900" dirty="0"/>
          </a:p>
        </p:txBody>
      </p:sp>
      <p:sp>
        <p:nvSpPr>
          <p:cNvPr id="11" name="Text 9"/>
          <p:cNvSpPr/>
          <p:nvPr/>
        </p:nvSpPr>
        <p:spPr>
          <a:xfrm>
            <a:off x="2651760" y="181051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إجمالي السوق المستهدف — التقنية المالية السعودية</a:t>
            </a:r>
            <a:endParaRPr lang="en-US" sz="800" dirty="0"/>
          </a:p>
        </p:txBody>
      </p:sp>
      <p:sp>
        <p:nvSpPr>
          <p:cNvPr id="12" name="Shape 10"/>
          <p:cNvSpPr/>
          <p:nvPr/>
        </p:nvSpPr>
        <p:spPr>
          <a:xfrm>
            <a:off x="457200" y="2148840"/>
            <a:ext cx="8229600" cy="4572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3" name="Shape 11"/>
          <p:cNvSpPr/>
          <p:nvPr/>
        </p:nvSpPr>
        <p:spPr>
          <a:xfrm>
            <a:off x="457200" y="2148840"/>
            <a:ext cx="6400800" cy="36576"/>
          </a:xfrm>
          <a:prstGeom prst="rect">
            <a:avLst/>
          </a:prstGeom>
          <a:solidFill>
            <a:srgbClr val="0891B2"/>
          </a:solidFill>
          <a:ln/>
        </p:spPr>
      </p:sp>
      <p:sp>
        <p:nvSpPr>
          <p:cNvPr id="14" name="Text 12"/>
          <p:cNvSpPr/>
          <p:nvPr/>
        </p:nvSpPr>
        <p:spPr>
          <a:xfrm>
            <a:off x="594360" y="2221992"/>
            <a:ext cx="548640" cy="320040"/>
          </a:xfrm>
          <a:prstGeom prst="rect">
            <a:avLst/>
          </a:prstGeom>
          <a:noFill/>
          <a:ln/>
        </p:spPr>
        <p:txBody>
          <a:bodyPr wrap="square" lIns="0" tIns="0" rIns="0" bIns="0" rtlCol="0" anchor="ctr"/>
          <a:lstStyle/>
          <a:p>
            <a:pPr indent="0" marL="0">
              <a:buNone/>
            </a:pPr>
            <a:r>
              <a:rPr lang="en-US" sz="1200" dirty="0">
                <a:solidFill>
                  <a:srgbClr val="0891B2"/>
                </a:solidFill>
                <a:latin typeface="Arial Black" pitchFamily="34" charset="0"/>
                <a:ea typeface="Arial Black" pitchFamily="34" charset="-122"/>
                <a:cs typeface="Arial Black" pitchFamily="34" charset="-120"/>
              </a:rPr>
              <a:t>SAM</a:t>
            </a:r>
            <a:endParaRPr lang="en-US" sz="1200" dirty="0"/>
          </a:p>
        </p:txBody>
      </p:sp>
      <p:sp>
        <p:nvSpPr>
          <p:cNvPr id="15" name="Text 13"/>
          <p:cNvSpPr/>
          <p:nvPr/>
        </p:nvSpPr>
        <p:spPr>
          <a:xfrm>
            <a:off x="1188720" y="222199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800M</a:t>
            </a:r>
            <a:endParaRPr lang="en-US" sz="1600" dirty="0"/>
          </a:p>
        </p:txBody>
      </p:sp>
      <p:sp>
        <p:nvSpPr>
          <p:cNvPr id="16" name="Text 14"/>
          <p:cNvSpPr/>
          <p:nvPr/>
        </p:nvSpPr>
        <p:spPr>
          <a:xfrm>
            <a:off x="2651760" y="220370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SME financial tools — accounting, analysis, compliance software</a:t>
            </a:r>
            <a:endParaRPr lang="en-US" sz="900" dirty="0"/>
          </a:p>
        </p:txBody>
      </p:sp>
      <p:sp>
        <p:nvSpPr>
          <p:cNvPr id="17" name="Text 15"/>
          <p:cNvSpPr/>
          <p:nvPr/>
        </p:nvSpPr>
        <p:spPr>
          <a:xfrm>
            <a:off x="2651760" y="240487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المتاح — أدوات التحليل المالي للمنشآت</a:t>
            </a:r>
            <a:endParaRPr lang="en-US" sz="800" dirty="0"/>
          </a:p>
        </p:txBody>
      </p:sp>
      <p:sp>
        <p:nvSpPr>
          <p:cNvPr id="18" name="Shape 16"/>
          <p:cNvSpPr/>
          <p:nvPr/>
        </p:nvSpPr>
        <p:spPr>
          <a:xfrm>
            <a:off x="457200" y="2743200"/>
            <a:ext cx="8229600" cy="457200"/>
          </a:xfrm>
          <a:prstGeom prst="rect">
            <a:avLst/>
          </a:prstGeom>
          <a:solidFill>
            <a:srgbClr val="162B45"/>
          </a:solidFill>
          <a:ln/>
          <a:effectLst>
            <a:outerShdw sx="100000" sy="100000" kx="0" ky="0" algn="bl" rotWithShape="0" blurRad="76200" dist="25400" dir="8100000">
              <a:srgbClr val="000000">
                <a:alpha val="25000"/>
              </a:srgbClr>
            </a:outerShdw>
          </a:effectLst>
        </p:spPr>
      </p:sp>
      <p:sp>
        <p:nvSpPr>
          <p:cNvPr id="19" name="Shape 17"/>
          <p:cNvSpPr/>
          <p:nvPr/>
        </p:nvSpPr>
        <p:spPr>
          <a:xfrm>
            <a:off x="457200" y="2743200"/>
            <a:ext cx="4114800" cy="36576"/>
          </a:xfrm>
          <a:prstGeom prst="rect">
            <a:avLst/>
          </a:prstGeom>
          <a:solidFill>
            <a:srgbClr val="10B981"/>
          </a:solidFill>
          <a:ln/>
        </p:spPr>
      </p:sp>
      <p:sp>
        <p:nvSpPr>
          <p:cNvPr id="20" name="Text 18"/>
          <p:cNvSpPr/>
          <p:nvPr/>
        </p:nvSpPr>
        <p:spPr>
          <a:xfrm>
            <a:off x="594360" y="2816352"/>
            <a:ext cx="548640" cy="320040"/>
          </a:xfrm>
          <a:prstGeom prst="rect">
            <a:avLst/>
          </a:prstGeom>
          <a:noFill/>
          <a:ln/>
        </p:spPr>
        <p:txBody>
          <a:bodyPr wrap="square" lIns="0" tIns="0" rIns="0" bIns="0" rtlCol="0" anchor="ctr"/>
          <a:lstStyle/>
          <a:p>
            <a:pPr indent="0" marL="0">
              <a:buNone/>
            </a:pPr>
            <a:r>
              <a:rPr lang="en-US" sz="1200" dirty="0">
                <a:solidFill>
                  <a:srgbClr val="10B981"/>
                </a:solidFill>
                <a:latin typeface="Arial Black" pitchFamily="34" charset="0"/>
                <a:ea typeface="Arial Black" pitchFamily="34" charset="-122"/>
                <a:cs typeface="Arial Black" pitchFamily="34" charset="-120"/>
              </a:rPr>
              <a:t>SOM</a:t>
            </a:r>
            <a:endParaRPr lang="en-US" sz="1200" dirty="0"/>
          </a:p>
        </p:txBody>
      </p:sp>
      <p:sp>
        <p:nvSpPr>
          <p:cNvPr id="21" name="Text 19"/>
          <p:cNvSpPr/>
          <p:nvPr/>
        </p:nvSpPr>
        <p:spPr>
          <a:xfrm>
            <a:off x="1188720" y="281635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8M</a:t>
            </a:r>
            <a:endParaRPr lang="en-US" sz="1600" dirty="0"/>
          </a:p>
        </p:txBody>
      </p:sp>
      <p:sp>
        <p:nvSpPr>
          <p:cNvPr id="22" name="Text 20"/>
          <p:cNvSpPr/>
          <p:nvPr/>
        </p:nvSpPr>
        <p:spPr>
          <a:xfrm>
            <a:off x="2651760" y="279806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Realistic 3-year target — 1% SAM penetration (conservative)</a:t>
            </a:r>
            <a:endParaRPr lang="en-US" sz="900" dirty="0"/>
          </a:p>
        </p:txBody>
      </p:sp>
      <p:sp>
        <p:nvSpPr>
          <p:cNvPr id="23" name="Text 21"/>
          <p:cNvSpPr/>
          <p:nvPr/>
        </p:nvSpPr>
        <p:spPr>
          <a:xfrm>
            <a:off x="2651760" y="299923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القابل للتحقيق — 1% خلال 3 سنوات</a:t>
            </a:r>
            <a:endParaRPr lang="en-US" sz="800" dirty="0"/>
          </a:p>
        </p:txBody>
      </p:sp>
      <p:sp>
        <p:nvSpPr>
          <p:cNvPr id="24" name="Text 22"/>
          <p:cNvSpPr/>
          <p:nvPr/>
        </p:nvSpPr>
        <p:spPr>
          <a:xfrm>
            <a:off x="457200" y="3383280"/>
            <a:ext cx="4572000" cy="228600"/>
          </a:xfrm>
          <a:prstGeom prst="rect">
            <a:avLst/>
          </a:prstGeom>
          <a:noFill/>
          <a:ln/>
        </p:spPr>
        <p:txBody>
          <a:bodyPr wrap="square" lIns="0" tIns="0" rIns="0" bIns="0" rtlCol="0" anchor="ctr"/>
          <a:lstStyle/>
          <a:p>
            <a:pPr indent="0" marL="0">
              <a:buNone/>
            </a:pPr>
            <a:r>
              <a:rPr lang="en-US" sz="1000" b="1" spc="300" kern="0" dirty="0">
                <a:solidFill>
                  <a:srgbClr val="D4AF37"/>
                </a:solidFill>
                <a:latin typeface="Calibri" pitchFamily="34" charset="0"/>
                <a:ea typeface="Calibri" pitchFamily="34" charset="-122"/>
                <a:cs typeface="Calibri" pitchFamily="34" charset="-120"/>
              </a:rPr>
              <a:t>ARCHITECTURE OVERVIEW  ·  نظرة معمارية</a:t>
            </a:r>
            <a:endParaRPr lang="en-US" sz="1000" dirty="0"/>
          </a:p>
        </p:txBody>
      </p:sp>
      <p:sp>
        <p:nvSpPr>
          <p:cNvPr id="25" name="Shape 23"/>
          <p:cNvSpPr/>
          <p:nvPr/>
        </p:nvSpPr>
        <p:spPr>
          <a:xfrm>
            <a:off x="457200" y="3657600"/>
            <a:ext cx="8229600" cy="228600"/>
          </a:xfrm>
          <a:prstGeom prst="rect">
            <a:avLst/>
          </a:prstGeom>
          <a:solidFill>
            <a:srgbClr val="162B45"/>
          </a:solidFill>
          <a:ln/>
        </p:spPr>
      </p:sp>
      <p:sp>
        <p:nvSpPr>
          <p:cNvPr id="26" name="Text 24"/>
          <p:cNvSpPr/>
          <p:nvPr/>
        </p:nvSpPr>
        <p:spPr>
          <a:xfrm>
            <a:off x="548640" y="3657600"/>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API Endpoints</a:t>
            </a:r>
            <a:endParaRPr lang="en-US" sz="900" dirty="0"/>
          </a:p>
        </p:txBody>
      </p:sp>
      <p:sp>
        <p:nvSpPr>
          <p:cNvPr id="27" name="Text 25"/>
          <p:cNvSpPr/>
          <p:nvPr/>
        </p:nvSpPr>
        <p:spPr>
          <a:xfrm>
            <a:off x="2286000" y="3657600"/>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30+ RESTful</a:t>
            </a:r>
            <a:endParaRPr lang="en-US" sz="900" dirty="0"/>
          </a:p>
        </p:txBody>
      </p:sp>
      <p:sp>
        <p:nvSpPr>
          <p:cNvPr id="28" name="Text 26"/>
          <p:cNvSpPr/>
          <p:nvPr/>
        </p:nvSpPr>
        <p:spPr>
          <a:xfrm>
            <a:off x="4206240" y="3657600"/>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FastAPI auto-docs, Swagger UI, rate-limited</a:t>
            </a:r>
            <a:endParaRPr lang="en-US" sz="850" dirty="0"/>
          </a:p>
        </p:txBody>
      </p:sp>
      <p:sp>
        <p:nvSpPr>
          <p:cNvPr id="29" name="Shape 27"/>
          <p:cNvSpPr/>
          <p:nvPr/>
        </p:nvSpPr>
        <p:spPr>
          <a:xfrm>
            <a:off x="457200" y="3913632"/>
            <a:ext cx="8229600" cy="228600"/>
          </a:xfrm>
          <a:prstGeom prst="rect">
            <a:avLst/>
          </a:prstGeom>
          <a:solidFill>
            <a:srgbClr val="1A3350"/>
          </a:solidFill>
          <a:ln/>
        </p:spPr>
      </p:sp>
      <p:sp>
        <p:nvSpPr>
          <p:cNvPr id="30" name="Text 28"/>
          <p:cNvSpPr/>
          <p:nvPr/>
        </p:nvSpPr>
        <p:spPr>
          <a:xfrm>
            <a:off x="548640" y="3913632"/>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AI Modules</a:t>
            </a:r>
            <a:endParaRPr lang="en-US" sz="900" dirty="0"/>
          </a:p>
        </p:txBody>
      </p:sp>
      <p:sp>
        <p:nvSpPr>
          <p:cNvPr id="31" name="Text 29"/>
          <p:cNvSpPr/>
          <p:nvPr/>
        </p:nvSpPr>
        <p:spPr>
          <a:xfrm>
            <a:off x="2286000" y="3913632"/>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11 Knowledge Brain</a:t>
            </a:r>
            <a:endParaRPr lang="en-US" sz="900" dirty="0"/>
          </a:p>
        </p:txBody>
      </p:sp>
      <p:sp>
        <p:nvSpPr>
          <p:cNvPr id="32" name="Text 30"/>
          <p:cNvSpPr/>
          <p:nvPr/>
        </p:nvSpPr>
        <p:spPr>
          <a:xfrm>
            <a:off x="4206240" y="3913632"/>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SOCPA, IFRS, ZAKAT, VAT, Labor, Commercial, Tax, Audit, Industry, Compliance, Legal</a:t>
            </a:r>
            <a:endParaRPr lang="en-US" sz="850" dirty="0"/>
          </a:p>
        </p:txBody>
      </p:sp>
      <p:sp>
        <p:nvSpPr>
          <p:cNvPr id="33" name="Shape 31"/>
          <p:cNvSpPr/>
          <p:nvPr/>
        </p:nvSpPr>
        <p:spPr>
          <a:xfrm>
            <a:off x="457200" y="4169664"/>
            <a:ext cx="8229600" cy="228600"/>
          </a:xfrm>
          <a:prstGeom prst="rect">
            <a:avLst/>
          </a:prstGeom>
          <a:solidFill>
            <a:srgbClr val="162B45"/>
          </a:solidFill>
          <a:ln/>
        </p:spPr>
      </p:sp>
      <p:sp>
        <p:nvSpPr>
          <p:cNvPr id="34" name="Text 32"/>
          <p:cNvSpPr/>
          <p:nvPr/>
        </p:nvSpPr>
        <p:spPr>
          <a:xfrm>
            <a:off x="548640" y="4169664"/>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Test Coverage</a:t>
            </a:r>
            <a:endParaRPr lang="en-US" sz="900" dirty="0"/>
          </a:p>
        </p:txBody>
      </p:sp>
      <p:sp>
        <p:nvSpPr>
          <p:cNvPr id="35" name="Text 33"/>
          <p:cNvSpPr/>
          <p:nvPr/>
        </p:nvSpPr>
        <p:spPr>
          <a:xfrm>
            <a:off x="2286000" y="4169664"/>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204 automated</a:t>
            </a:r>
            <a:endParaRPr lang="en-US" sz="900" dirty="0"/>
          </a:p>
        </p:txBody>
      </p:sp>
      <p:sp>
        <p:nvSpPr>
          <p:cNvPr id="36" name="Text 34"/>
          <p:cNvSpPr/>
          <p:nvPr/>
        </p:nvSpPr>
        <p:spPr>
          <a:xfrm>
            <a:off x="4206240" y="4169664"/>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Integration, unit, auth, admin, health, security, CORS</a:t>
            </a:r>
            <a:endParaRPr lang="en-US" sz="850" dirty="0"/>
          </a:p>
        </p:txBody>
      </p:sp>
      <p:sp>
        <p:nvSpPr>
          <p:cNvPr id="37" name="Shape 35"/>
          <p:cNvSpPr/>
          <p:nvPr/>
        </p:nvSpPr>
        <p:spPr>
          <a:xfrm>
            <a:off x="457200" y="4425696"/>
            <a:ext cx="8229600" cy="228600"/>
          </a:xfrm>
          <a:prstGeom prst="rect">
            <a:avLst/>
          </a:prstGeom>
          <a:solidFill>
            <a:srgbClr val="1A3350"/>
          </a:solidFill>
          <a:ln/>
        </p:spPr>
      </p:sp>
      <p:sp>
        <p:nvSpPr>
          <p:cNvPr id="38" name="Text 36"/>
          <p:cNvSpPr/>
          <p:nvPr/>
        </p:nvSpPr>
        <p:spPr>
          <a:xfrm>
            <a:off x="548640" y="4425696"/>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Auth System</a:t>
            </a:r>
            <a:endParaRPr lang="en-US" sz="900" dirty="0"/>
          </a:p>
        </p:txBody>
      </p:sp>
      <p:sp>
        <p:nvSpPr>
          <p:cNvPr id="39" name="Text 37"/>
          <p:cNvSpPr/>
          <p:nvPr/>
        </p:nvSpPr>
        <p:spPr>
          <a:xfrm>
            <a:off x="2286000" y="4425696"/>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JWT + 11 roles</a:t>
            </a:r>
            <a:endParaRPr lang="en-US" sz="900" dirty="0"/>
          </a:p>
        </p:txBody>
      </p:sp>
      <p:sp>
        <p:nvSpPr>
          <p:cNvPr id="40" name="Text 38"/>
          <p:cNvSpPr/>
          <p:nvPr/>
        </p:nvSpPr>
        <p:spPr>
          <a:xfrm>
            <a:off x="4206240" y="4425696"/>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bcrypt, audit logs, social auth stubs, session management</a:t>
            </a:r>
            <a:endParaRPr lang="en-US" sz="850" dirty="0"/>
          </a:p>
        </p:txBody>
      </p:sp>
      <p:sp>
        <p:nvSpPr>
          <p:cNvPr id="41" name="Shape 39"/>
          <p:cNvSpPr/>
          <p:nvPr/>
        </p:nvSpPr>
        <p:spPr>
          <a:xfrm>
            <a:off x="457200" y="4681728"/>
            <a:ext cx="8229600" cy="228600"/>
          </a:xfrm>
          <a:prstGeom prst="rect">
            <a:avLst/>
          </a:prstGeom>
          <a:solidFill>
            <a:srgbClr val="162B45"/>
          </a:solidFill>
          <a:ln/>
        </p:spPr>
      </p:sp>
      <p:sp>
        <p:nvSpPr>
          <p:cNvPr id="42" name="Text 40"/>
          <p:cNvSpPr/>
          <p:nvPr/>
        </p:nvSpPr>
        <p:spPr>
          <a:xfrm>
            <a:off x="548640" y="4681728"/>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Database</a:t>
            </a:r>
            <a:endParaRPr lang="en-US" sz="900" dirty="0"/>
          </a:p>
        </p:txBody>
      </p:sp>
      <p:sp>
        <p:nvSpPr>
          <p:cNvPr id="43" name="Text 41"/>
          <p:cNvSpPr/>
          <p:nvPr/>
        </p:nvSpPr>
        <p:spPr>
          <a:xfrm>
            <a:off x="2286000" y="4681728"/>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PostgreSQL + SQLAlchemy</a:t>
            </a:r>
            <a:endParaRPr lang="en-US" sz="900" dirty="0"/>
          </a:p>
        </p:txBody>
      </p:sp>
      <p:sp>
        <p:nvSpPr>
          <p:cNvPr id="44" name="Text 42"/>
          <p:cNvSpPr/>
          <p:nvPr/>
        </p:nvSpPr>
        <p:spPr>
          <a:xfrm>
            <a:off x="4206240" y="4681728"/>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Alembic migrations, read replica ready, KB separate DB</a:t>
            </a:r>
            <a:endParaRPr lang="en-US" sz="85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19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D4AF37"/>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 Financial Intelligence Platform</dc:title>
  <dc:subject>PptxGenJS Presentation</dc:subject>
  <dc:creator>APEX Team</dc:creator>
  <cp:lastModifiedBy>APEX Team</cp:lastModifiedBy>
  <cp:revision>1</cp:revision>
  <dcterms:created xsi:type="dcterms:W3CDTF">2026-04-15T23:16:52Z</dcterms:created>
  <dcterms:modified xsi:type="dcterms:W3CDTF">2026-04-15T23:16:52Z</dcterms:modified>
</cp:coreProperties>
</file>