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914400"/>
            <a:ext cx="45720" cy="2560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APEX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Readiness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Report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تقرير التحسينات الاستراتيجية للوصول إلى العالمية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comprehensive code audit + platform analysis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4279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0" y="3931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926080" y="4279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0" y="3931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937760" y="4279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Modules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49440" y="3931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949440" y="4279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Models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709160"/>
            <a:ext cx="4572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0" y="4709160"/>
            <a:ext cx="1828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APEX Stands Today</a:t>
            </a:r>
            <a:endParaRPr lang="en-US" sz="28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أين تقف APEX اليوم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292608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39319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 |  نقاط القوة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phase-based architecture (11 phases + 6 sprints)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async: FastAPI + Flutter Web + Riverpod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 automated tests with CI/CD pipeline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Knowledge Brain with 11 modules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Arabic/English support (RTL-ready)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role-based security (11 roles)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Docker-ready with PostgreSQL + cloud deploy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3931920" cy="292608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554480"/>
            <a:ext cx="393192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GAPS  |  فجوات حرجة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205740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secrets hardcoded in source code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 migrations (Alembic configured, 0 files)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caching layer (Redis) for performance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defaults to * — open to all origins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auth (Google/Apple) are stubs only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GDPR/compliance data export pipeline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monolith: 3,500-line main.dart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709160"/>
            <a:ext cx="4572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858000" y="4709160"/>
            <a:ext cx="1828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READINESS ASSESSMENT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Maturity Scorecard</a:t>
            </a:r>
            <a:endParaRPr lang="en-US" sz="24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بطاقة نضج المنصة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26080" y="10972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49040" y="1097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32320" y="10972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389888"/>
            <a:ext cx="8229600" cy="29260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898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Auth  الأمان والمصادقة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26080" y="13898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49040" y="1499616"/>
            <a:ext cx="3200400" cy="100584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4" name="Shape 12"/>
          <p:cNvSpPr/>
          <p:nvPr/>
        </p:nvSpPr>
        <p:spPr>
          <a:xfrm>
            <a:off x="3749040" y="1499616"/>
            <a:ext cx="1440180" cy="1005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0" y="13898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1682496"/>
            <a:ext cx="8229600" cy="292608"/>
          </a:xfrm>
          <a:prstGeom prst="rect">
            <a:avLst/>
          </a:prstGeom>
          <a:solidFill>
            <a:srgbClr val="1E365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16824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Migrations  قاعدة البيانات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26080" y="168249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49040" y="1792224"/>
            <a:ext cx="3200400" cy="100584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20" name="Shape 18"/>
          <p:cNvSpPr/>
          <p:nvPr/>
        </p:nvSpPr>
        <p:spPr>
          <a:xfrm>
            <a:off x="3749040" y="1792224"/>
            <a:ext cx="1120140" cy="10058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168249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1975104"/>
            <a:ext cx="8229600" cy="29260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19751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Caching  الأداء والتخزين المؤقت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926080" y="197510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749040" y="2084832"/>
            <a:ext cx="3200400" cy="100584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26" name="Shape 24"/>
          <p:cNvSpPr/>
          <p:nvPr/>
        </p:nvSpPr>
        <p:spPr>
          <a:xfrm>
            <a:off x="3749040" y="2084832"/>
            <a:ext cx="960120" cy="10058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0" y="19751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2267712"/>
            <a:ext cx="8229600" cy="292608"/>
          </a:xfrm>
          <a:prstGeom prst="rect">
            <a:avLst/>
          </a:prstGeom>
          <a:solidFill>
            <a:srgbClr val="1E3654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22677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 &amp; Docs  تصميم الـ API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926080" y="226771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749040" y="2377440"/>
            <a:ext cx="3200400" cy="100584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2" name="Shape 30"/>
          <p:cNvSpPr/>
          <p:nvPr/>
        </p:nvSpPr>
        <p:spPr>
          <a:xfrm>
            <a:off x="3749040" y="2377440"/>
            <a:ext cx="2080260" cy="10058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7132320" y="2267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2560320"/>
            <a:ext cx="8229600" cy="29260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2560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Coverage  الاختبارات والتغطية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926080" y="25603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749040" y="2670048"/>
            <a:ext cx="3200400" cy="100584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8" name="Shape 36"/>
          <p:cNvSpPr/>
          <p:nvPr/>
        </p:nvSpPr>
        <p:spPr>
          <a:xfrm>
            <a:off x="3749040" y="2670048"/>
            <a:ext cx="1760220" cy="1005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7132320" y="2560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2852928"/>
            <a:ext cx="8229600" cy="292608"/>
          </a:xfrm>
          <a:prstGeom prst="rect">
            <a:avLst/>
          </a:prstGeom>
          <a:solidFill>
            <a:srgbClr val="1E3654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28529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Audit  الامتثال والتدقيق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926080" y="285292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749040" y="2962656"/>
            <a:ext cx="3200400" cy="100584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44" name="Shape 42"/>
          <p:cNvSpPr/>
          <p:nvPr/>
        </p:nvSpPr>
        <p:spPr>
          <a:xfrm>
            <a:off x="3749040" y="2962656"/>
            <a:ext cx="1280160" cy="1005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7132320" y="28529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3145536"/>
            <a:ext cx="8229600" cy="29260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31455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CI/CD  DevOps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926080" y="314553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749040" y="3255264"/>
            <a:ext cx="3200400" cy="100584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50" name="Shape 48"/>
          <p:cNvSpPr/>
          <p:nvPr/>
        </p:nvSpPr>
        <p:spPr>
          <a:xfrm>
            <a:off x="3749040" y="3255264"/>
            <a:ext cx="1600200" cy="1005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1" name="Text 49"/>
          <p:cNvSpPr/>
          <p:nvPr/>
        </p:nvSpPr>
        <p:spPr>
          <a:xfrm>
            <a:off x="7132320" y="31455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3438144"/>
            <a:ext cx="8229600" cy="292608"/>
          </a:xfrm>
          <a:prstGeom prst="rect">
            <a:avLst/>
          </a:prstGeom>
          <a:solidFill>
            <a:srgbClr val="1E3654"/>
          </a:solidFill>
          <a:ln/>
        </p:spPr>
      </p:sp>
      <p:sp>
        <p:nvSpPr>
          <p:cNvPr id="53" name="Text 51"/>
          <p:cNvSpPr/>
          <p:nvPr/>
        </p:nvSpPr>
        <p:spPr>
          <a:xfrm>
            <a:off x="548640" y="34381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Internationalization  التدويل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926080" y="343814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749040" y="3547872"/>
            <a:ext cx="3200400" cy="100584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56" name="Shape 54"/>
          <p:cNvSpPr/>
          <p:nvPr/>
        </p:nvSpPr>
        <p:spPr>
          <a:xfrm>
            <a:off x="3749040" y="3547872"/>
            <a:ext cx="1440180" cy="1005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7" name="Text 55"/>
          <p:cNvSpPr/>
          <p:nvPr/>
        </p:nvSpPr>
        <p:spPr>
          <a:xfrm>
            <a:off x="7132320" y="34381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7200" y="3730752"/>
            <a:ext cx="8229600" cy="29260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59" name="Text 57"/>
          <p:cNvSpPr/>
          <p:nvPr/>
        </p:nvSpPr>
        <p:spPr>
          <a:xfrm>
            <a:off x="548640" y="37307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Architecture  بنية الواجهة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926080" y="373075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749040" y="3840480"/>
            <a:ext cx="3200400" cy="100584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62" name="Shape 60"/>
          <p:cNvSpPr/>
          <p:nvPr/>
        </p:nvSpPr>
        <p:spPr>
          <a:xfrm>
            <a:off x="3749040" y="3840480"/>
            <a:ext cx="1280160" cy="1005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3" name="Text 61"/>
          <p:cNvSpPr/>
          <p:nvPr/>
        </p:nvSpPr>
        <p:spPr>
          <a:xfrm>
            <a:off x="7132320" y="37307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57200" y="4389120"/>
            <a:ext cx="8229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5" name="Text 63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Global Readiness: 45%  —  Target: 85%+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67" name="Text 65"/>
          <p:cNvSpPr/>
          <p:nvPr/>
        </p:nvSpPr>
        <p:spPr>
          <a:xfrm>
            <a:off x="457200" y="4709160"/>
            <a:ext cx="4572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858000" y="4709160"/>
            <a:ext cx="1828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</a:t>
            </a:r>
            <a:endParaRPr lang="en-US" sz="2600" dirty="0"/>
          </a:p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تحصين الأمان  —  Priority: CRITICAL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38328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3383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88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ISSUES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508760"/>
            <a:ext cx="3429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JWT_SECRET has dev fallback in source code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ADMIN_SECRET default: 'apex-admin-2026'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allows all origins (*) by default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rate limiting — vulnerable to DDoS/brute-force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auth tokens never validated (stubs)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verification always returns success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HTTPS enforcement or HSTS headers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JWT refresh token rotation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CSP, X-Frame-Options, X-Content-Type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38328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54864" cy="3383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188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4920" y="1508760"/>
            <a:ext cx="3429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ALL default secrets — env-only injection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HTTPS + HSTS + security headers middleware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Redis-backed rate limiting (per IP/user)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real OAuth 2.0 PKCE for Google/Apple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JWT: Short-lived access + rotating refresh tokens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CSRF protection for state-changing endpoints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API key management &amp; rotation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Bandit + safety checks in CI pipeline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headers: CSP, X-Frame, X-Content-Type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709160"/>
            <a:ext cx="4572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858000" y="4709160"/>
            <a:ext cx="1828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Migration Strategy</a:t>
            </a:r>
            <a:endParaRPr lang="en-US" sz="2600" dirty="0"/>
          </a:p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استراتيجية قاعدة البيانات  —  Priority: CRITICAL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28800" cy="64008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51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74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88720" y="1051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051560"/>
            <a:ext cx="1828800" cy="64008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051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337560" y="1051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1828800" cy="64008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051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86400" y="1051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03720" y="1051560"/>
            <a:ext cx="1828800" cy="64008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1051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635240" y="1051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Size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1920240"/>
            <a:ext cx="3931920" cy="246888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1920240"/>
            <a:ext cx="54864" cy="24688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011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2331720"/>
            <a:ext cx="3429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created at startup — no rollback path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configured but zero migration files exist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composite indexes on FK + status columns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 not universally applied across models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query performance monitoring (N+1 risk)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 lacks max overflow tuning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920240"/>
            <a:ext cx="3931920" cy="246888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920240"/>
            <a:ext cx="54864" cy="2468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2011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74920" y="2331720"/>
            <a:ext cx="3429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Alembic initial migration from current schema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migration-based deployments (no auto-create)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composite indexes on high-query columns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pg_stat_statements for slow query analysis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soft delete with cascade policies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replicas for analytics queries (Phase 2)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709160"/>
            <a:ext cx="4572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858000" y="4709160"/>
            <a:ext cx="1828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Caching Layer</a:t>
            </a:r>
            <a:endParaRPr lang="en-US" sz="2600" dirty="0"/>
          </a:p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طبقة الأداء والتخزين المؤقت  —  Priority: HIGH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338328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265176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60020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caching layer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decoded every request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CDN for static assets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gzip compression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Lazy-load SQLAlchemy (N+1)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request deduplication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1097280"/>
            <a:ext cx="2651760" cy="338328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097280"/>
            <a:ext cx="26517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(0-3M)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60020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Redis for sessions/cache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access token caching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GZip middleware + ETag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query profiling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Eager loading for hot paths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coalescing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1097280"/>
            <a:ext cx="2651760" cy="338328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097280"/>
            <a:ext cx="26517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(3-9M)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160020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for Flutter Web assets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replicas for analytics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job queue (Celery)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for real-time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pod autoscaling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caching (CloudFront)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017520" y="2468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97880" y="2468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709160"/>
            <a:ext cx="4572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0" y="4709160"/>
            <a:ext cx="1828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Compliance, Audit &amp; Data Privacy</a:t>
            </a:r>
            <a:endParaRPr lang="en-US" sz="2600" dirty="0"/>
          </a:p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الامتثال والتدقيق وخصوصية البيانات  —  Priority: HIGH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77640" cy="155448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554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247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/ PDPL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39903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Personal Data Protection Law requires data portability, consent management, and breach notification within 72 hours.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/users/me/export endpoint (JSON/CSV), consent tracking table, breach notification service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977640" cy="155448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51560"/>
            <a:ext cx="54864" cy="1554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1247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Log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39903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audit logs can be modified. Financial platforms require tamper-proof records for regulatory compliance.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19202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Write-once audit table with hash chains, separate DB credentials (read-only for app), log shipping to S3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3977640" cy="155448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834640"/>
            <a:ext cx="54864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9077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18211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fields (SSN, bank details) stored in plaintext. Required for SOC 2 and financial regulations.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70332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field-level encryption via SQLAlchemy hybrid properties, KMS key management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834640"/>
            <a:ext cx="3977640" cy="155448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834640"/>
            <a:ext cx="54864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9077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Retention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18211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cleanup after account closure. Orphaned PII violates privacy regulations.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37760" y="370332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post-closure data purge, anonymization pipeline for analytics, retention policy engine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709160"/>
            <a:ext cx="4572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858000" y="4709160"/>
            <a:ext cx="1828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 &amp; Architecture</a:t>
            </a:r>
            <a:endParaRPr lang="en-US" sz="2600" dirty="0"/>
          </a:p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تصميم الـ API والبنية المعمارية  —  Priority: MEDIUM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Versioning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03120" y="1005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versioning — breaking changes affect all clients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120640" y="1005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versioning: /v1/, /v2/ with deprecation calendar and sunset headers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1572768"/>
            <a:ext cx="8229600" cy="502920"/>
          </a:xfrm>
          <a:prstGeom prst="rect">
            <a:avLst/>
          </a:prstGeom>
          <a:solidFill>
            <a:srgbClr val="1E365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5727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Standardization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15727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HTTP codes, Arabic-only error messages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120640" y="157276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7807 Problem Details: {type, title, status, detail, instance} + bilingual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139696"/>
            <a:ext cx="8229600" cy="5029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13969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213969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limit/offset inferred, no standard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120640" y="213969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Cursor-based pagination with consistent envelope: {data, meta: {cursor, has_more}}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2706624"/>
            <a:ext cx="8229600" cy="502920"/>
          </a:xfrm>
          <a:prstGeom prst="rect">
            <a:avLst/>
          </a:prstGeom>
          <a:solidFill>
            <a:srgbClr val="1E3654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70662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Tracing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03120" y="270662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request correlation or tracing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120640" y="270662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x-request-id header propagation, OpenTelemetry integration, distributed tracing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273552"/>
            <a:ext cx="8229600" cy="5029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27355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03120" y="327355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rate limiting on any endpoint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120640" y="32735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rate limits per plan: Starter (100/min), Growth (500/min), Enterprise (custom)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solidFill>
            <a:srgbClr val="1E3654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840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03120" y="3840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polling only — no real-time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120640" y="3840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for notifications, copilot streaming, live dashboard updates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48640" y="8229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103120" y="8229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120640" y="822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709160"/>
            <a:ext cx="4572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858000" y="4709160"/>
            <a:ext cx="1828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Modernization</a:t>
            </a:r>
            <a:endParaRPr lang="en-US" sz="2600" dirty="0"/>
          </a:p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تحديث الواجهة الأمامية  —  Priority: HIGH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3,500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in main.dart — 60+ tightly coupled classes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3977640" cy="59436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37360"/>
            <a:ext cx="54864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556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Module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19842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Register, Password Reset, Social Auth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0" y="1755648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737360"/>
            <a:ext cx="3977640" cy="59436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737360"/>
            <a:ext cx="54864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7556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Module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37760" y="19842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COA, Trial Balance, Archive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772400" y="1755648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450592"/>
            <a:ext cx="3977640" cy="59436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450592"/>
            <a:ext cx="54864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468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Module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2697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Ratios, Readiness Score, Charts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74720" y="246888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weeks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450592"/>
            <a:ext cx="3977640" cy="59436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450592"/>
            <a:ext cx="54864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2468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37760" y="2697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Management, Audit, Settings, Compliance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772400" y="246888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163824"/>
            <a:ext cx="3977640" cy="59436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163824"/>
            <a:ext cx="54864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1821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Module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" y="34107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Providers, Services, Subscriptions, Reviews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74720" y="3182112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163824"/>
            <a:ext cx="3977640" cy="59436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163824"/>
            <a:ext cx="54864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31821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37760" y="34107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Theme, API Service, Session, Navigation, i18n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772400" y="3182112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8" name="Shape 36"/>
          <p:cNvSpPr/>
          <p:nvPr/>
        </p:nvSpPr>
        <p:spPr>
          <a:xfrm>
            <a:off x="457200" y="3886200"/>
            <a:ext cx="8229600" cy="36576"/>
          </a:xfrm>
          <a:prstGeom prst="rect">
            <a:avLst/>
          </a:prstGeom>
          <a:solidFill>
            <a:srgbClr val="0891B2">
              <a:alpha val="5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39502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needed: Offline-first cache, Error boundaries, Crashlytics, PWA service worker, Dark mode toggle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709160"/>
            <a:ext cx="4572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58000" y="4709160"/>
            <a:ext cx="1828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Quality Assurance</a:t>
            </a:r>
            <a:endParaRPr lang="en-US" sz="2600" dirty="0"/>
          </a:p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الاختبارات وضمان الجودة  —  Priority: HIGH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920240" cy="109728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5156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105156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500+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11887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&gt;&gt;&gt;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1005840"/>
            <a:ext cx="1920240" cy="109728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105156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66160" y="105156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06040" y="1600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Threshold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46120" y="11887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&gt;&gt;&gt;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005840"/>
            <a:ext cx="1920240" cy="109728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105156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715000" y="105156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10+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54880" y="1600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94960" y="11887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&gt;&gt;&gt;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03720" y="1005840"/>
            <a:ext cx="1920240" cy="109728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03720" y="105156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863840" y="105156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5+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03720" y="1600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 Scenarios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43800" y="11887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&gt;&gt;&gt;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971800" y="2286000"/>
            <a:ext cx="3200400" cy="38404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26" name="Shape 24"/>
          <p:cNvSpPr/>
          <p:nvPr/>
        </p:nvSpPr>
        <p:spPr>
          <a:xfrm>
            <a:off x="2971800" y="2286000"/>
            <a:ext cx="36576" cy="3840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3108960" y="22860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Tests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2286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versioning compatibility, schema validation between frontend/backend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423160" y="2743200"/>
            <a:ext cx="4297680" cy="38404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0" name="Shape 28"/>
          <p:cNvSpPr/>
          <p:nvPr/>
        </p:nvSpPr>
        <p:spPr>
          <a:xfrm>
            <a:off x="2423160" y="2743200"/>
            <a:ext cx="36576" cy="3840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2560320" y="27432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Stress Tests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251960" y="27432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Locust/k6 scenarios: 1K concurrent users, 10K API calls/min, database stress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874520" y="3200400"/>
            <a:ext cx="5394960" cy="38404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4" name="Shape 32"/>
          <p:cNvSpPr/>
          <p:nvPr/>
        </p:nvSpPr>
        <p:spPr>
          <a:xfrm>
            <a:off x="1874520" y="3200400"/>
            <a:ext cx="36576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2011680" y="32004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703320" y="32004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user journeys: onboarding, COA upload, analysis, report generation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325880" y="3657600"/>
            <a:ext cx="6492240" cy="38404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8" name="Shape 36"/>
          <p:cNvSpPr/>
          <p:nvPr/>
        </p:nvSpPr>
        <p:spPr>
          <a:xfrm>
            <a:off x="1325880" y="3657600"/>
            <a:ext cx="36576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1463040" y="36576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154680" y="36576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flows, email delivery, AI copilot responses, file uploads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77240" y="4114800"/>
            <a:ext cx="7589520" cy="38404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42" name="Shape 40"/>
          <p:cNvSpPr/>
          <p:nvPr/>
        </p:nvSpPr>
        <p:spPr>
          <a:xfrm>
            <a:off x="777240" y="4114800"/>
            <a:ext cx="36576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914400" y="41148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606040" y="41148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coverage from 10% to 80%+, add model validation, service logic tests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709160"/>
            <a:ext cx="4572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858000" y="4709160"/>
            <a:ext cx="1828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Infrastructure</a:t>
            </a:r>
            <a:endParaRPr lang="en-US" sz="2600" dirty="0"/>
          </a:p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البنية التحتية والعمليات  —  Priority: MEDIUM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64008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515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60120" y="10332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Environment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2984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staging in render.yaml — mirror production for pre-release testing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977640" cy="64008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54864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0515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57800" y="10332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 Deploy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2984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deployments with automatic rollback on health check failure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783080"/>
            <a:ext cx="3977640" cy="64008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1828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60120" y="18105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Backups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20756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daily backups with point-in-time recovery (PITR) to S3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1783080"/>
            <a:ext cx="3977640" cy="64008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783080"/>
            <a:ext cx="54864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1828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57800" y="18105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Rotation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20756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rotation for JWT_SECRET, ADMIN_SECRET, API keys via vault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560320"/>
            <a:ext cx="3977640" cy="64008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256032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2606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60120" y="25877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Stack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285292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Grafana: API latency, error rates, DB connections, memory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2560320"/>
            <a:ext cx="3977640" cy="64008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56032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2606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57800" y="25877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Releases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37760" y="285292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5% traffic to new version, auto-rollback on error spike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3337560"/>
            <a:ext cx="3977640" cy="64008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333756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33832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60120" y="33649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Aggregation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" y="363016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ELK/Loki stack: centralized logs, alerts on error patterns, audit trail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3337560"/>
            <a:ext cx="3977640" cy="64008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33756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2" name="Text 40"/>
          <p:cNvSpPr/>
          <p:nvPr/>
        </p:nvSpPr>
        <p:spPr>
          <a:xfrm>
            <a:off x="4892040" y="33832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257800" y="33649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37760" y="363016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for outages, RTO &lt; 1hr, RPO &lt; 15min, multi-region failover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709160"/>
            <a:ext cx="4572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858000" y="4709160"/>
            <a:ext cx="1828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Internationalization &amp; Localization</a:t>
            </a:r>
            <a:endParaRPr lang="en-US" sz="2600" dirty="0"/>
          </a:p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التدويل والتوطين  —  Going Global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Arabic hardcoded as primary, English secondary. Error messages embedded in source. No .arb translation files.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737360"/>
            <a:ext cx="4572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System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1737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all strings to .arb files (Flutter) and JSON (backend). Use ICU MessageFormat for plurals and gender.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89520" y="17373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267712"/>
            <a:ext cx="8229600" cy="457200"/>
          </a:xfrm>
          <a:prstGeom prst="rect">
            <a:avLst/>
          </a:prstGeom>
          <a:solidFill>
            <a:srgbClr val="1E3654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267712"/>
            <a:ext cx="4572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2677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 Detection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22677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from browser Accept-Language header. User preference override in settings. Persist in JWT claims.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589520" y="226771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798064"/>
            <a:ext cx="8229600" cy="4572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798064"/>
            <a:ext cx="4572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7980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&amp; Date Formatting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60320" y="27980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numerals, Hijri calendar support, SAR/USD/EUR currency formatting per locale.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589520" y="279806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328416"/>
            <a:ext cx="8229600" cy="457200"/>
          </a:xfrm>
          <a:prstGeom prst="rect">
            <a:avLst/>
          </a:prstGeom>
          <a:solidFill>
            <a:srgbClr val="1E3654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328416"/>
            <a:ext cx="4572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3284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RTL/LTR Dynamic Layout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60320" y="332841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bidirectional support with automatic layout mirroring. Test with Persian, Urdu for Gulf expansion.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589520" y="332841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858768"/>
            <a:ext cx="8229600" cy="4572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3858768"/>
            <a:ext cx="457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8587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Multi-Standard Compliance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60320" y="38587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(global), SOCPA (Saudi), VAT/ZAKAT rules engine — extensible for UAE, Bahrain, Kuwait, Oman standards.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89520" y="385876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1E3654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4389120"/>
            <a:ext cx="457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389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Localization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560320" y="4389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 responses in user's language. Knowledge Brain modules per jurisdiction. Localized onboarding.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589520" y="43891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weeks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709160"/>
            <a:ext cx="4572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8000" y="4709160"/>
            <a:ext cx="1828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Global Readiness</a:t>
            </a:r>
            <a:endParaRPr lang="en-US" sz="28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خارطة الطريق نحو العالمية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920240" cy="292608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192024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002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1-2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SECURE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التأمين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default secrets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security headers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migrations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(Redis)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to 50%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&gt;&gt;&gt; 65%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06040" y="1508760"/>
            <a:ext cx="1920240" cy="292608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06040" y="1508760"/>
            <a:ext cx="19202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16002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3-4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697480" y="17830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STABILIZE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97480" y="20116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الاستقرار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97480" y="228600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modularization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versioning (v1)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environment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standardization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data export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606040" y="4023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&gt;&gt;&gt; 75%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508760"/>
            <a:ext cx="1920240" cy="292608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508760"/>
            <a:ext cx="192024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6002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5-8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46320" y="17830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SCALE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0116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التوسع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28600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 layer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real-time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 (k6)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(Prometheus)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translation files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0" y="4023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&gt;&gt;&gt; 85%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03720" y="1508760"/>
            <a:ext cx="1920240" cy="292608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03720" y="1508760"/>
            <a:ext cx="192024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6995160" y="16002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9-12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995160" y="17830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GLOBALIZE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95160" y="20116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العالمية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95160" y="228600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Multi-standard compliance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 market expansion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+ edge caching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releases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certification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903720" y="4023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&gt;&gt;&gt; 95%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709160"/>
            <a:ext cx="4572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58000" y="4709160"/>
            <a:ext cx="1828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914400"/>
            <a:ext cx="45720" cy="2286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APEX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the World.</a:t>
            </a:r>
            <a:endParaRPr lang="en-US" sz="2800" dirty="0"/>
          </a:p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جاهزون للعالمية.</a:t>
            </a:r>
            <a:endParaRPr lang="en-US" sz="2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28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strategic improvements. 12-month roadmap. One clear goal.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2651760" cy="91440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3383280"/>
            <a:ext cx="54864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3429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34564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Roadmap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749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prioritize the 9 improvement areas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37560" y="3383280"/>
            <a:ext cx="2651760" cy="91440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3383280"/>
            <a:ext cx="54864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3429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31920" y="34564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Resources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3749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senior devs + 1 DevOps for Phase 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3383280"/>
            <a:ext cx="2651760" cy="91440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3383280"/>
            <a:ext cx="54864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3429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12280" y="34564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Phase 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3749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 + migrations (8 weeks)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709160"/>
            <a:ext cx="4572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8000" y="4709160"/>
            <a:ext cx="1828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APEX — Global Readiness Report</dc:title>
  <dc:subject>PptxGenJS Presentation</dc:subject>
  <dc:creator>APEX Team</dc:creator>
  <cp:lastModifiedBy>APEX Team</cp:lastModifiedBy>
  <cp:revision>1</cp:revision>
  <dcterms:created xsi:type="dcterms:W3CDTF">2026-04-15T19:32:31Z</dcterms:created>
  <dcterms:modified xsi:type="dcterms:W3CDTF">2026-04-15T19:32:31Z</dcterms:modified>
</cp:coreProperties>
</file>