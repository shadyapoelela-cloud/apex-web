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9144000" cy="4572"/>
          </a:xfrm>
          <a:prstGeom prst="rect">
            <a:avLst/>
          </a:prstGeom>
          <a:solidFill>
            <a:srgbClr val="1A3055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463040"/>
            <a:ext cx="9144000" cy="4572"/>
          </a:xfrm>
          <a:prstGeom prst="rect">
            <a:avLst/>
          </a:prstGeom>
          <a:solidFill>
            <a:srgbClr val="1A3055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2468880"/>
            <a:ext cx="9144000" cy="4572"/>
          </a:xfrm>
          <a:prstGeom prst="rect">
            <a:avLst/>
          </a:prstGeom>
          <a:solidFill>
            <a:srgbClr val="1A3055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3474720"/>
            <a:ext cx="9144000" cy="4572"/>
          </a:xfrm>
          <a:prstGeom prst="rect">
            <a:avLst/>
          </a:prstGeom>
          <a:solidFill>
            <a:srgbClr val="1A3055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4480560"/>
            <a:ext cx="9144000" cy="4572"/>
          </a:xfrm>
          <a:prstGeom prst="rect">
            <a:avLst/>
          </a:prstGeom>
          <a:solidFill>
            <a:srgbClr val="1A3055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0"/>
            <a:ext cx="4572" cy="5143500"/>
          </a:xfrm>
          <a:prstGeom prst="rect">
            <a:avLst/>
          </a:prstGeom>
          <a:solidFill>
            <a:srgbClr val="1A3055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377440" y="0"/>
            <a:ext cx="4572" cy="5143500"/>
          </a:xfrm>
          <a:prstGeom prst="rect">
            <a:avLst/>
          </a:prstGeom>
          <a:solidFill>
            <a:srgbClr val="1A3055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840480" y="0"/>
            <a:ext cx="4572" cy="5143500"/>
          </a:xfrm>
          <a:prstGeom prst="rect">
            <a:avLst/>
          </a:prstGeom>
          <a:solidFill>
            <a:srgbClr val="1A3055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303520" y="0"/>
            <a:ext cx="4572" cy="5143500"/>
          </a:xfrm>
          <a:prstGeom prst="rect">
            <a:avLst/>
          </a:prstGeom>
          <a:solidFill>
            <a:srgbClr val="1A3055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766560" y="0"/>
            <a:ext cx="4572" cy="5143500"/>
          </a:xfrm>
          <a:prstGeom prst="rect">
            <a:avLst/>
          </a:prstGeom>
          <a:solidFill>
            <a:srgbClr val="1A3055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0" y="0"/>
            <a:ext cx="4572" cy="5143500"/>
          </a:xfrm>
          <a:prstGeom prst="rect">
            <a:avLst/>
          </a:prstGeom>
          <a:solidFill>
            <a:srgbClr val="1A3055">
              <a:alpha val="4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5486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spc="1200" kern="0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APEX</a:t>
            </a:r>
            <a:endParaRPr lang="en-US" sz="7200" dirty="0"/>
          </a:p>
        </p:txBody>
      </p:sp>
      <p:sp>
        <p:nvSpPr>
          <p:cNvPr id="15" name="Text 13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Intelligence Platform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57200" y="2148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منصة الذكاء المالي للأعمال في المملكة العربية السعودية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280160" y="2788920"/>
            <a:ext cx="2011680" cy="320040"/>
          </a:xfrm>
          <a:prstGeom prst="rect">
            <a:avLst/>
          </a:prstGeom>
          <a:solidFill>
            <a:srgbClr val="D4A843">
              <a:alpha val="15000"/>
            </a:srgbClr>
          </a:solidFill>
          <a:ln w="6350">
            <a:solidFill>
              <a:srgbClr val="D4A8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80160" y="2788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566160" y="2788920"/>
            <a:ext cx="2011680" cy="320040"/>
          </a:xfrm>
          <a:prstGeom prst="rect">
            <a:avLst/>
          </a:prstGeom>
          <a:solidFill>
            <a:srgbClr val="D4A843">
              <a:alpha val="15000"/>
            </a:srgbClr>
          </a:solidFill>
          <a:ln w="6350">
            <a:solidFill>
              <a:srgbClr val="D4A8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66160" y="2788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Arabia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852160" y="2788920"/>
            <a:ext cx="2011680" cy="320040"/>
          </a:xfrm>
          <a:prstGeom prst="rect">
            <a:avLst/>
          </a:prstGeom>
          <a:solidFill>
            <a:srgbClr val="D4A843">
              <a:alpha val="15000"/>
            </a:srgbClr>
          </a:solidFill>
          <a:ln w="6350">
            <a:solidFill>
              <a:srgbClr val="D4A8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2160" y="2788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SOCPA &amp; IFRS Compliant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ذكاء اصطناعي متقدم  ·  توافق كامل مع هيئة المحاسبين والمعايير الدولية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00100" y="3657600"/>
            <a:ext cx="1645920" cy="91440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0100" y="3657600"/>
            <a:ext cx="164592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6" name="Text 24"/>
          <p:cNvSpPr/>
          <p:nvPr/>
        </p:nvSpPr>
        <p:spPr>
          <a:xfrm>
            <a:off x="800100" y="3749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286+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800100" y="4206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00100" y="44348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نقطة وصول برمجية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66060" y="3657600"/>
            <a:ext cx="1645920" cy="91440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66060" y="3657600"/>
            <a:ext cx="1645920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31" name="Text 29"/>
          <p:cNvSpPr/>
          <p:nvPr/>
        </p:nvSpPr>
        <p:spPr>
          <a:xfrm>
            <a:off x="2766060" y="3749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2766060" y="4206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Modules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766060" y="44348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وحدة ذكاء اصطناعي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32020" y="3657600"/>
            <a:ext cx="1645920" cy="91440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32020" y="3657600"/>
            <a:ext cx="164592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6" name="Text 34"/>
          <p:cNvSpPr/>
          <p:nvPr/>
        </p:nvSpPr>
        <p:spPr>
          <a:xfrm>
            <a:off x="4732020" y="3749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56+</a:t>
            </a:r>
            <a:endParaRPr lang="en-US" sz="3200" dirty="0"/>
          </a:p>
        </p:txBody>
      </p:sp>
      <p:sp>
        <p:nvSpPr>
          <p:cNvPr id="37" name="Text 35"/>
          <p:cNvSpPr/>
          <p:nvPr/>
        </p:nvSpPr>
        <p:spPr>
          <a:xfrm>
            <a:off x="4732020" y="4206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Screens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32020" y="44348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واجهة مستخدم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697980" y="3657600"/>
            <a:ext cx="1645920" cy="91440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697980" y="3657600"/>
            <a:ext cx="164592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1" name="Text 39"/>
          <p:cNvSpPr/>
          <p:nvPr/>
        </p:nvSpPr>
        <p:spPr>
          <a:xfrm>
            <a:off x="6697980" y="3749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93%</a:t>
            </a:r>
            <a:endParaRPr lang="en-US" sz="3200" dirty="0"/>
          </a:p>
        </p:txBody>
      </p:sp>
      <p:sp>
        <p:nvSpPr>
          <p:cNvPr id="42" name="Text 40"/>
          <p:cNvSpPr/>
          <p:nvPr/>
        </p:nvSpPr>
        <p:spPr>
          <a:xfrm>
            <a:off x="6697980" y="4206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697980" y="44348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نسبة الأتمتة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5" name="Shape 43"/>
          <p:cNvSpPr/>
          <p:nvPr/>
        </p:nvSpPr>
        <p:spPr>
          <a:xfrm>
            <a:off x="0" y="4690872"/>
            <a:ext cx="9144000" cy="1828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6" name="Text 44"/>
          <p:cNvSpPr/>
          <p:nvPr/>
        </p:nvSpPr>
        <p:spPr>
          <a:xfrm>
            <a:off x="365760" y="4709160"/>
            <a:ext cx="64008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Financial Intelligence Platform  |  Jeddah, Saudi Arabia  |  2026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315200" y="4709160"/>
            <a:ext cx="109728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19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412480" y="4709160"/>
            <a:ext cx="5486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APEX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D4A843">
              <a:alpha val="8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 ·  التحدي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Saudi Arabia's Financial Sector</a:t>
            </a:r>
            <a:endParaRPr lang="en-US" sz="2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Deserves Smarter Tools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القطاع المالي السعودي يحتاج نقلة نوعية في أدواته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3977640" cy="118872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011680"/>
            <a:ext cx="54864" cy="118872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14884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2103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&amp; Error-Prone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97280" y="235915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اعتماد يدوي ونسب خطأ مرتفعة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85800" y="263347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of Saudi SMEs still use Excel.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15-25% error rate in manual reports.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09160" y="2011680"/>
            <a:ext cx="3977640" cy="118872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09160" y="2011680"/>
            <a:ext cx="54864" cy="118872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14884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49240" y="2103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Arabic AI Standards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349240" y="235915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غياب أنظمة ذكاء اصطناعي عربية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937760" y="263347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platform supports SOCPA + ZAKAT +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 analysis in Arabic natively.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57200" y="3383280"/>
            <a:ext cx="3977640" cy="118872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57200" y="3383280"/>
            <a:ext cx="54864" cy="118872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520440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97280" y="3474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Readiness Metrics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1097280" y="373075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انعدام مقاييس الجاهزية التمويلية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685800" y="400507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Startups apply for funding blindly — no scoring,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gap analysis, no benchmarks.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4709160" y="3383280"/>
            <a:ext cx="3977640" cy="118872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709160" y="3383280"/>
            <a:ext cx="54864" cy="118872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520440"/>
            <a:ext cx="320040" cy="3200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349240" y="3474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Cost, Low Access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5349240" y="373075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تكاليف باهظة ووصول محدود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937760" y="400507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3K-10K per financial review.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 weeks turnaround. SMEs priced out.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1" name="Shape 25"/>
          <p:cNvSpPr/>
          <p:nvPr/>
        </p:nvSpPr>
        <p:spPr>
          <a:xfrm>
            <a:off x="0" y="4690872"/>
            <a:ext cx="9144000" cy="1828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2" name="Text 26"/>
          <p:cNvSpPr/>
          <p:nvPr/>
        </p:nvSpPr>
        <p:spPr>
          <a:xfrm>
            <a:off x="365760" y="4709160"/>
            <a:ext cx="64008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Financial Intelligence Platform  |  Jeddah, Saudi Arabia  |  2026</a:t>
            </a:r>
            <a:endParaRPr lang="en-US" sz="800" dirty="0"/>
          </a:p>
        </p:txBody>
      </p:sp>
      <p:sp>
        <p:nvSpPr>
          <p:cNvPr id="33" name="Text 27"/>
          <p:cNvSpPr/>
          <p:nvPr/>
        </p:nvSpPr>
        <p:spPr>
          <a:xfrm>
            <a:off x="7315200" y="4709160"/>
            <a:ext cx="109728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19</a:t>
            </a:r>
            <a:endParaRPr lang="en-US" sz="800" dirty="0"/>
          </a:p>
        </p:txBody>
      </p:sp>
      <p:sp>
        <p:nvSpPr>
          <p:cNvPr id="34" name="Text 28"/>
          <p:cNvSpPr/>
          <p:nvPr/>
        </p:nvSpPr>
        <p:spPr>
          <a:xfrm>
            <a:off x="8412480" y="4709160"/>
            <a:ext cx="5486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APEX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D4A843">
              <a:alpha val="8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 ·  الحل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APEX — Your AI Financial Brain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عقلك المالي الذكي — من رفع البيانات إلى التقرير خلال دقائق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1828800" cy="237744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737360"/>
            <a:ext cx="18288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Shape 6"/>
          <p:cNvSpPr/>
          <p:nvPr/>
        </p:nvSpPr>
        <p:spPr>
          <a:xfrm>
            <a:off x="1165860" y="1920240"/>
            <a:ext cx="502920" cy="502920"/>
          </a:xfrm>
          <a:prstGeom prst="ellipse">
            <a:avLst/>
          </a:prstGeom>
          <a:solidFill>
            <a:srgbClr val="D4A843">
              <a:alpha val="20000"/>
            </a:srgbClr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6586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25146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of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دليل الحسابات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3429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&amp; AI-classify</a:t>
            </a:r>
            <a:endParaRPr lang="en-US" sz="10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0008" y="2743200"/>
            <a:ext cx="237744" cy="237744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2606040" y="1737360"/>
            <a:ext cx="1828800" cy="237744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606040" y="1737360"/>
            <a:ext cx="1828800" cy="4572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6" name="Shape 13"/>
          <p:cNvSpPr/>
          <p:nvPr/>
        </p:nvSpPr>
        <p:spPr>
          <a:xfrm>
            <a:off x="3268980" y="1920240"/>
            <a:ext cx="502920" cy="502920"/>
          </a:xfrm>
          <a:prstGeom prst="ellipse">
            <a:avLst/>
          </a:prstGeom>
          <a:solidFill>
            <a:srgbClr val="60A5FA">
              <a:alpha val="20000"/>
            </a:srgbClr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6898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2606040" y="25146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260604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ميزان المراجعة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2697480" y="3429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Bind, validate &amp; detect</a:t>
            </a:r>
            <a:endParaRPr lang="en-US" sz="10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3128" y="2743200"/>
            <a:ext cx="237744" cy="237744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4709160" y="1737360"/>
            <a:ext cx="1828800" cy="237744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709160" y="1737360"/>
            <a:ext cx="182880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4" name="Shape 20"/>
          <p:cNvSpPr/>
          <p:nvPr/>
        </p:nvSpPr>
        <p:spPr>
          <a:xfrm>
            <a:off x="5372100" y="1920240"/>
            <a:ext cx="502920" cy="502920"/>
          </a:xfrm>
          <a:prstGeom prst="ellipse">
            <a:avLst/>
          </a:prstGeom>
          <a:solidFill>
            <a:srgbClr val="14B8A6">
              <a:alpha val="20000"/>
            </a:srgbClr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37210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4709160" y="25146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</a:t>
            </a:r>
            <a:endParaRPr lang="en-US" sz="1500" dirty="0"/>
          </a:p>
        </p:txBody>
      </p:sp>
      <p:sp>
        <p:nvSpPr>
          <p:cNvPr id="27" name="Text 23"/>
          <p:cNvSpPr/>
          <p:nvPr/>
        </p:nvSpPr>
        <p:spPr>
          <a:xfrm>
            <a:off x="470916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القوائم المالية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4800600" y="3429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IFRS</a:t>
            </a:r>
            <a:endParaRPr lang="en-US" sz="100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248" y="2743200"/>
            <a:ext cx="237744" cy="237744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6812280" y="1737360"/>
            <a:ext cx="1828800" cy="237744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6812280" y="1737360"/>
            <a:ext cx="182880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2" name="Shape 27"/>
          <p:cNvSpPr/>
          <p:nvPr/>
        </p:nvSpPr>
        <p:spPr>
          <a:xfrm>
            <a:off x="7475220" y="1920240"/>
            <a:ext cx="502920" cy="502920"/>
          </a:xfrm>
          <a:prstGeom prst="ellipse">
            <a:avLst/>
          </a:prstGeom>
          <a:solidFill>
            <a:srgbClr val="22C55E">
              <a:alpha val="20000"/>
            </a:srgbClr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747522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34" name="Text 29"/>
          <p:cNvSpPr/>
          <p:nvPr/>
        </p:nvSpPr>
        <p:spPr>
          <a:xfrm>
            <a:off x="6812280" y="25146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500" dirty="0"/>
          </a:p>
        </p:txBody>
      </p:sp>
      <p:sp>
        <p:nvSpPr>
          <p:cNvPr id="35" name="Text 30"/>
          <p:cNvSpPr/>
          <p:nvPr/>
        </p:nvSpPr>
        <p:spPr>
          <a:xfrm>
            <a:off x="681228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التحليل والتقييم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6903720" y="3429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Ratios &amp; Readiness Score</a:t>
            </a:r>
            <a:endParaRPr lang="en-US" sz="1000" dirty="0"/>
          </a:p>
        </p:txBody>
      </p:sp>
      <p:sp>
        <p:nvSpPr>
          <p:cNvPr id="37" name="Text 32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· Four layers · Complete financial intelligence  |  منصة واحدة · أربع مراحل · ذكاء مالي شامل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9" name="Shape 34"/>
          <p:cNvSpPr/>
          <p:nvPr/>
        </p:nvSpPr>
        <p:spPr>
          <a:xfrm>
            <a:off x="0" y="4690872"/>
            <a:ext cx="9144000" cy="1828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0" name="Text 35"/>
          <p:cNvSpPr/>
          <p:nvPr/>
        </p:nvSpPr>
        <p:spPr>
          <a:xfrm>
            <a:off x="365760" y="4709160"/>
            <a:ext cx="64008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Financial Intelligence Platform  |  Jeddah, Saudi Arabia  |  2026</a:t>
            </a:r>
            <a:endParaRPr lang="en-US" sz="800" dirty="0"/>
          </a:p>
        </p:txBody>
      </p:sp>
      <p:sp>
        <p:nvSpPr>
          <p:cNvPr id="41" name="Text 36"/>
          <p:cNvSpPr/>
          <p:nvPr/>
        </p:nvSpPr>
        <p:spPr>
          <a:xfrm>
            <a:off x="7315200" y="4709160"/>
            <a:ext cx="109728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19</a:t>
            </a:r>
            <a:endParaRPr lang="en-US" sz="800" dirty="0"/>
          </a:p>
        </p:txBody>
      </p:sp>
      <p:sp>
        <p:nvSpPr>
          <p:cNvPr id="42" name="Text 37"/>
          <p:cNvSpPr/>
          <p:nvPr/>
        </p:nvSpPr>
        <p:spPr>
          <a:xfrm>
            <a:off x="8412480" y="4709160"/>
            <a:ext cx="5486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APEX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D4A843">
              <a:alpha val="8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CAPABILITIES  ·  إمكانيات المنصة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Makes APEX Different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 الذي يجعل APEX فريدة في السوق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977640" cy="82296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54480"/>
            <a:ext cx="45720" cy="822960"/>
          </a:xfrm>
          <a:prstGeom prst="rect">
            <a:avLst/>
          </a:prstGeom>
          <a:solidFill>
            <a:srgbClr val="D4A843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3736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600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Brain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51560" y="18288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8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المحرك المعرفي الذكي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51560" y="2057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AI modules: SOCPA, IFRS, ZAKAT, VAT, Saudi regulations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709160" y="1554480"/>
            <a:ext cx="3977640" cy="82296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09160" y="1554480"/>
            <a:ext cx="45720" cy="822960"/>
          </a:xfrm>
          <a:prstGeom prst="rect">
            <a:avLst/>
          </a:prstGeom>
          <a:solidFill>
            <a:srgbClr val="D4A843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73736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03520" y="1600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Onboarding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303520" y="18288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8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تسجيل تلقائي ذكي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5303520" y="2057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7-stage wizard. Auto-detects company type, industry &amp; docs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57200" y="2514600"/>
            <a:ext cx="3977640" cy="82296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57200" y="2514600"/>
            <a:ext cx="45720" cy="822960"/>
          </a:xfrm>
          <a:prstGeom prst="rect">
            <a:avLst/>
          </a:prstGeom>
          <a:solidFill>
            <a:srgbClr val="D4A843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697480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51560" y="2560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Workflow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1051560" y="27889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8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تدفق المراجعة الآلي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051560" y="3017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7-phase review engine. Human-in-the-loop triggers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4709160" y="2514600"/>
            <a:ext cx="3977640" cy="82296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709160" y="2514600"/>
            <a:ext cx="45720" cy="822960"/>
          </a:xfrm>
          <a:prstGeom prst="rect">
            <a:avLst/>
          </a:prstGeom>
          <a:solidFill>
            <a:srgbClr val="D4A843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697480"/>
            <a:ext cx="320040" cy="3200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303520" y="2560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286+ Live APIs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5303520" y="27889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8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أكثر من 286 واجهة برمجية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5303520" y="3017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REST suite. FastAPI + Flutter. Swagger documented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457200" y="3474720"/>
            <a:ext cx="3977640" cy="82296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457200" y="3474720"/>
            <a:ext cx="45720" cy="822960"/>
          </a:xfrm>
          <a:prstGeom prst="rect">
            <a:avLst/>
          </a:prstGeom>
          <a:solidFill>
            <a:srgbClr val="D4A843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657600"/>
            <a:ext cx="320040" cy="32004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051560" y="3520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Security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1051560" y="3749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8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نظام صلاحيات متعدد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1051560" y="3977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roles, JWT auth, audit logs on every financial action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4709160" y="3474720"/>
            <a:ext cx="3977640" cy="82296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4709160" y="3474720"/>
            <a:ext cx="45720" cy="822960"/>
          </a:xfrm>
          <a:prstGeom prst="rect">
            <a:avLst/>
          </a:prstGeom>
          <a:solidFill>
            <a:srgbClr val="D4A843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657600"/>
            <a:ext cx="320040" cy="32004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5303520" y="3520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Plans</a:t>
            </a:r>
            <a:endParaRPr lang="en-US" sz="1300" dirty="0"/>
          </a:p>
        </p:txBody>
      </p:sp>
      <p:sp>
        <p:nvSpPr>
          <p:cNvPr id="40" name="Text 32"/>
          <p:cNvSpPr/>
          <p:nvPr/>
        </p:nvSpPr>
        <p:spPr>
          <a:xfrm>
            <a:off x="5303520" y="3749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8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باقات اشتراك مرنة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5303520" y="3977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tiers: Starter, Growth, Professional, Enterprise</a:t>
            </a:r>
            <a:endParaRPr lang="en-US" sz="900" dirty="0"/>
          </a:p>
        </p:txBody>
      </p:sp>
      <p:sp>
        <p:nvSpPr>
          <p:cNvPr id="42" name="Shape 34"/>
          <p:cNvSpPr/>
          <p:nvPr/>
        </p:nvSpPr>
        <p:spPr>
          <a:xfrm>
            <a:off x="685800" y="4206240"/>
            <a:ext cx="1371600" cy="411480"/>
          </a:xfrm>
          <a:prstGeom prst="rect">
            <a:avLst/>
          </a:prstGeom>
          <a:solidFill>
            <a:srgbClr val="1A3055"/>
          </a:solidFill>
          <a:ln/>
        </p:spPr>
      </p:sp>
      <p:sp>
        <p:nvSpPr>
          <p:cNvPr id="43" name="Text 35"/>
          <p:cNvSpPr/>
          <p:nvPr/>
        </p:nvSpPr>
        <p:spPr>
          <a:xfrm>
            <a:off x="685800" y="4206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286+ </a:t>
            </a:r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</a:t>
            </a:r>
            <a:endParaRPr lang="en-US" sz="1600" dirty="0"/>
          </a:p>
        </p:txBody>
      </p:sp>
      <p:sp>
        <p:nvSpPr>
          <p:cNvPr id="44" name="Shape 36"/>
          <p:cNvSpPr/>
          <p:nvPr/>
        </p:nvSpPr>
        <p:spPr>
          <a:xfrm>
            <a:off x="2286000" y="4206240"/>
            <a:ext cx="1371600" cy="411480"/>
          </a:xfrm>
          <a:prstGeom prst="rect">
            <a:avLst/>
          </a:prstGeom>
          <a:solidFill>
            <a:srgbClr val="1A3055"/>
          </a:solidFill>
          <a:ln/>
        </p:spPr>
      </p:sp>
      <p:sp>
        <p:nvSpPr>
          <p:cNvPr id="45" name="Text 37"/>
          <p:cNvSpPr/>
          <p:nvPr/>
        </p:nvSpPr>
        <p:spPr>
          <a:xfrm>
            <a:off x="2286000" y="4206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</a:t>
            </a:r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Modules</a:t>
            </a:r>
            <a:endParaRPr lang="en-US" sz="1600" dirty="0"/>
          </a:p>
        </p:txBody>
      </p:sp>
      <p:sp>
        <p:nvSpPr>
          <p:cNvPr id="46" name="Shape 38"/>
          <p:cNvSpPr/>
          <p:nvPr/>
        </p:nvSpPr>
        <p:spPr>
          <a:xfrm>
            <a:off x="3886200" y="4206240"/>
            <a:ext cx="1371600" cy="411480"/>
          </a:xfrm>
          <a:prstGeom prst="rect">
            <a:avLst/>
          </a:prstGeom>
          <a:solidFill>
            <a:srgbClr val="1A3055"/>
          </a:solidFill>
          <a:ln/>
        </p:spPr>
      </p:sp>
      <p:sp>
        <p:nvSpPr>
          <p:cNvPr id="47" name="Text 39"/>
          <p:cNvSpPr/>
          <p:nvPr/>
        </p:nvSpPr>
        <p:spPr>
          <a:xfrm>
            <a:off x="3886200" y="4206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56+ </a:t>
            </a:r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</a:t>
            </a:r>
            <a:endParaRPr lang="en-US" sz="1600" dirty="0"/>
          </a:p>
        </p:txBody>
      </p:sp>
      <p:sp>
        <p:nvSpPr>
          <p:cNvPr id="48" name="Shape 40"/>
          <p:cNvSpPr/>
          <p:nvPr/>
        </p:nvSpPr>
        <p:spPr>
          <a:xfrm>
            <a:off x="5486400" y="4206240"/>
            <a:ext cx="1371600" cy="411480"/>
          </a:xfrm>
          <a:prstGeom prst="rect">
            <a:avLst/>
          </a:prstGeom>
          <a:solidFill>
            <a:srgbClr val="1A3055"/>
          </a:solidFill>
          <a:ln/>
        </p:spPr>
      </p:sp>
      <p:sp>
        <p:nvSpPr>
          <p:cNvPr id="49" name="Text 41"/>
          <p:cNvSpPr/>
          <p:nvPr/>
        </p:nvSpPr>
        <p:spPr>
          <a:xfrm>
            <a:off x="5486400" y="4206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</a:t>
            </a:r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</a:t>
            </a:r>
            <a:endParaRPr lang="en-US" sz="1600" dirty="0"/>
          </a:p>
        </p:txBody>
      </p:sp>
      <p:sp>
        <p:nvSpPr>
          <p:cNvPr id="50" name="Shape 42"/>
          <p:cNvSpPr/>
          <p:nvPr/>
        </p:nvSpPr>
        <p:spPr>
          <a:xfrm>
            <a:off x="7086600" y="4206240"/>
            <a:ext cx="1371600" cy="411480"/>
          </a:xfrm>
          <a:prstGeom prst="rect">
            <a:avLst/>
          </a:prstGeom>
          <a:solidFill>
            <a:srgbClr val="1A3055"/>
          </a:solidFill>
          <a:ln/>
        </p:spPr>
      </p:sp>
      <p:sp>
        <p:nvSpPr>
          <p:cNvPr id="51" name="Text 43"/>
          <p:cNvSpPr/>
          <p:nvPr/>
        </p:nvSpPr>
        <p:spPr>
          <a:xfrm>
            <a:off x="7086600" y="4206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</a:t>
            </a:r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1600" dirty="0"/>
          </a:p>
        </p:txBody>
      </p:sp>
      <p:sp>
        <p:nvSpPr>
          <p:cNvPr id="52" name="Shape 4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3" name="Shape 45"/>
          <p:cNvSpPr/>
          <p:nvPr/>
        </p:nvSpPr>
        <p:spPr>
          <a:xfrm>
            <a:off x="0" y="4690872"/>
            <a:ext cx="9144000" cy="1828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4" name="Text 46"/>
          <p:cNvSpPr/>
          <p:nvPr/>
        </p:nvSpPr>
        <p:spPr>
          <a:xfrm>
            <a:off x="365760" y="4709160"/>
            <a:ext cx="64008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Financial Intelligence Platform  |  Jeddah, Saudi Arabia  |  2026</a:t>
            </a:r>
            <a:endParaRPr lang="en-US" sz="800" dirty="0"/>
          </a:p>
        </p:txBody>
      </p:sp>
      <p:sp>
        <p:nvSpPr>
          <p:cNvPr id="55" name="Text 47"/>
          <p:cNvSpPr/>
          <p:nvPr/>
        </p:nvSpPr>
        <p:spPr>
          <a:xfrm>
            <a:off x="7315200" y="4709160"/>
            <a:ext cx="109728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19</a:t>
            </a:r>
            <a:endParaRPr lang="en-US" sz="800" dirty="0"/>
          </a:p>
        </p:txBody>
      </p:sp>
      <p:sp>
        <p:nvSpPr>
          <p:cNvPr id="56" name="Text 48"/>
          <p:cNvSpPr/>
          <p:nvPr/>
        </p:nvSpPr>
        <p:spPr>
          <a:xfrm>
            <a:off x="8412480" y="4709160"/>
            <a:ext cx="5486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APEX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D4A843">
              <a:alpha val="8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CLIENTS  ·  لعملائنا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Complete Financial Health Report</a:t>
            </a:r>
            <a:endParaRPr lang="en-US" sz="2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Minutes, Not Weeks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للمنشآت الصغيرة والمتوسطة  ·  مكاتب المحاسبة  ·  الشركات الناشئة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2560320" cy="256032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828800"/>
            <a:ext cx="256032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116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93%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financial analysis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automated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 عمليات التحليل المالي تتم تلقائياً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1840" y="1892808"/>
            <a:ext cx="228600" cy="2286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611880" y="18745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Arabic or English financials — AI understands both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611880" y="211226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ارفع بياناتك بالعربية أو الإنجليزية — المنصة تفهم كلتا اللغتين</a:t>
            </a:r>
            <a:endParaRPr lang="en-US" sz="9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2423160"/>
            <a:ext cx="228600" cy="2286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11880" y="24048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financial health report in under 5 minutes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611880" y="264261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تقرير شامل عن الصحة المالية خلال أقل من 5 دقائق</a:t>
            </a:r>
            <a:endParaRPr lang="en-US" sz="9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2953512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611880" y="293522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Readiness Score (0-100) with action plan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3611880" y="317296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تقييم جاهزية التمويل من 0 إلى 100 مع خطوات عملية</a:t>
            </a:r>
            <a:endParaRPr lang="en-US" sz="9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3483864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611880" y="346557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SOCPA &amp; IFRS compliant — audit-ready from day one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3611880" y="37033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توافق كامل مع هيئة المحاسبين و IFRS — جاهز للتدقيق فوراً</a:t>
            </a:r>
            <a:endParaRPr lang="en-US" sz="9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840" y="4014216"/>
            <a:ext cx="228600" cy="2286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611880" y="399592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with certified accountants via Marketplace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3611880" y="423367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تواصل مع محاسبين ومراجعين معتمدين عبر السوق</a:t>
            </a:r>
            <a:endParaRPr lang="en-US" sz="900" dirty="0"/>
          </a:p>
        </p:txBody>
      </p:sp>
      <p:sp>
        <p:nvSpPr>
          <p:cNvPr id="26" name="Shape 1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7" name="Shape 20"/>
          <p:cNvSpPr/>
          <p:nvPr/>
        </p:nvSpPr>
        <p:spPr>
          <a:xfrm>
            <a:off x="0" y="4690872"/>
            <a:ext cx="9144000" cy="1828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8" name="Text 21"/>
          <p:cNvSpPr/>
          <p:nvPr/>
        </p:nvSpPr>
        <p:spPr>
          <a:xfrm>
            <a:off x="365760" y="4709160"/>
            <a:ext cx="64008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Financial Intelligence Platform  |  Jeddah, Saudi Arabia  |  2026</a:t>
            </a:r>
            <a:endParaRPr lang="en-US" sz="800" dirty="0"/>
          </a:p>
        </p:txBody>
      </p:sp>
      <p:sp>
        <p:nvSpPr>
          <p:cNvPr id="29" name="Text 22"/>
          <p:cNvSpPr/>
          <p:nvPr/>
        </p:nvSpPr>
        <p:spPr>
          <a:xfrm>
            <a:off x="7315200" y="4709160"/>
            <a:ext cx="109728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19</a:t>
            </a:r>
            <a:endParaRPr lang="en-US" sz="800" dirty="0"/>
          </a:p>
        </p:txBody>
      </p:sp>
      <p:sp>
        <p:nvSpPr>
          <p:cNvPr id="30" name="Text 23"/>
          <p:cNvSpPr/>
          <p:nvPr/>
        </p:nvSpPr>
        <p:spPr>
          <a:xfrm>
            <a:off x="8412480" y="4709160"/>
            <a:ext cx="5486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APEX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D4A843">
              <a:alpha val="8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  ·  الفرصة السوقية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 4.5B Fintech Market, Growing 18% YoY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سوق تقنية مالية بقيمة 4.5 مليار ريال ونمو سنوي 18%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560320" cy="137160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54480"/>
            <a:ext cx="256032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45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 4.5B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Fintech Market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حجم السوق السعودي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25786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— SAMA + Fintech Saudi reports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91840" y="1554480"/>
            <a:ext cx="2560320" cy="137160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554480"/>
            <a:ext cx="256032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1645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291840" y="2103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Growth (CAGR)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91840" y="23317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معدل النمو السنوي المركّب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83280" y="25786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2024-2028 estimate (EY / KPMG)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126480" y="1554480"/>
            <a:ext cx="2560320" cy="137160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554480"/>
            <a:ext cx="2560320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1645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150+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126480" y="2103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Client Target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26480" y="23317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عدد العملاء المستهدف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17920" y="25786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SME subscribers in 12 months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" y="3063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  ·  مصادر الإيرادات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474720"/>
            <a:ext cx="5029200" cy="292608"/>
          </a:xfrm>
          <a:prstGeom prst="rect">
            <a:avLst/>
          </a:prstGeom>
          <a:solidFill>
            <a:srgbClr val="1A3055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3474720"/>
            <a:ext cx="3268980" cy="292608"/>
          </a:xfrm>
          <a:prstGeom prst="rect">
            <a:avLst/>
          </a:prstGeom>
          <a:solidFill>
            <a:srgbClr val="D4A843">
              <a:alpha val="7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4747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Subscriptions  65%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669280" y="34747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199-1,999/mo · 4 tiers · avg SAR 500 ARPU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858768"/>
            <a:ext cx="5029200" cy="292608"/>
          </a:xfrm>
          <a:prstGeom prst="rect">
            <a:avLst/>
          </a:prstGeom>
          <a:solidFill>
            <a:srgbClr val="1A3055"/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" y="3858768"/>
            <a:ext cx="1005840" cy="292608"/>
          </a:xfrm>
          <a:prstGeom prst="rect">
            <a:avLst/>
          </a:prstGeom>
          <a:solidFill>
            <a:srgbClr val="60A5FA">
              <a:alpha val="7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38587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Analytics  20%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0" y="38587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Pay-per-report for developers &amp; accounting firms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4242816"/>
            <a:ext cx="5029200" cy="292608"/>
          </a:xfrm>
          <a:prstGeom prst="rect">
            <a:avLst/>
          </a:prstGeom>
          <a:solidFill>
            <a:srgbClr val="1A3055"/>
          </a:solidFill>
          <a:ln/>
        </p:spPr>
      </p:sp>
      <p:sp>
        <p:nvSpPr>
          <p:cNvPr id="34" name="Shape 32"/>
          <p:cNvSpPr/>
          <p:nvPr/>
        </p:nvSpPr>
        <p:spPr>
          <a:xfrm>
            <a:off x="457200" y="4242816"/>
            <a:ext cx="754380" cy="292608"/>
          </a:xfrm>
          <a:prstGeom prst="rect">
            <a:avLst/>
          </a:prstGeom>
          <a:solidFill>
            <a:srgbClr val="14B8A6">
              <a:alpha val="7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" y="424281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Fees  15%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669280" y="424281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10-15% commission on professional services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8" name="Shape 36"/>
          <p:cNvSpPr/>
          <p:nvPr/>
        </p:nvSpPr>
        <p:spPr>
          <a:xfrm>
            <a:off x="0" y="4690872"/>
            <a:ext cx="9144000" cy="1828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9" name="Text 37"/>
          <p:cNvSpPr/>
          <p:nvPr/>
        </p:nvSpPr>
        <p:spPr>
          <a:xfrm>
            <a:off x="365760" y="4709160"/>
            <a:ext cx="64008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Financial Intelligence Platform  |  Jeddah, Saudi Arabia  |  2026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315200" y="4709160"/>
            <a:ext cx="109728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19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412480" y="4709160"/>
            <a:ext cx="5486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APEX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D4A843">
              <a:alpha val="8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  ·  الميزة التنافسية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APEX vs. Existing Solutions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لماذا لا يوجد بديل حقيقي لـ APEX في السوق السعودي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508760"/>
            <a:ext cx="2743200" cy="347472"/>
          </a:xfrm>
          <a:prstGeom prst="rect">
            <a:avLst/>
          </a:prstGeom>
          <a:solidFill>
            <a:srgbClr val="1A3055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508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508760"/>
            <a:ext cx="1097280" cy="34747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5087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26280" y="1508760"/>
            <a:ext cx="914400" cy="347472"/>
          </a:xfrm>
          <a:prstGeom prst="rect">
            <a:avLst/>
          </a:prstGeom>
          <a:solidFill>
            <a:srgbClr val="1A3055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5087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0" y="1508760"/>
            <a:ext cx="914400" cy="347472"/>
          </a:xfrm>
          <a:prstGeom prst="rect">
            <a:avLst/>
          </a:prstGeom>
          <a:solidFill>
            <a:srgbClr val="1A3055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0" y="15087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Wafeq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46520" y="1508760"/>
            <a:ext cx="914400" cy="347472"/>
          </a:xfrm>
          <a:prstGeom prst="rect">
            <a:avLst/>
          </a:prstGeom>
          <a:solidFill>
            <a:srgbClr val="1A3055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15087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Qoyod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406640" y="1508760"/>
            <a:ext cx="914400" cy="347472"/>
          </a:xfrm>
          <a:prstGeom prst="rect">
            <a:avLst/>
          </a:prstGeom>
          <a:solidFill>
            <a:srgbClr val="1A3055"/>
          </a:solidFill>
          <a:ln/>
        </p:spPr>
      </p:sp>
      <p:sp>
        <p:nvSpPr>
          <p:cNvPr id="17" name="Text 15"/>
          <p:cNvSpPr/>
          <p:nvPr/>
        </p:nvSpPr>
        <p:spPr>
          <a:xfrm>
            <a:off x="7406640" y="15087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Xero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" y="1874520"/>
            <a:ext cx="2743200" cy="347472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18745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Financial Analysis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83280" y="1874520"/>
            <a:ext cx="1097280" cy="347472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21" name="Text 19"/>
          <p:cNvSpPr/>
          <p:nvPr/>
        </p:nvSpPr>
        <p:spPr>
          <a:xfrm>
            <a:off x="3383280" y="18745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26280" y="1874520"/>
            <a:ext cx="914400" cy="347472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23" name="Text 21"/>
          <p:cNvSpPr/>
          <p:nvPr/>
        </p:nvSpPr>
        <p:spPr>
          <a:xfrm>
            <a:off x="4526280" y="18745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0" y="1874520"/>
            <a:ext cx="914400" cy="347472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0" y="18745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46520" y="1874520"/>
            <a:ext cx="914400" cy="347472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27" name="Text 25"/>
          <p:cNvSpPr/>
          <p:nvPr/>
        </p:nvSpPr>
        <p:spPr>
          <a:xfrm>
            <a:off x="6446520" y="18745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406640" y="1874520"/>
            <a:ext cx="914400" cy="347472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29" name="Text 27"/>
          <p:cNvSpPr/>
          <p:nvPr/>
        </p:nvSpPr>
        <p:spPr>
          <a:xfrm>
            <a:off x="7406640" y="18745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94360" y="2240280"/>
            <a:ext cx="2743200" cy="3474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22402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+ SOCPA + ZAKAT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83280" y="2240280"/>
            <a:ext cx="1097280" cy="3474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3" name="Text 31"/>
          <p:cNvSpPr/>
          <p:nvPr/>
        </p:nvSpPr>
        <p:spPr>
          <a:xfrm>
            <a:off x="3383280" y="22402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526280" y="2240280"/>
            <a:ext cx="914400" cy="3474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5" name="Text 33"/>
          <p:cNvSpPr/>
          <p:nvPr/>
        </p:nvSpPr>
        <p:spPr>
          <a:xfrm>
            <a:off x="4526280" y="22402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486400" y="2240280"/>
            <a:ext cx="914400" cy="3474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0" y="22402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446520" y="2240280"/>
            <a:ext cx="914400" cy="3474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9" name="Text 37"/>
          <p:cNvSpPr/>
          <p:nvPr/>
        </p:nvSpPr>
        <p:spPr>
          <a:xfrm>
            <a:off x="6446520" y="22402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7406640" y="2240280"/>
            <a:ext cx="914400" cy="3474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1" name="Text 39"/>
          <p:cNvSpPr/>
          <p:nvPr/>
        </p:nvSpPr>
        <p:spPr>
          <a:xfrm>
            <a:off x="7406640" y="22402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594360" y="2606040"/>
            <a:ext cx="2743200" cy="347472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43" name="Text 41"/>
          <p:cNvSpPr/>
          <p:nvPr/>
        </p:nvSpPr>
        <p:spPr>
          <a:xfrm>
            <a:off x="685800" y="26060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Readiness Score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383280" y="2606040"/>
            <a:ext cx="1097280" cy="347472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45" name="Text 43"/>
          <p:cNvSpPr/>
          <p:nvPr/>
        </p:nvSpPr>
        <p:spPr>
          <a:xfrm>
            <a:off x="3383280" y="26060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4526280" y="2606040"/>
            <a:ext cx="914400" cy="347472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47" name="Text 45"/>
          <p:cNvSpPr/>
          <p:nvPr/>
        </p:nvSpPr>
        <p:spPr>
          <a:xfrm>
            <a:off x="4526280" y="260604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5486400" y="2606040"/>
            <a:ext cx="914400" cy="347472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49" name="Text 47"/>
          <p:cNvSpPr/>
          <p:nvPr/>
        </p:nvSpPr>
        <p:spPr>
          <a:xfrm>
            <a:off x="5486400" y="260604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6446520" y="2606040"/>
            <a:ext cx="914400" cy="347472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51" name="Text 49"/>
          <p:cNvSpPr/>
          <p:nvPr/>
        </p:nvSpPr>
        <p:spPr>
          <a:xfrm>
            <a:off x="6446520" y="260604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7406640" y="2606040"/>
            <a:ext cx="914400" cy="347472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53" name="Text 51"/>
          <p:cNvSpPr/>
          <p:nvPr/>
        </p:nvSpPr>
        <p:spPr>
          <a:xfrm>
            <a:off x="7406640" y="260604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594360" y="2971800"/>
            <a:ext cx="2743200" cy="3474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5" name="Text 53"/>
          <p:cNvSpPr/>
          <p:nvPr/>
        </p:nvSpPr>
        <p:spPr>
          <a:xfrm>
            <a:off x="685800" y="29718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Audit Workflow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383280" y="2971800"/>
            <a:ext cx="1097280" cy="3474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7" name="Text 55"/>
          <p:cNvSpPr/>
          <p:nvPr/>
        </p:nvSpPr>
        <p:spPr>
          <a:xfrm>
            <a:off x="3383280" y="29718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4526280" y="2971800"/>
            <a:ext cx="914400" cy="3474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9" name="Text 57"/>
          <p:cNvSpPr/>
          <p:nvPr/>
        </p:nvSpPr>
        <p:spPr>
          <a:xfrm>
            <a:off x="4526280" y="297180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5486400" y="2971800"/>
            <a:ext cx="914400" cy="3474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61" name="Text 59"/>
          <p:cNvSpPr/>
          <p:nvPr/>
        </p:nvSpPr>
        <p:spPr>
          <a:xfrm>
            <a:off x="5486400" y="297180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6446520" y="2971800"/>
            <a:ext cx="914400" cy="3474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63" name="Text 61"/>
          <p:cNvSpPr/>
          <p:nvPr/>
        </p:nvSpPr>
        <p:spPr>
          <a:xfrm>
            <a:off x="6446520" y="297180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7406640" y="2971800"/>
            <a:ext cx="914400" cy="3474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65" name="Text 63"/>
          <p:cNvSpPr/>
          <p:nvPr/>
        </p:nvSpPr>
        <p:spPr>
          <a:xfrm>
            <a:off x="7406640" y="297180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66" name="Shape 64"/>
          <p:cNvSpPr/>
          <p:nvPr/>
        </p:nvSpPr>
        <p:spPr>
          <a:xfrm>
            <a:off x="594360" y="3337560"/>
            <a:ext cx="2743200" cy="347472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67" name="Text 65"/>
          <p:cNvSpPr/>
          <p:nvPr/>
        </p:nvSpPr>
        <p:spPr>
          <a:xfrm>
            <a:off x="685800" y="33375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Multi-Standard (SOCPA + IFRS)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383280" y="3337560"/>
            <a:ext cx="1097280" cy="347472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69" name="Text 67"/>
          <p:cNvSpPr/>
          <p:nvPr/>
        </p:nvSpPr>
        <p:spPr>
          <a:xfrm>
            <a:off x="3383280" y="33375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70" name="Shape 68"/>
          <p:cNvSpPr/>
          <p:nvPr/>
        </p:nvSpPr>
        <p:spPr>
          <a:xfrm>
            <a:off x="4526280" y="3337560"/>
            <a:ext cx="914400" cy="347472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71" name="Text 69"/>
          <p:cNvSpPr/>
          <p:nvPr/>
        </p:nvSpPr>
        <p:spPr>
          <a:xfrm>
            <a:off x="4526280" y="33375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72" name="Shape 70"/>
          <p:cNvSpPr/>
          <p:nvPr/>
        </p:nvSpPr>
        <p:spPr>
          <a:xfrm>
            <a:off x="5486400" y="3337560"/>
            <a:ext cx="914400" cy="347472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73" name="Text 71"/>
          <p:cNvSpPr/>
          <p:nvPr/>
        </p:nvSpPr>
        <p:spPr>
          <a:xfrm>
            <a:off x="5486400" y="33375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6446520" y="3337560"/>
            <a:ext cx="914400" cy="347472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75" name="Text 73"/>
          <p:cNvSpPr/>
          <p:nvPr/>
        </p:nvSpPr>
        <p:spPr>
          <a:xfrm>
            <a:off x="6446520" y="33375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76" name="Shape 74"/>
          <p:cNvSpPr/>
          <p:nvPr/>
        </p:nvSpPr>
        <p:spPr>
          <a:xfrm>
            <a:off x="7406640" y="3337560"/>
            <a:ext cx="914400" cy="347472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77" name="Text 75"/>
          <p:cNvSpPr/>
          <p:nvPr/>
        </p:nvSpPr>
        <p:spPr>
          <a:xfrm>
            <a:off x="7406640" y="33375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78" name="Shape 76"/>
          <p:cNvSpPr/>
          <p:nvPr/>
        </p:nvSpPr>
        <p:spPr>
          <a:xfrm>
            <a:off x="594360" y="3703320"/>
            <a:ext cx="2743200" cy="3474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79" name="Text 77"/>
          <p:cNvSpPr/>
          <p:nvPr/>
        </p:nvSpPr>
        <p:spPr>
          <a:xfrm>
            <a:off x="685800" y="37033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Marketplace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3383280" y="3703320"/>
            <a:ext cx="1097280" cy="3474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81" name="Text 79"/>
          <p:cNvSpPr/>
          <p:nvPr/>
        </p:nvSpPr>
        <p:spPr>
          <a:xfrm>
            <a:off x="3383280" y="37033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82" name="Shape 80"/>
          <p:cNvSpPr/>
          <p:nvPr/>
        </p:nvSpPr>
        <p:spPr>
          <a:xfrm>
            <a:off x="4526280" y="3703320"/>
            <a:ext cx="914400" cy="3474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83" name="Text 81"/>
          <p:cNvSpPr/>
          <p:nvPr/>
        </p:nvSpPr>
        <p:spPr>
          <a:xfrm>
            <a:off x="4526280" y="37033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84" name="Shape 82"/>
          <p:cNvSpPr/>
          <p:nvPr/>
        </p:nvSpPr>
        <p:spPr>
          <a:xfrm>
            <a:off x="5486400" y="3703320"/>
            <a:ext cx="914400" cy="3474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85" name="Text 83"/>
          <p:cNvSpPr/>
          <p:nvPr/>
        </p:nvSpPr>
        <p:spPr>
          <a:xfrm>
            <a:off x="5486400" y="37033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86" name="Shape 84"/>
          <p:cNvSpPr/>
          <p:nvPr/>
        </p:nvSpPr>
        <p:spPr>
          <a:xfrm>
            <a:off x="6446520" y="3703320"/>
            <a:ext cx="914400" cy="3474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87" name="Text 85"/>
          <p:cNvSpPr/>
          <p:nvPr/>
        </p:nvSpPr>
        <p:spPr>
          <a:xfrm>
            <a:off x="6446520" y="37033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88" name="Shape 86"/>
          <p:cNvSpPr/>
          <p:nvPr/>
        </p:nvSpPr>
        <p:spPr>
          <a:xfrm>
            <a:off x="7406640" y="3703320"/>
            <a:ext cx="914400" cy="3474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89" name="Text 87"/>
          <p:cNvSpPr/>
          <p:nvPr/>
        </p:nvSpPr>
        <p:spPr>
          <a:xfrm>
            <a:off x="7406640" y="37033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90" name="Shape 88"/>
          <p:cNvSpPr/>
          <p:nvPr/>
        </p:nvSpPr>
        <p:spPr>
          <a:xfrm>
            <a:off x="594360" y="4069080"/>
            <a:ext cx="2743200" cy="347472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91" name="Text 89"/>
          <p:cNvSpPr/>
          <p:nvPr/>
        </p:nvSpPr>
        <p:spPr>
          <a:xfrm>
            <a:off x="685800" y="40690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Interface (AR/EN)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3383280" y="4069080"/>
            <a:ext cx="1097280" cy="347472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93" name="Text 91"/>
          <p:cNvSpPr/>
          <p:nvPr/>
        </p:nvSpPr>
        <p:spPr>
          <a:xfrm>
            <a:off x="3383280" y="40690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94" name="Shape 92"/>
          <p:cNvSpPr/>
          <p:nvPr/>
        </p:nvSpPr>
        <p:spPr>
          <a:xfrm>
            <a:off x="4526280" y="4069080"/>
            <a:ext cx="914400" cy="347472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95" name="Text 93"/>
          <p:cNvSpPr/>
          <p:nvPr/>
        </p:nvSpPr>
        <p:spPr>
          <a:xfrm>
            <a:off x="4526280" y="40690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96" name="Shape 94"/>
          <p:cNvSpPr/>
          <p:nvPr/>
        </p:nvSpPr>
        <p:spPr>
          <a:xfrm>
            <a:off x="5486400" y="4069080"/>
            <a:ext cx="914400" cy="347472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97" name="Text 95"/>
          <p:cNvSpPr/>
          <p:nvPr/>
        </p:nvSpPr>
        <p:spPr>
          <a:xfrm>
            <a:off x="5486400" y="40690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98" name="Shape 96"/>
          <p:cNvSpPr/>
          <p:nvPr/>
        </p:nvSpPr>
        <p:spPr>
          <a:xfrm>
            <a:off x="6446520" y="4069080"/>
            <a:ext cx="914400" cy="347472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99" name="Text 97"/>
          <p:cNvSpPr/>
          <p:nvPr/>
        </p:nvSpPr>
        <p:spPr>
          <a:xfrm>
            <a:off x="6446520" y="40690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100" name="Shape 98"/>
          <p:cNvSpPr/>
          <p:nvPr/>
        </p:nvSpPr>
        <p:spPr>
          <a:xfrm>
            <a:off x="7406640" y="4069080"/>
            <a:ext cx="914400" cy="347472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101" name="Text 99"/>
          <p:cNvSpPr/>
          <p:nvPr/>
        </p:nvSpPr>
        <p:spPr>
          <a:xfrm>
            <a:off x="7406640" y="40690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02" name="Text 100"/>
          <p:cNvSpPr/>
          <p:nvPr/>
        </p:nvSpPr>
        <p:spPr>
          <a:xfrm>
            <a:off x="59436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Full   ◐  Partial   —  None        APEX is the only platform combining AI analysis + Arabic SOCPA + Funding Readiness in one product.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04" name="Shape 102"/>
          <p:cNvSpPr/>
          <p:nvPr/>
        </p:nvSpPr>
        <p:spPr>
          <a:xfrm>
            <a:off x="0" y="4690872"/>
            <a:ext cx="9144000" cy="1828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05" name="Text 103"/>
          <p:cNvSpPr/>
          <p:nvPr/>
        </p:nvSpPr>
        <p:spPr>
          <a:xfrm>
            <a:off x="365760" y="4709160"/>
            <a:ext cx="64008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Financial Intelligence Platform  |  Jeddah, Saudi Arabia  |  2026</a:t>
            </a:r>
            <a:endParaRPr lang="en-US" sz="800" dirty="0"/>
          </a:p>
        </p:txBody>
      </p:sp>
      <p:sp>
        <p:nvSpPr>
          <p:cNvPr id="106" name="Text 104"/>
          <p:cNvSpPr/>
          <p:nvPr/>
        </p:nvSpPr>
        <p:spPr>
          <a:xfrm>
            <a:off x="7315200" y="4709160"/>
            <a:ext cx="109728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19</a:t>
            </a:r>
            <a:endParaRPr lang="en-US" sz="800" dirty="0"/>
          </a:p>
        </p:txBody>
      </p:sp>
      <p:sp>
        <p:nvSpPr>
          <p:cNvPr id="107" name="Text 105"/>
          <p:cNvSpPr/>
          <p:nvPr/>
        </p:nvSpPr>
        <p:spPr>
          <a:xfrm>
            <a:off x="8412480" y="4709160"/>
            <a:ext cx="5486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APEX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D4A843">
              <a:alpha val="8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 ·  الباقات والتسعير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Plans for Every Business Size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باقات مرنة تناسب كل مرحلة من نمو أعمالك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920240" cy="283464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645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الانطلاقة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 199/mo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2606040"/>
            <a:ext cx="1371600" cy="9144"/>
          </a:xfrm>
          <a:prstGeom prst="rect">
            <a:avLst/>
          </a:prstGeom>
          <a:solidFill>
            <a:srgbClr val="1A3055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697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Company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304495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 Upload + AI Classify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339242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Reports/month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373989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Support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60320" y="1417320"/>
            <a:ext cx="1920240" cy="3063240"/>
          </a:xfrm>
          <a:prstGeom prst="rect">
            <a:avLst/>
          </a:prstGeom>
          <a:solidFill>
            <a:srgbClr val="243B6A"/>
          </a:solidFill>
          <a:ln w="19050">
            <a:solidFill>
              <a:srgbClr val="D4A84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60320" y="1417320"/>
            <a:ext cx="1920240" cy="2743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7" name="Text 15"/>
          <p:cNvSpPr/>
          <p:nvPr/>
        </p:nvSpPr>
        <p:spPr>
          <a:xfrm>
            <a:off x="2560320" y="1417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560320" y="1737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560320" y="20116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النمو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60320" y="2286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 499/mo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2834640" y="2697480"/>
            <a:ext cx="1371600" cy="9144"/>
          </a:xfrm>
          <a:prstGeom prst="rect">
            <a:avLst/>
          </a:prstGeom>
          <a:solidFill>
            <a:srgbClr val="1A3055"/>
          </a:solidFill>
          <a:ln/>
        </p:spPr>
      </p:sp>
      <p:sp>
        <p:nvSpPr>
          <p:cNvPr id="22" name="Text 20"/>
          <p:cNvSpPr/>
          <p:nvPr/>
        </p:nvSpPr>
        <p:spPr>
          <a:xfrm>
            <a:off x="2697480" y="2788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Companies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97480" y="31363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AI Analysis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97480" y="348386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Reports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697480" y="383133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Score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1554480"/>
            <a:ext cx="1920240" cy="283464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663440" y="1645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663440" y="19202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الاحترافي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63440" y="2194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 999/mo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4937760" y="2606040"/>
            <a:ext cx="1371600" cy="9144"/>
          </a:xfrm>
          <a:prstGeom prst="rect">
            <a:avLst/>
          </a:prstGeom>
          <a:solidFill>
            <a:srgbClr val="1A3055"/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2697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Companies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00600" y="304495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AI Suite + Audit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00600" y="339242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Access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00600" y="373989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766560" y="1554480"/>
            <a:ext cx="1920240" cy="283464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766560" y="1645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766560" y="19202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المؤسسات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766560" y="2194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 1,999/mo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7040880" y="2606040"/>
            <a:ext cx="1371600" cy="9144"/>
          </a:xfrm>
          <a:prstGeom prst="rect">
            <a:avLst/>
          </a:prstGeom>
          <a:solidFill>
            <a:srgbClr val="1A3055"/>
          </a:solidFill>
          <a:ln/>
        </p:spPr>
      </p:sp>
      <p:sp>
        <p:nvSpPr>
          <p:cNvPr id="40" name="Text 38"/>
          <p:cNvSpPr/>
          <p:nvPr/>
        </p:nvSpPr>
        <p:spPr>
          <a:xfrm>
            <a:off x="6903720" y="2697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Companies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903720" y="304495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Modules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903720" y="339242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+ Dedicated Manager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903720" y="373989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Option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5" name="Shape 43"/>
          <p:cNvSpPr/>
          <p:nvPr/>
        </p:nvSpPr>
        <p:spPr>
          <a:xfrm>
            <a:off x="0" y="4690872"/>
            <a:ext cx="9144000" cy="1828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6" name="Text 44"/>
          <p:cNvSpPr/>
          <p:nvPr/>
        </p:nvSpPr>
        <p:spPr>
          <a:xfrm>
            <a:off x="365760" y="4709160"/>
            <a:ext cx="64008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Financial Intelligence Platform  |  Jeddah, Saudi Arabia  |  2026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315200" y="4709160"/>
            <a:ext cx="109728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19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412480" y="4709160"/>
            <a:ext cx="5486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APEX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D4A843">
              <a:alpha val="8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·  العرض المباشر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 APEX in Action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شاهد المنصة وهي تعمل خطوة بخطوة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560320" cy="128016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691640"/>
            <a:ext cx="384048" cy="384048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1664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Onboarding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19019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8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تسجيل المنشأة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21945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7-stage wizard auto-configures for company type &amp; industry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91840" y="1554480"/>
            <a:ext cx="2560320" cy="128016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29000" y="1691640"/>
            <a:ext cx="384048" cy="384048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886200" y="1664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COA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86200" y="19019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8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رفع دليل الحسابات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29000" y="21945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Arabic/English Excel — AI classifies 200+ accounts instantly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26480" y="1554480"/>
            <a:ext cx="2560320" cy="128016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63640" y="1691640"/>
            <a:ext cx="384048" cy="384048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20840" y="1664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Balance Bind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20840" y="19019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8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ربط ميزان المراجعة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63640" y="21945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Auto-links TB to COA, anomaly scoring &amp; issue flagging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2560320" cy="128016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4360" y="3154680"/>
            <a:ext cx="384048" cy="384048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51560" y="3127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Statements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51560" y="33649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8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إعداد القوائم المالية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4360" y="3657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P&amp;L, Balance Sheet, Cash Flow generated in one click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91840" y="3017520"/>
            <a:ext cx="2560320" cy="128016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429000" y="3154680"/>
            <a:ext cx="384048" cy="384048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32" name="Text 30"/>
          <p:cNvSpPr/>
          <p:nvPr/>
        </p:nvSpPr>
        <p:spPr>
          <a:xfrm>
            <a:off x="342900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886200" y="3127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Dashboard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886200" y="33649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8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لوحة التحليل الذكي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429000" y="3657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ratios, Readiness Score, funding gap analysis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126480" y="3017520"/>
            <a:ext cx="2560320" cy="128016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63640" y="3154680"/>
            <a:ext cx="384048" cy="384048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38" name="Text 36"/>
          <p:cNvSpPr/>
          <p:nvPr/>
        </p:nvSpPr>
        <p:spPr>
          <a:xfrm>
            <a:off x="626364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720840" y="3127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720840" y="33649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8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سجل المراجعة الكامل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263640" y="3657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logged, timestamped &amp; explainable by AI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8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next slide for dashboard preview  |  انظر الشريحة التالية لمعاينة لوحة التحكم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4" name="Shape 42"/>
          <p:cNvSpPr/>
          <p:nvPr/>
        </p:nvSpPr>
        <p:spPr>
          <a:xfrm>
            <a:off x="0" y="4690872"/>
            <a:ext cx="9144000" cy="1828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5" name="Text 43"/>
          <p:cNvSpPr/>
          <p:nvPr/>
        </p:nvSpPr>
        <p:spPr>
          <a:xfrm>
            <a:off x="365760" y="4709160"/>
            <a:ext cx="64008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Financial Intelligence Platform  |  Jeddah, Saudi Arabia  |  2026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315200" y="4709160"/>
            <a:ext cx="109728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19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8412480" y="4709160"/>
            <a:ext cx="5486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APEX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D4A843">
              <a:alpha val="8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 ·  واجهة المستخدم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Financial Intelligence at a Glance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رؤية مالية شاملة من شاشة واحدة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7680960" cy="2834640"/>
          </a:xfrm>
          <a:prstGeom prst="rect">
            <a:avLst/>
          </a:prstGeom>
          <a:solidFill>
            <a:srgbClr val="122240"/>
          </a:solidFill>
          <a:ln w="12700">
            <a:solidFill>
              <a:srgbClr val="243B6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554480"/>
            <a:ext cx="1371600" cy="2834640"/>
          </a:xfrm>
          <a:prstGeom prst="rect">
            <a:avLst/>
          </a:prstGeom>
          <a:solidFill>
            <a:srgbClr val="1A3055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691640"/>
            <a:ext cx="1371600" cy="320040"/>
          </a:xfrm>
          <a:prstGeom prst="rect">
            <a:avLst/>
          </a:prstGeom>
          <a:solidFill>
            <a:srgbClr val="D4A843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691640"/>
            <a:ext cx="36576" cy="3200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6916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" y="20756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68680" y="245973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284378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68680" y="32278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68680" y="36118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0" y="1691640"/>
            <a:ext cx="1371600" cy="6858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7" name="Text 15"/>
          <p:cNvSpPr/>
          <p:nvPr/>
        </p:nvSpPr>
        <p:spPr>
          <a:xfrm>
            <a:off x="2377440" y="171907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377440" y="1901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 1.2M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08960" y="1965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+18%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794760" y="1691640"/>
            <a:ext cx="1371600" cy="6858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1" name="Text 19"/>
          <p:cNvSpPr/>
          <p:nvPr/>
        </p:nvSpPr>
        <p:spPr>
          <a:xfrm>
            <a:off x="3886200" y="171907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886200" y="1901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17720" y="1965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303520" y="1691640"/>
            <a:ext cx="1371600" cy="6858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5" name="Text 23"/>
          <p:cNvSpPr/>
          <p:nvPr/>
        </p:nvSpPr>
        <p:spPr>
          <a:xfrm>
            <a:off x="5394960" y="171907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394960" y="1901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1,847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126480" y="1965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+234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812280" y="1691640"/>
            <a:ext cx="1371600" cy="6858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9" name="Text 27"/>
          <p:cNvSpPr/>
          <p:nvPr/>
        </p:nvSpPr>
        <p:spPr>
          <a:xfrm>
            <a:off x="6903720" y="171907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903720" y="1901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87/100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635240" y="1965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286000" y="2514600"/>
            <a:ext cx="3657600" cy="17373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3" name="Shape 31"/>
          <p:cNvSpPr/>
          <p:nvPr/>
        </p:nvSpPr>
        <p:spPr>
          <a:xfrm>
            <a:off x="2468880" y="3520440"/>
            <a:ext cx="274320" cy="731520"/>
          </a:xfrm>
          <a:prstGeom prst="rect">
            <a:avLst/>
          </a:prstGeom>
          <a:solidFill>
            <a:srgbClr val="D4A843">
              <a:alpha val="7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926080" y="3246120"/>
            <a:ext cx="274320" cy="1005840"/>
          </a:xfrm>
          <a:prstGeom prst="rect">
            <a:avLst/>
          </a:prstGeom>
          <a:solidFill>
            <a:srgbClr val="D4A843">
              <a:alpha val="6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383280" y="3429000"/>
            <a:ext cx="274320" cy="822960"/>
          </a:xfrm>
          <a:prstGeom prst="rect">
            <a:avLst/>
          </a:prstGeom>
          <a:solidFill>
            <a:srgbClr val="D4A843">
              <a:alpha val="6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840480" y="2971800"/>
            <a:ext cx="274320" cy="1280160"/>
          </a:xfrm>
          <a:prstGeom prst="rect">
            <a:avLst/>
          </a:prstGeom>
          <a:solidFill>
            <a:srgbClr val="D4A843">
              <a:alpha val="5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297680" y="3154680"/>
            <a:ext cx="274320" cy="1097280"/>
          </a:xfrm>
          <a:prstGeom prst="rect">
            <a:avLst/>
          </a:prstGeom>
          <a:solidFill>
            <a:srgbClr val="D4A843">
              <a:alpha val="5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754880" y="2880360"/>
            <a:ext cx="274320" cy="1371600"/>
          </a:xfrm>
          <a:prstGeom prst="rect">
            <a:avLst/>
          </a:prstGeom>
          <a:solidFill>
            <a:srgbClr val="D4A843">
              <a:alpha val="4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212080" y="3063240"/>
            <a:ext cx="274320" cy="1188720"/>
          </a:xfrm>
          <a:prstGeom prst="rect">
            <a:avLst/>
          </a:prstGeom>
          <a:solidFill>
            <a:srgbClr val="D4A843">
              <a:alpha val="4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2377440" y="25420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Trend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126480" y="2514600"/>
            <a:ext cx="2103120" cy="17373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2" name="Text 40"/>
          <p:cNvSpPr/>
          <p:nvPr/>
        </p:nvSpPr>
        <p:spPr>
          <a:xfrm>
            <a:off x="6217920" y="25603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Score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675120" y="2880360"/>
            <a:ext cx="1005840" cy="1005840"/>
          </a:xfrm>
          <a:prstGeom prst="ellipse">
            <a:avLst/>
          </a:prstGeom>
          <a:solidFill>
            <a:srgbClr val="0A1628"/>
          </a:solidFill>
          <a:ln w="50800">
            <a:solidFill>
              <a:srgbClr val="22C55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75120" y="2880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</a:t>
            </a:r>
            <a:endParaRPr lang="en-US" sz="2800" dirty="0"/>
          </a:p>
        </p:txBody>
      </p:sp>
      <p:sp>
        <p:nvSpPr>
          <p:cNvPr id="45" name="Text 43"/>
          <p:cNvSpPr/>
          <p:nvPr/>
        </p:nvSpPr>
        <p:spPr>
          <a:xfrm>
            <a:off x="457200" y="4434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KPIs · Financial Statements · Readiness Score · AI Insights  |  مؤشرات لحظية · قوائم مالية · تقييم الجاهزية · تحليلات ذكية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7" name="Shape 45"/>
          <p:cNvSpPr/>
          <p:nvPr/>
        </p:nvSpPr>
        <p:spPr>
          <a:xfrm>
            <a:off x="0" y="4690872"/>
            <a:ext cx="9144000" cy="1828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8" name="Text 46"/>
          <p:cNvSpPr/>
          <p:nvPr/>
        </p:nvSpPr>
        <p:spPr>
          <a:xfrm>
            <a:off x="365760" y="4709160"/>
            <a:ext cx="64008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Financial Intelligence Platform  |  Jeddah, Saudi Arabia  |  2026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315200" y="4709160"/>
            <a:ext cx="109728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19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8412480" y="4709160"/>
            <a:ext cx="5486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APEX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D4A843">
              <a:alpha val="8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·  الأثر الفعلي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Upload to Insight in 3 Minutes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 رفع البيانات إلى التحليل الكامل في 3 دقائق فقط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657600" cy="274320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54480"/>
            <a:ext cx="3657600" cy="365760"/>
          </a:xfrm>
          <a:prstGeom prst="rect">
            <a:avLst/>
          </a:prstGeom>
          <a:solidFill>
            <a:srgbClr val="EF4444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APEX  ·  قبل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Financial Report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51760" y="20116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 Weeks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4414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Analysis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51760" y="244144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3K-10K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87121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51760" y="287121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15-25%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30098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Assessment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51760" y="330098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7307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51760" y="373075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/ Missing</a:t>
            </a:r>
            <a:endParaRPr lang="en-US" sz="11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2651760"/>
            <a:ext cx="457200" cy="45720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5029200" y="1554480"/>
            <a:ext cx="3657600" cy="274320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029200" y="1554480"/>
            <a:ext cx="3657600" cy="365760"/>
          </a:xfrm>
          <a:prstGeom prst="rect">
            <a:avLst/>
          </a:prstGeom>
          <a:solidFill>
            <a:srgbClr val="22C55E">
              <a:alpha val="30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502920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APEX  ·  بعد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212080" y="2011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Financial Report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223760" y="20116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5 Min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212080" y="24414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Analysis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223760" y="244144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SAR 199/mo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212080" y="287121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7223760" y="287121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2%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212080" y="330098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Assessment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7223760" y="330098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0-100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212080" y="37307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7223760" y="373075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AI Log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99% faster · 90%+ cost reduction · 90% fewer errors  |  النتيجة: أسرع بنسبة 99% · توفير يتجاوز 90% · دقة تفوق 98%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5" name="Shape 32"/>
          <p:cNvSpPr/>
          <p:nvPr/>
        </p:nvSpPr>
        <p:spPr>
          <a:xfrm>
            <a:off x="0" y="4690872"/>
            <a:ext cx="9144000" cy="1828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6" name="Text 33"/>
          <p:cNvSpPr/>
          <p:nvPr/>
        </p:nvSpPr>
        <p:spPr>
          <a:xfrm>
            <a:off x="365760" y="4709160"/>
            <a:ext cx="64008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Financial Intelligence Platform  |  Jeddah, Saudi Arabia  |  2026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7315200" y="4709160"/>
            <a:ext cx="109728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19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8412480" y="4709160"/>
            <a:ext cx="5486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APEX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D4A843">
              <a:alpha val="8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FEEDBACK  ·  تجارب المستخدمين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Early Adopters Are Saying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انطباعات المستخدمين في البرنامج التجريبي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8229600" cy="86868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08760"/>
            <a:ext cx="45720" cy="8686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4630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91440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cut our quarterly close from 3 weeks to under an hour. The AI catches SOCPA classification errors our team missed for years.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14400" y="18562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قلّصت APEX إقفالنا الربعي من 3 أسابيع إلى أقل من ساعة، والذكاء الاصطناعي يكتشف أخطاء تصنيف لم نلاحظها لسنوات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92240" y="1600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CFO, Saudi Tech Startup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92240" y="18562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· Riyadh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496312"/>
            <a:ext cx="8229600" cy="86868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496312"/>
            <a:ext cx="45720" cy="8686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45059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14400" y="25420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 works in Arabic, investors want English — APEX produces both instantly. No more double-work.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14400" y="28437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فريقنا يعمل بالعربية والمستثمرون يريدون تقارير إنجليزية — APEX تنتج كلا التقريرين فوراً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92240" y="25877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Partner, Accounting Firm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92240" y="284378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Clients · Jeddah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483864"/>
            <a:ext cx="8229600" cy="86868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483864"/>
            <a:ext cx="45720" cy="8686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43814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914400" y="352958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Readiness Score revealed 3 gaps we were blind to. Fixing them helped us close our seed round 2 months early.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14400" y="383133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مؤشر الجاهزية كشف لنا 3 نقاط ضعف لم نكن ندركها — تصحيحها ساعدنا في إغلاق جولتنا قبل الموعد بشهرين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92240" y="35753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CEO, E-commerce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92240" y="383133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· Dammam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4434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Based on early pilot program feedback — identities anonymized  |  * مبنية على ملاحظات البرنامج التجريبي — تم إخفاء الهويات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9" name="Shape 27"/>
          <p:cNvSpPr/>
          <p:nvPr/>
        </p:nvSpPr>
        <p:spPr>
          <a:xfrm>
            <a:off x="0" y="4690872"/>
            <a:ext cx="9144000" cy="1828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4709160"/>
            <a:ext cx="64008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Financial Intelligence Platform  |  Jeddah, Saudi Arabia  |  2026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315200" y="4709160"/>
            <a:ext cx="109728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19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412480" y="4709160"/>
            <a:ext cx="5486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APEX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D4A843">
              <a:alpha val="8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 ·  اقتصاديات النمو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Strong Fundamentals for Scale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مؤشرات ربحية قوية تدعم التوسع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560320" cy="105156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54480"/>
            <a:ext cx="256032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459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874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 600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تكلفة استقطاب العميل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91840" y="1554480"/>
            <a:ext cx="2560320" cy="105156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554480"/>
            <a:ext cx="256032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6459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91840" y="1874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 7,200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291840" y="22860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القيمة الدائمة (18 شهر)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26480" y="1554480"/>
            <a:ext cx="2560320" cy="105156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554480"/>
            <a:ext cx="2560320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16459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LTV:CAC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26480" y="1874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12x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126480" y="22860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نسبة صحية (المعيار &gt;3x)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2788920"/>
            <a:ext cx="2560320" cy="105156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788920"/>
            <a:ext cx="256032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28803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3108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5%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457200" y="35204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معدل فقدان العملاء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91840" y="2788920"/>
            <a:ext cx="2560320" cy="105156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91840" y="2788920"/>
            <a:ext cx="256032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8" name="Text 26"/>
          <p:cNvSpPr/>
          <p:nvPr/>
        </p:nvSpPr>
        <p:spPr>
          <a:xfrm>
            <a:off x="3291840" y="28803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91840" y="3108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 mo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3291840" y="35204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فترة استرداد التكلفة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26480" y="2788920"/>
            <a:ext cx="2560320" cy="105156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26480" y="2788920"/>
            <a:ext cx="256032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3" name="Text 31"/>
          <p:cNvSpPr/>
          <p:nvPr/>
        </p:nvSpPr>
        <p:spPr>
          <a:xfrm>
            <a:off x="6126480" y="28803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26480" y="3108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78%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6126480" y="35204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هامش الربح الإجمالي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4069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Mix · مصادر الإيرادات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29200" y="4069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Revenue Outlook · توقعات الإيرادات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4690872"/>
            <a:ext cx="9144000" cy="1828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0" name="Text 38"/>
          <p:cNvSpPr/>
          <p:nvPr/>
        </p:nvSpPr>
        <p:spPr>
          <a:xfrm>
            <a:off x="365760" y="4709160"/>
            <a:ext cx="64008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Financial Intelligence Platform  |  Jeddah, Saudi Arabia  |  2026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315200" y="4709160"/>
            <a:ext cx="109728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19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412480" y="4709160"/>
            <a:ext cx="5486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APEX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D4A843">
              <a:alpha val="8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 ·  البنية التقنية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Scale &amp; Security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بنية تحتية مصممة للنمو والأمان من اليوم الأول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977640" cy="73152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54480"/>
            <a:ext cx="45720" cy="731520"/>
          </a:xfrm>
          <a:prstGeom prst="rect">
            <a:avLst/>
          </a:prstGeom>
          <a:solidFill>
            <a:srgbClr val="60A5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19072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600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103120" y="16002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خادم عالي الأداء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51560" y="1920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 3.11) · 286+ REST APIs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09160" y="1554480"/>
            <a:ext cx="3977640" cy="73152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09160" y="1554480"/>
            <a:ext cx="45720" cy="731520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719072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03520" y="1600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355080" y="16002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تطبيق ويب وجوّال موحّد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5303520" y="1920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Web + Mobile · 56+ Screens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57200" y="2423160"/>
            <a:ext cx="3977640" cy="73152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57200" y="2423160"/>
            <a:ext cx="45720" cy="731520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87752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51560" y="2468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2103120" y="2468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قاعدة بيانات جاهزة للتوسع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051560" y="2788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SQLAlchemy · Read Replicas Ready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4709160" y="2423160"/>
            <a:ext cx="3977640" cy="73152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709160" y="2423160"/>
            <a:ext cx="45720" cy="731520"/>
          </a:xfrm>
          <a:prstGeom prst="rect">
            <a:avLst/>
          </a:prstGeom>
          <a:solidFill>
            <a:srgbClr val="D4A843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587752"/>
            <a:ext cx="320040" cy="3200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303520" y="2468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6355080" y="2468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محرك ذكاء اصطناعي متخصص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5303520" y="2788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Brain · 11 Modules · Claude AI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457200" y="3291840"/>
            <a:ext cx="3977640" cy="73152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457200" y="3291840"/>
            <a:ext cx="45720" cy="73152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456432"/>
            <a:ext cx="320040" cy="32004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051560" y="3337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2103120" y="3337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حماية متعددة المستويات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1051560" y="3657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· 11 Roles · Full Audit Logs · bcrypt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4709160" y="3291840"/>
            <a:ext cx="3977640" cy="73152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4709160" y="3291840"/>
            <a:ext cx="45720" cy="73152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456432"/>
            <a:ext cx="320040" cy="32004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5303520" y="3337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300" dirty="0"/>
          </a:p>
        </p:txBody>
      </p:sp>
      <p:sp>
        <p:nvSpPr>
          <p:cNvPr id="40" name="Text 32"/>
          <p:cNvSpPr/>
          <p:nvPr/>
        </p:nvSpPr>
        <p:spPr>
          <a:xfrm>
            <a:off x="6355080" y="3337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نشر آلي ومراقبة مستمرة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5303520" y="3657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· CI/CD · GitHub Actions · Render</a:t>
            </a:r>
            <a:endParaRPr lang="en-US" sz="1000" dirty="0"/>
          </a:p>
        </p:txBody>
      </p:sp>
      <p:sp>
        <p:nvSpPr>
          <p:cNvPr id="42" name="Shape 34"/>
          <p:cNvSpPr/>
          <p:nvPr/>
        </p:nvSpPr>
        <p:spPr>
          <a:xfrm>
            <a:off x="731520" y="4160520"/>
            <a:ext cx="1645920" cy="457200"/>
          </a:xfrm>
          <a:prstGeom prst="rect">
            <a:avLst/>
          </a:prstGeom>
          <a:solidFill>
            <a:srgbClr val="1A3055"/>
          </a:solidFill>
          <a:ln/>
        </p:spPr>
      </p:sp>
      <p:sp>
        <p:nvSpPr>
          <p:cNvPr id="43" name="Shape 35"/>
          <p:cNvSpPr/>
          <p:nvPr/>
        </p:nvSpPr>
        <p:spPr>
          <a:xfrm>
            <a:off x="731520" y="4160520"/>
            <a:ext cx="164592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4" name="Text 36"/>
          <p:cNvSpPr/>
          <p:nvPr/>
        </p:nvSpPr>
        <p:spPr>
          <a:xfrm>
            <a:off x="731520" y="4160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286+  </a:t>
            </a:r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</a:t>
            </a:r>
            <a:endParaRPr lang="en-US" sz="2000" dirty="0"/>
          </a:p>
        </p:txBody>
      </p:sp>
      <p:sp>
        <p:nvSpPr>
          <p:cNvPr id="45" name="Shape 37"/>
          <p:cNvSpPr/>
          <p:nvPr/>
        </p:nvSpPr>
        <p:spPr>
          <a:xfrm>
            <a:off x="2743200" y="4160520"/>
            <a:ext cx="1645920" cy="457200"/>
          </a:xfrm>
          <a:prstGeom prst="rect">
            <a:avLst/>
          </a:prstGeom>
          <a:solidFill>
            <a:srgbClr val="1A3055"/>
          </a:solidFill>
          <a:ln/>
        </p:spPr>
      </p:sp>
      <p:sp>
        <p:nvSpPr>
          <p:cNvPr id="46" name="Shape 38"/>
          <p:cNvSpPr/>
          <p:nvPr/>
        </p:nvSpPr>
        <p:spPr>
          <a:xfrm>
            <a:off x="2743200" y="4160520"/>
            <a:ext cx="1645920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47" name="Text 39"/>
          <p:cNvSpPr/>
          <p:nvPr/>
        </p:nvSpPr>
        <p:spPr>
          <a:xfrm>
            <a:off x="2743200" y="4160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</a:t>
            </a:r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Modules</a:t>
            </a:r>
            <a:endParaRPr lang="en-US" sz="2000" dirty="0"/>
          </a:p>
        </p:txBody>
      </p:sp>
      <p:sp>
        <p:nvSpPr>
          <p:cNvPr id="48" name="Shape 40"/>
          <p:cNvSpPr/>
          <p:nvPr/>
        </p:nvSpPr>
        <p:spPr>
          <a:xfrm>
            <a:off x="4754880" y="4160520"/>
            <a:ext cx="1645920" cy="457200"/>
          </a:xfrm>
          <a:prstGeom prst="rect">
            <a:avLst/>
          </a:prstGeom>
          <a:solidFill>
            <a:srgbClr val="1A3055"/>
          </a:solidFill>
          <a:ln/>
        </p:spPr>
      </p:sp>
      <p:sp>
        <p:nvSpPr>
          <p:cNvPr id="49" name="Shape 41"/>
          <p:cNvSpPr/>
          <p:nvPr/>
        </p:nvSpPr>
        <p:spPr>
          <a:xfrm>
            <a:off x="4754880" y="4160520"/>
            <a:ext cx="164592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0" name="Text 42"/>
          <p:cNvSpPr/>
          <p:nvPr/>
        </p:nvSpPr>
        <p:spPr>
          <a:xfrm>
            <a:off x="4754880" y="4160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56+  </a:t>
            </a:r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Screens</a:t>
            </a:r>
            <a:endParaRPr lang="en-US" sz="2000" dirty="0"/>
          </a:p>
        </p:txBody>
      </p:sp>
      <p:sp>
        <p:nvSpPr>
          <p:cNvPr id="51" name="Shape 43"/>
          <p:cNvSpPr/>
          <p:nvPr/>
        </p:nvSpPr>
        <p:spPr>
          <a:xfrm>
            <a:off x="6766560" y="4160520"/>
            <a:ext cx="1645920" cy="457200"/>
          </a:xfrm>
          <a:prstGeom prst="rect">
            <a:avLst/>
          </a:prstGeom>
          <a:solidFill>
            <a:srgbClr val="1A3055"/>
          </a:solidFill>
          <a:ln/>
        </p:spPr>
      </p:sp>
      <p:sp>
        <p:nvSpPr>
          <p:cNvPr id="52" name="Shape 44"/>
          <p:cNvSpPr/>
          <p:nvPr/>
        </p:nvSpPr>
        <p:spPr>
          <a:xfrm>
            <a:off x="6766560" y="4160520"/>
            <a:ext cx="164592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3" name="Text 45"/>
          <p:cNvSpPr/>
          <p:nvPr/>
        </p:nvSpPr>
        <p:spPr>
          <a:xfrm>
            <a:off x="6766560" y="4160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  </a:t>
            </a:r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2000" dirty="0"/>
          </a:p>
        </p:txBody>
      </p:sp>
      <p:sp>
        <p:nvSpPr>
          <p:cNvPr id="54" name="Shape 4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5" name="Shape 47"/>
          <p:cNvSpPr/>
          <p:nvPr/>
        </p:nvSpPr>
        <p:spPr>
          <a:xfrm>
            <a:off x="0" y="4690872"/>
            <a:ext cx="9144000" cy="1828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6" name="Text 48"/>
          <p:cNvSpPr/>
          <p:nvPr/>
        </p:nvSpPr>
        <p:spPr>
          <a:xfrm>
            <a:off x="365760" y="4709160"/>
            <a:ext cx="64008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Financial Intelligence Platform  |  Jeddah, Saudi Arabia  |  2026</a:t>
            </a:r>
            <a:endParaRPr lang="en-US" sz="800" dirty="0"/>
          </a:p>
        </p:txBody>
      </p:sp>
      <p:sp>
        <p:nvSpPr>
          <p:cNvPr id="57" name="Text 49"/>
          <p:cNvSpPr/>
          <p:nvPr/>
        </p:nvSpPr>
        <p:spPr>
          <a:xfrm>
            <a:off x="7315200" y="4709160"/>
            <a:ext cx="109728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19</a:t>
            </a:r>
            <a:endParaRPr lang="en-US" sz="800" dirty="0"/>
          </a:p>
        </p:txBody>
      </p:sp>
      <p:sp>
        <p:nvSpPr>
          <p:cNvPr id="58" name="Text 50"/>
          <p:cNvSpPr/>
          <p:nvPr/>
        </p:nvSpPr>
        <p:spPr>
          <a:xfrm>
            <a:off x="8412480" y="4709160"/>
            <a:ext cx="5486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APEX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D4A843">
              <a:alpha val="8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 ·  فريق العمل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by Someone Who Knows the Problem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بناه شخص يعيش التحدي ويفهم السوق من الداخل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920240" cy="2743200"/>
          </a:xfrm>
          <a:prstGeom prst="rect">
            <a:avLst/>
          </a:prstGeom>
          <a:solidFill>
            <a:srgbClr val="122240"/>
          </a:solidFill>
          <a:ln w="12700">
            <a:solidFill>
              <a:srgbClr val="D4A84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51560" y="1691640"/>
            <a:ext cx="731520" cy="731520"/>
          </a:xfrm>
          <a:prstGeom prst="ellipse">
            <a:avLst/>
          </a:prstGeom>
          <a:solidFill>
            <a:srgbClr val="D4A843">
              <a:alpha val="30000"/>
            </a:srgbClr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514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Shady Apoelela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29718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شادي أبو العلا · المؤسس والرئيس التنفيذي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48640" y="32461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architect. Built APEX solo: 286+ APIs, 56+ screens, 11 AI modules, 204 tests — from concept to working product.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560320" y="1554480"/>
            <a:ext cx="1920240" cy="274320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54680" y="1691640"/>
            <a:ext cx="731520" cy="731520"/>
          </a:xfrm>
          <a:prstGeom prst="ellipse">
            <a:avLst/>
          </a:prstGeom>
          <a:solidFill>
            <a:srgbClr val="60A5FA">
              <a:alpha val="30000"/>
            </a:srgbClr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5468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CTO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651760" y="2514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(Hiring)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51760" y="27432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Technology Officer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51760" y="29718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المدير التقني (قيد التوظيف)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651760" y="32461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10+ years backend/AI. Saudi fintech expertise. Will own architecture &amp; scale the engineering team.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017520" y="4114800"/>
            <a:ext cx="1005840" cy="201168"/>
          </a:xfrm>
          <a:prstGeom prst="rect">
            <a:avLst/>
          </a:prstGeom>
          <a:solidFill>
            <a:srgbClr val="60A5FA">
              <a:alpha val="20000"/>
            </a:srgbClr>
          </a:solidFill>
          <a:ln w="6350">
            <a:solidFill>
              <a:srgbClr val="60A5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17520" y="41148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4663440" y="1554480"/>
            <a:ext cx="1920240" cy="274320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257800" y="1691640"/>
            <a:ext cx="731520" cy="731520"/>
          </a:xfrm>
          <a:prstGeom prst="ellipse">
            <a:avLst/>
          </a:prstGeom>
          <a:solidFill>
            <a:srgbClr val="14B8A6">
              <a:alpha val="30000"/>
            </a:srgbClr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5780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CFO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754880" y="2514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(Hiring)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27432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Financial Officer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54880" y="29718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المدير المالي (قيد التوظيف)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754880" y="32461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CPA/CFA with SOCPA knowledge. Will lead compliance, financial planning &amp; investor relations.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120640" y="4114800"/>
            <a:ext cx="1005840" cy="201168"/>
          </a:xfrm>
          <a:prstGeom prst="rect">
            <a:avLst/>
          </a:prstGeom>
          <a:solidFill>
            <a:srgbClr val="14B8A6">
              <a:alpha val="20000"/>
            </a:srgbClr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41148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6766560" y="1554480"/>
            <a:ext cx="1920240" cy="274320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360920" y="1691640"/>
            <a:ext cx="731520" cy="731520"/>
          </a:xfrm>
          <a:prstGeom prst="ellipse">
            <a:avLst/>
          </a:prstGeom>
          <a:solidFill>
            <a:srgbClr val="8B5CF6">
              <a:alpha val="30000"/>
            </a:srgbClr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6092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858000" y="2514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Lead (Hiring)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58000" y="27432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Growth &amp; Sales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858000" y="29718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مدير النمو (قيد التوظيف)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858000" y="32461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B2B SaaS growth expert with Saudi connections. Will drive go-to-market &amp; strategic partnerships.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223760" y="4114800"/>
            <a:ext cx="1005840" cy="201168"/>
          </a:xfrm>
          <a:prstGeom prst="rect">
            <a:avLst/>
          </a:prstGeom>
          <a:solidFill>
            <a:srgbClr val="8B5CF6">
              <a:alpha val="20000"/>
            </a:srgbClr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23760" y="41148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57200" y="4434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key roles to accelerate growth  ·  نبحث عن قيادات استثنائية لتسريع الانطلاقة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2" name="Shape 40"/>
          <p:cNvSpPr/>
          <p:nvPr/>
        </p:nvSpPr>
        <p:spPr>
          <a:xfrm>
            <a:off x="0" y="4690872"/>
            <a:ext cx="9144000" cy="1828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3" name="Text 41"/>
          <p:cNvSpPr/>
          <p:nvPr/>
        </p:nvSpPr>
        <p:spPr>
          <a:xfrm>
            <a:off x="365760" y="4709160"/>
            <a:ext cx="64008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Financial Intelligence Platform  |  Jeddah, Saudi Arabia  |  2026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315200" y="4709160"/>
            <a:ext cx="109728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19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412480" y="4709160"/>
            <a:ext cx="5486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APEX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D4A843">
              <a:alpha val="8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 ·  خارطة الطريق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Saudi to the Gulf &amp; Beyond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 السوق السعودي إلى أسواق الخليج والمنطقة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8229600" cy="27432"/>
          </a:xfrm>
          <a:prstGeom prst="rect">
            <a:avLst/>
          </a:prstGeom>
          <a:solidFill>
            <a:srgbClr val="D4A843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280160" y="1463040"/>
            <a:ext cx="274320" cy="2743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874520"/>
            <a:ext cx="1920240" cy="233172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874520"/>
            <a:ext cx="192024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93852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212140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- 3M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2331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26334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التأسيس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29260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&amp; Bug Fixes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321868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Optimization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351129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Data &amp; GitHub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380390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Hardening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83280" y="1463040"/>
            <a:ext cx="274320" cy="27432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19" name="Shape 17"/>
          <p:cNvSpPr/>
          <p:nvPr/>
        </p:nvSpPr>
        <p:spPr>
          <a:xfrm>
            <a:off x="2560320" y="1874520"/>
            <a:ext cx="1920240" cy="233172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0" y="1874520"/>
            <a:ext cx="1920240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21" name="Text 19"/>
          <p:cNvSpPr/>
          <p:nvPr/>
        </p:nvSpPr>
        <p:spPr>
          <a:xfrm>
            <a:off x="2560320" y="193852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560320" y="212140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3 - 9M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560320" y="2331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560320" y="26334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التوسع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697480" y="29260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&amp; Monitoring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697480" y="321868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697480" y="351129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Versioning (v1)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697480" y="380390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Replicas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0" y="1463040"/>
            <a:ext cx="274320" cy="2743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0" name="Shape 28"/>
          <p:cNvSpPr/>
          <p:nvPr/>
        </p:nvSpPr>
        <p:spPr>
          <a:xfrm>
            <a:off x="4663440" y="1874520"/>
            <a:ext cx="1920240" cy="233172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1874520"/>
            <a:ext cx="192024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2" name="Text 30"/>
          <p:cNvSpPr/>
          <p:nvPr/>
        </p:nvSpPr>
        <p:spPr>
          <a:xfrm>
            <a:off x="4663440" y="193852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663440" y="212140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9M+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663440" y="2331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Dominate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663440" y="26334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الريادة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00600" y="29260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00600" y="321868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Scaling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00600" y="351129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&amp; Edge Cache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00600" y="380390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Compliance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589520" y="1463040"/>
            <a:ext cx="274320" cy="27432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41" name="Shape 39"/>
          <p:cNvSpPr/>
          <p:nvPr/>
        </p:nvSpPr>
        <p:spPr>
          <a:xfrm>
            <a:off x="6766560" y="1874520"/>
            <a:ext cx="1920240" cy="233172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766560" y="1874520"/>
            <a:ext cx="192024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3" name="Text 41"/>
          <p:cNvSpPr/>
          <p:nvPr/>
        </p:nvSpPr>
        <p:spPr>
          <a:xfrm>
            <a:off x="6766560" y="193852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766560" y="212140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2+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766560" y="2331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6766560" y="26334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الانتشار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903720" y="29260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Gulf Markets (UAE, BH)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903720" y="321868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Core + AI Platform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903720" y="351129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Multi-Standard Engine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903720" y="380390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SaaS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57200" y="4434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migration path: FastAPI up to 50K users · Go Core for 500K+  |  مسار التطور: FastAPI حتى 50 ألف مستخدم ثم الانتقال إلى Go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3" name="Shape 51"/>
          <p:cNvSpPr/>
          <p:nvPr/>
        </p:nvSpPr>
        <p:spPr>
          <a:xfrm>
            <a:off x="0" y="4690872"/>
            <a:ext cx="9144000" cy="1828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4" name="Text 52"/>
          <p:cNvSpPr/>
          <p:nvPr/>
        </p:nvSpPr>
        <p:spPr>
          <a:xfrm>
            <a:off x="365760" y="4709160"/>
            <a:ext cx="64008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Financial Intelligence Platform  |  Jeddah, Saudi Arabia  |  2026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315200" y="4709160"/>
            <a:ext cx="109728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19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8412480" y="4709160"/>
            <a:ext cx="5486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APEX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D4A843">
              <a:alpha val="8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  ·  الجولة الاستثمارية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Pre-Seed: SAR 750K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($200K USD Equivalent)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جولة ما قبل البذرة: 750 ألف ريال سعودي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  ·  توزيع الاستثمار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731520" cy="438912"/>
          </a:xfrm>
          <a:prstGeom prst="rect">
            <a:avLst/>
          </a:prstGeom>
          <a:solidFill>
            <a:srgbClr val="D4A843">
              <a:alpha val="3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14884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21488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Product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25880" y="235000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تطوير المنتج والبنية التحتية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0" y="214884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337K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214884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2 engineers + cloud infrastructure scaling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679192"/>
            <a:ext cx="731520" cy="438912"/>
          </a:xfrm>
          <a:prstGeom prst="rect">
            <a:avLst/>
          </a:prstGeom>
          <a:solidFill>
            <a:srgbClr val="60A5FA">
              <a:alpha val="3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679192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25880" y="26791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Marketing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25880" y="28803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التسويق واستقطاب العملاء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0" y="2679192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187K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2679192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campaigns + first 50 client acquisition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209544"/>
            <a:ext cx="731520" cy="438912"/>
          </a:xfrm>
          <a:prstGeom prst="rect">
            <a:avLst/>
          </a:prstGeom>
          <a:solidFill>
            <a:srgbClr val="14B8A6">
              <a:alpha val="3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209544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25880" y="32095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Legal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25880" y="341071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التراخيص والعمليات التنظيمية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0" y="3209544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112K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63440" y="3209544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 sandbox + CR + legal incorporation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739896"/>
            <a:ext cx="731520" cy="438912"/>
          </a:xfrm>
          <a:prstGeom prst="rect">
            <a:avLst/>
          </a:prstGeom>
          <a:solidFill>
            <a:srgbClr val="22C55E">
              <a:alpha val="3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739896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25880" y="373989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325880" y="394106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احتياطي رأس المال التشغيلي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0" y="3739896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112K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63440" y="3739896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 operational runway buffer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4297680"/>
            <a:ext cx="3703320" cy="1371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3" name="Shape 31"/>
          <p:cNvSpPr/>
          <p:nvPr/>
        </p:nvSpPr>
        <p:spPr>
          <a:xfrm>
            <a:off x="4160520" y="4297680"/>
            <a:ext cx="2057400" cy="13716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34" name="Shape 32"/>
          <p:cNvSpPr/>
          <p:nvPr/>
        </p:nvSpPr>
        <p:spPr>
          <a:xfrm>
            <a:off x="6217920" y="4297680"/>
            <a:ext cx="1234440" cy="1371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5" name="Shape 33"/>
          <p:cNvSpPr/>
          <p:nvPr/>
        </p:nvSpPr>
        <p:spPr>
          <a:xfrm>
            <a:off x="7452360" y="4297680"/>
            <a:ext cx="1234440" cy="1371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4805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 milestones: 150 clients · SAR 1.2M ARR · Path to break-even  |  أهداف 12 شهراً: 150 عميل · 1.2 مليون ريال إيرادات سنوية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8" name="Shape 36"/>
          <p:cNvSpPr/>
          <p:nvPr/>
        </p:nvSpPr>
        <p:spPr>
          <a:xfrm>
            <a:off x="0" y="4690872"/>
            <a:ext cx="9144000" cy="1828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9" name="Text 37"/>
          <p:cNvSpPr/>
          <p:nvPr/>
        </p:nvSpPr>
        <p:spPr>
          <a:xfrm>
            <a:off x="365760" y="4709160"/>
            <a:ext cx="64008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Financial Intelligence Platform  |  Jeddah, Saudi Arabia  |  2026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315200" y="4709160"/>
            <a:ext cx="109728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19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412480" y="4709160"/>
            <a:ext cx="5486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APEX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9144000" cy="4572"/>
          </a:xfrm>
          <a:prstGeom prst="rect">
            <a:avLst/>
          </a:prstGeom>
          <a:solidFill>
            <a:srgbClr val="1A3055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463040"/>
            <a:ext cx="9144000" cy="4572"/>
          </a:xfrm>
          <a:prstGeom prst="rect">
            <a:avLst/>
          </a:prstGeom>
          <a:solidFill>
            <a:srgbClr val="1A3055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2468880"/>
            <a:ext cx="9144000" cy="4572"/>
          </a:xfrm>
          <a:prstGeom prst="rect">
            <a:avLst/>
          </a:prstGeom>
          <a:solidFill>
            <a:srgbClr val="1A3055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3474720"/>
            <a:ext cx="9144000" cy="4572"/>
          </a:xfrm>
          <a:prstGeom prst="rect">
            <a:avLst/>
          </a:prstGeom>
          <a:solidFill>
            <a:srgbClr val="1A3055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4480560"/>
            <a:ext cx="9144000" cy="4572"/>
          </a:xfrm>
          <a:prstGeom prst="rect">
            <a:avLst/>
          </a:prstGeom>
          <a:solidFill>
            <a:srgbClr val="1A3055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b="1" spc="1000" kern="0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APEX</a:t>
            </a:r>
            <a:endParaRPr lang="en-US" sz="6800" dirty="0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Future of Financial Intelligence</a:t>
            </a:r>
            <a:endParaRPr lang="en-US" sz="2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Already Built.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مستقبل الذكاء المالي ليس فكرة — إنه منتج جاهز.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468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8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concept. Not a pitch. A live product.  ·  ليس عرضاً فقط — بل منصة تعمل الآن.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017520"/>
            <a:ext cx="2560320" cy="82296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154680"/>
            <a:ext cx="320040" cy="3200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28016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apex-api-ootk.onrender.com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280160" y="3383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جرّب المنصة الآن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566160" y="3017520"/>
            <a:ext cx="2560320" cy="82296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3154680"/>
            <a:ext cx="320040" cy="3200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11480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Jeddah, Saudi Arabia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114800" y="3383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جدة · المملكة العربية السعودية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6400800" y="3017520"/>
            <a:ext cx="2560320" cy="82296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3154680"/>
            <a:ext cx="320040" cy="3200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94944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· Live &amp; Ready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6949440" y="3383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المنصة تعمل ومتاحة الآن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3657600" y="3977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to Visit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6" name="Shape 21"/>
          <p:cNvSpPr/>
          <p:nvPr/>
        </p:nvSpPr>
        <p:spPr>
          <a:xfrm>
            <a:off x="0" y="4690872"/>
            <a:ext cx="9144000" cy="1828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7" name="Text 22"/>
          <p:cNvSpPr/>
          <p:nvPr/>
        </p:nvSpPr>
        <p:spPr>
          <a:xfrm>
            <a:off x="365760" y="4709160"/>
            <a:ext cx="64008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Financial Intelligence Platform  |  Jeddah, Saudi Arabia  |  2026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7315200" y="4709160"/>
            <a:ext cx="109728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19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8412480" y="4709160"/>
            <a:ext cx="5486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APEX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D4A843">
              <a:alpha val="8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·  ملحق تفصيلي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Deep Dive &amp; Market Data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بيانات السوق والتفاصيل التقنية — للاستفسارات المتعمقة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/ SAM / SOM  ·  حجم السوق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2560320" cy="868680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828800"/>
            <a:ext cx="45720" cy="8686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4.5B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1945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fintech market 2025 (SAMA + Fintech Saudi reports)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94360" y="24231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إجمالي السوق المستهدف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91840" y="1828800"/>
            <a:ext cx="2560320" cy="868680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13" name="Shape 11"/>
          <p:cNvSpPr/>
          <p:nvPr/>
        </p:nvSpPr>
        <p:spPr>
          <a:xfrm>
            <a:off x="3291840" y="1828800"/>
            <a:ext cx="45720" cy="86868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800M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29000" y="21945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financial tools — accounting, analysis, compliance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429000" y="24231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السوق المتاح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126480" y="1828800"/>
            <a:ext cx="2560320" cy="868680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18" name="Shape 16"/>
          <p:cNvSpPr/>
          <p:nvPr/>
        </p:nvSpPr>
        <p:spPr>
          <a:xfrm>
            <a:off x="6126480" y="1828800"/>
            <a:ext cx="45720" cy="8686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8M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63640" y="21945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3-year target — 1% SAM penetration (conservative)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263640" y="24231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السوق القابل للتحقيق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" y="2880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  ·  نظرة معمارية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200400"/>
            <a:ext cx="3977640" cy="384048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2004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828800" y="32004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286+ RESTful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017520" y="320040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auto-docs, Swagger UI, rate-limited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709160" y="3200400"/>
            <a:ext cx="3977640" cy="38404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8" name="Text 26"/>
          <p:cNvSpPr/>
          <p:nvPr/>
        </p:nvSpPr>
        <p:spPr>
          <a:xfrm>
            <a:off x="4800600" y="32004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Modules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080760" y="32004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Knowledge Brain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269480" y="320040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SOCPA, IFRS, ZAKAT, VAT, Labor, Commercial, Tax, Audit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57200" y="3657600"/>
            <a:ext cx="3977640" cy="384048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36576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828800" y="36576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 automated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017520" y="365760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Integration, unit, auth, admin, health, security, CORS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709160" y="3657600"/>
            <a:ext cx="3977640" cy="38404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6" name="Text 34"/>
          <p:cNvSpPr/>
          <p:nvPr/>
        </p:nvSpPr>
        <p:spPr>
          <a:xfrm>
            <a:off x="4800600" y="36576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System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080760" y="36576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+ 11 roles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269480" y="365760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bcrypt, audit logs, social auth stubs, session mgmt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57200" y="4114800"/>
            <a:ext cx="3977640" cy="384048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" y="41148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828800" y="41148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SQLAlchemy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017520" y="411480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Alembic migrations, read replica ready, KB separate DB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4" name="Shape 42"/>
          <p:cNvSpPr/>
          <p:nvPr/>
        </p:nvSpPr>
        <p:spPr>
          <a:xfrm>
            <a:off x="0" y="4690872"/>
            <a:ext cx="9144000" cy="1828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5" name="Text 43"/>
          <p:cNvSpPr/>
          <p:nvPr/>
        </p:nvSpPr>
        <p:spPr>
          <a:xfrm>
            <a:off x="365760" y="4709160"/>
            <a:ext cx="64008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Financial Intelligence Platform  |  Jeddah, Saudi Arabia  |  2026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315200" y="4709160"/>
            <a:ext cx="109728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19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8412480" y="4709160"/>
            <a:ext cx="5486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APEX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APEX Financial Intelligence Platform — Investor Deck V5</dc:title>
  <dc:subject>PptxGenJS Presentation</dc:subject>
  <dc:creator>Shady Apoelela</dc:creator>
  <cp:lastModifiedBy>Shady Apoelela</cp:lastModifiedBy>
  <cp:revision>1</cp:revision>
  <dcterms:created xsi:type="dcterms:W3CDTF">2026-04-16T13:00:18Z</dcterms:created>
  <dcterms:modified xsi:type="dcterms:W3CDTF">2026-04-16T13:00:18Z</dcterms:modified>
</cp:coreProperties>
</file>