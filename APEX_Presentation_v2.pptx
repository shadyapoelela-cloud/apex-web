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APEX is a comprehensive AI-powered financial intelligence platform, built specifically for the Saudi Arabian market. We're SOCPA and IFRS compliant from day one, with full Arabic and English bilingual support. Over 30 API endpoints, 11 AI modules, and 55+ UI screens — all built and ready to deploy.
مرحباً بالجميع. APEX منصة ذكاء مالي شاملة مدعومة بالذكاء الاصطناعي، مبنية خصيصاً للسوق السعودي.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clear: Saudi Arabia's financial sector still relies heavily on manual processes. Excel-based analysis takes weeks, costs thousands of riyals per engagement, and has error rates of 15-25%. There's no AI solution that understands Arabic financial standards, no automated readiness scoring, and SMEs are completely excluded from quality financial analysis due to cost.
المشكلة واضحة: القطاع المالي السعودي لا يزال يعتمد بشكل كبير على العمليات اليدوية.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APEX solves this with a four-layer pipeline: Upload your Chart of Accounts, AI classifies it instantly. Bind your Trial Balance, we detect anomalies automatically. Generate IFRS-compliant financial statements in one click. Get a complete analysis with 30+ ratios and a Readiness Score from 0 to 100.
APEX تحل هذه المشكلة بأنبوب رباعي الطبقات: من رفع شجرة الحسابات إلى التحليل الكامل.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APEX different is the depth of our platform. Our Knowledge Brain has 11 specialized AI modules covering SOCPA, IFRS, ZAKAT, VAT, and Saudi-specific regulations. Smart onboarding auto-detects company type. Our audit workflow has 7 phases with human-in-the-loop triggers. 30+ live APIs, 11 security roles, and 4 subscription tiers.
ما يميز APEX هو عمق المنصة: 11 وحدة ذكاء اصطناعي متخصصة.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clients — whether SMEs, accounting firms, or startups — APEX delivers a complete financial health report in minutes, not weeks. Upload in Arabic or English, the AI understands both. Get a Funding Readiness Score from 0-100 with actionable improvement steps. Everything is SOCPA and IFRS compliant, audit-ready.
لعملائنا: تقرير صحة مالية كامل في دقائق مع درجة جاهزية تمويلية.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opportunity is massive. Saudi Arabia's SME sector is valued at SAR 780 billion, with fintech growing at 23% CAGR. Our target is 500+ paying clients in Year 1. Revenue comes from three streams: SaaS subscriptions at 60%, API access at 25%, and marketplace commissions at 15%. Our pricing ranges from SAR 199 to SAR 4,999 per month.
الفرصة السوقية ضخمة: 780 مليار ريال مع نمو 23% سنوياً.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competitive landscape, APEX is the only platform that combines AI financial analysis with full Arabic and SOCPA compliance. Excel has no AI, no compliance. Wafeq and Qoyod offer basic Arabic support but no AI analysis, no readiness scoring, no audit workflow. Xero doesn't support Arabic at all. No competitor comes close to our feature set.
APEX هي المنصة الوحيدة التي تجمع بين الذكاء الاصطناعي والتوافق الكامل مع المعايير السعودية.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four pricing tiers designed for every business size. Starter at SAR 199 for solo practitioners. Growth at SAR 799 for expanding firms. Professional at SAR 1,999 — our most popular tier — for established businesses with full AI and audit capabilities. Enterprise at SAR 4,999 with unlimited access, custom modules, and white-label options.
أربع خطط تسعير تناسب كل حجم أعمال.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live demo flow. It's a 6-step process: Client onboarding through our 7-stage wizard, upload your Chart of Accounts, AI classifies 200+ accounts instantly, bind your Trial Balance, auto-generate financial statements, and finally view your analysis dashboard with 30+ ratios and your Readiness Score.
دعوني أعرض عليكم مسار العرض التجريبي المباشر.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preview of the APEX dashboard. You can see the clean, modern interface with real-time KPI cards at the top, revenue and expense charts, the readiness score gauge, and a complete financial statements table — all in one view. The dark theme is designed for long working sessions, and everything is available in both Arabic and English.
هذه معاينة للوحة التحكم مع مؤشرات فورية وقوائم مالية ودرجة الجاهزية.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a real-world comparison. Before APEX: financial reports took 3-4 weeks, cost SAR 5,000+, had 15-25% error rates, no readiness assessment, and manual audit trails. After APEX: reports in 3 minutes, SAR 199 per month, less than 2% error rate, automated 0-100 readiness scoring, and full AI-logged audit trails. That's 96% faster, 95% cheaper, and 90% fewer errors.
مقارنة حقيقية: قبل وبعد APEX.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testimonials from our early pilot users. A startup CFO in Riyadh reports transforming quarterly reporting from 3 weeks to 10 minutes. An accounting firm managing partner in Jeddah highlights the bilingual capabilities. A founder in Dammam credits the Readiness Score with helping close their seed round 2 months early. These are anonymized but represent real feedback.
آراء من المستخدمين الأوائل في البرنامج التجريبي.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unit economics are strong. Customer Acquisition Cost is SAR 850, with a Lifetime Value of SAR 14,400 — that's a 16.9x LTV to CAC ratio, well above the 3x benchmark. Monthly churn target under 5%, CAC payback in just 1.4 months, and 82% gross margin typical of SaaS businesses. The revenue breakdown shows 60% SaaS, 25% API, and 15% Marketplace.
اقتصاديات الوحدة قوية: نسبة LTV:CAC تبلغ 16.9 ضعف.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 stack is built for scale and security. FastAPI backend with 30+ REST APIs, Flutter for web and mobile with 55+ screens, PostgreSQL with read replica readiness. Our AI engine includes 11 Knowledge Brain modules powered by Claude AI. Authentication uses JWT with 11 roles and full audit logging. CI/CD through GitHub Actions with Docker and deployment on Render.
المنظومة التقنية مبنية للتوسع والأمان.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APEX single-handedly — every line of code, every API endpoint, every UI screen. That demonstrates deep technical capability and commitment. We're now hiring three key roles: a CTO with 10+ years of backend and AI experience, a CFO with CPA/CFA and SOCPA knowledge, and a Growth Lead with B2B SaaS expertise and Saudi market connections. These hires are critical for our next phase.
بنيت APEX بمفردي ونبحث الآن عن كفاءات استثنائية.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has four phases. Phase 1 — Stabilize — we're here now, focusing on testing, optimization, and security. Phase 2 — Scale — over the next 3-9 months, adding CI/CD, caching, and API versioning. Phase 3 — Dominate — microservices architecture and SOC 2 compliance. Phase 4 — Expand — entering Gulf markets with a multi-standard engine and white-label capabilities.
أربع مراحل من السعودية إلى الخليج والعالم.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raising a SAR 3.75 million seed round — approximately $1 million USD. Allocation: 40% for engineering and product — hiring the CTO and 3 engineers plus infrastructure. 30% for sales and marketing — go-to-market team, digital campaigns, and events. 15% for operations — SAMA sandbox application, SOC 2 certification, legal framework. 15% as reserve. Our 18-month target: 500 clients, SAR 5.4M ARR, break-even.
جولة تأسيسية: 3.75 مليون ريال لتوظيف الفريق والتوسع.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of financial intelligence is already built. APEX is live, functional, and ready for its first paying clients. We're looking for investors who share our vision of democratizing financial intelligence across the Arab world. Thank you for your time — I'm happy to answer any questions. You can visit our platform or scan the QR code.
مستقبل الذكاء المالي مبنيٌّ بالفعل. شكراً لوقتكم.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slide contains detailed market sizing and technical architecture information for deep-dive questions. TAM of SAR 780B represents the total Saudi SME sector aligned with Vision 2030. SAM of SAR 12B is the slice needing financial intelligence tools. SOM of SAR 120M is our realistic 3-year target at 1% SAM penetration. Architecture details cover our full API suite, 11 AI modules, 204 automated tests, and database infrastructure.
ملحق تفصيلي للأسئلة المعمقة حول السوق والتقنية.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Shape 1"/>
          <p:cNvSpPr/>
          <p:nvPr/>
        </p:nvSpPr>
        <p:spPr>
          <a:xfrm>
            <a:off x="365760" y="365760"/>
            <a:ext cx="45720" cy="2286000"/>
          </a:xfrm>
          <a:prstGeom prst="rect">
            <a:avLst/>
          </a:prstGeom>
          <a:solidFill>
            <a:srgbClr val="C9A84C"/>
          </a:solidFill>
          <a:ln/>
        </p:spPr>
      </p:sp>
      <p:sp>
        <p:nvSpPr>
          <p:cNvPr id="4" name="Shape 2"/>
          <p:cNvSpPr/>
          <p:nvPr/>
        </p:nvSpPr>
        <p:spPr>
          <a:xfrm>
            <a:off x="365760" y="365760"/>
            <a:ext cx="1828800" cy="45720"/>
          </a:xfrm>
          <a:prstGeom prst="rect">
            <a:avLst/>
          </a:prstGeom>
          <a:solidFill>
            <a:srgbClr val="C9A84C"/>
          </a:solidFill>
          <a:ln/>
        </p:spPr>
      </p:sp>
      <p:sp>
        <p:nvSpPr>
          <p:cNvPr id="5" name="Shape 3"/>
          <p:cNvSpPr/>
          <p:nvPr/>
        </p:nvSpPr>
        <p:spPr>
          <a:xfrm>
            <a:off x="5943600" y="-457200"/>
            <a:ext cx="4572000" cy="4572000"/>
          </a:xfrm>
          <a:prstGeom prst="ellipse">
            <a:avLst/>
          </a:prstGeom>
          <a:solidFill>
            <a:srgbClr val="1C3254">
              <a:alpha val="40000"/>
            </a:srgbClr>
          </a:solidFill>
          <a:ln/>
        </p:spPr>
      </p:sp>
      <p:sp>
        <p:nvSpPr>
          <p:cNvPr id="6" name="Shape 4"/>
          <p:cNvSpPr/>
          <p:nvPr/>
        </p:nvSpPr>
        <p:spPr>
          <a:xfrm>
            <a:off x="6858000" y="1828800"/>
            <a:ext cx="3657600" cy="3657600"/>
          </a:xfrm>
          <a:prstGeom prst="ellipse">
            <a:avLst/>
          </a:prstGeom>
          <a:solidFill>
            <a:srgbClr val="162940">
              <a:alpha val="50000"/>
            </a:srgbClr>
          </a:solidFill>
          <a:ln/>
        </p:spPr>
      </p:sp>
      <p:sp>
        <p:nvSpPr>
          <p:cNvPr id="7" name="Text 5"/>
          <p:cNvSpPr/>
          <p:nvPr/>
        </p:nvSpPr>
        <p:spPr>
          <a:xfrm>
            <a:off x="640080" y="548640"/>
            <a:ext cx="7315200" cy="1097280"/>
          </a:xfrm>
          <a:prstGeom prst="rect">
            <a:avLst/>
          </a:prstGeom>
          <a:noFill/>
          <a:ln/>
        </p:spPr>
        <p:txBody>
          <a:bodyPr wrap="square" lIns="0" tIns="0" rIns="0" bIns="0" rtlCol="0" anchor="ctr"/>
          <a:lstStyle/>
          <a:p>
            <a:pPr indent="0" marL="0">
              <a:buNone/>
            </a:pPr>
            <a:r>
              <a:rPr lang="en-US" sz="7200" b="1" dirty="0">
                <a:solidFill>
                  <a:srgbClr val="FFFFFF"/>
                </a:solidFill>
                <a:latin typeface="Arial Black" pitchFamily="34" charset="0"/>
                <a:ea typeface="Arial Black" pitchFamily="34" charset="-122"/>
                <a:cs typeface="Arial Black" pitchFamily="34" charset="-120"/>
              </a:rPr>
              <a:t>APEX</a:t>
            </a:r>
            <a:endParaRPr lang="en-US" sz="7200" dirty="0"/>
          </a:p>
        </p:txBody>
      </p:sp>
      <p:sp>
        <p:nvSpPr>
          <p:cNvPr id="8" name="Text 6"/>
          <p:cNvSpPr/>
          <p:nvPr/>
        </p:nvSpPr>
        <p:spPr>
          <a:xfrm>
            <a:off x="640080" y="1645920"/>
            <a:ext cx="7315200" cy="548640"/>
          </a:xfrm>
          <a:prstGeom prst="rect">
            <a:avLst/>
          </a:prstGeom>
          <a:noFill/>
          <a:ln/>
        </p:spPr>
        <p:txBody>
          <a:bodyPr wrap="square" lIns="0" tIns="0" rIns="0" bIns="0" rtlCol="0" anchor="ctr"/>
          <a:lstStyle/>
          <a:p>
            <a:pPr indent="0" marL="0">
              <a:buNone/>
            </a:pPr>
            <a:r>
              <a:rPr lang="en-US" sz="2600" spc="300" kern="0" dirty="0">
                <a:solidFill>
                  <a:srgbClr val="CBD5E1"/>
                </a:solidFill>
                <a:latin typeface="Calibri" pitchFamily="34" charset="0"/>
                <a:ea typeface="Calibri" pitchFamily="34" charset="-122"/>
                <a:cs typeface="Calibri" pitchFamily="34" charset="-120"/>
              </a:rPr>
              <a:t>Financial Intelligence Platform</a:t>
            </a:r>
            <a:endParaRPr lang="en-US" sz="2600" dirty="0"/>
          </a:p>
        </p:txBody>
      </p:sp>
      <p:sp>
        <p:nvSpPr>
          <p:cNvPr id="9" name="Text 7"/>
          <p:cNvSpPr/>
          <p:nvPr/>
        </p:nvSpPr>
        <p:spPr>
          <a:xfrm>
            <a:off x="640080" y="2240280"/>
            <a:ext cx="7315200" cy="457200"/>
          </a:xfrm>
          <a:prstGeom prst="rect">
            <a:avLst/>
          </a:prstGeom>
          <a:noFill/>
          <a:ln/>
        </p:spPr>
        <p:txBody>
          <a:bodyPr wrap="square" lIns="0" tIns="0" rIns="0" bIns="0" rtlCol="0" anchor="ctr"/>
          <a:lstStyle/>
          <a:p>
            <a:pPr indent="0" marL="0">
              <a:buNone/>
            </a:pPr>
            <a:r>
              <a:rPr lang="en-US" sz="2200" dirty="0">
                <a:solidFill>
                  <a:srgbClr val="C9A84C"/>
                </a:solidFill>
                <a:latin typeface="Calibri" pitchFamily="34" charset="0"/>
                <a:ea typeface="Calibri" pitchFamily="34" charset="-122"/>
                <a:cs typeface="Calibri" pitchFamily="34" charset="-120"/>
              </a:rPr>
              <a:t>منصة الذكاء المالي المتكامل</a:t>
            </a:r>
            <a:endParaRPr lang="en-US" sz="2200" dirty="0"/>
          </a:p>
        </p:txBody>
      </p:sp>
      <p:sp>
        <p:nvSpPr>
          <p:cNvPr id="10" name="Shape 8"/>
          <p:cNvSpPr/>
          <p:nvPr/>
        </p:nvSpPr>
        <p:spPr>
          <a:xfrm>
            <a:off x="640080" y="2834640"/>
            <a:ext cx="4114800" cy="27432"/>
          </a:xfrm>
          <a:prstGeom prst="rect">
            <a:avLst/>
          </a:prstGeom>
          <a:solidFill>
            <a:srgbClr val="C9A84C"/>
          </a:solidFill>
          <a:ln/>
        </p:spPr>
      </p:sp>
      <p:sp>
        <p:nvSpPr>
          <p:cNvPr id="11" name="Text 9"/>
          <p:cNvSpPr/>
          <p:nvPr/>
        </p:nvSpPr>
        <p:spPr>
          <a:xfrm>
            <a:off x="640080" y="3017520"/>
            <a:ext cx="6400800" cy="5486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AI-Powered  ·  Saudi Arabia  ·  SOCPA &amp; IFRS Compliant</a:t>
            </a: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مدعومة بالذكاء الاصطناعي · متوافقة مع المعايير السعودية والدولية</a:t>
            </a:r>
            <a:endParaRPr lang="en-US" sz="1200" dirty="0"/>
          </a:p>
        </p:txBody>
      </p:sp>
      <p:sp>
        <p:nvSpPr>
          <p:cNvPr id="12" name="Shape 10"/>
          <p:cNvSpPr/>
          <p:nvPr/>
        </p:nvSpPr>
        <p:spPr>
          <a:xfrm>
            <a:off x="0" y="3840480"/>
            <a:ext cx="9144000" cy="731520"/>
          </a:xfrm>
          <a:prstGeom prst="rect">
            <a:avLst/>
          </a:prstGeom>
          <a:solidFill>
            <a:srgbClr val="162940"/>
          </a:solidFill>
          <a:ln/>
        </p:spPr>
      </p:sp>
      <p:sp>
        <p:nvSpPr>
          <p:cNvPr id="13" name="Text 11"/>
          <p:cNvSpPr/>
          <p:nvPr/>
        </p:nvSpPr>
        <p:spPr>
          <a:xfrm>
            <a:off x="45720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30+</a:t>
            </a:r>
            <a:endParaRPr lang="en-US" sz="2400" dirty="0"/>
          </a:p>
        </p:txBody>
      </p:sp>
      <p:sp>
        <p:nvSpPr>
          <p:cNvPr id="14" name="Text 12"/>
          <p:cNvSpPr/>
          <p:nvPr/>
        </p:nvSpPr>
        <p:spPr>
          <a:xfrm>
            <a:off x="137160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API Endpoints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نقطة API</a:t>
            </a:r>
            <a:endParaRPr lang="en-US" sz="900" dirty="0"/>
          </a:p>
        </p:txBody>
      </p:sp>
      <p:sp>
        <p:nvSpPr>
          <p:cNvPr id="15" name="Shape 13"/>
          <p:cNvSpPr/>
          <p:nvPr/>
        </p:nvSpPr>
        <p:spPr>
          <a:xfrm>
            <a:off x="2514600" y="3977640"/>
            <a:ext cx="18288" cy="457200"/>
          </a:xfrm>
          <a:prstGeom prst="rect">
            <a:avLst/>
          </a:prstGeom>
          <a:solidFill>
            <a:srgbClr val="1C3254"/>
          </a:solidFill>
          <a:ln/>
        </p:spPr>
      </p:sp>
      <p:sp>
        <p:nvSpPr>
          <p:cNvPr id="16" name="Text 14"/>
          <p:cNvSpPr/>
          <p:nvPr/>
        </p:nvSpPr>
        <p:spPr>
          <a:xfrm>
            <a:off x="265176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11</a:t>
            </a:r>
            <a:endParaRPr lang="en-US" sz="2400" dirty="0"/>
          </a:p>
        </p:txBody>
      </p:sp>
      <p:sp>
        <p:nvSpPr>
          <p:cNvPr id="17" name="Text 15"/>
          <p:cNvSpPr/>
          <p:nvPr/>
        </p:nvSpPr>
        <p:spPr>
          <a:xfrm>
            <a:off x="356616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AI Modules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وحدة ذكاء</a:t>
            </a:r>
            <a:endParaRPr lang="en-US" sz="900" dirty="0"/>
          </a:p>
        </p:txBody>
      </p:sp>
      <p:sp>
        <p:nvSpPr>
          <p:cNvPr id="18" name="Shape 16"/>
          <p:cNvSpPr/>
          <p:nvPr/>
        </p:nvSpPr>
        <p:spPr>
          <a:xfrm>
            <a:off x="4709160" y="3977640"/>
            <a:ext cx="18288" cy="457200"/>
          </a:xfrm>
          <a:prstGeom prst="rect">
            <a:avLst/>
          </a:prstGeom>
          <a:solidFill>
            <a:srgbClr val="1C3254"/>
          </a:solidFill>
          <a:ln/>
        </p:spPr>
      </p:sp>
      <p:sp>
        <p:nvSpPr>
          <p:cNvPr id="19" name="Text 17"/>
          <p:cNvSpPr/>
          <p:nvPr/>
        </p:nvSpPr>
        <p:spPr>
          <a:xfrm>
            <a:off x="484632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55+</a:t>
            </a:r>
            <a:endParaRPr lang="en-US" sz="2400" dirty="0"/>
          </a:p>
        </p:txBody>
      </p:sp>
      <p:sp>
        <p:nvSpPr>
          <p:cNvPr id="20" name="Text 18"/>
          <p:cNvSpPr/>
          <p:nvPr/>
        </p:nvSpPr>
        <p:spPr>
          <a:xfrm>
            <a:off x="576072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UI Screens</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شاشة</a:t>
            </a:r>
            <a:endParaRPr lang="en-US" sz="900" dirty="0"/>
          </a:p>
        </p:txBody>
      </p:sp>
      <p:sp>
        <p:nvSpPr>
          <p:cNvPr id="21" name="Shape 19"/>
          <p:cNvSpPr/>
          <p:nvPr/>
        </p:nvSpPr>
        <p:spPr>
          <a:xfrm>
            <a:off x="6903720" y="3977640"/>
            <a:ext cx="18288" cy="457200"/>
          </a:xfrm>
          <a:prstGeom prst="rect">
            <a:avLst/>
          </a:prstGeom>
          <a:solidFill>
            <a:srgbClr val="1C3254"/>
          </a:solidFill>
          <a:ln/>
        </p:spPr>
      </p:sp>
      <p:sp>
        <p:nvSpPr>
          <p:cNvPr id="22" name="Text 20"/>
          <p:cNvSpPr/>
          <p:nvPr/>
        </p:nvSpPr>
        <p:spPr>
          <a:xfrm>
            <a:off x="7040880" y="3886200"/>
            <a:ext cx="914400" cy="411480"/>
          </a:xfrm>
          <a:prstGeom prst="rect">
            <a:avLst/>
          </a:prstGeom>
          <a:noFill/>
          <a:ln/>
        </p:spPr>
        <p:txBody>
          <a:bodyPr wrap="square" lIns="0" tIns="0" rIns="0" bIns="0" rtlCol="0" anchor="ctr"/>
          <a:lstStyle/>
          <a:p>
            <a:pPr indent="0" marL="0">
              <a:buNone/>
            </a:pPr>
            <a:r>
              <a:rPr lang="en-US" sz="2400" dirty="0">
                <a:solidFill>
                  <a:srgbClr val="C9A84C"/>
                </a:solidFill>
                <a:latin typeface="Arial Black" pitchFamily="34" charset="0"/>
                <a:ea typeface="Arial Black" pitchFamily="34" charset="-122"/>
                <a:cs typeface="Arial Black" pitchFamily="34" charset="-120"/>
              </a:rPr>
              <a:t>93%</a:t>
            </a:r>
            <a:endParaRPr lang="en-US" sz="2400" dirty="0"/>
          </a:p>
        </p:txBody>
      </p:sp>
      <p:sp>
        <p:nvSpPr>
          <p:cNvPr id="23" name="Text 21"/>
          <p:cNvSpPr/>
          <p:nvPr/>
        </p:nvSpPr>
        <p:spPr>
          <a:xfrm>
            <a:off x="7955280" y="3886200"/>
            <a:ext cx="1097280" cy="4572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Automation</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أتمتة</a:t>
            </a:r>
            <a:endParaRPr lang="en-US" sz="900" dirty="0"/>
          </a:p>
        </p:txBody>
      </p:sp>
      <p:sp>
        <p:nvSpPr>
          <p:cNvPr id="24" name="Shape 22"/>
          <p:cNvSpPr/>
          <p:nvPr/>
        </p:nvSpPr>
        <p:spPr>
          <a:xfrm>
            <a:off x="0" y="4709160"/>
            <a:ext cx="9144000" cy="434340"/>
          </a:xfrm>
          <a:prstGeom prst="rect">
            <a:avLst/>
          </a:prstGeom>
          <a:solidFill>
            <a:srgbClr val="0A1220"/>
          </a:solidFill>
          <a:ln/>
        </p:spPr>
      </p:sp>
      <p:sp>
        <p:nvSpPr>
          <p:cNvPr id="25" name="Text 2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6" name="Text 2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 / 19</a:t>
            </a:r>
            <a:endParaRPr lang="en-US" sz="750" dirty="0"/>
          </a:p>
        </p:txBody>
      </p:sp>
      <p:sp>
        <p:nvSpPr>
          <p:cNvPr id="27" name="Text 2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6167"/>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PROBLEM  ·  المشكلة</a:t>
            </a:r>
            <a:endParaRPr lang="en-US" sz="1100" dirty="0"/>
          </a:p>
        </p:txBody>
      </p:sp>
      <p:sp>
        <p:nvSpPr>
          <p:cNvPr id="4" name="Text 2"/>
          <p:cNvSpPr/>
          <p:nvPr/>
        </p:nvSpPr>
        <p:spPr>
          <a:xfrm>
            <a:off x="457200" y="502920"/>
            <a:ext cx="8229600" cy="10058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Saudi Arabia's Financial Sector</a:t>
            </a:r>
            <a:endParaRPr lang="en-US" sz="2800" dirty="0"/>
          </a:p>
          <a:p>
            <a:pPr indent="0" marL="0">
              <a:buNone/>
            </a:pPr>
            <a:r>
              <a:rPr lang="en-US" sz="2800" b="1" dirty="0">
                <a:solidFill>
                  <a:srgbClr val="F96167"/>
                </a:solidFill>
                <a:latin typeface="Calibri" pitchFamily="34" charset="0"/>
                <a:ea typeface="Calibri" pitchFamily="34" charset="-122"/>
                <a:cs typeface="Calibri" pitchFamily="34" charset="-120"/>
              </a:rPr>
              <a:t>Deserves Smarter Tools</a:t>
            </a:r>
            <a:endParaRPr lang="en-US" sz="2800" dirty="0"/>
          </a:p>
          <a:p>
            <a:pPr indent="0" marL="0">
              <a:buNone/>
            </a:pPr>
            <a:r>
              <a:rPr lang="en-US" sz="1300" dirty="0">
                <a:solidFill>
                  <a:srgbClr val="94A3B8"/>
                </a:solidFill>
                <a:latin typeface="Calibri" pitchFamily="34" charset="0"/>
                <a:ea typeface="Calibri" pitchFamily="34" charset="-122"/>
                <a:cs typeface="Calibri" pitchFamily="34" charset="-120"/>
              </a:rPr>
              <a:t>يستحق القطاع المالي السعودي أدوات أكثر ذكاءً</a:t>
            </a:r>
            <a:endParaRPr lang="en-US" sz="2800" dirty="0"/>
          </a:p>
        </p:txBody>
      </p:sp>
      <p:sp>
        <p:nvSpPr>
          <p:cNvPr id="5" name="Shape 3"/>
          <p:cNvSpPr/>
          <p:nvPr/>
        </p:nvSpPr>
        <p:spPr>
          <a:xfrm>
            <a:off x="457200" y="16916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691640"/>
            <a:ext cx="3977640" cy="45720"/>
          </a:xfrm>
          <a:prstGeom prst="rect">
            <a:avLst/>
          </a:prstGeom>
          <a:solidFill>
            <a:srgbClr val="F96167"/>
          </a:solidFill>
          <a:ln/>
        </p:spPr>
      </p:sp>
      <p:sp>
        <p:nvSpPr>
          <p:cNvPr id="7" name="Shape 5"/>
          <p:cNvSpPr/>
          <p:nvPr/>
        </p:nvSpPr>
        <p:spPr>
          <a:xfrm>
            <a:off x="594360" y="1874520"/>
            <a:ext cx="411480" cy="411480"/>
          </a:xfrm>
          <a:prstGeom prst="ellipse">
            <a:avLst/>
          </a:prstGeom>
          <a:solidFill>
            <a:srgbClr val="F96167"/>
          </a:solidFill>
          <a:ln/>
        </p:spPr>
      </p:sp>
      <p:sp>
        <p:nvSpPr>
          <p:cNvPr id="8" name="Text 6"/>
          <p:cNvSpPr/>
          <p:nvPr/>
        </p:nvSpPr>
        <p:spPr>
          <a:xfrm>
            <a:off x="594360" y="18745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a:t>
            </a:r>
            <a:endParaRPr lang="en-US" sz="1800" dirty="0"/>
          </a:p>
        </p:txBody>
      </p:sp>
      <p:sp>
        <p:nvSpPr>
          <p:cNvPr id="9" name="Text 7"/>
          <p:cNvSpPr/>
          <p:nvPr/>
        </p:nvSpPr>
        <p:spPr>
          <a:xfrm>
            <a:off x="1143000" y="18288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Manual &amp; Error-Prone</a:t>
            </a:r>
            <a:endParaRPr lang="en-US" sz="1300" dirty="0"/>
          </a:p>
        </p:txBody>
      </p:sp>
      <p:sp>
        <p:nvSpPr>
          <p:cNvPr id="10" name="Text 8"/>
          <p:cNvSpPr/>
          <p:nvPr/>
        </p:nvSpPr>
        <p:spPr>
          <a:xfrm>
            <a:off x="1143000" y="2057400"/>
            <a:ext cx="3108960" cy="182880"/>
          </a:xfrm>
          <a:prstGeom prst="rect">
            <a:avLst/>
          </a:prstGeom>
          <a:noFill/>
          <a:ln/>
        </p:spPr>
        <p:txBody>
          <a:bodyPr wrap="square" lIns="0" tIns="0" rIns="0" bIns="0" rtlCol="0" anchor="ctr"/>
          <a:lstStyle/>
          <a:p>
            <a:pPr indent="0" marL="0">
              <a:buNone/>
            </a:pPr>
            <a:r>
              <a:rPr lang="en-US" sz="1000" dirty="0">
                <a:solidFill>
                  <a:srgbClr val="F96167"/>
                </a:solidFill>
                <a:latin typeface="Calibri" pitchFamily="34" charset="0"/>
                <a:ea typeface="Calibri" pitchFamily="34" charset="-122"/>
                <a:cs typeface="Calibri" pitchFamily="34" charset="-120"/>
              </a:rPr>
              <a:t>يدوي وعرضة للأخطاء</a:t>
            </a:r>
            <a:endParaRPr lang="en-US" sz="1000" dirty="0"/>
          </a:p>
        </p:txBody>
      </p:sp>
      <p:sp>
        <p:nvSpPr>
          <p:cNvPr id="11" name="Text 9"/>
          <p:cNvSpPr/>
          <p:nvPr/>
        </p:nvSpPr>
        <p:spPr>
          <a:xfrm>
            <a:off x="640080" y="23317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Excel-based analysis. Hours of manual work with zero audit trail.</a:t>
            </a:r>
            <a:endParaRPr lang="en-US" sz="1000" dirty="0"/>
          </a:p>
        </p:txBody>
      </p:sp>
      <p:sp>
        <p:nvSpPr>
          <p:cNvPr id="12" name="Shape 10"/>
          <p:cNvSpPr/>
          <p:nvPr/>
        </p:nvSpPr>
        <p:spPr>
          <a:xfrm>
            <a:off x="4754880" y="16916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4754880" y="1691640"/>
            <a:ext cx="3977640" cy="45720"/>
          </a:xfrm>
          <a:prstGeom prst="rect">
            <a:avLst/>
          </a:prstGeom>
          <a:solidFill>
            <a:srgbClr val="C9A84C"/>
          </a:solidFill>
          <a:ln/>
        </p:spPr>
      </p:sp>
      <p:sp>
        <p:nvSpPr>
          <p:cNvPr id="14" name="Shape 12"/>
          <p:cNvSpPr/>
          <p:nvPr/>
        </p:nvSpPr>
        <p:spPr>
          <a:xfrm>
            <a:off x="4892040" y="1874520"/>
            <a:ext cx="411480" cy="411480"/>
          </a:xfrm>
          <a:prstGeom prst="ellipse">
            <a:avLst/>
          </a:prstGeom>
          <a:solidFill>
            <a:srgbClr val="C9A84C"/>
          </a:solidFill>
          <a:ln/>
        </p:spPr>
      </p:sp>
      <p:sp>
        <p:nvSpPr>
          <p:cNvPr id="15" name="Text 13"/>
          <p:cNvSpPr/>
          <p:nvPr/>
        </p:nvSpPr>
        <p:spPr>
          <a:xfrm>
            <a:off x="4892040" y="18745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X</a:t>
            </a:r>
            <a:endParaRPr lang="en-US" sz="1800" dirty="0"/>
          </a:p>
        </p:txBody>
      </p:sp>
      <p:sp>
        <p:nvSpPr>
          <p:cNvPr id="16" name="Text 14"/>
          <p:cNvSpPr/>
          <p:nvPr/>
        </p:nvSpPr>
        <p:spPr>
          <a:xfrm>
            <a:off x="5440680" y="18288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AI for Arabic Finance</a:t>
            </a:r>
            <a:endParaRPr lang="en-US" sz="1300" dirty="0"/>
          </a:p>
        </p:txBody>
      </p:sp>
      <p:sp>
        <p:nvSpPr>
          <p:cNvPr id="17" name="Text 15"/>
          <p:cNvSpPr/>
          <p:nvPr/>
        </p:nvSpPr>
        <p:spPr>
          <a:xfrm>
            <a:off x="5440680" y="2057400"/>
            <a:ext cx="31089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لا ذكاء اصطناعي للمحاسبة العربية</a:t>
            </a:r>
            <a:endParaRPr lang="en-US" sz="1000" dirty="0"/>
          </a:p>
        </p:txBody>
      </p:sp>
      <p:sp>
        <p:nvSpPr>
          <p:cNvPr id="18" name="Text 16"/>
          <p:cNvSpPr/>
          <p:nvPr/>
        </p:nvSpPr>
        <p:spPr>
          <a:xfrm>
            <a:off x="4937760" y="23317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Existing tools ignore SOCPA, ZAKAT, and Saudi-specific standards.</a:t>
            </a:r>
            <a:endParaRPr lang="en-US" sz="1000" dirty="0"/>
          </a:p>
        </p:txBody>
      </p:sp>
      <p:sp>
        <p:nvSpPr>
          <p:cNvPr id="19" name="Shape 17"/>
          <p:cNvSpPr/>
          <p:nvPr/>
        </p:nvSpPr>
        <p:spPr>
          <a:xfrm>
            <a:off x="457200" y="30632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57200" y="3063240"/>
            <a:ext cx="3977640" cy="45720"/>
          </a:xfrm>
          <a:prstGeom prst="rect">
            <a:avLst/>
          </a:prstGeom>
          <a:solidFill>
            <a:srgbClr val="0891B2"/>
          </a:solidFill>
          <a:ln/>
        </p:spPr>
      </p:sp>
      <p:sp>
        <p:nvSpPr>
          <p:cNvPr id="21" name="Shape 19"/>
          <p:cNvSpPr/>
          <p:nvPr/>
        </p:nvSpPr>
        <p:spPr>
          <a:xfrm>
            <a:off x="594360" y="3246120"/>
            <a:ext cx="411480" cy="411480"/>
          </a:xfrm>
          <a:prstGeom prst="ellipse">
            <a:avLst/>
          </a:prstGeom>
          <a:solidFill>
            <a:srgbClr val="0891B2"/>
          </a:solidFill>
          <a:ln/>
        </p:spPr>
      </p:sp>
      <p:sp>
        <p:nvSpPr>
          <p:cNvPr id="22" name="Text 20"/>
          <p:cNvSpPr/>
          <p:nvPr/>
        </p:nvSpPr>
        <p:spPr>
          <a:xfrm>
            <a:off x="594360" y="32461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a:t>
            </a:r>
            <a:endParaRPr lang="en-US" sz="1800" dirty="0"/>
          </a:p>
        </p:txBody>
      </p:sp>
      <p:sp>
        <p:nvSpPr>
          <p:cNvPr id="23" name="Text 21"/>
          <p:cNvSpPr/>
          <p:nvPr/>
        </p:nvSpPr>
        <p:spPr>
          <a:xfrm>
            <a:off x="1143000" y="32004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Zero Readiness Scoring</a:t>
            </a:r>
            <a:endParaRPr lang="en-US" sz="1300" dirty="0"/>
          </a:p>
        </p:txBody>
      </p:sp>
      <p:sp>
        <p:nvSpPr>
          <p:cNvPr id="24" name="Text 22"/>
          <p:cNvSpPr/>
          <p:nvPr/>
        </p:nvSpPr>
        <p:spPr>
          <a:xfrm>
            <a:off x="1143000" y="3429000"/>
            <a:ext cx="3108960" cy="182880"/>
          </a:xfrm>
          <a:prstGeom prst="rect">
            <a:avLst/>
          </a:prstGeom>
          <a:noFill/>
          <a:ln/>
        </p:spPr>
        <p:txBody>
          <a:bodyPr wrap="square" lIns="0" tIns="0" rIns="0" bIns="0" rtlCol="0" anchor="ctr"/>
          <a:lstStyle/>
          <a:p>
            <a:pPr indent="0" marL="0">
              <a:buNone/>
            </a:pPr>
            <a:r>
              <a:rPr lang="en-US" sz="1000" dirty="0">
                <a:solidFill>
                  <a:srgbClr val="0891B2"/>
                </a:solidFill>
                <a:latin typeface="Calibri" pitchFamily="34" charset="0"/>
                <a:ea typeface="Calibri" pitchFamily="34" charset="-122"/>
                <a:cs typeface="Calibri" pitchFamily="34" charset="-120"/>
              </a:rPr>
              <a:t>غياب تقييم الجاهزية</a:t>
            </a:r>
            <a:endParaRPr lang="en-US" sz="1000" dirty="0"/>
          </a:p>
        </p:txBody>
      </p:sp>
      <p:sp>
        <p:nvSpPr>
          <p:cNvPr id="25" name="Text 23"/>
          <p:cNvSpPr/>
          <p:nvPr/>
        </p:nvSpPr>
        <p:spPr>
          <a:xfrm>
            <a:off x="640080" y="37033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No objective, automated measure of financial health or funding readiness.</a:t>
            </a:r>
            <a:endParaRPr lang="en-US" sz="1000" dirty="0"/>
          </a:p>
        </p:txBody>
      </p:sp>
      <p:sp>
        <p:nvSpPr>
          <p:cNvPr id="26" name="Shape 24"/>
          <p:cNvSpPr/>
          <p:nvPr/>
        </p:nvSpPr>
        <p:spPr>
          <a:xfrm>
            <a:off x="4754880" y="3063240"/>
            <a:ext cx="3977640" cy="11887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4754880" y="3063240"/>
            <a:ext cx="3977640" cy="45720"/>
          </a:xfrm>
          <a:prstGeom prst="rect">
            <a:avLst/>
          </a:prstGeom>
          <a:solidFill>
            <a:srgbClr val="F87171"/>
          </a:solidFill>
          <a:ln/>
        </p:spPr>
      </p:sp>
      <p:sp>
        <p:nvSpPr>
          <p:cNvPr id="28" name="Shape 26"/>
          <p:cNvSpPr/>
          <p:nvPr/>
        </p:nvSpPr>
        <p:spPr>
          <a:xfrm>
            <a:off x="4892040" y="3246120"/>
            <a:ext cx="411480" cy="411480"/>
          </a:xfrm>
          <a:prstGeom prst="ellipse">
            <a:avLst/>
          </a:prstGeom>
          <a:solidFill>
            <a:srgbClr val="F87171"/>
          </a:solidFill>
          <a:ln/>
        </p:spPr>
      </p:sp>
      <p:sp>
        <p:nvSpPr>
          <p:cNvPr id="29" name="Text 27"/>
          <p:cNvSpPr/>
          <p:nvPr/>
        </p:nvSpPr>
        <p:spPr>
          <a:xfrm>
            <a:off x="4892040" y="3246120"/>
            <a:ext cx="411480" cy="411480"/>
          </a:xfrm>
          <a:prstGeom prst="rect">
            <a:avLst/>
          </a:prstGeom>
          <a:noFill/>
          <a:ln/>
        </p:spPr>
        <p:txBody>
          <a:bodyPr wrap="square" lIns="0" tIns="0" rIns="0" bIns="0" rtlCol="0" anchor="ctr"/>
          <a:lstStyle/>
          <a:p>
            <a:pPr algn="ctr" indent="0" marL="0">
              <a:buNone/>
            </a:pPr>
            <a:r>
              <a:rPr lang="en-US" sz="1800" dirty="0">
                <a:solidFill>
                  <a:srgbClr val="0F1B2D"/>
                </a:solidFill>
                <a:latin typeface="Arial Black" pitchFamily="34" charset="0"/>
                <a:ea typeface="Arial Black" pitchFamily="34" charset="-122"/>
                <a:cs typeface="Arial Black" pitchFamily="34" charset="-120"/>
              </a:rPr>
              <a:t>$</a:t>
            </a:r>
            <a:endParaRPr lang="en-US" sz="1800" dirty="0"/>
          </a:p>
        </p:txBody>
      </p:sp>
      <p:sp>
        <p:nvSpPr>
          <p:cNvPr id="30" name="Text 28"/>
          <p:cNvSpPr/>
          <p:nvPr/>
        </p:nvSpPr>
        <p:spPr>
          <a:xfrm>
            <a:off x="5440680" y="3200400"/>
            <a:ext cx="3108960" cy="228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Slow &amp; Costly Consulting</a:t>
            </a:r>
            <a:endParaRPr lang="en-US" sz="1300" dirty="0"/>
          </a:p>
        </p:txBody>
      </p:sp>
      <p:sp>
        <p:nvSpPr>
          <p:cNvPr id="31" name="Text 29"/>
          <p:cNvSpPr/>
          <p:nvPr/>
        </p:nvSpPr>
        <p:spPr>
          <a:xfrm>
            <a:off x="5440680" y="3429000"/>
            <a:ext cx="3108960" cy="182880"/>
          </a:xfrm>
          <a:prstGeom prst="rect">
            <a:avLst/>
          </a:prstGeom>
          <a:noFill/>
          <a:ln/>
        </p:spPr>
        <p:txBody>
          <a:bodyPr wrap="square" lIns="0" tIns="0" rIns="0" bIns="0" rtlCol="0" anchor="ctr"/>
          <a:lstStyle/>
          <a:p>
            <a:pPr indent="0" marL="0">
              <a:buNone/>
            </a:pPr>
            <a:r>
              <a:rPr lang="en-US" sz="1000" dirty="0">
                <a:solidFill>
                  <a:srgbClr val="F87171"/>
                </a:solidFill>
                <a:latin typeface="Calibri" pitchFamily="34" charset="0"/>
                <a:ea typeface="Calibri" pitchFamily="34" charset="-122"/>
                <a:cs typeface="Calibri" pitchFamily="34" charset="-120"/>
              </a:rPr>
              <a:t>استشارات بطيئة ومكلفة</a:t>
            </a:r>
            <a:endParaRPr lang="en-US" sz="1000" dirty="0"/>
          </a:p>
        </p:txBody>
      </p:sp>
      <p:sp>
        <p:nvSpPr>
          <p:cNvPr id="32" name="Text 30"/>
          <p:cNvSpPr/>
          <p:nvPr/>
        </p:nvSpPr>
        <p:spPr>
          <a:xfrm>
            <a:off x="4937760" y="3703320"/>
            <a:ext cx="3611880"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Weeks for a report. Thousands SAR per engagement. SMEs excluded.</a:t>
            </a:r>
            <a:endParaRPr lang="en-US" sz="1000" dirty="0"/>
          </a:p>
        </p:txBody>
      </p:sp>
      <p:sp>
        <p:nvSpPr>
          <p:cNvPr id="33" name="Shape 31"/>
          <p:cNvSpPr/>
          <p:nvPr/>
        </p:nvSpPr>
        <p:spPr>
          <a:xfrm>
            <a:off x="0" y="4709160"/>
            <a:ext cx="9144000" cy="434340"/>
          </a:xfrm>
          <a:prstGeom prst="rect">
            <a:avLst/>
          </a:prstGeom>
          <a:solidFill>
            <a:srgbClr val="0A1220"/>
          </a:solidFill>
          <a:ln/>
        </p:spPr>
      </p:sp>
      <p:sp>
        <p:nvSpPr>
          <p:cNvPr id="34" name="Text 3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5" name="Text 3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2 / 19</a:t>
            </a:r>
            <a:endParaRPr lang="en-US" sz="750" dirty="0"/>
          </a:p>
        </p:txBody>
      </p:sp>
      <p:sp>
        <p:nvSpPr>
          <p:cNvPr id="36" name="Text 3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SOLUTION  ·  الحل</a:t>
            </a:r>
            <a:endParaRPr lang="en-US" sz="1100" dirty="0"/>
          </a:p>
        </p:txBody>
      </p:sp>
      <p:sp>
        <p:nvSpPr>
          <p:cNvPr id="4" name="Text 2"/>
          <p:cNvSpPr/>
          <p:nvPr/>
        </p:nvSpPr>
        <p:spPr>
          <a:xfrm>
            <a:off x="457200" y="502920"/>
            <a:ext cx="8229600" cy="7772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APEX — Your AI Financial Brain</a:t>
            </a:r>
            <a:endParaRPr lang="en-US" sz="2800" dirty="0"/>
          </a:p>
          <a:p>
            <a:pPr indent="0" marL="0">
              <a:buNone/>
            </a:pPr>
            <a:r>
              <a:rPr lang="en-US" sz="1400" dirty="0">
                <a:solidFill>
                  <a:srgbClr val="C9A84C"/>
                </a:solidFill>
                <a:latin typeface="Calibri" pitchFamily="34" charset="0"/>
                <a:ea typeface="Calibri" pitchFamily="34" charset="-122"/>
                <a:cs typeface="Calibri" pitchFamily="34" charset="-120"/>
              </a:rPr>
              <a:t>عقلك المالي الذكي — كل شيء في منصة واحدة</a:t>
            </a:r>
            <a:endParaRPr lang="en-US" sz="2800" dirty="0"/>
          </a:p>
        </p:txBody>
      </p:sp>
      <p:sp>
        <p:nvSpPr>
          <p:cNvPr id="5" name="Shape 3"/>
          <p:cNvSpPr/>
          <p:nvPr/>
        </p:nvSpPr>
        <p:spPr>
          <a:xfrm>
            <a:off x="32004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320040" y="1508760"/>
            <a:ext cx="1874520" cy="45720"/>
          </a:xfrm>
          <a:prstGeom prst="rect">
            <a:avLst/>
          </a:prstGeom>
          <a:solidFill>
            <a:srgbClr val="0891B2"/>
          </a:solidFill>
          <a:ln/>
        </p:spPr>
      </p:sp>
      <p:sp>
        <p:nvSpPr>
          <p:cNvPr id="7" name="Text 5"/>
          <p:cNvSpPr/>
          <p:nvPr/>
        </p:nvSpPr>
        <p:spPr>
          <a:xfrm>
            <a:off x="457200" y="1645920"/>
            <a:ext cx="640080" cy="411480"/>
          </a:xfrm>
          <a:prstGeom prst="rect">
            <a:avLst/>
          </a:prstGeom>
          <a:noFill/>
          <a:ln/>
        </p:spPr>
        <p:txBody>
          <a:bodyPr wrap="square" lIns="0" tIns="0" rIns="0" bIns="0" rtlCol="0" anchor="ctr"/>
          <a:lstStyle/>
          <a:p>
            <a:pPr indent="0" marL="0">
              <a:buNone/>
            </a:pPr>
            <a:r>
              <a:rPr lang="en-US" sz="2800" dirty="0">
                <a:solidFill>
                  <a:srgbClr val="0891B2"/>
                </a:solidFill>
                <a:latin typeface="Arial Black" pitchFamily="34" charset="0"/>
                <a:ea typeface="Arial Black" pitchFamily="34" charset="-122"/>
                <a:cs typeface="Arial Black" pitchFamily="34" charset="-120"/>
              </a:rPr>
              <a:t>01</a:t>
            </a:r>
            <a:endParaRPr lang="en-US" sz="2800" dirty="0"/>
          </a:p>
        </p:txBody>
      </p:sp>
      <p:sp>
        <p:nvSpPr>
          <p:cNvPr id="8" name="Text 6"/>
          <p:cNvSpPr/>
          <p:nvPr/>
        </p:nvSpPr>
        <p:spPr>
          <a:xfrm>
            <a:off x="45720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Chart of</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Accounts</a:t>
            </a:r>
            <a:endParaRPr lang="en-US" sz="1600" dirty="0"/>
          </a:p>
        </p:txBody>
      </p:sp>
      <p:sp>
        <p:nvSpPr>
          <p:cNvPr id="9" name="Text 7"/>
          <p:cNvSpPr/>
          <p:nvPr/>
        </p:nvSpPr>
        <p:spPr>
          <a:xfrm>
            <a:off x="45720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شجرة الحسابات</a:t>
            </a:r>
            <a:endParaRPr lang="en-US" sz="1200" dirty="0"/>
          </a:p>
        </p:txBody>
      </p:sp>
      <p:sp>
        <p:nvSpPr>
          <p:cNvPr id="10" name="Text 8"/>
          <p:cNvSpPr/>
          <p:nvPr/>
        </p:nvSpPr>
        <p:spPr>
          <a:xfrm>
            <a:off x="45720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Upload &amp; AI-classify</a:t>
            </a:r>
            <a:endParaRPr lang="en-US" sz="1000" dirty="0"/>
          </a:p>
        </p:txBody>
      </p:sp>
      <p:sp>
        <p:nvSpPr>
          <p:cNvPr id="11" name="Text 9"/>
          <p:cNvSpPr/>
          <p:nvPr/>
        </p:nvSpPr>
        <p:spPr>
          <a:xfrm>
            <a:off x="2148840" y="2468880"/>
            <a:ext cx="411480" cy="274320"/>
          </a:xfrm>
          <a:prstGeom prst="rect">
            <a:avLst/>
          </a:prstGeom>
          <a:noFill/>
          <a:ln/>
        </p:spPr>
        <p:txBody>
          <a:bodyPr wrap="square" lIns="0" tIns="0" rIns="0" bIns="0" rtlCol="0" anchor="ctr"/>
          <a:lstStyle/>
          <a:p>
            <a:pPr algn="ctr" indent="0" marL="0">
              <a:buNone/>
            </a:pPr>
            <a:r>
              <a:rPr lang="en-US" sz="1200" dirty="0">
                <a:solidFill>
                  <a:srgbClr val="C9A84C"/>
                </a:solidFill>
                <a:latin typeface="Calibri" pitchFamily="34" charset="0"/>
                <a:ea typeface="Calibri" pitchFamily="34" charset="-122"/>
                <a:cs typeface="Calibri" pitchFamily="34" charset="-120"/>
              </a:rPr>
              <a:t>&gt;&gt;&gt;</a:t>
            </a:r>
            <a:endParaRPr lang="en-US" sz="1200" dirty="0"/>
          </a:p>
        </p:txBody>
      </p:sp>
      <p:sp>
        <p:nvSpPr>
          <p:cNvPr id="12" name="Shape 10"/>
          <p:cNvSpPr/>
          <p:nvPr/>
        </p:nvSpPr>
        <p:spPr>
          <a:xfrm>
            <a:off x="251460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2514600" y="1508760"/>
            <a:ext cx="1874520" cy="45720"/>
          </a:xfrm>
          <a:prstGeom prst="rect">
            <a:avLst/>
          </a:prstGeom>
          <a:solidFill>
            <a:srgbClr val="22D3EE"/>
          </a:solidFill>
          <a:ln/>
        </p:spPr>
      </p:sp>
      <p:sp>
        <p:nvSpPr>
          <p:cNvPr id="14" name="Text 12"/>
          <p:cNvSpPr/>
          <p:nvPr/>
        </p:nvSpPr>
        <p:spPr>
          <a:xfrm>
            <a:off x="2651760" y="1645920"/>
            <a:ext cx="640080" cy="411480"/>
          </a:xfrm>
          <a:prstGeom prst="rect">
            <a:avLst/>
          </a:prstGeom>
          <a:noFill/>
          <a:ln/>
        </p:spPr>
        <p:txBody>
          <a:bodyPr wrap="square" lIns="0" tIns="0" rIns="0" bIns="0" rtlCol="0" anchor="ctr"/>
          <a:lstStyle/>
          <a:p>
            <a:pPr indent="0" marL="0">
              <a:buNone/>
            </a:pPr>
            <a:r>
              <a:rPr lang="en-US" sz="2800" dirty="0">
                <a:solidFill>
                  <a:srgbClr val="22D3EE"/>
                </a:solidFill>
                <a:latin typeface="Arial Black" pitchFamily="34" charset="0"/>
                <a:ea typeface="Arial Black" pitchFamily="34" charset="-122"/>
                <a:cs typeface="Arial Black" pitchFamily="34" charset="-120"/>
              </a:rPr>
              <a:t>02</a:t>
            </a:r>
            <a:endParaRPr lang="en-US" sz="2800" dirty="0"/>
          </a:p>
        </p:txBody>
      </p:sp>
      <p:sp>
        <p:nvSpPr>
          <p:cNvPr id="15" name="Text 13"/>
          <p:cNvSpPr/>
          <p:nvPr/>
        </p:nvSpPr>
        <p:spPr>
          <a:xfrm>
            <a:off x="265176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Balance</a:t>
            </a:r>
            <a:endParaRPr lang="en-US" sz="1600" dirty="0"/>
          </a:p>
        </p:txBody>
      </p:sp>
      <p:sp>
        <p:nvSpPr>
          <p:cNvPr id="16" name="Text 14"/>
          <p:cNvSpPr/>
          <p:nvPr/>
        </p:nvSpPr>
        <p:spPr>
          <a:xfrm>
            <a:off x="265176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ميزان المراجعة</a:t>
            </a:r>
            <a:endParaRPr lang="en-US" sz="1200" dirty="0"/>
          </a:p>
        </p:txBody>
      </p:sp>
      <p:sp>
        <p:nvSpPr>
          <p:cNvPr id="17" name="Text 15"/>
          <p:cNvSpPr/>
          <p:nvPr/>
        </p:nvSpPr>
        <p:spPr>
          <a:xfrm>
            <a:off x="265176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Bind, validate &amp; detect</a:t>
            </a:r>
            <a:endParaRPr lang="en-US" sz="1000" dirty="0"/>
          </a:p>
        </p:txBody>
      </p:sp>
      <p:sp>
        <p:nvSpPr>
          <p:cNvPr id="18" name="Text 16"/>
          <p:cNvSpPr/>
          <p:nvPr/>
        </p:nvSpPr>
        <p:spPr>
          <a:xfrm>
            <a:off x="4343400" y="2468880"/>
            <a:ext cx="411480" cy="274320"/>
          </a:xfrm>
          <a:prstGeom prst="rect">
            <a:avLst/>
          </a:prstGeom>
          <a:noFill/>
          <a:ln/>
        </p:spPr>
        <p:txBody>
          <a:bodyPr wrap="square" lIns="0" tIns="0" rIns="0" bIns="0" rtlCol="0" anchor="ctr"/>
          <a:lstStyle/>
          <a:p>
            <a:pPr algn="ctr" indent="0" marL="0">
              <a:buNone/>
            </a:pPr>
            <a:r>
              <a:rPr lang="en-US" sz="1200" dirty="0">
                <a:solidFill>
                  <a:srgbClr val="C9A84C"/>
                </a:solidFill>
                <a:latin typeface="Calibri" pitchFamily="34" charset="0"/>
                <a:ea typeface="Calibri" pitchFamily="34" charset="-122"/>
                <a:cs typeface="Calibri" pitchFamily="34" charset="-120"/>
              </a:rPr>
              <a:t>&gt;&gt;&gt;</a:t>
            </a:r>
            <a:endParaRPr lang="en-US" sz="1200" dirty="0"/>
          </a:p>
        </p:txBody>
      </p:sp>
      <p:sp>
        <p:nvSpPr>
          <p:cNvPr id="19" name="Shape 17"/>
          <p:cNvSpPr/>
          <p:nvPr/>
        </p:nvSpPr>
        <p:spPr>
          <a:xfrm>
            <a:off x="470916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709160" y="1508760"/>
            <a:ext cx="1874520" cy="45720"/>
          </a:xfrm>
          <a:prstGeom prst="rect">
            <a:avLst/>
          </a:prstGeom>
          <a:solidFill>
            <a:srgbClr val="C9A84C"/>
          </a:solidFill>
          <a:ln/>
        </p:spPr>
      </p:sp>
      <p:sp>
        <p:nvSpPr>
          <p:cNvPr id="21" name="Text 19"/>
          <p:cNvSpPr/>
          <p:nvPr/>
        </p:nvSpPr>
        <p:spPr>
          <a:xfrm>
            <a:off x="4846320" y="1645920"/>
            <a:ext cx="640080" cy="411480"/>
          </a:xfrm>
          <a:prstGeom prst="rect">
            <a:avLst/>
          </a:prstGeom>
          <a:noFill/>
          <a:ln/>
        </p:spPr>
        <p:txBody>
          <a:bodyPr wrap="square" lIns="0" tIns="0" rIns="0" bIns="0" rtlCol="0" anchor="ctr"/>
          <a:lstStyle/>
          <a:p>
            <a:pPr indent="0" marL="0">
              <a:buNone/>
            </a:pPr>
            <a:r>
              <a:rPr lang="en-US" sz="2800" dirty="0">
                <a:solidFill>
                  <a:srgbClr val="C9A84C"/>
                </a:solidFill>
                <a:latin typeface="Arial Black" pitchFamily="34" charset="0"/>
                <a:ea typeface="Arial Black" pitchFamily="34" charset="-122"/>
                <a:cs typeface="Arial Black" pitchFamily="34" charset="-120"/>
              </a:rPr>
              <a:t>03</a:t>
            </a:r>
            <a:endParaRPr lang="en-US" sz="2800" dirty="0"/>
          </a:p>
        </p:txBody>
      </p:sp>
      <p:sp>
        <p:nvSpPr>
          <p:cNvPr id="22" name="Text 20"/>
          <p:cNvSpPr/>
          <p:nvPr/>
        </p:nvSpPr>
        <p:spPr>
          <a:xfrm>
            <a:off x="484632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Financial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Statements</a:t>
            </a:r>
            <a:endParaRPr lang="en-US" sz="1600" dirty="0"/>
          </a:p>
        </p:txBody>
      </p:sp>
      <p:sp>
        <p:nvSpPr>
          <p:cNvPr id="23" name="Text 21"/>
          <p:cNvSpPr/>
          <p:nvPr/>
        </p:nvSpPr>
        <p:spPr>
          <a:xfrm>
            <a:off x="484632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القوائم المالية</a:t>
            </a:r>
            <a:endParaRPr lang="en-US" sz="1200" dirty="0"/>
          </a:p>
        </p:txBody>
      </p:sp>
      <p:sp>
        <p:nvSpPr>
          <p:cNvPr id="24" name="Text 22"/>
          <p:cNvSpPr/>
          <p:nvPr/>
        </p:nvSpPr>
        <p:spPr>
          <a:xfrm>
            <a:off x="484632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Auto-generate IFRS</a:t>
            </a:r>
            <a:endParaRPr lang="en-US" sz="1000" dirty="0"/>
          </a:p>
        </p:txBody>
      </p:sp>
      <p:sp>
        <p:nvSpPr>
          <p:cNvPr id="25" name="Text 23"/>
          <p:cNvSpPr/>
          <p:nvPr/>
        </p:nvSpPr>
        <p:spPr>
          <a:xfrm>
            <a:off x="6537960" y="2468880"/>
            <a:ext cx="411480" cy="274320"/>
          </a:xfrm>
          <a:prstGeom prst="rect">
            <a:avLst/>
          </a:prstGeom>
          <a:noFill/>
          <a:ln/>
        </p:spPr>
        <p:txBody>
          <a:bodyPr wrap="square" lIns="0" tIns="0" rIns="0" bIns="0" rtlCol="0" anchor="ctr"/>
          <a:lstStyle/>
          <a:p>
            <a:pPr algn="ctr" indent="0" marL="0">
              <a:buNone/>
            </a:pPr>
            <a:r>
              <a:rPr lang="en-US" sz="1200" dirty="0">
                <a:solidFill>
                  <a:srgbClr val="C9A84C"/>
                </a:solidFill>
                <a:latin typeface="Calibri" pitchFamily="34" charset="0"/>
                <a:ea typeface="Calibri" pitchFamily="34" charset="-122"/>
                <a:cs typeface="Calibri" pitchFamily="34" charset="-120"/>
              </a:rPr>
              <a:t>&gt;&gt;&gt;</a:t>
            </a:r>
            <a:endParaRPr lang="en-US" sz="1200" dirty="0"/>
          </a:p>
        </p:txBody>
      </p:sp>
      <p:sp>
        <p:nvSpPr>
          <p:cNvPr id="26" name="Shape 24"/>
          <p:cNvSpPr/>
          <p:nvPr/>
        </p:nvSpPr>
        <p:spPr>
          <a:xfrm>
            <a:off x="6903720" y="1508760"/>
            <a:ext cx="1874520" cy="256032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6903720" y="1508760"/>
            <a:ext cx="1874520" cy="45720"/>
          </a:xfrm>
          <a:prstGeom prst="rect">
            <a:avLst/>
          </a:prstGeom>
          <a:solidFill>
            <a:srgbClr val="E8CC73"/>
          </a:solidFill>
          <a:ln/>
        </p:spPr>
      </p:sp>
      <p:sp>
        <p:nvSpPr>
          <p:cNvPr id="28" name="Text 26"/>
          <p:cNvSpPr/>
          <p:nvPr/>
        </p:nvSpPr>
        <p:spPr>
          <a:xfrm>
            <a:off x="7040880" y="1645920"/>
            <a:ext cx="640080" cy="411480"/>
          </a:xfrm>
          <a:prstGeom prst="rect">
            <a:avLst/>
          </a:prstGeom>
          <a:noFill/>
          <a:ln/>
        </p:spPr>
        <p:txBody>
          <a:bodyPr wrap="square" lIns="0" tIns="0" rIns="0" bIns="0" rtlCol="0" anchor="ctr"/>
          <a:lstStyle/>
          <a:p>
            <a:pPr indent="0" marL="0">
              <a:buNone/>
            </a:pPr>
            <a:r>
              <a:rPr lang="en-US" sz="2800" dirty="0">
                <a:solidFill>
                  <a:srgbClr val="E8CC73"/>
                </a:solidFill>
                <a:latin typeface="Arial Black" pitchFamily="34" charset="0"/>
                <a:ea typeface="Arial Black" pitchFamily="34" charset="-122"/>
                <a:cs typeface="Arial Black" pitchFamily="34" charset="-120"/>
              </a:rPr>
              <a:t>04</a:t>
            </a:r>
            <a:endParaRPr lang="en-US" sz="2800" dirty="0"/>
          </a:p>
        </p:txBody>
      </p:sp>
      <p:sp>
        <p:nvSpPr>
          <p:cNvPr id="29" name="Text 27"/>
          <p:cNvSpPr/>
          <p:nvPr/>
        </p:nvSpPr>
        <p:spPr>
          <a:xfrm>
            <a:off x="7040880" y="2148840"/>
            <a:ext cx="160020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Financial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Analysis</a:t>
            </a:r>
            <a:endParaRPr lang="en-US" sz="1600" dirty="0"/>
          </a:p>
        </p:txBody>
      </p:sp>
      <p:sp>
        <p:nvSpPr>
          <p:cNvPr id="30" name="Text 28"/>
          <p:cNvSpPr/>
          <p:nvPr/>
        </p:nvSpPr>
        <p:spPr>
          <a:xfrm>
            <a:off x="7040880" y="2788920"/>
            <a:ext cx="1600200" cy="274320"/>
          </a:xfrm>
          <a:prstGeom prst="rect">
            <a:avLst/>
          </a:prstGeom>
          <a:noFill/>
          <a:ln/>
        </p:spPr>
        <p:txBody>
          <a:bodyPr wrap="square" lIns="0" tIns="0" rIns="0" bIns="0" rtlCol="0" anchor="ctr"/>
          <a:lstStyle/>
          <a:p>
            <a:pPr indent="0" marL="0">
              <a:buNone/>
            </a:pPr>
            <a:r>
              <a:rPr lang="en-US" sz="1200" dirty="0">
                <a:solidFill>
                  <a:srgbClr val="C9A84C"/>
                </a:solidFill>
                <a:latin typeface="Calibri" pitchFamily="34" charset="0"/>
                <a:ea typeface="Calibri" pitchFamily="34" charset="-122"/>
                <a:cs typeface="Calibri" pitchFamily="34" charset="-120"/>
              </a:rPr>
              <a:t>التحليل المالي</a:t>
            </a:r>
            <a:endParaRPr lang="en-US" sz="1200" dirty="0"/>
          </a:p>
        </p:txBody>
      </p:sp>
      <p:sp>
        <p:nvSpPr>
          <p:cNvPr id="31" name="Text 29"/>
          <p:cNvSpPr/>
          <p:nvPr/>
        </p:nvSpPr>
        <p:spPr>
          <a:xfrm>
            <a:off x="7040880" y="3154680"/>
            <a:ext cx="16002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Ratios &amp; Readiness Score</a:t>
            </a:r>
            <a:endParaRPr lang="en-US" sz="1000" dirty="0"/>
          </a:p>
        </p:txBody>
      </p:sp>
      <p:sp>
        <p:nvSpPr>
          <p:cNvPr id="32" name="Shape 30"/>
          <p:cNvSpPr/>
          <p:nvPr/>
        </p:nvSpPr>
        <p:spPr>
          <a:xfrm>
            <a:off x="457200" y="4251960"/>
            <a:ext cx="8229600" cy="27432"/>
          </a:xfrm>
          <a:prstGeom prst="rect">
            <a:avLst/>
          </a:prstGeom>
          <a:solidFill>
            <a:srgbClr val="C9A84C">
              <a:alpha val="50000"/>
            </a:srgbClr>
          </a:solidFill>
          <a:ln/>
        </p:spPr>
      </p:sp>
      <p:sp>
        <p:nvSpPr>
          <p:cNvPr id="33" name="Text 31"/>
          <p:cNvSpPr/>
          <p:nvPr/>
        </p:nvSpPr>
        <p:spPr>
          <a:xfrm>
            <a:off x="457200" y="4315968"/>
            <a:ext cx="8229600"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One platform · Four layers · Complete financial intelligence  |  منصة واحدة · أربع طبقات · ذكاء مالي متكامل</a:t>
            </a:r>
            <a:endParaRPr lang="en-US" sz="10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3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PLATFORM CAPABILITIES  ·  قدرات المنصة</a:t>
            </a:r>
            <a:endParaRPr lang="en-US" sz="1100" dirty="0"/>
          </a:p>
        </p:txBody>
      </p:sp>
      <p:sp>
        <p:nvSpPr>
          <p:cNvPr id="4" name="Text 2"/>
          <p:cNvSpPr/>
          <p:nvPr/>
        </p:nvSpPr>
        <p:spPr>
          <a:xfrm>
            <a:off x="457200" y="502920"/>
            <a:ext cx="8229600" cy="6858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Makes APEX Different</a:t>
            </a:r>
            <a:endParaRPr lang="en-US" sz="2600" dirty="0"/>
          </a:p>
          <a:p>
            <a:pPr indent="0" marL="0">
              <a:buNone/>
            </a:pPr>
            <a:r>
              <a:rPr lang="en-US" sz="1300" dirty="0">
                <a:solidFill>
                  <a:srgbClr val="C9A84C"/>
                </a:solidFill>
                <a:latin typeface="Calibri" pitchFamily="34" charset="0"/>
                <a:ea typeface="Calibri" pitchFamily="34" charset="-122"/>
                <a:cs typeface="Calibri" pitchFamily="34" charset="-120"/>
              </a:rPr>
              <a:t>ما الذي يميّز APEX</a:t>
            </a:r>
            <a:endParaRPr lang="en-US" sz="2600" dirty="0"/>
          </a:p>
        </p:txBody>
      </p:sp>
      <p:sp>
        <p:nvSpPr>
          <p:cNvPr id="5" name="Shape 3"/>
          <p:cNvSpPr/>
          <p:nvPr/>
        </p:nvSpPr>
        <p:spPr>
          <a:xfrm>
            <a:off x="457200" y="137160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2606040" cy="45720"/>
          </a:xfrm>
          <a:prstGeom prst="rect">
            <a:avLst/>
          </a:prstGeom>
          <a:solidFill>
            <a:srgbClr val="0891B2"/>
          </a:solidFill>
          <a:ln/>
        </p:spPr>
      </p:sp>
      <p:sp>
        <p:nvSpPr>
          <p:cNvPr id="7" name="Shape 5"/>
          <p:cNvSpPr/>
          <p:nvPr/>
        </p:nvSpPr>
        <p:spPr>
          <a:xfrm>
            <a:off x="566928" y="1508760"/>
            <a:ext cx="365760" cy="365760"/>
          </a:xfrm>
          <a:prstGeom prst="ellipse">
            <a:avLst/>
          </a:prstGeom>
          <a:solidFill>
            <a:srgbClr val="0891B2"/>
          </a:solidFill>
          <a:ln/>
        </p:spPr>
      </p:sp>
      <p:sp>
        <p:nvSpPr>
          <p:cNvPr id="8" name="Text 6"/>
          <p:cNvSpPr/>
          <p:nvPr/>
        </p:nvSpPr>
        <p:spPr>
          <a:xfrm>
            <a:off x="566928" y="150876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AI</a:t>
            </a:r>
            <a:endParaRPr lang="en-US" sz="1000" dirty="0"/>
          </a:p>
        </p:txBody>
      </p:sp>
      <p:sp>
        <p:nvSpPr>
          <p:cNvPr id="9" name="Text 7"/>
          <p:cNvSpPr/>
          <p:nvPr/>
        </p:nvSpPr>
        <p:spPr>
          <a:xfrm>
            <a:off x="100584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Knowledge Brain</a:t>
            </a:r>
            <a:endParaRPr lang="en-US" sz="1200" dirty="0"/>
          </a:p>
        </p:txBody>
      </p:sp>
      <p:sp>
        <p:nvSpPr>
          <p:cNvPr id="10" name="Text 8"/>
          <p:cNvSpPr/>
          <p:nvPr/>
        </p:nvSpPr>
        <p:spPr>
          <a:xfrm>
            <a:off x="1005840" y="1691640"/>
            <a:ext cx="1920240" cy="182880"/>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العقل المعرفي</a:t>
            </a:r>
            <a:endParaRPr lang="en-US" sz="950" dirty="0"/>
          </a:p>
        </p:txBody>
      </p:sp>
      <p:sp>
        <p:nvSpPr>
          <p:cNvPr id="11" name="Text 9"/>
          <p:cNvSpPr/>
          <p:nvPr/>
        </p:nvSpPr>
        <p:spPr>
          <a:xfrm>
            <a:off x="59436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11 AI modules: SOCPA, IFRS, ZAKAT, VAT, Saudi regulations</a:t>
            </a:r>
            <a:endParaRPr lang="en-US" sz="950" dirty="0"/>
          </a:p>
        </p:txBody>
      </p:sp>
      <p:sp>
        <p:nvSpPr>
          <p:cNvPr id="12" name="Shape 10"/>
          <p:cNvSpPr/>
          <p:nvPr/>
        </p:nvSpPr>
        <p:spPr>
          <a:xfrm>
            <a:off x="3291840" y="137160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3291840" y="1371600"/>
            <a:ext cx="2606040" cy="45720"/>
          </a:xfrm>
          <a:prstGeom prst="rect">
            <a:avLst/>
          </a:prstGeom>
          <a:solidFill>
            <a:srgbClr val="10B981"/>
          </a:solidFill>
          <a:ln/>
        </p:spPr>
      </p:sp>
      <p:sp>
        <p:nvSpPr>
          <p:cNvPr id="14" name="Shape 12"/>
          <p:cNvSpPr/>
          <p:nvPr/>
        </p:nvSpPr>
        <p:spPr>
          <a:xfrm>
            <a:off x="3401568" y="1508760"/>
            <a:ext cx="365760" cy="365760"/>
          </a:xfrm>
          <a:prstGeom prst="ellipse">
            <a:avLst/>
          </a:prstGeom>
          <a:solidFill>
            <a:srgbClr val="10B981"/>
          </a:solidFill>
          <a:ln/>
        </p:spPr>
      </p:sp>
      <p:sp>
        <p:nvSpPr>
          <p:cNvPr id="15" name="Text 13"/>
          <p:cNvSpPr/>
          <p:nvPr/>
        </p:nvSpPr>
        <p:spPr>
          <a:xfrm>
            <a:off x="3401568" y="150876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&gt;&gt;</a:t>
            </a:r>
            <a:endParaRPr lang="en-US" sz="1000" dirty="0"/>
          </a:p>
        </p:txBody>
      </p:sp>
      <p:sp>
        <p:nvSpPr>
          <p:cNvPr id="16" name="Text 14"/>
          <p:cNvSpPr/>
          <p:nvPr/>
        </p:nvSpPr>
        <p:spPr>
          <a:xfrm>
            <a:off x="384048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Smart Onboarding</a:t>
            </a:r>
            <a:endParaRPr lang="en-US" sz="1200" dirty="0"/>
          </a:p>
        </p:txBody>
      </p:sp>
      <p:sp>
        <p:nvSpPr>
          <p:cNvPr id="17" name="Text 15"/>
          <p:cNvSpPr/>
          <p:nvPr/>
        </p:nvSpPr>
        <p:spPr>
          <a:xfrm>
            <a:off x="3840480" y="1691640"/>
            <a:ext cx="1920240" cy="182880"/>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تأهيل ذكي</a:t>
            </a:r>
            <a:endParaRPr lang="en-US" sz="950" dirty="0"/>
          </a:p>
        </p:txBody>
      </p:sp>
      <p:sp>
        <p:nvSpPr>
          <p:cNvPr id="18" name="Text 16"/>
          <p:cNvSpPr/>
          <p:nvPr/>
        </p:nvSpPr>
        <p:spPr>
          <a:xfrm>
            <a:off x="342900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7-stage wizard. Auto-detects company type, industry &amp; docs</a:t>
            </a:r>
            <a:endParaRPr lang="en-US" sz="950" dirty="0"/>
          </a:p>
        </p:txBody>
      </p:sp>
      <p:sp>
        <p:nvSpPr>
          <p:cNvPr id="19" name="Shape 17"/>
          <p:cNvSpPr/>
          <p:nvPr/>
        </p:nvSpPr>
        <p:spPr>
          <a:xfrm>
            <a:off x="6126480" y="137160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6126480" y="1371600"/>
            <a:ext cx="2606040" cy="45720"/>
          </a:xfrm>
          <a:prstGeom prst="rect">
            <a:avLst/>
          </a:prstGeom>
          <a:solidFill>
            <a:srgbClr val="C9A84C"/>
          </a:solidFill>
          <a:ln/>
        </p:spPr>
      </p:sp>
      <p:sp>
        <p:nvSpPr>
          <p:cNvPr id="21" name="Shape 19"/>
          <p:cNvSpPr/>
          <p:nvPr/>
        </p:nvSpPr>
        <p:spPr>
          <a:xfrm>
            <a:off x="6236208" y="1508760"/>
            <a:ext cx="365760" cy="365760"/>
          </a:xfrm>
          <a:prstGeom prst="ellipse">
            <a:avLst/>
          </a:prstGeom>
          <a:solidFill>
            <a:srgbClr val="C9A84C"/>
          </a:solidFill>
          <a:ln/>
        </p:spPr>
      </p:sp>
      <p:sp>
        <p:nvSpPr>
          <p:cNvPr id="22" name="Text 20"/>
          <p:cNvSpPr/>
          <p:nvPr/>
        </p:nvSpPr>
        <p:spPr>
          <a:xfrm>
            <a:off x="6236208" y="150876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OK</a:t>
            </a:r>
            <a:endParaRPr lang="en-US" sz="1000" dirty="0"/>
          </a:p>
        </p:txBody>
      </p:sp>
      <p:sp>
        <p:nvSpPr>
          <p:cNvPr id="23" name="Text 21"/>
          <p:cNvSpPr/>
          <p:nvPr/>
        </p:nvSpPr>
        <p:spPr>
          <a:xfrm>
            <a:off x="6675120" y="148132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Workflow</a:t>
            </a:r>
            <a:endParaRPr lang="en-US" sz="1200" dirty="0"/>
          </a:p>
        </p:txBody>
      </p:sp>
      <p:sp>
        <p:nvSpPr>
          <p:cNvPr id="24" name="Text 22"/>
          <p:cNvSpPr/>
          <p:nvPr/>
        </p:nvSpPr>
        <p:spPr>
          <a:xfrm>
            <a:off x="6675120" y="1691640"/>
            <a:ext cx="1920240" cy="182880"/>
          </a:xfrm>
          <a:prstGeom prst="rect">
            <a:avLst/>
          </a:prstGeom>
          <a:noFill/>
          <a:ln/>
        </p:spPr>
        <p:txBody>
          <a:bodyPr wrap="square" lIns="0" tIns="0" rIns="0" bIns="0" rtlCol="0" anchor="ctr"/>
          <a:lstStyle/>
          <a:p>
            <a:pPr indent="0" marL="0">
              <a:buNone/>
            </a:pPr>
            <a:r>
              <a:rPr lang="en-US" sz="950" dirty="0">
                <a:solidFill>
                  <a:srgbClr val="C9A84C"/>
                </a:solidFill>
                <a:latin typeface="Calibri" pitchFamily="34" charset="0"/>
                <a:ea typeface="Calibri" pitchFamily="34" charset="-122"/>
                <a:cs typeface="Calibri" pitchFamily="34" charset="-120"/>
              </a:rPr>
              <a:t>سير عمل المراجعة</a:t>
            </a:r>
            <a:endParaRPr lang="en-US" sz="950" dirty="0"/>
          </a:p>
        </p:txBody>
      </p:sp>
      <p:sp>
        <p:nvSpPr>
          <p:cNvPr id="25" name="Text 23"/>
          <p:cNvSpPr/>
          <p:nvPr/>
        </p:nvSpPr>
        <p:spPr>
          <a:xfrm>
            <a:off x="6263640" y="201168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7-phase review engine. Human-in-the-loop triggers</a:t>
            </a:r>
            <a:endParaRPr lang="en-US" sz="950" dirty="0"/>
          </a:p>
        </p:txBody>
      </p:sp>
      <p:sp>
        <p:nvSpPr>
          <p:cNvPr id="26" name="Shape 24"/>
          <p:cNvSpPr/>
          <p:nvPr/>
        </p:nvSpPr>
        <p:spPr>
          <a:xfrm>
            <a:off x="457200" y="283464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457200" y="2834640"/>
            <a:ext cx="2606040" cy="45720"/>
          </a:xfrm>
          <a:prstGeom prst="rect">
            <a:avLst/>
          </a:prstGeom>
          <a:solidFill>
            <a:srgbClr val="22D3EE"/>
          </a:solidFill>
          <a:ln/>
        </p:spPr>
      </p:sp>
      <p:sp>
        <p:nvSpPr>
          <p:cNvPr id="28" name="Shape 26"/>
          <p:cNvSpPr/>
          <p:nvPr/>
        </p:nvSpPr>
        <p:spPr>
          <a:xfrm>
            <a:off x="566928" y="2971800"/>
            <a:ext cx="365760" cy="365760"/>
          </a:xfrm>
          <a:prstGeom prst="ellipse">
            <a:avLst/>
          </a:prstGeom>
          <a:solidFill>
            <a:srgbClr val="22D3EE"/>
          </a:solidFill>
          <a:ln/>
        </p:spPr>
      </p:sp>
      <p:sp>
        <p:nvSpPr>
          <p:cNvPr id="29" name="Text 27"/>
          <p:cNvSpPr/>
          <p:nvPr/>
        </p:nvSpPr>
        <p:spPr>
          <a:xfrm>
            <a:off x="566928" y="297180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 }</a:t>
            </a:r>
            <a:endParaRPr lang="en-US" sz="1000" dirty="0"/>
          </a:p>
        </p:txBody>
      </p:sp>
      <p:sp>
        <p:nvSpPr>
          <p:cNvPr id="30" name="Text 28"/>
          <p:cNvSpPr/>
          <p:nvPr/>
        </p:nvSpPr>
        <p:spPr>
          <a:xfrm>
            <a:off x="100584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30+ Live APIs</a:t>
            </a:r>
            <a:endParaRPr lang="en-US" sz="1200" dirty="0"/>
          </a:p>
        </p:txBody>
      </p:sp>
      <p:sp>
        <p:nvSpPr>
          <p:cNvPr id="31" name="Text 29"/>
          <p:cNvSpPr/>
          <p:nvPr/>
        </p:nvSpPr>
        <p:spPr>
          <a:xfrm>
            <a:off x="1005840" y="3154680"/>
            <a:ext cx="1920240" cy="182880"/>
          </a:xfrm>
          <a:prstGeom prst="rect">
            <a:avLst/>
          </a:prstGeom>
          <a:noFill/>
          <a:ln/>
        </p:spPr>
        <p:txBody>
          <a:bodyPr wrap="square" lIns="0" tIns="0" rIns="0" bIns="0" rtlCol="0" anchor="ctr"/>
          <a:lstStyle/>
          <a:p>
            <a:pPr indent="0" marL="0">
              <a:buNone/>
            </a:pPr>
            <a:r>
              <a:rPr lang="en-US" sz="950" dirty="0">
                <a:solidFill>
                  <a:srgbClr val="22D3EE"/>
                </a:solidFill>
                <a:latin typeface="Calibri" pitchFamily="34" charset="0"/>
                <a:ea typeface="Calibri" pitchFamily="34" charset="-122"/>
                <a:cs typeface="Calibri" pitchFamily="34" charset="-120"/>
              </a:rPr>
              <a:t>أكثر من 30 API</a:t>
            </a:r>
            <a:endParaRPr lang="en-US" sz="950" dirty="0"/>
          </a:p>
        </p:txBody>
      </p:sp>
      <p:sp>
        <p:nvSpPr>
          <p:cNvPr id="32" name="Text 30"/>
          <p:cNvSpPr/>
          <p:nvPr/>
        </p:nvSpPr>
        <p:spPr>
          <a:xfrm>
            <a:off x="59436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Full REST suite. FastAPI + Flutter. Swagger documented</a:t>
            </a:r>
            <a:endParaRPr lang="en-US" sz="950" dirty="0"/>
          </a:p>
        </p:txBody>
      </p:sp>
      <p:sp>
        <p:nvSpPr>
          <p:cNvPr id="33" name="Shape 31"/>
          <p:cNvSpPr/>
          <p:nvPr/>
        </p:nvSpPr>
        <p:spPr>
          <a:xfrm>
            <a:off x="3291840" y="283464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4" name="Shape 32"/>
          <p:cNvSpPr/>
          <p:nvPr/>
        </p:nvSpPr>
        <p:spPr>
          <a:xfrm>
            <a:off x="3291840" y="2834640"/>
            <a:ext cx="2606040" cy="45720"/>
          </a:xfrm>
          <a:prstGeom prst="rect">
            <a:avLst/>
          </a:prstGeom>
          <a:solidFill>
            <a:srgbClr val="F96167"/>
          </a:solidFill>
          <a:ln/>
        </p:spPr>
      </p:sp>
      <p:sp>
        <p:nvSpPr>
          <p:cNvPr id="35" name="Shape 33"/>
          <p:cNvSpPr/>
          <p:nvPr/>
        </p:nvSpPr>
        <p:spPr>
          <a:xfrm>
            <a:off x="3401568" y="2971800"/>
            <a:ext cx="365760" cy="365760"/>
          </a:xfrm>
          <a:prstGeom prst="ellipse">
            <a:avLst/>
          </a:prstGeom>
          <a:solidFill>
            <a:srgbClr val="F96167"/>
          </a:solidFill>
          <a:ln/>
        </p:spPr>
      </p:sp>
      <p:sp>
        <p:nvSpPr>
          <p:cNvPr id="36" name="Text 34"/>
          <p:cNvSpPr/>
          <p:nvPr/>
        </p:nvSpPr>
        <p:spPr>
          <a:xfrm>
            <a:off x="3401568" y="297180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a:t>
            </a:r>
            <a:endParaRPr lang="en-US" sz="1000" dirty="0"/>
          </a:p>
        </p:txBody>
      </p:sp>
      <p:sp>
        <p:nvSpPr>
          <p:cNvPr id="37" name="Text 35"/>
          <p:cNvSpPr/>
          <p:nvPr/>
        </p:nvSpPr>
        <p:spPr>
          <a:xfrm>
            <a:off x="384048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Role-Based Security</a:t>
            </a:r>
            <a:endParaRPr lang="en-US" sz="1200" dirty="0"/>
          </a:p>
        </p:txBody>
      </p:sp>
      <p:sp>
        <p:nvSpPr>
          <p:cNvPr id="38" name="Text 36"/>
          <p:cNvSpPr/>
          <p:nvPr/>
        </p:nvSpPr>
        <p:spPr>
          <a:xfrm>
            <a:off x="3840480" y="3154680"/>
            <a:ext cx="1920240" cy="182880"/>
          </a:xfrm>
          <a:prstGeom prst="rect">
            <a:avLst/>
          </a:prstGeom>
          <a:noFill/>
          <a:ln/>
        </p:spPr>
        <p:txBody>
          <a:bodyPr wrap="square" lIns="0" tIns="0" rIns="0" bIns="0" rtlCol="0" anchor="ctr"/>
          <a:lstStyle/>
          <a:p>
            <a:pPr indent="0" marL="0">
              <a:buNone/>
            </a:pPr>
            <a:r>
              <a:rPr lang="en-US" sz="950" dirty="0">
                <a:solidFill>
                  <a:srgbClr val="F96167"/>
                </a:solidFill>
                <a:latin typeface="Calibri" pitchFamily="34" charset="0"/>
                <a:ea typeface="Calibri" pitchFamily="34" charset="-122"/>
                <a:cs typeface="Calibri" pitchFamily="34" charset="-120"/>
              </a:rPr>
              <a:t>أمن قائم على الأدوار</a:t>
            </a:r>
            <a:endParaRPr lang="en-US" sz="950" dirty="0"/>
          </a:p>
        </p:txBody>
      </p:sp>
      <p:sp>
        <p:nvSpPr>
          <p:cNvPr id="39" name="Text 37"/>
          <p:cNvSpPr/>
          <p:nvPr/>
        </p:nvSpPr>
        <p:spPr>
          <a:xfrm>
            <a:off x="342900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11 roles, JWT auth, audit logs on every financial action</a:t>
            </a:r>
            <a:endParaRPr lang="en-US" sz="950" dirty="0"/>
          </a:p>
        </p:txBody>
      </p:sp>
      <p:sp>
        <p:nvSpPr>
          <p:cNvPr id="40" name="Shape 38"/>
          <p:cNvSpPr/>
          <p:nvPr/>
        </p:nvSpPr>
        <p:spPr>
          <a:xfrm>
            <a:off x="6126480" y="2834640"/>
            <a:ext cx="2606040" cy="128016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41" name="Shape 39"/>
          <p:cNvSpPr/>
          <p:nvPr/>
        </p:nvSpPr>
        <p:spPr>
          <a:xfrm>
            <a:off x="6126480" y="2834640"/>
            <a:ext cx="2606040" cy="45720"/>
          </a:xfrm>
          <a:prstGeom prst="rect">
            <a:avLst/>
          </a:prstGeom>
          <a:solidFill>
            <a:srgbClr val="E8CC73"/>
          </a:solidFill>
          <a:ln/>
        </p:spPr>
      </p:sp>
      <p:sp>
        <p:nvSpPr>
          <p:cNvPr id="42" name="Shape 40"/>
          <p:cNvSpPr/>
          <p:nvPr/>
        </p:nvSpPr>
        <p:spPr>
          <a:xfrm>
            <a:off x="6236208" y="2971800"/>
            <a:ext cx="365760" cy="365760"/>
          </a:xfrm>
          <a:prstGeom prst="ellipse">
            <a:avLst/>
          </a:prstGeom>
          <a:solidFill>
            <a:srgbClr val="E8CC73"/>
          </a:solidFill>
          <a:ln/>
        </p:spPr>
      </p:sp>
      <p:sp>
        <p:nvSpPr>
          <p:cNvPr id="43" name="Text 41"/>
          <p:cNvSpPr/>
          <p:nvPr/>
        </p:nvSpPr>
        <p:spPr>
          <a:xfrm>
            <a:off x="6236208" y="2971800"/>
            <a:ext cx="365760" cy="365760"/>
          </a:xfrm>
          <a:prstGeom prst="rect">
            <a:avLst/>
          </a:prstGeom>
          <a:noFill/>
          <a:ln/>
        </p:spPr>
        <p:txBody>
          <a:bodyPr wrap="square" lIns="0" tIns="0" rIns="0" bIns="0" rtlCol="0" anchor="ctr"/>
          <a:lstStyle/>
          <a:p>
            <a:pPr algn="ctr" indent="0" marL="0">
              <a:buNone/>
            </a:pPr>
            <a:r>
              <a:rPr lang="en-US" sz="1000" dirty="0">
                <a:solidFill>
                  <a:srgbClr val="0F1B2D"/>
                </a:solidFill>
                <a:latin typeface="Arial Black" pitchFamily="34" charset="0"/>
                <a:ea typeface="Arial Black" pitchFamily="34" charset="-122"/>
                <a:cs typeface="Arial Black" pitchFamily="34" charset="-120"/>
              </a:rPr>
              <a:t>$$</a:t>
            </a:r>
            <a:endParaRPr lang="en-US" sz="1000" dirty="0"/>
          </a:p>
        </p:txBody>
      </p:sp>
      <p:sp>
        <p:nvSpPr>
          <p:cNvPr id="44" name="Text 42"/>
          <p:cNvSpPr/>
          <p:nvPr/>
        </p:nvSpPr>
        <p:spPr>
          <a:xfrm>
            <a:off x="6675120" y="2944368"/>
            <a:ext cx="192024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Subscription Plans</a:t>
            </a:r>
            <a:endParaRPr lang="en-US" sz="1200" dirty="0"/>
          </a:p>
        </p:txBody>
      </p:sp>
      <p:sp>
        <p:nvSpPr>
          <p:cNvPr id="45" name="Text 43"/>
          <p:cNvSpPr/>
          <p:nvPr/>
        </p:nvSpPr>
        <p:spPr>
          <a:xfrm>
            <a:off x="6675120" y="3154680"/>
            <a:ext cx="1920240" cy="182880"/>
          </a:xfrm>
          <a:prstGeom prst="rect">
            <a:avLst/>
          </a:prstGeom>
          <a:noFill/>
          <a:ln/>
        </p:spPr>
        <p:txBody>
          <a:bodyPr wrap="square" lIns="0" tIns="0" rIns="0" bIns="0" rtlCol="0" anchor="ctr"/>
          <a:lstStyle/>
          <a:p>
            <a:pPr indent="0" marL="0">
              <a:buNone/>
            </a:pPr>
            <a:r>
              <a:rPr lang="en-US" sz="950" dirty="0">
                <a:solidFill>
                  <a:srgbClr val="E8CC73"/>
                </a:solidFill>
                <a:latin typeface="Calibri" pitchFamily="34" charset="0"/>
                <a:ea typeface="Calibri" pitchFamily="34" charset="-122"/>
                <a:cs typeface="Calibri" pitchFamily="34" charset="-120"/>
              </a:rPr>
              <a:t>خطط الاشتراك</a:t>
            </a:r>
            <a:endParaRPr lang="en-US" sz="950" dirty="0"/>
          </a:p>
        </p:txBody>
      </p:sp>
      <p:sp>
        <p:nvSpPr>
          <p:cNvPr id="46" name="Text 44"/>
          <p:cNvSpPr/>
          <p:nvPr/>
        </p:nvSpPr>
        <p:spPr>
          <a:xfrm>
            <a:off x="6263640" y="3474720"/>
            <a:ext cx="2331720" cy="5029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4 tiers: Starter, Growth, Professional, Enterprise</a:t>
            </a:r>
            <a:endParaRPr lang="en-US" sz="950" dirty="0"/>
          </a:p>
        </p:txBody>
      </p:sp>
      <p:sp>
        <p:nvSpPr>
          <p:cNvPr id="47" name="Shape 45"/>
          <p:cNvSpPr/>
          <p:nvPr/>
        </p:nvSpPr>
        <p:spPr>
          <a:xfrm>
            <a:off x="0" y="4343400"/>
            <a:ext cx="9144000" cy="27432"/>
          </a:xfrm>
          <a:prstGeom prst="rect">
            <a:avLst/>
          </a:prstGeom>
          <a:solidFill>
            <a:srgbClr val="C9A84C">
              <a:alpha val="50000"/>
            </a:srgbClr>
          </a:solidFill>
          <a:ln/>
        </p:spPr>
      </p:sp>
      <p:sp>
        <p:nvSpPr>
          <p:cNvPr id="48" name="Text 46"/>
          <p:cNvSpPr/>
          <p:nvPr/>
        </p:nvSpPr>
        <p:spPr>
          <a:xfrm>
            <a:off x="457200" y="4407408"/>
            <a:ext cx="548640" cy="274320"/>
          </a:xfrm>
          <a:prstGeom prst="rect">
            <a:avLst/>
          </a:prstGeom>
          <a:noFill/>
          <a:ln/>
        </p:spPr>
        <p:txBody>
          <a:bodyPr wrap="square" lIns="0" tIns="0" rIns="0" bIns="0" rtlCol="0" anchor="ctr"/>
          <a:lstStyle/>
          <a:p>
            <a:pPr indent="0" marL="0">
              <a:buNone/>
            </a:pPr>
            <a:r>
              <a:rPr lang="en-US" sz="1400" dirty="0">
                <a:solidFill>
                  <a:srgbClr val="0891B2"/>
                </a:solidFill>
                <a:latin typeface="Arial Black" pitchFamily="34" charset="0"/>
                <a:ea typeface="Arial Black" pitchFamily="34" charset="-122"/>
                <a:cs typeface="Arial Black" pitchFamily="34" charset="-120"/>
              </a:rPr>
              <a:t>30+</a:t>
            </a:r>
            <a:endParaRPr lang="en-US" sz="1400" dirty="0"/>
          </a:p>
        </p:txBody>
      </p:sp>
      <p:sp>
        <p:nvSpPr>
          <p:cNvPr id="49" name="Text 47"/>
          <p:cNvSpPr/>
          <p:nvPr/>
        </p:nvSpPr>
        <p:spPr>
          <a:xfrm>
            <a:off x="100584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APIs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واجهة</a:t>
            </a:r>
            <a:endParaRPr lang="en-US" sz="800" dirty="0"/>
          </a:p>
        </p:txBody>
      </p:sp>
      <p:sp>
        <p:nvSpPr>
          <p:cNvPr id="50" name="Text 48"/>
          <p:cNvSpPr/>
          <p:nvPr/>
        </p:nvSpPr>
        <p:spPr>
          <a:xfrm>
            <a:off x="2194560" y="4407408"/>
            <a:ext cx="548640" cy="274320"/>
          </a:xfrm>
          <a:prstGeom prst="rect">
            <a:avLst/>
          </a:prstGeom>
          <a:noFill/>
          <a:ln/>
        </p:spPr>
        <p:txBody>
          <a:bodyPr wrap="square" lIns="0" tIns="0" rIns="0" bIns="0" rtlCol="0" anchor="ctr"/>
          <a:lstStyle/>
          <a:p>
            <a:pPr indent="0" marL="0">
              <a:buNone/>
            </a:pPr>
            <a:r>
              <a:rPr lang="en-US" sz="1400" dirty="0">
                <a:solidFill>
                  <a:srgbClr val="10B981"/>
                </a:solidFill>
                <a:latin typeface="Arial Black" pitchFamily="34" charset="0"/>
                <a:ea typeface="Arial Black" pitchFamily="34" charset="-122"/>
                <a:cs typeface="Arial Black" pitchFamily="34" charset="-120"/>
              </a:rPr>
              <a:t>11</a:t>
            </a:r>
            <a:endParaRPr lang="en-US" sz="1400" dirty="0"/>
          </a:p>
        </p:txBody>
      </p:sp>
      <p:sp>
        <p:nvSpPr>
          <p:cNvPr id="51" name="Text 49"/>
          <p:cNvSpPr/>
          <p:nvPr/>
        </p:nvSpPr>
        <p:spPr>
          <a:xfrm>
            <a:off x="274320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AI Modules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وحدة ذكاء</a:t>
            </a:r>
            <a:endParaRPr lang="en-US" sz="800" dirty="0"/>
          </a:p>
        </p:txBody>
      </p:sp>
      <p:sp>
        <p:nvSpPr>
          <p:cNvPr id="52" name="Text 50"/>
          <p:cNvSpPr/>
          <p:nvPr/>
        </p:nvSpPr>
        <p:spPr>
          <a:xfrm>
            <a:off x="3931920" y="4407408"/>
            <a:ext cx="548640" cy="274320"/>
          </a:xfrm>
          <a:prstGeom prst="rect">
            <a:avLst/>
          </a:prstGeom>
          <a:noFill/>
          <a:ln/>
        </p:spPr>
        <p:txBody>
          <a:bodyPr wrap="square" lIns="0" tIns="0" rIns="0" bIns="0" rtlCol="0" anchor="ctr"/>
          <a:lstStyle/>
          <a:p>
            <a:pPr indent="0" marL="0">
              <a:buNone/>
            </a:pPr>
            <a:r>
              <a:rPr lang="en-US" sz="1400" dirty="0">
                <a:solidFill>
                  <a:srgbClr val="C9A84C"/>
                </a:solidFill>
                <a:latin typeface="Arial Black" pitchFamily="34" charset="0"/>
                <a:ea typeface="Arial Black" pitchFamily="34" charset="-122"/>
                <a:cs typeface="Arial Black" pitchFamily="34" charset="-120"/>
              </a:rPr>
              <a:t>55+</a:t>
            </a:r>
            <a:endParaRPr lang="en-US" sz="1400" dirty="0"/>
          </a:p>
        </p:txBody>
      </p:sp>
      <p:sp>
        <p:nvSpPr>
          <p:cNvPr id="53" name="Text 51"/>
          <p:cNvSpPr/>
          <p:nvPr/>
        </p:nvSpPr>
        <p:spPr>
          <a:xfrm>
            <a:off x="448056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Screens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شاشة</a:t>
            </a:r>
            <a:endParaRPr lang="en-US" sz="800" dirty="0"/>
          </a:p>
        </p:txBody>
      </p:sp>
      <p:sp>
        <p:nvSpPr>
          <p:cNvPr id="54" name="Text 52"/>
          <p:cNvSpPr/>
          <p:nvPr/>
        </p:nvSpPr>
        <p:spPr>
          <a:xfrm>
            <a:off x="5669280" y="4407408"/>
            <a:ext cx="548640" cy="274320"/>
          </a:xfrm>
          <a:prstGeom prst="rect">
            <a:avLst/>
          </a:prstGeom>
          <a:noFill/>
          <a:ln/>
        </p:spPr>
        <p:txBody>
          <a:bodyPr wrap="square" lIns="0" tIns="0" rIns="0" bIns="0" rtlCol="0" anchor="ctr"/>
          <a:lstStyle/>
          <a:p>
            <a:pPr indent="0" marL="0">
              <a:buNone/>
            </a:pPr>
            <a:r>
              <a:rPr lang="en-US" sz="1400" dirty="0">
                <a:solidFill>
                  <a:srgbClr val="F96167"/>
                </a:solidFill>
                <a:latin typeface="Arial Black" pitchFamily="34" charset="0"/>
                <a:ea typeface="Arial Black" pitchFamily="34" charset="-122"/>
                <a:cs typeface="Arial Black" pitchFamily="34" charset="-120"/>
              </a:rPr>
              <a:t>4</a:t>
            </a:r>
            <a:endParaRPr lang="en-US" sz="1400" dirty="0"/>
          </a:p>
        </p:txBody>
      </p:sp>
      <p:sp>
        <p:nvSpPr>
          <p:cNvPr id="55" name="Text 53"/>
          <p:cNvSpPr/>
          <p:nvPr/>
        </p:nvSpPr>
        <p:spPr>
          <a:xfrm>
            <a:off x="621792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Plans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خطط</a:t>
            </a:r>
            <a:endParaRPr lang="en-US" sz="800" dirty="0"/>
          </a:p>
        </p:txBody>
      </p:sp>
      <p:sp>
        <p:nvSpPr>
          <p:cNvPr id="56" name="Text 54"/>
          <p:cNvSpPr/>
          <p:nvPr/>
        </p:nvSpPr>
        <p:spPr>
          <a:xfrm>
            <a:off x="7406640" y="4407408"/>
            <a:ext cx="548640" cy="274320"/>
          </a:xfrm>
          <a:prstGeom prst="rect">
            <a:avLst/>
          </a:prstGeom>
          <a:noFill/>
          <a:ln/>
        </p:spPr>
        <p:txBody>
          <a:bodyPr wrap="square" lIns="0" tIns="0" rIns="0" bIns="0" rtlCol="0" anchor="ctr"/>
          <a:lstStyle/>
          <a:p>
            <a:pPr indent="0" marL="0">
              <a:buNone/>
            </a:pPr>
            <a:r>
              <a:rPr lang="en-US" sz="1400" dirty="0">
                <a:solidFill>
                  <a:srgbClr val="22D3EE"/>
                </a:solidFill>
                <a:latin typeface="Arial Black" pitchFamily="34" charset="0"/>
                <a:ea typeface="Arial Black" pitchFamily="34" charset="-122"/>
                <a:cs typeface="Arial Black" pitchFamily="34" charset="-120"/>
              </a:rPr>
              <a:t>11</a:t>
            </a:r>
            <a:endParaRPr lang="en-US" sz="1400" dirty="0"/>
          </a:p>
        </p:txBody>
      </p:sp>
      <p:sp>
        <p:nvSpPr>
          <p:cNvPr id="57" name="Text 55"/>
          <p:cNvSpPr/>
          <p:nvPr/>
        </p:nvSpPr>
        <p:spPr>
          <a:xfrm>
            <a:off x="7955280" y="4407408"/>
            <a:ext cx="1005840" cy="27432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Roles</a:t>
            </a:r>
            <a:endParaRPr lang="en-US" sz="800" dirty="0"/>
          </a:p>
          <a:p>
            <a:pPr indent="0" marL="0">
              <a:buNone/>
            </a:pPr>
            <a:r>
              <a:rPr lang="en-US" sz="800" dirty="0">
                <a:solidFill>
                  <a:srgbClr val="94A3B8"/>
                </a:solidFill>
                <a:latin typeface="Calibri" pitchFamily="34" charset="0"/>
                <a:ea typeface="Calibri" pitchFamily="34" charset="-122"/>
                <a:cs typeface="Calibri" pitchFamily="34" charset="-120"/>
              </a:rPr>
              <a:t>دور</a:t>
            </a:r>
            <a:endParaRPr lang="en-US" sz="800" dirty="0"/>
          </a:p>
        </p:txBody>
      </p:sp>
      <p:sp>
        <p:nvSpPr>
          <p:cNvPr id="58" name="Shape 56"/>
          <p:cNvSpPr/>
          <p:nvPr/>
        </p:nvSpPr>
        <p:spPr>
          <a:xfrm>
            <a:off x="0" y="4709160"/>
            <a:ext cx="9144000" cy="434340"/>
          </a:xfrm>
          <a:prstGeom prst="rect">
            <a:avLst/>
          </a:prstGeom>
          <a:solidFill>
            <a:srgbClr val="0A1220"/>
          </a:solidFill>
          <a:ln/>
        </p:spPr>
      </p:sp>
      <p:sp>
        <p:nvSpPr>
          <p:cNvPr id="59" name="Text 57"/>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60" name="Text 58"/>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4 / 19</a:t>
            </a:r>
            <a:endParaRPr lang="en-US" sz="750" dirty="0"/>
          </a:p>
        </p:txBody>
      </p:sp>
      <p:sp>
        <p:nvSpPr>
          <p:cNvPr id="61" name="Text 59"/>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FOR CLIENTS  ·  للعملاء</a:t>
            </a:r>
            <a:endParaRPr lang="en-US" sz="1100" dirty="0"/>
          </a:p>
        </p:txBody>
      </p:sp>
      <p:sp>
        <p:nvSpPr>
          <p:cNvPr id="4" name="Text 2"/>
          <p:cNvSpPr/>
          <p:nvPr/>
        </p:nvSpPr>
        <p:spPr>
          <a:xfrm>
            <a:off x="457200" y="502920"/>
            <a:ext cx="8229600" cy="9601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Your Complete Financial Health Report</a:t>
            </a:r>
            <a:endParaRPr lang="en-US" sz="2600" dirty="0"/>
          </a:p>
          <a:p>
            <a:pPr indent="0" marL="0">
              <a:buNone/>
            </a:pPr>
            <a:r>
              <a:rPr lang="en-US" sz="2600" b="1" dirty="0">
                <a:solidFill>
                  <a:srgbClr val="0891B2"/>
                </a:solidFill>
                <a:latin typeface="Calibri" pitchFamily="34" charset="0"/>
                <a:ea typeface="Calibri" pitchFamily="34" charset="-122"/>
                <a:cs typeface="Calibri" pitchFamily="34" charset="-120"/>
              </a:rPr>
              <a:t>in Minutes, Not Weeks</a:t>
            </a:r>
            <a:endParaRPr lang="en-US" sz="2600" dirty="0"/>
          </a:p>
          <a:p>
            <a:pPr indent="0" marL="0">
              <a:buNone/>
            </a:pPr>
            <a:r>
              <a:rPr lang="en-US" sz="1100" dirty="0">
                <a:solidFill>
                  <a:srgbClr val="94A3B8"/>
                </a:solidFill>
                <a:latin typeface="Calibri" pitchFamily="34" charset="0"/>
                <a:ea typeface="Calibri" pitchFamily="34" charset="-122"/>
                <a:cs typeface="Calibri" pitchFamily="34" charset="-120"/>
              </a:rPr>
              <a:t>المنشآت الصغيرة · مكاتب المحاسبة · الشركات · الناشئات</a:t>
            </a:r>
            <a:endParaRPr lang="en-US" sz="2600" dirty="0"/>
          </a:p>
        </p:txBody>
      </p:sp>
      <p:sp>
        <p:nvSpPr>
          <p:cNvPr id="5" name="Shape 3"/>
          <p:cNvSpPr/>
          <p:nvPr/>
        </p:nvSpPr>
        <p:spPr>
          <a:xfrm>
            <a:off x="457200" y="1645920"/>
            <a:ext cx="3200400" cy="164592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457200" y="1645920"/>
            <a:ext cx="3200400" cy="45720"/>
          </a:xfrm>
          <a:prstGeom prst="rect">
            <a:avLst/>
          </a:prstGeom>
          <a:solidFill>
            <a:srgbClr val="0891B2"/>
          </a:solidFill>
          <a:ln/>
        </p:spPr>
      </p:sp>
      <p:sp>
        <p:nvSpPr>
          <p:cNvPr id="7" name="Text 5"/>
          <p:cNvSpPr/>
          <p:nvPr/>
        </p:nvSpPr>
        <p:spPr>
          <a:xfrm>
            <a:off x="457200" y="1783080"/>
            <a:ext cx="3200400" cy="731520"/>
          </a:xfrm>
          <a:prstGeom prst="rect">
            <a:avLst/>
          </a:prstGeom>
          <a:noFill/>
          <a:ln/>
        </p:spPr>
        <p:txBody>
          <a:bodyPr wrap="square" lIns="0" tIns="0" rIns="0" bIns="0" rtlCol="0" anchor="ctr"/>
          <a:lstStyle/>
          <a:p>
            <a:pPr algn="ctr" indent="0" marL="0">
              <a:buNone/>
            </a:pPr>
            <a:r>
              <a:rPr lang="en-US" sz="5600" dirty="0">
                <a:solidFill>
                  <a:srgbClr val="0891B2"/>
                </a:solidFill>
                <a:latin typeface="Arial Black" pitchFamily="34" charset="0"/>
                <a:ea typeface="Arial Black" pitchFamily="34" charset="-122"/>
                <a:cs typeface="Arial Black" pitchFamily="34" charset="-120"/>
              </a:rPr>
              <a:t>93%</a:t>
            </a:r>
            <a:endParaRPr lang="en-US" sz="5600" dirty="0"/>
          </a:p>
        </p:txBody>
      </p:sp>
      <p:sp>
        <p:nvSpPr>
          <p:cNvPr id="8" name="Text 6"/>
          <p:cNvSpPr/>
          <p:nvPr/>
        </p:nvSpPr>
        <p:spPr>
          <a:xfrm>
            <a:off x="640080" y="2560320"/>
            <a:ext cx="2834640" cy="5486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of financial analysis tasks automated</a:t>
            </a:r>
            <a:endParaRPr lang="en-US" sz="1300" dirty="0"/>
          </a:p>
          <a:p>
            <a:pPr algn="ctr" indent="0" marL="0">
              <a:buNone/>
            </a:pPr>
            <a:r>
              <a:rPr lang="en-US" sz="1100" dirty="0">
                <a:solidFill>
                  <a:srgbClr val="C9A84C"/>
                </a:solidFill>
                <a:latin typeface="Calibri" pitchFamily="34" charset="0"/>
                <a:ea typeface="Calibri" pitchFamily="34" charset="-122"/>
                <a:cs typeface="Calibri" pitchFamily="34" charset="-120"/>
              </a:rPr>
              <a:t>من مهام التحليل المالي مؤتمتة بالكامل</a:t>
            </a:r>
            <a:endParaRPr lang="en-US" sz="1300" dirty="0"/>
          </a:p>
        </p:txBody>
      </p:sp>
      <p:sp>
        <p:nvSpPr>
          <p:cNvPr id="9" name="Shape 7"/>
          <p:cNvSpPr/>
          <p:nvPr/>
        </p:nvSpPr>
        <p:spPr>
          <a:xfrm>
            <a:off x="4023360" y="1645920"/>
            <a:ext cx="4663440" cy="457200"/>
          </a:xfrm>
          <a:prstGeom prst="rect">
            <a:avLst/>
          </a:prstGeom>
          <a:solidFill>
            <a:srgbClr val="1A2E4A"/>
          </a:solidFill>
          <a:ln/>
        </p:spPr>
      </p:sp>
      <p:sp>
        <p:nvSpPr>
          <p:cNvPr id="10" name="Shape 8"/>
          <p:cNvSpPr/>
          <p:nvPr/>
        </p:nvSpPr>
        <p:spPr>
          <a:xfrm>
            <a:off x="4023360" y="1645920"/>
            <a:ext cx="45720" cy="457200"/>
          </a:xfrm>
          <a:prstGeom prst="rect">
            <a:avLst/>
          </a:prstGeom>
          <a:solidFill>
            <a:srgbClr val="0891B2"/>
          </a:solidFill>
          <a:ln/>
        </p:spPr>
      </p:sp>
      <p:sp>
        <p:nvSpPr>
          <p:cNvPr id="11" name="Text 9"/>
          <p:cNvSpPr/>
          <p:nvPr/>
        </p:nvSpPr>
        <p:spPr>
          <a:xfrm>
            <a:off x="4206240" y="164592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Upload Arabic or English financials — AI understands both</a:t>
            </a:r>
            <a:endParaRPr lang="en-US" sz="1050" dirty="0"/>
          </a:p>
        </p:txBody>
      </p:sp>
      <p:sp>
        <p:nvSpPr>
          <p:cNvPr id="12" name="Text 10"/>
          <p:cNvSpPr/>
          <p:nvPr/>
        </p:nvSpPr>
        <p:spPr>
          <a:xfrm>
            <a:off x="4206240" y="189280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ارفع ملفاتك بالعربية أو الإنجليزية</a:t>
            </a:r>
            <a:endParaRPr lang="en-US" sz="900" dirty="0"/>
          </a:p>
        </p:txBody>
      </p:sp>
      <p:sp>
        <p:nvSpPr>
          <p:cNvPr id="13" name="Shape 11"/>
          <p:cNvSpPr/>
          <p:nvPr/>
        </p:nvSpPr>
        <p:spPr>
          <a:xfrm>
            <a:off x="4023360" y="2194560"/>
            <a:ext cx="4663440" cy="457200"/>
          </a:xfrm>
          <a:prstGeom prst="rect">
            <a:avLst/>
          </a:prstGeom>
          <a:solidFill>
            <a:srgbClr val="1A2E4A"/>
          </a:solidFill>
          <a:ln/>
        </p:spPr>
      </p:sp>
      <p:sp>
        <p:nvSpPr>
          <p:cNvPr id="14" name="Shape 12"/>
          <p:cNvSpPr/>
          <p:nvPr/>
        </p:nvSpPr>
        <p:spPr>
          <a:xfrm>
            <a:off x="4023360" y="2194560"/>
            <a:ext cx="45720" cy="457200"/>
          </a:xfrm>
          <a:prstGeom prst="rect">
            <a:avLst/>
          </a:prstGeom>
          <a:solidFill>
            <a:srgbClr val="10B981"/>
          </a:solidFill>
          <a:ln/>
        </p:spPr>
      </p:sp>
      <p:sp>
        <p:nvSpPr>
          <p:cNvPr id="15" name="Text 13"/>
          <p:cNvSpPr/>
          <p:nvPr/>
        </p:nvSpPr>
        <p:spPr>
          <a:xfrm>
            <a:off x="4206240" y="219456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Complete financial health report in minutes, not weeks</a:t>
            </a:r>
            <a:endParaRPr lang="en-US" sz="1050" dirty="0"/>
          </a:p>
        </p:txBody>
      </p:sp>
      <p:sp>
        <p:nvSpPr>
          <p:cNvPr id="16" name="Text 14"/>
          <p:cNvSpPr/>
          <p:nvPr/>
        </p:nvSpPr>
        <p:spPr>
          <a:xfrm>
            <a:off x="4206240" y="244144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تقرير صحة مالية كامل في دقائق</a:t>
            </a:r>
            <a:endParaRPr lang="en-US" sz="900" dirty="0"/>
          </a:p>
        </p:txBody>
      </p:sp>
      <p:sp>
        <p:nvSpPr>
          <p:cNvPr id="17" name="Shape 15"/>
          <p:cNvSpPr/>
          <p:nvPr/>
        </p:nvSpPr>
        <p:spPr>
          <a:xfrm>
            <a:off x="4023360" y="2743200"/>
            <a:ext cx="4663440" cy="457200"/>
          </a:xfrm>
          <a:prstGeom prst="rect">
            <a:avLst/>
          </a:prstGeom>
          <a:solidFill>
            <a:srgbClr val="1A2E4A"/>
          </a:solidFill>
          <a:ln/>
        </p:spPr>
      </p:sp>
      <p:sp>
        <p:nvSpPr>
          <p:cNvPr id="18" name="Shape 16"/>
          <p:cNvSpPr/>
          <p:nvPr/>
        </p:nvSpPr>
        <p:spPr>
          <a:xfrm>
            <a:off x="4023360" y="2743200"/>
            <a:ext cx="45720" cy="457200"/>
          </a:xfrm>
          <a:prstGeom prst="rect">
            <a:avLst/>
          </a:prstGeom>
          <a:solidFill>
            <a:srgbClr val="C9A84C"/>
          </a:solidFill>
          <a:ln/>
        </p:spPr>
      </p:sp>
      <p:sp>
        <p:nvSpPr>
          <p:cNvPr id="19" name="Text 17"/>
          <p:cNvSpPr/>
          <p:nvPr/>
        </p:nvSpPr>
        <p:spPr>
          <a:xfrm>
            <a:off x="4206240" y="274320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Funding Readiness Score 0–100 with actionable steps</a:t>
            </a:r>
            <a:endParaRPr lang="en-US" sz="1050" dirty="0"/>
          </a:p>
        </p:txBody>
      </p:sp>
      <p:sp>
        <p:nvSpPr>
          <p:cNvPr id="20" name="Text 18"/>
          <p:cNvSpPr/>
          <p:nvPr/>
        </p:nvSpPr>
        <p:spPr>
          <a:xfrm>
            <a:off x="4206240" y="299008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درجة جاهزية تمويلية من 0 إلى 100</a:t>
            </a:r>
            <a:endParaRPr lang="en-US" sz="900" dirty="0"/>
          </a:p>
        </p:txBody>
      </p:sp>
      <p:sp>
        <p:nvSpPr>
          <p:cNvPr id="21" name="Shape 19"/>
          <p:cNvSpPr/>
          <p:nvPr/>
        </p:nvSpPr>
        <p:spPr>
          <a:xfrm>
            <a:off x="4023360" y="3291840"/>
            <a:ext cx="4663440" cy="457200"/>
          </a:xfrm>
          <a:prstGeom prst="rect">
            <a:avLst/>
          </a:prstGeom>
          <a:solidFill>
            <a:srgbClr val="1A2E4A"/>
          </a:solidFill>
          <a:ln/>
        </p:spPr>
      </p:sp>
      <p:sp>
        <p:nvSpPr>
          <p:cNvPr id="22" name="Shape 20"/>
          <p:cNvSpPr/>
          <p:nvPr/>
        </p:nvSpPr>
        <p:spPr>
          <a:xfrm>
            <a:off x="4023360" y="3291840"/>
            <a:ext cx="45720" cy="457200"/>
          </a:xfrm>
          <a:prstGeom prst="rect">
            <a:avLst/>
          </a:prstGeom>
          <a:solidFill>
            <a:srgbClr val="22D3EE"/>
          </a:solidFill>
          <a:ln/>
        </p:spPr>
      </p:sp>
      <p:sp>
        <p:nvSpPr>
          <p:cNvPr id="23" name="Text 21"/>
          <p:cNvSpPr/>
          <p:nvPr/>
        </p:nvSpPr>
        <p:spPr>
          <a:xfrm>
            <a:off x="4206240" y="329184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SOCPA &amp; IFRS compliant. Audit-ready documentation</a:t>
            </a:r>
            <a:endParaRPr lang="en-US" sz="1050" dirty="0"/>
          </a:p>
        </p:txBody>
      </p:sp>
      <p:sp>
        <p:nvSpPr>
          <p:cNvPr id="24" name="Text 22"/>
          <p:cNvSpPr/>
          <p:nvPr/>
        </p:nvSpPr>
        <p:spPr>
          <a:xfrm>
            <a:off x="4206240" y="353872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متوافق مع المعايير. توثيق جاهز للمراجعة</a:t>
            </a:r>
            <a:endParaRPr lang="en-US" sz="900" dirty="0"/>
          </a:p>
        </p:txBody>
      </p:sp>
      <p:sp>
        <p:nvSpPr>
          <p:cNvPr id="25" name="Shape 23"/>
          <p:cNvSpPr/>
          <p:nvPr/>
        </p:nvSpPr>
        <p:spPr>
          <a:xfrm>
            <a:off x="4023360" y="3840480"/>
            <a:ext cx="4663440" cy="457200"/>
          </a:xfrm>
          <a:prstGeom prst="rect">
            <a:avLst/>
          </a:prstGeom>
          <a:solidFill>
            <a:srgbClr val="1A2E4A"/>
          </a:solidFill>
          <a:ln/>
        </p:spPr>
      </p:sp>
      <p:sp>
        <p:nvSpPr>
          <p:cNvPr id="26" name="Shape 24"/>
          <p:cNvSpPr/>
          <p:nvPr/>
        </p:nvSpPr>
        <p:spPr>
          <a:xfrm>
            <a:off x="4023360" y="3840480"/>
            <a:ext cx="45720" cy="457200"/>
          </a:xfrm>
          <a:prstGeom prst="rect">
            <a:avLst/>
          </a:prstGeom>
          <a:solidFill>
            <a:srgbClr val="F96167"/>
          </a:solidFill>
          <a:ln/>
        </p:spPr>
      </p:sp>
      <p:sp>
        <p:nvSpPr>
          <p:cNvPr id="27" name="Text 25"/>
          <p:cNvSpPr/>
          <p:nvPr/>
        </p:nvSpPr>
        <p:spPr>
          <a:xfrm>
            <a:off x="4206240" y="3840480"/>
            <a:ext cx="4389120" cy="246888"/>
          </a:xfrm>
          <a:prstGeom prst="rect">
            <a:avLst/>
          </a:prstGeom>
          <a:noFill/>
          <a:ln/>
        </p:spPr>
        <p:txBody>
          <a:bodyPr wrap="square" lIns="0" tIns="0" rIns="0" bIns="0" rtlCol="0" anchor="b"/>
          <a:lstStyle/>
          <a:p>
            <a:pPr indent="0" marL="0">
              <a:buNone/>
            </a:pPr>
            <a:r>
              <a:rPr lang="en-US" sz="1050" dirty="0">
                <a:solidFill>
                  <a:srgbClr val="FFFFFF"/>
                </a:solidFill>
                <a:latin typeface="Calibri" pitchFamily="34" charset="0"/>
                <a:ea typeface="Calibri" pitchFamily="34" charset="-122"/>
                <a:cs typeface="Calibri" pitchFamily="34" charset="-120"/>
              </a:rPr>
              <a:t>Connect with certified professionals via Marketplace</a:t>
            </a:r>
            <a:endParaRPr lang="en-US" sz="1050" dirty="0"/>
          </a:p>
        </p:txBody>
      </p:sp>
      <p:sp>
        <p:nvSpPr>
          <p:cNvPr id="28" name="Text 26"/>
          <p:cNvSpPr/>
          <p:nvPr/>
        </p:nvSpPr>
        <p:spPr>
          <a:xfrm>
            <a:off x="4206240" y="4087368"/>
            <a:ext cx="438912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تواصل مع متخصصين معتمدين عبر السوق</a:t>
            </a:r>
            <a:endParaRPr lang="en-US" sz="900" dirty="0"/>
          </a:p>
        </p:txBody>
      </p:sp>
      <p:sp>
        <p:nvSpPr>
          <p:cNvPr id="29" name="Shape 27"/>
          <p:cNvSpPr/>
          <p:nvPr/>
        </p:nvSpPr>
        <p:spPr>
          <a:xfrm>
            <a:off x="0" y="4709160"/>
            <a:ext cx="9144000" cy="434340"/>
          </a:xfrm>
          <a:prstGeom prst="rect">
            <a:avLst/>
          </a:prstGeom>
          <a:solidFill>
            <a:srgbClr val="0A1220"/>
          </a:solidFill>
          <a:ln/>
        </p:spPr>
      </p:sp>
      <p:sp>
        <p:nvSpPr>
          <p:cNvPr id="30" name="Text 2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1" name="Text 2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5 / 19</a:t>
            </a:r>
            <a:endParaRPr lang="en-US" sz="750" dirty="0"/>
          </a:p>
        </p:txBody>
      </p:sp>
      <p:sp>
        <p:nvSpPr>
          <p:cNvPr id="32" name="Text 3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FOR INVESTORS  ·  للمستثمرين</a:t>
            </a:r>
            <a:endParaRPr lang="en-US" sz="1100" dirty="0"/>
          </a:p>
        </p:txBody>
      </p:sp>
      <p:sp>
        <p:nvSpPr>
          <p:cNvPr id="4" name="Text 2"/>
          <p:cNvSpPr/>
          <p:nvPr/>
        </p:nvSpPr>
        <p:spPr>
          <a:xfrm>
            <a:off x="457200" y="502920"/>
            <a:ext cx="8229600" cy="7772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 SAR 780B Market Opportunity</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فرصة سوقية بقيمة 780 مليار ريال</a:t>
            </a:r>
            <a:endParaRPr lang="en-US" sz="2600" dirty="0"/>
          </a:p>
        </p:txBody>
      </p:sp>
      <p:sp>
        <p:nvSpPr>
          <p:cNvPr id="5" name="Shape 3"/>
          <p:cNvSpPr/>
          <p:nvPr/>
        </p:nvSpPr>
        <p:spPr>
          <a:xfrm>
            <a:off x="457200" y="1463040"/>
            <a:ext cx="2606040" cy="13716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457200" y="1463040"/>
            <a:ext cx="2606040" cy="45720"/>
          </a:xfrm>
          <a:prstGeom prst="rect">
            <a:avLst/>
          </a:prstGeom>
          <a:solidFill>
            <a:srgbClr val="C9A84C"/>
          </a:solidFill>
          <a:ln/>
        </p:spPr>
      </p:sp>
      <p:sp>
        <p:nvSpPr>
          <p:cNvPr id="7" name="Shape 5"/>
          <p:cNvSpPr/>
          <p:nvPr/>
        </p:nvSpPr>
        <p:spPr>
          <a:xfrm>
            <a:off x="475488" y="1481328"/>
            <a:ext cx="36576" cy="1335024"/>
          </a:xfrm>
          <a:prstGeom prst="rect">
            <a:avLst/>
          </a:prstGeom>
          <a:solidFill>
            <a:srgbClr val="C9A84C"/>
          </a:solidFill>
          <a:ln/>
        </p:spPr>
      </p:sp>
      <p:sp>
        <p:nvSpPr>
          <p:cNvPr id="8" name="Text 6"/>
          <p:cNvSpPr/>
          <p:nvPr/>
        </p:nvSpPr>
        <p:spPr>
          <a:xfrm>
            <a:off x="45720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SAR 780B</a:t>
            </a:r>
            <a:endParaRPr lang="en-US" sz="3000" dirty="0"/>
          </a:p>
        </p:txBody>
      </p:sp>
      <p:sp>
        <p:nvSpPr>
          <p:cNvPr id="9" name="Text 7"/>
          <p:cNvSpPr/>
          <p:nvPr/>
        </p:nvSpPr>
        <p:spPr>
          <a:xfrm>
            <a:off x="45720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Saudi SME Market</a:t>
            </a:r>
            <a:endParaRPr lang="en-US" sz="1200" dirty="0"/>
          </a:p>
        </p:txBody>
      </p:sp>
      <p:sp>
        <p:nvSpPr>
          <p:cNvPr id="10" name="Text 8"/>
          <p:cNvSpPr/>
          <p:nvPr/>
        </p:nvSpPr>
        <p:spPr>
          <a:xfrm>
            <a:off x="457200" y="2212848"/>
            <a:ext cx="2606040" cy="182880"/>
          </a:xfrm>
          <a:prstGeom prst="rect">
            <a:avLst/>
          </a:prstGeom>
          <a:noFill/>
          <a:ln/>
        </p:spPr>
        <p:txBody>
          <a:bodyPr wrap="square" lIns="0" tIns="0" rIns="0" bIns="0" rtlCol="0" anchor="ctr"/>
          <a:lstStyle/>
          <a:p>
            <a:pPr algn="ctr" indent="0" marL="0">
              <a:buNone/>
            </a:pPr>
            <a:r>
              <a:rPr lang="en-US" sz="1000" dirty="0">
                <a:solidFill>
                  <a:srgbClr val="C9A84C"/>
                </a:solidFill>
                <a:latin typeface="Calibri" pitchFamily="34" charset="0"/>
                <a:ea typeface="Calibri" pitchFamily="34" charset="-122"/>
                <a:cs typeface="Calibri" pitchFamily="34" charset="-120"/>
              </a:rPr>
              <a:t>سوق المنشآت السعودية</a:t>
            </a:r>
            <a:endParaRPr lang="en-US" sz="1000" dirty="0"/>
          </a:p>
        </p:txBody>
      </p:sp>
      <p:sp>
        <p:nvSpPr>
          <p:cNvPr id="11" name="Text 9"/>
          <p:cNvSpPr/>
          <p:nvPr/>
        </p:nvSpPr>
        <p:spPr>
          <a:xfrm>
            <a:off x="45720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Total addressable market</a:t>
            </a:r>
            <a:endParaRPr lang="en-US" sz="900" dirty="0"/>
          </a:p>
        </p:txBody>
      </p:sp>
      <p:sp>
        <p:nvSpPr>
          <p:cNvPr id="12" name="Shape 10"/>
          <p:cNvSpPr/>
          <p:nvPr/>
        </p:nvSpPr>
        <p:spPr>
          <a:xfrm>
            <a:off x="3337560" y="1463040"/>
            <a:ext cx="2606040" cy="13716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13" name="Shape 11"/>
          <p:cNvSpPr/>
          <p:nvPr/>
        </p:nvSpPr>
        <p:spPr>
          <a:xfrm>
            <a:off x="3337560" y="1463040"/>
            <a:ext cx="2606040" cy="45720"/>
          </a:xfrm>
          <a:prstGeom prst="rect">
            <a:avLst/>
          </a:prstGeom>
          <a:solidFill>
            <a:srgbClr val="0891B2"/>
          </a:solidFill>
          <a:ln/>
        </p:spPr>
      </p:sp>
      <p:sp>
        <p:nvSpPr>
          <p:cNvPr id="14" name="Shape 12"/>
          <p:cNvSpPr/>
          <p:nvPr/>
        </p:nvSpPr>
        <p:spPr>
          <a:xfrm>
            <a:off x="3355848" y="1481328"/>
            <a:ext cx="36576" cy="1335024"/>
          </a:xfrm>
          <a:prstGeom prst="rect">
            <a:avLst/>
          </a:prstGeom>
          <a:solidFill>
            <a:srgbClr val="C9A84C"/>
          </a:solidFill>
          <a:ln/>
        </p:spPr>
      </p:sp>
      <p:sp>
        <p:nvSpPr>
          <p:cNvPr id="15" name="Text 13"/>
          <p:cNvSpPr/>
          <p:nvPr/>
        </p:nvSpPr>
        <p:spPr>
          <a:xfrm>
            <a:off x="333756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23%</a:t>
            </a:r>
            <a:endParaRPr lang="en-US" sz="3000" dirty="0"/>
          </a:p>
        </p:txBody>
      </p:sp>
      <p:sp>
        <p:nvSpPr>
          <p:cNvPr id="16" name="Text 14"/>
          <p:cNvSpPr/>
          <p:nvPr/>
        </p:nvSpPr>
        <p:spPr>
          <a:xfrm>
            <a:off x="333756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Fintech CAGR</a:t>
            </a:r>
            <a:endParaRPr lang="en-US" sz="1200" dirty="0"/>
          </a:p>
        </p:txBody>
      </p:sp>
      <p:sp>
        <p:nvSpPr>
          <p:cNvPr id="17" name="Text 15"/>
          <p:cNvSpPr/>
          <p:nvPr/>
        </p:nvSpPr>
        <p:spPr>
          <a:xfrm>
            <a:off x="3337560" y="2212848"/>
            <a:ext cx="2606040" cy="182880"/>
          </a:xfrm>
          <a:prstGeom prst="rect">
            <a:avLst/>
          </a:prstGeom>
          <a:noFill/>
          <a:ln/>
        </p:spPr>
        <p:txBody>
          <a:bodyPr wrap="square" lIns="0" tIns="0" rIns="0" bIns="0" rtlCol="0" anchor="ctr"/>
          <a:lstStyle/>
          <a:p>
            <a:pPr algn="ctr" indent="0" marL="0">
              <a:buNone/>
            </a:pPr>
            <a:r>
              <a:rPr lang="en-US" sz="1000" dirty="0">
                <a:solidFill>
                  <a:srgbClr val="0891B2"/>
                </a:solidFill>
                <a:latin typeface="Calibri" pitchFamily="34" charset="0"/>
                <a:ea typeface="Calibri" pitchFamily="34" charset="-122"/>
                <a:cs typeface="Calibri" pitchFamily="34" charset="-120"/>
              </a:rPr>
              <a:t>نمو الفنتك السعودي</a:t>
            </a:r>
            <a:endParaRPr lang="en-US" sz="1000" dirty="0"/>
          </a:p>
        </p:txBody>
      </p:sp>
      <p:sp>
        <p:nvSpPr>
          <p:cNvPr id="18" name="Text 16"/>
          <p:cNvSpPr/>
          <p:nvPr/>
        </p:nvSpPr>
        <p:spPr>
          <a:xfrm>
            <a:off x="333756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Saudi Arabia 2024–2030</a:t>
            </a:r>
            <a:endParaRPr lang="en-US" sz="900" dirty="0"/>
          </a:p>
        </p:txBody>
      </p:sp>
      <p:sp>
        <p:nvSpPr>
          <p:cNvPr id="19" name="Shape 17"/>
          <p:cNvSpPr/>
          <p:nvPr/>
        </p:nvSpPr>
        <p:spPr>
          <a:xfrm>
            <a:off x="6217920" y="1463040"/>
            <a:ext cx="2606040" cy="13716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20" name="Shape 18"/>
          <p:cNvSpPr/>
          <p:nvPr/>
        </p:nvSpPr>
        <p:spPr>
          <a:xfrm>
            <a:off x="6217920" y="1463040"/>
            <a:ext cx="2606040" cy="45720"/>
          </a:xfrm>
          <a:prstGeom prst="rect">
            <a:avLst/>
          </a:prstGeom>
          <a:solidFill>
            <a:srgbClr val="10B981"/>
          </a:solidFill>
          <a:ln/>
        </p:spPr>
      </p:sp>
      <p:sp>
        <p:nvSpPr>
          <p:cNvPr id="21" name="Shape 19"/>
          <p:cNvSpPr/>
          <p:nvPr/>
        </p:nvSpPr>
        <p:spPr>
          <a:xfrm>
            <a:off x="6236208" y="1481328"/>
            <a:ext cx="36576" cy="1335024"/>
          </a:xfrm>
          <a:prstGeom prst="rect">
            <a:avLst/>
          </a:prstGeom>
          <a:solidFill>
            <a:srgbClr val="C9A84C"/>
          </a:solidFill>
          <a:ln/>
        </p:spPr>
      </p:sp>
      <p:sp>
        <p:nvSpPr>
          <p:cNvPr id="22" name="Text 20"/>
          <p:cNvSpPr/>
          <p:nvPr/>
        </p:nvSpPr>
        <p:spPr>
          <a:xfrm>
            <a:off x="6217920" y="1572768"/>
            <a:ext cx="2606040" cy="457200"/>
          </a:xfrm>
          <a:prstGeom prst="rect">
            <a:avLst/>
          </a:prstGeom>
          <a:noFill/>
          <a:ln/>
        </p:spPr>
        <p:txBody>
          <a:bodyPr wrap="square" lIns="0" tIns="0" rIns="0" bIns="0" rtlCol="0" anchor="ctr"/>
          <a:lstStyle/>
          <a:p>
            <a:pPr algn="ctr" indent="0" marL="0">
              <a:buNone/>
            </a:pPr>
            <a:r>
              <a:rPr lang="en-US" sz="3000" dirty="0">
                <a:solidFill>
                  <a:srgbClr val="FFFFFF"/>
                </a:solidFill>
                <a:latin typeface="Arial Black" pitchFamily="34" charset="0"/>
                <a:ea typeface="Arial Black" pitchFamily="34" charset="-122"/>
                <a:cs typeface="Arial Black" pitchFamily="34" charset="-120"/>
              </a:rPr>
              <a:t>500+</a:t>
            </a:r>
            <a:endParaRPr lang="en-US" sz="3000" dirty="0"/>
          </a:p>
        </p:txBody>
      </p:sp>
      <p:sp>
        <p:nvSpPr>
          <p:cNvPr id="23" name="Text 21"/>
          <p:cNvSpPr/>
          <p:nvPr/>
        </p:nvSpPr>
        <p:spPr>
          <a:xfrm>
            <a:off x="6217920" y="2011680"/>
            <a:ext cx="2606040" cy="201168"/>
          </a:xfrm>
          <a:prstGeom prst="rect">
            <a:avLst/>
          </a:prstGeom>
          <a:noFill/>
          <a:ln/>
        </p:spPr>
        <p:txBody>
          <a:bodyPr wrap="square" lIns="0" tIns="0" rIns="0" bIns="0" rtlCol="0" anchor="ctr"/>
          <a:lstStyle/>
          <a:p>
            <a:pPr algn="ctr" indent="0" marL="0">
              <a:buNone/>
            </a:pPr>
            <a:r>
              <a:rPr lang="en-US" sz="1200" b="1" dirty="0">
                <a:solidFill>
                  <a:srgbClr val="CBD5E1"/>
                </a:solidFill>
                <a:latin typeface="Calibri" pitchFamily="34" charset="0"/>
                <a:ea typeface="Calibri" pitchFamily="34" charset="-122"/>
                <a:cs typeface="Calibri" pitchFamily="34" charset="-120"/>
              </a:rPr>
              <a:t>Year 1 Target</a:t>
            </a:r>
            <a:endParaRPr lang="en-US" sz="1200" dirty="0"/>
          </a:p>
        </p:txBody>
      </p:sp>
      <p:sp>
        <p:nvSpPr>
          <p:cNvPr id="24" name="Text 22"/>
          <p:cNvSpPr/>
          <p:nvPr/>
        </p:nvSpPr>
        <p:spPr>
          <a:xfrm>
            <a:off x="6217920" y="2212848"/>
            <a:ext cx="2606040" cy="182880"/>
          </a:xfrm>
          <a:prstGeom prst="rect">
            <a:avLst/>
          </a:prstGeom>
          <a:noFill/>
          <a:ln/>
        </p:spPr>
        <p:txBody>
          <a:bodyPr wrap="square" lIns="0" tIns="0" rIns="0" bIns="0" rtlCol="0" anchor="ctr"/>
          <a:lstStyle/>
          <a:p>
            <a:pPr algn="ctr" indent="0" marL="0">
              <a:buNone/>
            </a:pPr>
            <a:r>
              <a:rPr lang="en-US" sz="1000" dirty="0">
                <a:solidFill>
                  <a:srgbClr val="10B981"/>
                </a:solidFill>
                <a:latin typeface="Calibri" pitchFamily="34" charset="0"/>
                <a:ea typeface="Calibri" pitchFamily="34" charset="-122"/>
                <a:cs typeface="Calibri" pitchFamily="34" charset="-120"/>
              </a:rPr>
              <a:t>هدف السنة الأولى</a:t>
            </a:r>
            <a:endParaRPr lang="en-US" sz="1000" dirty="0"/>
          </a:p>
        </p:txBody>
      </p:sp>
      <p:sp>
        <p:nvSpPr>
          <p:cNvPr id="25" name="Text 23"/>
          <p:cNvSpPr/>
          <p:nvPr/>
        </p:nvSpPr>
        <p:spPr>
          <a:xfrm>
            <a:off x="6217920" y="2423160"/>
            <a:ext cx="260604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Paying clients projected</a:t>
            </a:r>
            <a:endParaRPr lang="en-US" sz="900" dirty="0"/>
          </a:p>
        </p:txBody>
      </p:sp>
      <p:sp>
        <p:nvSpPr>
          <p:cNvPr id="26" name="Text 24"/>
          <p:cNvSpPr/>
          <p:nvPr/>
        </p:nvSpPr>
        <p:spPr>
          <a:xfrm>
            <a:off x="457200" y="3017520"/>
            <a:ext cx="4572000" cy="274320"/>
          </a:xfrm>
          <a:prstGeom prst="rect">
            <a:avLst/>
          </a:prstGeom>
          <a:noFill/>
          <a:ln/>
        </p:spPr>
        <p:txBody>
          <a:bodyPr wrap="square" lIns="0" tIns="0" rIns="0" bIns="0" rtlCol="0" anchor="ctr"/>
          <a:lstStyle/>
          <a:p>
            <a:pPr indent="0" marL="0">
              <a:buNone/>
            </a:pPr>
            <a:r>
              <a:rPr lang="en-US" sz="1100" spc="300" kern="0" dirty="0">
                <a:solidFill>
                  <a:srgbClr val="C9A84C"/>
                </a:solidFill>
                <a:latin typeface="Calibri" pitchFamily="34" charset="0"/>
                <a:ea typeface="Calibri" pitchFamily="34" charset="-122"/>
                <a:cs typeface="Calibri" pitchFamily="34" charset="-120"/>
              </a:rPr>
              <a:t>REVENUE MODEL  ·  نموذج الإيرادات</a:t>
            </a:r>
            <a:endParaRPr lang="en-US" sz="1100" dirty="0"/>
          </a:p>
        </p:txBody>
      </p:sp>
      <p:sp>
        <p:nvSpPr>
          <p:cNvPr id="27" name="Shape 25"/>
          <p:cNvSpPr/>
          <p:nvPr/>
        </p:nvSpPr>
        <p:spPr>
          <a:xfrm>
            <a:off x="457200" y="3383280"/>
            <a:ext cx="8229600" cy="347472"/>
          </a:xfrm>
          <a:prstGeom prst="rect">
            <a:avLst/>
          </a:prstGeom>
          <a:solidFill>
            <a:srgbClr val="1A2E4A"/>
          </a:solidFill>
          <a:ln/>
        </p:spPr>
      </p:sp>
      <p:sp>
        <p:nvSpPr>
          <p:cNvPr id="28" name="Shape 26"/>
          <p:cNvSpPr/>
          <p:nvPr/>
        </p:nvSpPr>
        <p:spPr>
          <a:xfrm>
            <a:off x="457200" y="3383280"/>
            <a:ext cx="45720" cy="347472"/>
          </a:xfrm>
          <a:prstGeom prst="rect">
            <a:avLst/>
          </a:prstGeom>
          <a:solidFill>
            <a:srgbClr val="0891B2"/>
          </a:solidFill>
          <a:ln/>
        </p:spPr>
      </p:sp>
      <p:sp>
        <p:nvSpPr>
          <p:cNvPr id="29" name="Text 27"/>
          <p:cNvSpPr/>
          <p:nvPr/>
        </p:nvSpPr>
        <p:spPr>
          <a:xfrm>
            <a:off x="640080" y="338328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SaaS Subscriptions</a:t>
            </a:r>
            <a:endParaRPr lang="en-US" sz="1100" dirty="0"/>
          </a:p>
        </p:txBody>
      </p:sp>
      <p:sp>
        <p:nvSpPr>
          <p:cNvPr id="30" name="Text 28"/>
          <p:cNvSpPr/>
          <p:nvPr/>
        </p:nvSpPr>
        <p:spPr>
          <a:xfrm>
            <a:off x="2468880" y="3383280"/>
            <a:ext cx="1188720" cy="347472"/>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اشتراكات SaaS</a:t>
            </a:r>
            <a:endParaRPr lang="en-US" sz="950" dirty="0"/>
          </a:p>
        </p:txBody>
      </p:sp>
      <p:sp>
        <p:nvSpPr>
          <p:cNvPr id="31" name="Text 29"/>
          <p:cNvSpPr/>
          <p:nvPr/>
        </p:nvSpPr>
        <p:spPr>
          <a:xfrm>
            <a:off x="3749040" y="338328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SAR 199 → SAR 4,999/mo</a:t>
            </a:r>
            <a:endParaRPr lang="en-US" sz="1000" dirty="0"/>
          </a:p>
        </p:txBody>
      </p:sp>
      <p:sp>
        <p:nvSpPr>
          <p:cNvPr id="32" name="Text 30"/>
          <p:cNvSpPr/>
          <p:nvPr/>
        </p:nvSpPr>
        <p:spPr>
          <a:xfrm>
            <a:off x="7132320" y="3383280"/>
            <a:ext cx="1371600" cy="347472"/>
          </a:xfrm>
          <a:prstGeom prst="rect">
            <a:avLst/>
          </a:prstGeom>
          <a:noFill/>
          <a:ln/>
        </p:spPr>
        <p:txBody>
          <a:bodyPr wrap="square" lIns="0" tIns="0" rIns="0" bIns="0" rtlCol="0" anchor="ctr"/>
          <a:lstStyle/>
          <a:p>
            <a:pPr algn="ctr" indent="0" marL="0">
              <a:buNone/>
            </a:pPr>
            <a:r>
              <a:rPr lang="en-US" sz="2000" dirty="0">
                <a:solidFill>
                  <a:srgbClr val="0891B2"/>
                </a:solidFill>
                <a:latin typeface="Arial Black" pitchFamily="34" charset="0"/>
                <a:ea typeface="Arial Black" pitchFamily="34" charset="-122"/>
                <a:cs typeface="Arial Black" pitchFamily="34" charset="-120"/>
              </a:rPr>
              <a:t>60%</a:t>
            </a:r>
            <a:endParaRPr lang="en-US" sz="2000" dirty="0"/>
          </a:p>
        </p:txBody>
      </p:sp>
      <p:sp>
        <p:nvSpPr>
          <p:cNvPr id="33" name="Shape 31"/>
          <p:cNvSpPr/>
          <p:nvPr/>
        </p:nvSpPr>
        <p:spPr>
          <a:xfrm>
            <a:off x="457200" y="3794760"/>
            <a:ext cx="8229600" cy="347472"/>
          </a:xfrm>
          <a:prstGeom prst="rect">
            <a:avLst/>
          </a:prstGeom>
          <a:solidFill>
            <a:srgbClr val="1E3654"/>
          </a:solidFill>
          <a:ln/>
        </p:spPr>
      </p:sp>
      <p:sp>
        <p:nvSpPr>
          <p:cNvPr id="34" name="Shape 32"/>
          <p:cNvSpPr/>
          <p:nvPr/>
        </p:nvSpPr>
        <p:spPr>
          <a:xfrm>
            <a:off x="457200" y="3794760"/>
            <a:ext cx="45720" cy="347472"/>
          </a:xfrm>
          <a:prstGeom prst="rect">
            <a:avLst/>
          </a:prstGeom>
          <a:solidFill>
            <a:srgbClr val="C9A84C"/>
          </a:solidFill>
          <a:ln/>
        </p:spPr>
      </p:sp>
      <p:sp>
        <p:nvSpPr>
          <p:cNvPr id="35" name="Text 33"/>
          <p:cNvSpPr/>
          <p:nvPr/>
        </p:nvSpPr>
        <p:spPr>
          <a:xfrm>
            <a:off x="640080" y="379476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API Access</a:t>
            </a:r>
            <a:endParaRPr lang="en-US" sz="1100" dirty="0"/>
          </a:p>
        </p:txBody>
      </p:sp>
      <p:sp>
        <p:nvSpPr>
          <p:cNvPr id="36" name="Text 34"/>
          <p:cNvSpPr/>
          <p:nvPr/>
        </p:nvSpPr>
        <p:spPr>
          <a:xfrm>
            <a:off x="2468880" y="3794760"/>
            <a:ext cx="1188720" cy="347472"/>
          </a:xfrm>
          <a:prstGeom prst="rect">
            <a:avLst/>
          </a:prstGeom>
          <a:noFill/>
          <a:ln/>
        </p:spPr>
        <p:txBody>
          <a:bodyPr wrap="square" lIns="0" tIns="0" rIns="0" bIns="0" rtlCol="0" anchor="ctr"/>
          <a:lstStyle/>
          <a:p>
            <a:pPr indent="0" marL="0">
              <a:buNone/>
            </a:pPr>
            <a:r>
              <a:rPr lang="en-US" sz="950" dirty="0">
                <a:solidFill>
                  <a:srgbClr val="C9A84C"/>
                </a:solidFill>
                <a:latin typeface="Calibri" pitchFamily="34" charset="0"/>
                <a:ea typeface="Calibri" pitchFamily="34" charset="-122"/>
                <a:cs typeface="Calibri" pitchFamily="34" charset="-120"/>
              </a:rPr>
              <a:t>اشتراك الـ API</a:t>
            </a:r>
            <a:endParaRPr lang="en-US" sz="950" dirty="0"/>
          </a:p>
        </p:txBody>
      </p:sp>
      <p:sp>
        <p:nvSpPr>
          <p:cNvPr id="37" name="Text 35"/>
          <p:cNvSpPr/>
          <p:nvPr/>
        </p:nvSpPr>
        <p:spPr>
          <a:xfrm>
            <a:off x="3749040" y="379476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Pay-per-analysis. Usage-based</a:t>
            </a:r>
            <a:endParaRPr lang="en-US" sz="1000" dirty="0"/>
          </a:p>
        </p:txBody>
      </p:sp>
      <p:sp>
        <p:nvSpPr>
          <p:cNvPr id="38" name="Text 36"/>
          <p:cNvSpPr/>
          <p:nvPr/>
        </p:nvSpPr>
        <p:spPr>
          <a:xfrm>
            <a:off x="7132320" y="3794760"/>
            <a:ext cx="1371600" cy="347472"/>
          </a:xfrm>
          <a:prstGeom prst="rect">
            <a:avLst/>
          </a:prstGeom>
          <a:noFill/>
          <a:ln/>
        </p:spPr>
        <p:txBody>
          <a:bodyPr wrap="square" lIns="0" tIns="0" rIns="0" bIns="0" rtlCol="0" anchor="ctr"/>
          <a:lstStyle/>
          <a:p>
            <a:pPr algn="ctr" indent="0" marL="0">
              <a:buNone/>
            </a:pPr>
            <a:r>
              <a:rPr lang="en-US" sz="2000" dirty="0">
                <a:solidFill>
                  <a:srgbClr val="C9A84C"/>
                </a:solidFill>
                <a:latin typeface="Arial Black" pitchFamily="34" charset="0"/>
                <a:ea typeface="Arial Black" pitchFamily="34" charset="-122"/>
                <a:cs typeface="Arial Black" pitchFamily="34" charset="-120"/>
              </a:rPr>
              <a:t>25%</a:t>
            </a:r>
            <a:endParaRPr lang="en-US" sz="2000" dirty="0"/>
          </a:p>
        </p:txBody>
      </p:sp>
      <p:sp>
        <p:nvSpPr>
          <p:cNvPr id="39" name="Shape 37"/>
          <p:cNvSpPr/>
          <p:nvPr/>
        </p:nvSpPr>
        <p:spPr>
          <a:xfrm>
            <a:off x="457200" y="4206240"/>
            <a:ext cx="8229600" cy="347472"/>
          </a:xfrm>
          <a:prstGeom prst="rect">
            <a:avLst/>
          </a:prstGeom>
          <a:solidFill>
            <a:srgbClr val="1A2E4A"/>
          </a:solidFill>
          <a:ln/>
        </p:spPr>
      </p:sp>
      <p:sp>
        <p:nvSpPr>
          <p:cNvPr id="40" name="Shape 38"/>
          <p:cNvSpPr/>
          <p:nvPr/>
        </p:nvSpPr>
        <p:spPr>
          <a:xfrm>
            <a:off x="457200" y="4206240"/>
            <a:ext cx="45720" cy="347472"/>
          </a:xfrm>
          <a:prstGeom prst="rect">
            <a:avLst/>
          </a:prstGeom>
          <a:solidFill>
            <a:srgbClr val="10B981"/>
          </a:solidFill>
          <a:ln/>
        </p:spPr>
      </p:sp>
      <p:sp>
        <p:nvSpPr>
          <p:cNvPr id="41" name="Text 39"/>
          <p:cNvSpPr/>
          <p:nvPr/>
        </p:nvSpPr>
        <p:spPr>
          <a:xfrm>
            <a:off x="640080" y="4206240"/>
            <a:ext cx="18288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Marketplace</a:t>
            </a:r>
            <a:endParaRPr lang="en-US" sz="1100" dirty="0"/>
          </a:p>
        </p:txBody>
      </p:sp>
      <p:sp>
        <p:nvSpPr>
          <p:cNvPr id="42" name="Text 40"/>
          <p:cNvSpPr/>
          <p:nvPr/>
        </p:nvSpPr>
        <p:spPr>
          <a:xfrm>
            <a:off x="2468880" y="4206240"/>
            <a:ext cx="1188720" cy="347472"/>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السوق التخصصي</a:t>
            </a:r>
            <a:endParaRPr lang="en-US" sz="950" dirty="0"/>
          </a:p>
        </p:txBody>
      </p:sp>
      <p:sp>
        <p:nvSpPr>
          <p:cNvPr id="43" name="Text 41"/>
          <p:cNvSpPr/>
          <p:nvPr/>
        </p:nvSpPr>
        <p:spPr>
          <a:xfrm>
            <a:off x="3749040" y="4206240"/>
            <a:ext cx="3200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Commission on professional services</a:t>
            </a:r>
            <a:endParaRPr lang="en-US" sz="1000" dirty="0"/>
          </a:p>
        </p:txBody>
      </p:sp>
      <p:sp>
        <p:nvSpPr>
          <p:cNvPr id="44" name="Text 42"/>
          <p:cNvSpPr/>
          <p:nvPr/>
        </p:nvSpPr>
        <p:spPr>
          <a:xfrm>
            <a:off x="7132320" y="4206240"/>
            <a:ext cx="1371600" cy="347472"/>
          </a:xfrm>
          <a:prstGeom prst="rect">
            <a:avLst/>
          </a:prstGeom>
          <a:noFill/>
          <a:ln/>
        </p:spPr>
        <p:txBody>
          <a:bodyPr wrap="square" lIns="0" tIns="0" rIns="0" bIns="0" rtlCol="0" anchor="ctr"/>
          <a:lstStyle/>
          <a:p>
            <a:pPr algn="ctr" indent="0" marL="0">
              <a:buNone/>
            </a:pPr>
            <a:r>
              <a:rPr lang="en-US" sz="2000" dirty="0">
                <a:solidFill>
                  <a:srgbClr val="10B981"/>
                </a:solidFill>
                <a:latin typeface="Arial Black" pitchFamily="34" charset="0"/>
                <a:ea typeface="Arial Black" pitchFamily="34" charset="-122"/>
                <a:cs typeface="Arial Black" pitchFamily="34" charset="-120"/>
              </a:rPr>
              <a:t>15%</a:t>
            </a:r>
            <a:endParaRPr lang="en-US" sz="2000" dirty="0"/>
          </a:p>
        </p:txBody>
      </p:sp>
      <p:sp>
        <p:nvSpPr>
          <p:cNvPr id="45" name="Shape 43"/>
          <p:cNvSpPr/>
          <p:nvPr/>
        </p:nvSpPr>
        <p:spPr>
          <a:xfrm>
            <a:off x="0" y="4709160"/>
            <a:ext cx="9144000" cy="434340"/>
          </a:xfrm>
          <a:prstGeom prst="rect">
            <a:avLst/>
          </a:prstGeom>
          <a:solidFill>
            <a:srgbClr val="0A1220"/>
          </a:solidFill>
          <a:ln/>
        </p:spPr>
      </p:sp>
      <p:sp>
        <p:nvSpPr>
          <p:cNvPr id="46" name="Text 4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7" name="Text 4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6 / 19</a:t>
            </a:r>
            <a:endParaRPr lang="en-US" sz="750" dirty="0"/>
          </a:p>
        </p:txBody>
      </p:sp>
      <p:sp>
        <p:nvSpPr>
          <p:cNvPr id="48" name="Text 4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COMPETITIVE LANDSCAPE  ·  المشهد التنافسي</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Why APEX Wins</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لماذا APEX تتفوق</a:t>
            </a:r>
            <a:endParaRPr lang="en-US" sz="2600" dirty="0"/>
          </a:p>
        </p:txBody>
      </p:sp>
      <p:sp>
        <p:nvSpPr>
          <p:cNvPr id="5" name="Shape 3"/>
          <p:cNvSpPr/>
          <p:nvPr/>
        </p:nvSpPr>
        <p:spPr>
          <a:xfrm>
            <a:off x="457200" y="1371600"/>
            <a:ext cx="8229600" cy="301752"/>
          </a:xfrm>
          <a:prstGeom prst="rect">
            <a:avLst/>
          </a:prstGeom>
          <a:solidFill>
            <a:srgbClr val="1C3254"/>
          </a:solidFill>
          <a:ln/>
        </p:spPr>
      </p:sp>
      <p:sp>
        <p:nvSpPr>
          <p:cNvPr id="6" name="Text 4"/>
          <p:cNvSpPr/>
          <p:nvPr/>
        </p:nvSpPr>
        <p:spPr>
          <a:xfrm>
            <a:off x="548640" y="1371600"/>
            <a:ext cx="2743200" cy="301752"/>
          </a:xfrm>
          <a:prstGeom prst="rect">
            <a:avLst/>
          </a:prstGeom>
          <a:noFill/>
          <a:ln/>
        </p:spPr>
        <p:txBody>
          <a:bodyPr wrap="square" lIns="0" tIns="0" rIns="0" bIns="0" rtlCol="0" anchor="ctr"/>
          <a:lstStyle/>
          <a:p>
            <a:pPr indent="0" marL="0">
              <a:buNone/>
            </a:pPr>
            <a:r>
              <a:rPr lang="en-US" sz="1000" b="1" dirty="0">
                <a:solidFill>
                  <a:srgbClr val="22D3EE"/>
                </a:solidFill>
                <a:latin typeface="Calibri" pitchFamily="34" charset="0"/>
                <a:ea typeface="Calibri" pitchFamily="34" charset="-122"/>
                <a:cs typeface="Calibri" pitchFamily="34" charset="-120"/>
              </a:rPr>
              <a:t>Feature</a:t>
            </a:r>
            <a:endParaRPr lang="en-US" sz="1000" dirty="0"/>
          </a:p>
        </p:txBody>
      </p:sp>
      <p:sp>
        <p:nvSpPr>
          <p:cNvPr id="7" name="Text 5"/>
          <p:cNvSpPr/>
          <p:nvPr/>
        </p:nvSpPr>
        <p:spPr>
          <a:xfrm>
            <a:off x="3383280" y="1371600"/>
            <a:ext cx="1060704" cy="301752"/>
          </a:xfrm>
          <a:prstGeom prst="rect">
            <a:avLst/>
          </a:prstGeom>
          <a:noFill/>
          <a:ln/>
        </p:spPr>
        <p:txBody>
          <a:bodyPr wrap="square" lIns="0" tIns="0" rIns="0" bIns="0" rtlCol="0" anchor="ctr"/>
          <a:lstStyle/>
          <a:p>
            <a:pPr algn="ctr" indent="0" marL="0">
              <a:buNone/>
            </a:pPr>
            <a:r>
              <a:rPr lang="en-US" sz="1000" b="1" dirty="0">
                <a:solidFill>
                  <a:srgbClr val="C9A84C"/>
                </a:solidFill>
                <a:latin typeface="Calibri" pitchFamily="34" charset="0"/>
                <a:ea typeface="Calibri" pitchFamily="34" charset="-122"/>
                <a:cs typeface="Calibri" pitchFamily="34" charset="-120"/>
              </a:rPr>
              <a:t>APEX</a:t>
            </a:r>
            <a:endParaRPr lang="en-US" sz="1000" dirty="0"/>
          </a:p>
        </p:txBody>
      </p:sp>
      <p:sp>
        <p:nvSpPr>
          <p:cNvPr id="8" name="Text 6"/>
          <p:cNvSpPr/>
          <p:nvPr/>
        </p:nvSpPr>
        <p:spPr>
          <a:xfrm>
            <a:off x="4443984"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Excel</a:t>
            </a:r>
            <a:endParaRPr lang="en-US" sz="1000" dirty="0"/>
          </a:p>
        </p:txBody>
      </p:sp>
      <p:sp>
        <p:nvSpPr>
          <p:cNvPr id="9" name="Text 7"/>
          <p:cNvSpPr/>
          <p:nvPr/>
        </p:nvSpPr>
        <p:spPr>
          <a:xfrm>
            <a:off x="5504688"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Wafeq</a:t>
            </a:r>
            <a:endParaRPr lang="en-US" sz="1000" dirty="0"/>
          </a:p>
        </p:txBody>
      </p:sp>
      <p:sp>
        <p:nvSpPr>
          <p:cNvPr id="10" name="Text 8"/>
          <p:cNvSpPr/>
          <p:nvPr/>
        </p:nvSpPr>
        <p:spPr>
          <a:xfrm>
            <a:off x="6565392"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Qoyod</a:t>
            </a:r>
            <a:endParaRPr lang="en-US" sz="1000" dirty="0"/>
          </a:p>
        </p:txBody>
      </p:sp>
      <p:sp>
        <p:nvSpPr>
          <p:cNvPr id="11" name="Text 9"/>
          <p:cNvSpPr/>
          <p:nvPr/>
        </p:nvSpPr>
        <p:spPr>
          <a:xfrm>
            <a:off x="7626096" y="1371600"/>
            <a:ext cx="1060704" cy="301752"/>
          </a:xfrm>
          <a:prstGeom prst="rect">
            <a:avLst/>
          </a:prstGeom>
          <a:noFill/>
          <a:ln/>
        </p:spPr>
        <p:txBody>
          <a:bodyPr wrap="square" lIns="0" tIns="0" rIns="0" bIns="0" rtlCol="0" anchor="ctr"/>
          <a:lstStyle/>
          <a:p>
            <a:pPr algn="ctr" indent="0" marL="0">
              <a:buNone/>
            </a:pPr>
            <a:r>
              <a:rPr lang="en-US" sz="1000" b="1" dirty="0">
                <a:solidFill>
                  <a:srgbClr val="CBD5E1"/>
                </a:solidFill>
                <a:latin typeface="Calibri" pitchFamily="34" charset="0"/>
                <a:ea typeface="Calibri" pitchFamily="34" charset="-122"/>
                <a:cs typeface="Calibri" pitchFamily="34" charset="-120"/>
              </a:rPr>
              <a:t>Xero</a:t>
            </a:r>
            <a:endParaRPr lang="en-US" sz="1000" dirty="0"/>
          </a:p>
        </p:txBody>
      </p:sp>
      <p:sp>
        <p:nvSpPr>
          <p:cNvPr id="12" name="Shape 10"/>
          <p:cNvSpPr/>
          <p:nvPr/>
        </p:nvSpPr>
        <p:spPr>
          <a:xfrm>
            <a:off x="457200" y="1673352"/>
            <a:ext cx="8229600" cy="301752"/>
          </a:xfrm>
          <a:prstGeom prst="rect">
            <a:avLst/>
          </a:prstGeom>
          <a:solidFill>
            <a:srgbClr val="1A2E4A"/>
          </a:solidFill>
          <a:ln/>
        </p:spPr>
      </p:sp>
      <p:sp>
        <p:nvSpPr>
          <p:cNvPr id="13" name="Text 11"/>
          <p:cNvSpPr/>
          <p:nvPr/>
        </p:nvSpPr>
        <p:spPr>
          <a:xfrm>
            <a:off x="548640" y="1673352"/>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AI Financial Analysis</a:t>
            </a:r>
            <a:endParaRPr lang="en-US" sz="950" dirty="0"/>
          </a:p>
        </p:txBody>
      </p:sp>
      <p:sp>
        <p:nvSpPr>
          <p:cNvPr id="14" name="Text 12"/>
          <p:cNvSpPr/>
          <p:nvPr/>
        </p:nvSpPr>
        <p:spPr>
          <a:xfrm>
            <a:off x="3383280" y="1673352"/>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4443984"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5504688"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6565392"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7626096" y="167335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457200" y="1975104"/>
            <a:ext cx="8229600" cy="301752"/>
          </a:xfrm>
          <a:prstGeom prst="rect">
            <a:avLst/>
          </a:prstGeom>
          <a:solidFill>
            <a:srgbClr val="1E3654"/>
          </a:solidFill>
          <a:ln/>
        </p:spPr>
      </p:sp>
      <p:sp>
        <p:nvSpPr>
          <p:cNvPr id="20" name="Text 18"/>
          <p:cNvSpPr/>
          <p:nvPr/>
        </p:nvSpPr>
        <p:spPr>
          <a:xfrm>
            <a:off x="548640" y="1975104"/>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Arabic + SOCPA Support</a:t>
            </a:r>
            <a:endParaRPr lang="en-US" sz="950" dirty="0"/>
          </a:p>
        </p:txBody>
      </p:sp>
      <p:sp>
        <p:nvSpPr>
          <p:cNvPr id="21" name="Text 19"/>
          <p:cNvSpPr/>
          <p:nvPr/>
        </p:nvSpPr>
        <p:spPr>
          <a:xfrm>
            <a:off x="3383280" y="1975104"/>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4443984" y="197510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3" name="Text 21"/>
          <p:cNvSpPr/>
          <p:nvPr/>
        </p:nvSpPr>
        <p:spPr>
          <a:xfrm>
            <a:off x="5504688" y="197510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6565392" y="197510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7626096" y="197510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457200" y="2276856"/>
            <a:ext cx="8229600" cy="301752"/>
          </a:xfrm>
          <a:prstGeom prst="rect">
            <a:avLst/>
          </a:prstGeom>
          <a:solidFill>
            <a:srgbClr val="1A2E4A"/>
          </a:solidFill>
          <a:ln/>
        </p:spPr>
      </p:sp>
      <p:sp>
        <p:nvSpPr>
          <p:cNvPr id="27" name="Text 25"/>
          <p:cNvSpPr/>
          <p:nvPr/>
        </p:nvSpPr>
        <p:spPr>
          <a:xfrm>
            <a:off x="548640" y="2276856"/>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Readiness Score (0-100)</a:t>
            </a:r>
            <a:endParaRPr lang="en-US" sz="950" dirty="0"/>
          </a:p>
        </p:txBody>
      </p:sp>
      <p:sp>
        <p:nvSpPr>
          <p:cNvPr id="28" name="Text 26"/>
          <p:cNvSpPr/>
          <p:nvPr/>
        </p:nvSpPr>
        <p:spPr>
          <a:xfrm>
            <a:off x="3383280" y="2276856"/>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4443984"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0" name="Text 28"/>
          <p:cNvSpPr/>
          <p:nvPr/>
        </p:nvSpPr>
        <p:spPr>
          <a:xfrm>
            <a:off x="5504688"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1" name="Text 29"/>
          <p:cNvSpPr/>
          <p:nvPr/>
        </p:nvSpPr>
        <p:spPr>
          <a:xfrm>
            <a:off x="6565392"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2" name="Text 30"/>
          <p:cNvSpPr/>
          <p:nvPr/>
        </p:nvSpPr>
        <p:spPr>
          <a:xfrm>
            <a:off x="7626096" y="2276856"/>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457200" y="2578608"/>
            <a:ext cx="8229600" cy="301752"/>
          </a:xfrm>
          <a:prstGeom prst="rect">
            <a:avLst/>
          </a:prstGeom>
          <a:solidFill>
            <a:srgbClr val="1E3654"/>
          </a:solidFill>
          <a:ln/>
        </p:spPr>
      </p:sp>
      <p:sp>
        <p:nvSpPr>
          <p:cNvPr id="34" name="Text 32"/>
          <p:cNvSpPr/>
          <p:nvPr/>
        </p:nvSpPr>
        <p:spPr>
          <a:xfrm>
            <a:off x="548640" y="2578608"/>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Audit Workflow Engine</a:t>
            </a:r>
            <a:endParaRPr lang="en-US" sz="950" dirty="0"/>
          </a:p>
        </p:txBody>
      </p:sp>
      <p:sp>
        <p:nvSpPr>
          <p:cNvPr id="35" name="Text 33"/>
          <p:cNvSpPr/>
          <p:nvPr/>
        </p:nvSpPr>
        <p:spPr>
          <a:xfrm>
            <a:off x="3383280" y="2578608"/>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4443984"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7" name="Text 35"/>
          <p:cNvSpPr/>
          <p:nvPr/>
        </p:nvSpPr>
        <p:spPr>
          <a:xfrm>
            <a:off x="5504688"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8" name="Text 36"/>
          <p:cNvSpPr/>
          <p:nvPr/>
        </p:nvSpPr>
        <p:spPr>
          <a:xfrm>
            <a:off x="6565392"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39" name="Text 37"/>
          <p:cNvSpPr/>
          <p:nvPr/>
        </p:nvSpPr>
        <p:spPr>
          <a:xfrm>
            <a:off x="7626096" y="2578608"/>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0" name="Shape 38"/>
          <p:cNvSpPr/>
          <p:nvPr/>
        </p:nvSpPr>
        <p:spPr>
          <a:xfrm>
            <a:off x="457200" y="2880360"/>
            <a:ext cx="8229600" cy="301752"/>
          </a:xfrm>
          <a:prstGeom prst="rect">
            <a:avLst/>
          </a:prstGeom>
          <a:solidFill>
            <a:srgbClr val="1A2E4A"/>
          </a:solidFill>
          <a:ln/>
        </p:spPr>
      </p:sp>
      <p:sp>
        <p:nvSpPr>
          <p:cNvPr id="41" name="Text 39"/>
          <p:cNvSpPr/>
          <p:nvPr/>
        </p:nvSpPr>
        <p:spPr>
          <a:xfrm>
            <a:off x="548640" y="2880360"/>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Knowledge Brain (11 modules)</a:t>
            </a:r>
            <a:endParaRPr lang="en-US" sz="950" dirty="0"/>
          </a:p>
        </p:txBody>
      </p:sp>
      <p:sp>
        <p:nvSpPr>
          <p:cNvPr id="42" name="Text 40"/>
          <p:cNvSpPr/>
          <p:nvPr/>
        </p:nvSpPr>
        <p:spPr>
          <a:xfrm>
            <a:off x="3383280" y="2880360"/>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43" name="Text 41"/>
          <p:cNvSpPr/>
          <p:nvPr/>
        </p:nvSpPr>
        <p:spPr>
          <a:xfrm>
            <a:off x="4443984" y="2880360"/>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4" name="Text 42"/>
          <p:cNvSpPr/>
          <p:nvPr/>
        </p:nvSpPr>
        <p:spPr>
          <a:xfrm>
            <a:off x="5504688" y="2880360"/>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5" name="Text 43"/>
          <p:cNvSpPr/>
          <p:nvPr/>
        </p:nvSpPr>
        <p:spPr>
          <a:xfrm>
            <a:off x="6565392" y="2880360"/>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6" name="Text 44"/>
          <p:cNvSpPr/>
          <p:nvPr/>
        </p:nvSpPr>
        <p:spPr>
          <a:xfrm>
            <a:off x="7626096" y="2880360"/>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47" name="Shape 45"/>
          <p:cNvSpPr/>
          <p:nvPr/>
        </p:nvSpPr>
        <p:spPr>
          <a:xfrm>
            <a:off x="457200" y="3182112"/>
            <a:ext cx="8229600" cy="301752"/>
          </a:xfrm>
          <a:prstGeom prst="rect">
            <a:avLst/>
          </a:prstGeom>
          <a:solidFill>
            <a:srgbClr val="1E3654"/>
          </a:solidFill>
          <a:ln/>
        </p:spPr>
      </p:sp>
      <p:sp>
        <p:nvSpPr>
          <p:cNvPr id="48" name="Text 46"/>
          <p:cNvSpPr/>
          <p:nvPr/>
        </p:nvSpPr>
        <p:spPr>
          <a:xfrm>
            <a:off x="548640" y="3182112"/>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API Marketplace</a:t>
            </a:r>
            <a:endParaRPr lang="en-US" sz="950" dirty="0"/>
          </a:p>
        </p:txBody>
      </p:sp>
      <p:sp>
        <p:nvSpPr>
          <p:cNvPr id="49" name="Text 47"/>
          <p:cNvSpPr/>
          <p:nvPr/>
        </p:nvSpPr>
        <p:spPr>
          <a:xfrm>
            <a:off x="3383280" y="3182112"/>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50" name="Text 48"/>
          <p:cNvSpPr/>
          <p:nvPr/>
        </p:nvSpPr>
        <p:spPr>
          <a:xfrm>
            <a:off x="4443984"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1" name="Text 49"/>
          <p:cNvSpPr/>
          <p:nvPr/>
        </p:nvSpPr>
        <p:spPr>
          <a:xfrm>
            <a:off x="5504688"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2" name="Text 50"/>
          <p:cNvSpPr/>
          <p:nvPr/>
        </p:nvSpPr>
        <p:spPr>
          <a:xfrm>
            <a:off x="6565392"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3" name="Text 51"/>
          <p:cNvSpPr/>
          <p:nvPr/>
        </p:nvSpPr>
        <p:spPr>
          <a:xfrm>
            <a:off x="7626096" y="3182112"/>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457200" y="3483864"/>
            <a:ext cx="8229600" cy="301752"/>
          </a:xfrm>
          <a:prstGeom prst="rect">
            <a:avLst/>
          </a:prstGeom>
          <a:solidFill>
            <a:srgbClr val="1A2E4A"/>
          </a:solidFill>
          <a:ln/>
        </p:spPr>
      </p:sp>
      <p:sp>
        <p:nvSpPr>
          <p:cNvPr id="55" name="Text 53"/>
          <p:cNvSpPr/>
          <p:nvPr/>
        </p:nvSpPr>
        <p:spPr>
          <a:xfrm>
            <a:off x="548640" y="3483864"/>
            <a:ext cx="2743200" cy="301752"/>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Bilingual (AR/EN)</a:t>
            </a:r>
            <a:endParaRPr lang="en-US" sz="950" dirty="0"/>
          </a:p>
        </p:txBody>
      </p:sp>
      <p:sp>
        <p:nvSpPr>
          <p:cNvPr id="56" name="Text 54"/>
          <p:cNvSpPr/>
          <p:nvPr/>
        </p:nvSpPr>
        <p:spPr>
          <a:xfrm>
            <a:off x="3383280" y="3483864"/>
            <a:ext cx="1060704" cy="301752"/>
          </a:xfrm>
          <a:prstGeom prst="rect">
            <a:avLst/>
          </a:prstGeom>
          <a:noFill/>
          <a:ln/>
        </p:spPr>
        <p:txBody>
          <a:bodyPr wrap="square" lIns="0" tIns="0" rIns="0" bIns="0" rtlCol="0" anchor="ctr"/>
          <a:lstStyle/>
          <a:p>
            <a:pPr algn="ctr" indent="0" marL="0">
              <a:buNone/>
            </a:pPr>
            <a:r>
              <a:rPr lang="en-US" sz="1400" dirty="0">
                <a:solidFill>
                  <a:srgbClr val="10B981"/>
                </a:solidFill>
                <a:latin typeface="Calibri" pitchFamily="34" charset="0"/>
                <a:ea typeface="Calibri" pitchFamily="34" charset="-122"/>
                <a:cs typeface="Calibri" pitchFamily="34" charset="-120"/>
              </a:rPr>
              <a:t>●</a:t>
            </a:r>
            <a:endParaRPr lang="en-US" sz="1400" dirty="0"/>
          </a:p>
        </p:txBody>
      </p:sp>
      <p:sp>
        <p:nvSpPr>
          <p:cNvPr id="57" name="Text 55"/>
          <p:cNvSpPr/>
          <p:nvPr/>
        </p:nvSpPr>
        <p:spPr>
          <a:xfrm>
            <a:off x="4443984" y="348386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58" name="Text 56"/>
          <p:cNvSpPr/>
          <p:nvPr/>
        </p:nvSpPr>
        <p:spPr>
          <a:xfrm>
            <a:off x="5504688" y="348386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59" name="Text 57"/>
          <p:cNvSpPr/>
          <p:nvPr/>
        </p:nvSpPr>
        <p:spPr>
          <a:xfrm>
            <a:off x="6565392" y="3483864"/>
            <a:ext cx="1060704" cy="301752"/>
          </a:xfrm>
          <a:prstGeom prst="rect">
            <a:avLst/>
          </a:prstGeom>
          <a:noFill/>
          <a:ln/>
        </p:spPr>
        <p:txBody>
          <a:bodyPr wrap="square" lIns="0" tIns="0" rIns="0" bIns="0" rtlCol="0" anchor="ctr"/>
          <a:lstStyle/>
          <a:p>
            <a:pPr algn="ctr" indent="0" marL="0">
              <a:buNone/>
            </a:pPr>
            <a:r>
              <a:rPr lang="en-US" sz="1400" dirty="0">
                <a:solidFill>
                  <a:srgbClr val="0891B2"/>
                </a:solidFill>
                <a:latin typeface="Calibri" pitchFamily="34" charset="0"/>
                <a:ea typeface="Calibri" pitchFamily="34" charset="-122"/>
                <a:cs typeface="Calibri" pitchFamily="34" charset="-120"/>
              </a:rPr>
              <a:t>●</a:t>
            </a:r>
            <a:endParaRPr lang="en-US" sz="1400" dirty="0"/>
          </a:p>
        </p:txBody>
      </p:sp>
      <p:sp>
        <p:nvSpPr>
          <p:cNvPr id="60" name="Text 58"/>
          <p:cNvSpPr/>
          <p:nvPr/>
        </p:nvSpPr>
        <p:spPr>
          <a:xfrm>
            <a:off x="7626096" y="3483864"/>
            <a:ext cx="1060704" cy="30175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t>
            </a:r>
            <a:endParaRPr lang="en-US" sz="1000" dirty="0"/>
          </a:p>
        </p:txBody>
      </p:sp>
      <p:sp>
        <p:nvSpPr>
          <p:cNvPr id="61" name="Shape 59"/>
          <p:cNvSpPr/>
          <p:nvPr/>
        </p:nvSpPr>
        <p:spPr>
          <a:xfrm>
            <a:off x="3383280" y="1371600"/>
            <a:ext cx="1060704" cy="2414016"/>
          </a:xfrm>
          <a:prstGeom prst="rect">
            <a:avLst/>
          </a:prstGeom>
          <a:solidFill>
            <a:srgbClr val="C9A84C">
              <a:alpha val="10000"/>
            </a:srgbClr>
          </a:solidFill>
          <a:ln/>
        </p:spPr>
      </p:sp>
      <p:sp>
        <p:nvSpPr>
          <p:cNvPr id="62" name="Text 60"/>
          <p:cNvSpPr/>
          <p:nvPr/>
        </p:nvSpPr>
        <p:spPr>
          <a:xfrm>
            <a:off x="457200" y="4160520"/>
            <a:ext cx="822960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APEX is the only platform combining AI financial analysis with full Arabic/SOCPA compliance — </a:t>
            </a:r>
            <a:pPr indent="0" marL="0">
              <a:buNone/>
            </a:pPr>
            <a:r>
              <a:rPr lang="en-US" sz="1100" b="1" dirty="0">
                <a:solidFill>
                  <a:srgbClr val="C9A84C"/>
                </a:solidFill>
                <a:latin typeface="Calibri" pitchFamily="34" charset="0"/>
                <a:ea typeface="Calibri" pitchFamily="34" charset="-122"/>
                <a:cs typeface="Calibri" pitchFamily="34" charset="-120"/>
              </a:rPr>
              <a:t>no competitor comes close.</a:t>
            </a:r>
            <a:endParaRPr lang="en-US" sz="1100" dirty="0"/>
          </a:p>
        </p:txBody>
      </p:sp>
      <p:sp>
        <p:nvSpPr>
          <p:cNvPr id="63" name="Shape 61"/>
          <p:cNvSpPr/>
          <p:nvPr/>
        </p:nvSpPr>
        <p:spPr>
          <a:xfrm>
            <a:off x="0" y="4709160"/>
            <a:ext cx="9144000" cy="434340"/>
          </a:xfrm>
          <a:prstGeom prst="rect">
            <a:avLst/>
          </a:prstGeom>
          <a:solidFill>
            <a:srgbClr val="0A1220"/>
          </a:solidFill>
          <a:ln/>
        </p:spPr>
      </p:sp>
      <p:sp>
        <p:nvSpPr>
          <p:cNvPr id="64" name="Text 6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65" name="Text 6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7 / 19</a:t>
            </a:r>
            <a:endParaRPr lang="en-US" sz="750" dirty="0"/>
          </a:p>
        </p:txBody>
      </p:sp>
      <p:sp>
        <p:nvSpPr>
          <p:cNvPr id="66" name="Text 6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PRICING  ·  التسعير</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Plans for Every Business Size</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خطط تناسب كل حجم أعمال</a:t>
            </a:r>
            <a:endParaRPr lang="en-US" sz="2600" dirty="0"/>
          </a:p>
        </p:txBody>
      </p:sp>
      <p:sp>
        <p:nvSpPr>
          <p:cNvPr id="5" name="Shape 3"/>
          <p:cNvSpPr/>
          <p:nvPr/>
        </p:nvSpPr>
        <p:spPr>
          <a:xfrm>
            <a:off x="320040" y="1371600"/>
            <a:ext cx="1920240" cy="306324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320040" y="1371600"/>
            <a:ext cx="1920240" cy="54864"/>
          </a:xfrm>
          <a:prstGeom prst="rect">
            <a:avLst/>
          </a:prstGeom>
          <a:solidFill>
            <a:srgbClr val="94A3B8"/>
          </a:solidFill>
          <a:ln/>
        </p:spPr>
      </p:sp>
      <p:sp>
        <p:nvSpPr>
          <p:cNvPr id="7" name="Text 5"/>
          <p:cNvSpPr/>
          <p:nvPr/>
        </p:nvSpPr>
        <p:spPr>
          <a:xfrm>
            <a:off x="41148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Starter</a:t>
            </a:r>
            <a:endParaRPr lang="en-US" sz="1300" dirty="0"/>
          </a:p>
        </p:txBody>
      </p:sp>
      <p:sp>
        <p:nvSpPr>
          <p:cNvPr id="8" name="Text 6"/>
          <p:cNvSpPr/>
          <p:nvPr/>
        </p:nvSpPr>
        <p:spPr>
          <a:xfrm>
            <a:off x="411480" y="1737360"/>
            <a:ext cx="1737360" cy="1828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المبتدئ</a:t>
            </a:r>
            <a:endParaRPr lang="en-US" sz="1000" dirty="0"/>
          </a:p>
        </p:txBody>
      </p:sp>
      <p:sp>
        <p:nvSpPr>
          <p:cNvPr id="9" name="Text 7"/>
          <p:cNvSpPr/>
          <p:nvPr/>
        </p:nvSpPr>
        <p:spPr>
          <a:xfrm>
            <a:off x="41148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199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10" name="Shape 8"/>
          <p:cNvSpPr/>
          <p:nvPr/>
        </p:nvSpPr>
        <p:spPr>
          <a:xfrm>
            <a:off x="594360" y="2423160"/>
            <a:ext cx="1371600" cy="18288"/>
          </a:xfrm>
          <a:prstGeom prst="rect">
            <a:avLst/>
          </a:prstGeom>
          <a:solidFill>
            <a:srgbClr val="94A3B8">
              <a:alpha val="50000"/>
            </a:srgbClr>
          </a:solidFill>
          <a:ln/>
        </p:spPr>
      </p:sp>
      <p:sp>
        <p:nvSpPr>
          <p:cNvPr id="11" name="Text 9"/>
          <p:cNvSpPr/>
          <p:nvPr/>
        </p:nvSpPr>
        <p:spPr>
          <a:xfrm>
            <a:off x="45720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1 Company</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Basic COA Upload</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5 Reports/month</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Email Support</a:t>
            </a:r>
            <a:endParaRPr lang="en-US" sz="900" dirty="0"/>
          </a:p>
        </p:txBody>
      </p:sp>
      <p:sp>
        <p:nvSpPr>
          <p:cNvPr id="12" name="Shape 10"/>
          <p:cNvSpPr/>
          <p:nvPr/>
        </p:nvSpPr>
        <p:spPr>
          <a:xfrm>
            <a:off x="2514600" y="1371600"/>
            <a:ext cx="1920240" cy="306324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13" name="Shape 11"/>
          <p:cNvSpPr/>
          <p:nvPr/>
        </p:nvSpPr>
        <p:spPr>
          <a:xfrm>
            <a:off x="2514600" y="1371600"/>
            <a:ext cx="1920240" cy="54864"/>
          </a:xfrm>
          <a:prstGeom prst="rect">
            <a:avLst/>
          </a:prstGeom>
          <a:solidFill>
            <a:srgbClr val="0891B2"/>
          </a:solidFill>
          <a:ln/>
        </p:spPr>
      </p:sp>
      <p:sp>
        <p:nvSpPr>
          <p:cNvPr id="14" name="Text 12"/>
          <p:cNvSpPr/>
          <p:nvPr/>
        </p:nvSpPr>
        <p:spPr>
          <a:xfrm>
            <a:off x="260604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Growth</a:t>
            </a:r>
            <a:endParaRPr lang="en-US" sz="1300" dirty="0"/>
          </a:p>
        </p:txBody>
      </p:sp>
      <p:sp>
        <p:nvSpPr>
          <p:cNvPr id="15" name="Text 13"/>
          <p:cNvSpPr/>
          <p:nvPr/>
        </p:nvSpPr>
        <p:spPr>
          <a:xfrm>
            <a:off x="2606040" y="1737360"/>
            <a:ext cx="1737360" cy="182880"/>
          </a:xfrm>
          <a:prstGeom prst="rect">
            <a:avLst/>
          </a:prstGeom>
          <a:noFill/>
          <a:ln/>
        </p:spPr>
        <p:txBody>
          <a:bodyPr wrap="square" lIns="0" tIns="0" rIns="0" bIns="0" rtlCol="0" anchor="ctr"/>
          <a:lstStyle/>
          <a:p>
            <a:pPr algn="ctr" indent="0" marL="0">
              <a:buNone/>
            </a:pPr>
            <a:r>
              <a:rPr lang="en-US" sz="1000" dirty="0">
                <a:solidFill>
                  <a:srgbClr val="0891B2"/>
                </a:solidFill>
                <a:latin typeface="Calibri" pitchFamily="34" charset="0"/>
                <a:ea typeface="Calibri" pitchFamily="34" charset="-122"/>
                <a:cs typeface="Calibri" pitchFamily="34" charset="-120"/>
              </a:rPr>
              <a:t>النمو</a:t>
            </a:r>
            <a:endParaRPr lang="en-US" sz="1000" dirty="0"/>
          </a:p>
        </p:txBody>
      </p:sp>
      <p:sp>
        <p:nvSpPr>
          <p:cNvPr id="16" name="Text 14"/>
          <p:cNvSpPr/>
          <p:nvPr/>
        </p:nvSpPr>
        <p:spPr>
          <a:xfrm>
            <a:off x="260604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799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17" name="Shape 15"/>
          <p:cNvSpPr/>
          <p:nvPr/>
        </p:nvSpPr>
        <p:spPr>
          <a:xfrm>
            <a:off x="2788920" y="2423160"/>
            <a:ext cx="1371600" cy="18288"/>
          </a:xfrm>
          <a:prstGeom prst="rect">
            <a:avLst/>
          </a:prstGeom>
          <a:solidFill>
            <a:srgbClr val="0891B2">
              <a:alpha val="50000"/>
            </a:srgbClr>
          </a:solidFill>
          <a:ln/>
        </p:spPr>
      </p:sp>
      <p:sp>
        <p:nvSpPr>
          <p:cNvPr id="18" name="Text 16"/>
          <p:cNvSpPr/>
          <p:nvPr/>
        </p:nvSpPr>
        <p:spPr>
          <a:xfrm>
            <a:off x="265176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3 Companies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AI Classification</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Unlimited Reports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Readiness Score</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Priority Support</a:t>
            </a:r>
            <a:endParaRPr lang="en-US" sz="900" dirty="0"/>
          </a:p>
        </p:txBody>
      </p:sp>
      <p:sp>
        <p:nvSpPr>
          <p:cNvPr id="19" name="Shape 17"/>
          <p:cNvSpPr/>
          <p:nvPr/>
        </p:nvSpPr>
        <p:spPr>
          <a:xfrm>
            <a:off x="4709160" y="1371600"/>
            <a:ext cx="1920240" cy="3063240"/>
          </a:xfrm>
          <a:prstGeom prst="rect">
            <a:avLst/>
          </a:prstGeom>
          <a:solidFill>
            <a:srgbClr val="1C3254"/>
          </a:solidFill>
          <a:ln/>
          <a:effectLst>
            <a:outerShdw sx="100000" sy="100000" kx="0" ky="0" algn="bl" rotWithShape="0" blurRad="101600" dist="38100" dir="8100000">
              <a:srgbClr val="000000">
                <a:alpha val="30000"/>
              </a:srgbClr>
            </a:outerShdw>
          </a:effectLst>
        </p:spPr>
      </p:sp>
      <p:sp>
        <p:nvSpPr>
          <p:cNvPr id="20" name="Shape 18"/>
          <p:cNvSpPr/>
          <p:nvPr/>
        </p:nvSpPr>
        <p:spPr>
          <a:xfrm>
            <a:off x="4709160" y="1371600"/>
            <a:ext cx="1920240" cy="54864"/>
          </a:xfrm>
          <a:prstGeom prst="rect">
            <a:avLst/>
          </a:prstGeom>
          <a:solidFill>
            <a:srgbClr val="C9A84C"/>
          </a:solidFill>
          <a:ln/>
        </p:spPr>
      </p:sp>
      <p:sp>
        <p:nvSpPr>
          <p:cNvPr id="21" name="Shape 19"/>
          <p:cNvSpPr/>
          <p:nvPr/>
        </p:nvSpPr>
        <p:spPr>
          <a:xfrm>
            <a:off x="4983480" y="1261872"/>
            <a:ext cx="1371600" cy="201168"/>
          </a:xfrm>
          <a:prstGeom prst="rect">
            <a:avLst/>
          </a:prstGeom>
          <a:solidFill>
            <a:srgbClr val="C9A84C"/>
          </a:solidFill>
          <a:ln/>
        </p:spPr>
      </p:sp>
      <p:sp>
        <p:nvSpPr>
          <p:cNvPr id="22" name="Text 20"/>
          <p:cNvSpPr/>
          <p:nvPr/>
        </p:nvSpPr>
        <p:spPr>
          <a:xfrm>
            <a:off x="4983480" y="1261872"/>
            <a:ext cx="1371600" cy="201168"/>
          </a:xfrm>
          <a:prstGeom prst="rect">
            <a:avLst/>
          </a:prstGeom>
          <a:noFill/>
          <a:ln/>
        </p:spPr>
        <p:txBody>
          <a:bodyPr wrap="square" lIns="0" tIns="0" rIns="0" bIns="0" rtlCol="0" anchor="ctr"/>
          <a:lstStyle/>
          <a:p>
            <a:pPr algn="ctr" indent="0" marL="0">
              <a:buNone/>
            </a:pPr>
            <a:r>
              <a:rPr lang="en-US" sz="700" b="1" dirty="0">
                <a:solidFill>
                  <a:srgbClr val="0F1B2D"/>
                </a:solidFill>
                <a:latin typeface="Calibri" pitchFamily="34" charset="0"/>
                <a:ea typeface="Calibri" pitchFamily="34" charset="-122"/>
                <a:cs typeface="Calibri" pitchFamily="34" charset="-120"/>
              </a:rPr>
              <a:t>MOST POPULAR</a:t>
            </a:r>
            <a:endParaRPr lang="en-US" sz="700" dirty="0"/>
          </a:p>
        </p:txBody>
      </p:sp>
      <p:sp>
        <p:nvSpPr>
          <p:cNvPr id="23" name="Text 21"/>
          <p:cNvSpPr/>
          <p:nvPr/>
        </p:nvSpPr>
        <p:spPr>
          <a:xfrm>
            <a:off x="480060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Professional</a:t>
            </a:r>
            <a:endParaRPr lang="en-US" sz="1300" dirty="0"/>
          </a:p>
        </p:txBody>
      </p:sp>
      <p:sp>
        <p:nvSpPr>
          <p:cNvPr id="24" name="Text 22"/>
          <p:cNvSpPr/>
          <p:nvPr/>
        </p:nvSpPr>
        <p:spPr>
          <a:xfrm>
            <a:off x="4800600" y="1737360"/>
            <a:ext cx="1737360" cy="182880"/>
          </a:xfrm>
          <a:prstGeom prst="rect">
            <a:avLst/>
          </a:prstGeom>
          <a:noFill/>
          <a:ln/>
        </p:spPr>
        <p:txBody>
          <a:bodyPr wrap="square" lIns="0" tIns="0" rIns="0" bIns="0" rtlCol="0" anchor="ctr"/>
          <a:lstStyle/>
          <a:p>
            <a:pPr algn="ctr" indent="0" marL="0">
              <a:buNone/>
            </a:pPr>
            <a:r>
              <a:rPr lang="en-US" sz="1000" dirty="0">
                <a:solidFill>
                  <a:srgbClr val="C9A84C"/>
                </a:solidFill>
                <a:latin typeface="Calibri" pitchFamily="34" charset="0"/>
                <a:ea typeface="Calibri" pitchFamily="34" charset="-122"/>
                <a:cs typeface="Calibri" pitchFamily="34" charset="-120"/>
              </a:rPr>
              <a:t>الاحترافي</a:t>
            </a:r>
            <a:endParaRPr lang="en-US" sz="1000" dirty="0"/>
          </a:p>
        </p:txBody>
      </p:sp>
      <p:sp>
        <p:nvSpPr>
          <p:cNvPr id="25" name="Text 23"/>
          <p:cNvSpPr/>
          <p:nvPr/>
        </p:nvSpPr>
        <p:spPr>
          <a:xfrm>
            <a:off x="480060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1,999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26" name="Shape 24"/>
          <p:cNvSpPr/>
          <p:nvPr/>
        </p:nvSpPr>
        <p:spPr>
          <a:xfrm>
            <a:off x="4983480" y="2423160"/>
            <a:ext cx="1371600" cy="18288"/>
          </a:xfrm>
          <a:prstGeom prst="rect">
            <a:avLst/>
          </a:prstGeom>
          <a:solidFill>
            <a:srgbClr val="C9A84C">
              <a:alpha val="50000"/>
            </a:srgbClr>
          </a:solidFill>
          <a:ln/>
        </p:spPr>
      </p:sp>
      <p:sp>
        <p:nvSpPr>
          <p:cNvPr id="27" name="Text 25"/>
          <p:cNvSpPr/>
          <p:nvPr/>
        </p:nvSpPr>
        <p:spPr>
          <a:xfrm>
            <a:off x="484632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10 Companies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Full AI Suite</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Audit Workflow</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API Access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Dedicated Manager</a:t>
            </a:r>
            <a:endParaRPr lang="en-US" sz="900" dirty="0"/>
          </a:p>
        </p:txBody>
      </p:sp>
      <p:sp>
        <p:nvSpPr>
          <p:cNvPr id="28" name="Shape 26"/>
          <p:cNvSpPr/>
          <p:nvPr/>
        </p:nvSpPr>
        <p:spPr>
          <a:xfrm>
            <a:off x="6903720" y="1371600"/>
            <a:ext cx="1920240" cy="306324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29" name="Shape 27"/>
          <p:cNvSpPr/>
          <p:nvPr/>
        </p:nvSpPr>
        <p:spPr>
          <a:xfrm>
            <a:off x="6903720" y="1371600"/>
            <a:ext cx="1920240" cy="54864"/>
          </a:xfrm>
          <a:prstGeom prst="rect">
            <a:avLst/>
          </a:prstGeom>
          <a:solidFill>
            <a:srgbClr val="22D3EE"/>
          </a:solidFill>
          <a:ln/>
        </p:spPr>
      </p:sp>
      <p:sp>
        <p:nvSpPr>
          <p:cNvPr id="30" name="Text 28"/>
          <p:cNvSpPr/>
          <p:nvPr/>
        </p:nvSpPr>
        <p:spPr>
          <a:xfrm>
            <a:off x="6995160" y="1508760"/>
            <a:ext cx="1737360"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Enterprise</a:t>
            </a:r>
            <a:endParaRPr lang="en-US" sz="1300" dirty="0"/>
          </a:p>
        </p:txBody>
      </p:sp>
      <p:sp>
        <p:nvSpPr>
          <p:cNvPr id="31" name="Text 29"/>
          <p:cNvSpPr/>
          <p:nvPr/>
        </p:nvSpPr>
        <p:spPr>
          <a:xfrm>
            <a:off x="6995160" y="1737360"/>
            <a:ext cx="1737360" cy="182880"/>
          </a:xfrm>
          <a:prstGeom prst="rect">
            <a:avLst/>
          </a:prstGeom>
          <a:noFill/>
          <a:ln/>
        </p:spPr>
        <p:txBody>
          <a:bodyPr wrap="square" lIns="0" tIns="0" rIns="0" bIns="0" rtlCol="0" anchor="ctr"/>
          <a:lstStyle/>
          <a:p>
            <a:pPr algn="ctr" indent="0" marL="0">
              <a:buNone/>
            </a:pPr>
            <a:r>
              <a:rPr lang="en-US" sz="1000" dirty="0">
                <a:solidFill>
                  <a:srgbClr val="22D3EE"/>
                </a:solidFill>
                <a:latin typeface="Calibri" pitchFamily="34" charset="0"/>
                <a:ea typeface="Calibri" pitchFamily="34" charset="-122"/>
                <a:cs typeface="Calibri" pitchFamily="34" charset="-120"/>
              </a:rPr>
              <a:t>المؤسسي</a:t>
            </a:r>
            <a:endParaRPr lang="en-US" sz="1000" dirty="0"/>
          </a:p>
        </p:txBody>
      </p:sp>
      <p:sp>
        <p:nvSpPr>
          <p:cNvPr id="32" name="Text 30"/>
          <p:cNvSpPr/>
          <p:nvPr/>
        </p:nvSpPr>
        <p:spPr>
          <a:xfrm>
            <a:off x="6995160" y="1965960"/>
            <a:ext cx="1737360" cy="41148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SAR </a:t>
            </a:r>
            <a:pPr algn="ctr" indent="0" marL="0">
              <a:buNone/>
            </a:pPr>
            <a:r>
              <a:rPr lang="en-US" sz="2600" dirty="0">
                <a:solidFill>
                  <a:srgbClr val="FFFFFF"/>
                </a:solidFill>
                <a:latin typeface="Arial Black" pitchFamily="34" charset="0"/>
                <a:ea typeface="Arial Black" pitchFamily="34" charset="-122"/>
                <a:cs typeface="Arial Black" pitchFamily="34" charset="-120"/>
              </a:rPr>
              <a:t>4,999</a:t>
            </a:r>
            <a:pPr algn="ctr" indent="0" marL="0">
              <a:buNone/>
            </a:pPr>
            <a:r>
              <a:rPr lang="en-US" sz="900" dirty="0">
                <a:solidFill>
                  <a:srgbClr val="64748B"/>
                </a:solidFill>
                <a:latin typeface="Calibri" pitchFamily="34" charset="0"/>
                <a:ea typeface="Calibri" pitchFamily="34" charset="-122"/>
                <a:cs typeface="Calibri" pitchFamily="34" charset="-120"/>
              </a:rPr>
              <a:t>/mo</a:t>
            </a:r>
            <a:endParaRPr lang="en-US" sz="1000" dirty="0"/>
          </a:p>
        </p:txBody>
      </p:sp>
      <p:sp>
        <p:nvSpPr>
          <p:cNvPr id="33" name="Shape 31"/>
          <p:cNvSpPr/>
          <p:nvPr/>
        </p:nvSpPr>
        <p:spPr>
          <a:xfrm>
            <a:off x="7178040" y="2423160"/>
            <a:ext cx="1371600" cy="18288"/>
          </a:xfrm>
          <a:prstGeom prst="rect">
            <a:avLst/>
          </a:prstGeom>
          <a:solidFill>
            <a:srgbClr val="22D3EE">
              <a:alpha val="50000"/>
            </a:srgbClr>
          </a:solidFill>
          <a:ln/>
        </p:spPr>
      </p:sp>
      <p:sp>
        <p:nvSpPr>
          <p:cNvPr id="34" name="Text 32"/>
          <p:cNvSpPr/>
          <p:nvPr/>
        </p:nvSpPr>
        <p:spPr>
          <a:xfrm>
            <a:off x="7040880" y="2514600"/>
            <a:ext cx="1645920" cy="1645920"/>
          </a:xfrm>
          <a:prstGeom prst="rect">
            <a:avLst/>
          </a:prstGeom>
          <a:noFill/>
          <a:ln/>
        </p:spPr>
        <p:txBody>
          <a:bodyPr wrap="square" lIns="0" tIns="0" rIns="0" bIns="0" rtlCol="0" anchor="ctr"/>
          <a:lstStyle/>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Unlimited</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Custom Modules</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SLA Guarantee</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On-premise Option</a:t>
            </a:r>
            <a:endParaRPr lang="en-US" sz="900" dirty="0"/>
          </a:p>
          <a:p>
            <a:pPr marL="342900" indent="-342900">
              <a:spcAft>
                <a:spcPts val="400"/>
              </a:spcAft>
              <a:buSzPct val="100000"/>
              <a:buChar char="•"/>
            </a:pPr>
            <a:r>
              <a:rPr lang="en-US" sz="900" dirty="0">
                <a:solidFill>
                  <a:srgbClr val="CBD5E1"/>
                </a:solidFill>
                <a:latin typeface="Calibri" pitchFamily="34" charset="0"/>
                <a:ea typeface="Calibri" pitchFamily="34" charset="-122"/>
                <a:cs typeface="Calibri" pitchFamily="34" charset="-120"/>
              </a:rPr>
              <a:t>White-label Ready</a:t>
            </a:r>
            <a:endParaRPr lang="en-US" sz="900" dirty="0"/>
          </a:p>
        </p:txBody>
      </p:sp>
      <p:sp>
        <p:nvSpPr>
          <p:cNvPr id="35" name="Shape 33"/>
          <p:cNvSpPr/>
          <p:nvPr/>
        </p:nvSpPr>
        <p:spPr>
          <a:xfrm>
            <a:off x="0" y="4709160"/>
            <a:ext cx="9144000" cy="434340"/>
          </a:xfrm>
          <a:prstGeom prst="rect">
            <a:avLst/>
          </a:prstGeom>
          <a:solidFill>
            <a:srgbClr val="0A1220"/>
          </a:solidFill>
          <a:ln/>
        </p:spPr>
      </p:sp>
      <p:sp>
        <p:nvSpPr>
          <p:cNvPr id="36" name="Text 3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7" name="Text 3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8 / 19</a:t>
            </a:r>
            <a:endParaRPr lang="en-US" sz="750" dirty="0"/>
          </a:p>
        </p:txBody>
      </p:sp>
      <p:sp>
        <p:nvSpPr>
          <p:cNvPr id="38" name="Text 3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LIVE DEMO FLOW  ·  مسار العرض التجريبي</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See APEX in Action</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شاهد APEX أثناء العمل</a:t>
            </a:r>
            <a:endParaRPr lang="en-US" sz="2600" dirty="0"/>
          </a:p>
        </p:txBody>
      </p:sp>
      <p:sp>
        <p:nvSpPr>
          <p:cNvPr id="5" name="Shape 3"/>
          <p:cNvSpPr/>
          <p:nvPr/>
        </p:nvSpPr>
        <p:spPr>
          <a:xfrm>
            <a:off x="457200" y="137160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548640" y="1508760"/>
            <a:ext cx="502920" cy="502920"/>
          </a:xfrm>
          <a:prstGeom prst="ellipse">
            <a:avLst/>
          </a:prstGeom>
          <a:solidFill>
            <a:srgbClr val="0891B2"/>
          </a:solidFill>
          <a:ln/>
        </p:spPr>
      </p:sp>
      <p:sp>
        <p:nvSpPr>
          <p:cNvPr id="7" name="Text 5"/>
          <p:cNvSpPr/>
          <p:nvPr/>
        </p:nvSpPr>
        <p:spPr>
          <a:xfrm>
            <a:off x="548640" y="150876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1</a:t>
            </a:r>
            <a:endParaRPr lang="en-US" sz="2000" dirty="0"/>
          </a:p>
        </p:txBody>
      </p:sp>
      <p:sp>
        <p:nvSpPr>
          <p:cNvPr id="8" name="Text 6"/>
          <p:cNvSpPr/>
          <p:nvPr/>
        </p:nvSpPr>
        <p:spPr>
          <a:xfrm>
            <a:off x="1188720" y="141732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Client Onboarding</a:t>
            </a:r>
            <a:endParaRPr lang="en-US" sz="1200" dirty="0"/>
          </a:p>
        </p:txBody>
      </p:sp>
      <p:sp>
        <p:nvSpPr>
          <p:cNvPr id="9" name="Text 7"/>
          <p:cNvSpPr/>
          <p:nvPr/>
        </p:nvSpPr>
        <p:spPr>
          <a:xfrm>
            <a:off x="1188720" y="1618488"/>
            <a:ext cx="2286000" cy="182880"/>
          </a:xfrm>
          <a:prstGeom prst="rect">
            <a:avLst/>
          </a:prstGeom>
          <a:noFill/>
          <a:ln/>
        </p:spPr>
        <p:txBody>
          <a:bodyPr wrap="square" lIns="0" tIns="0" rIns="0" bIns="0" rtlCol="0" anchor="ctr"/>
          <a:lstStyle/>
          <a:p>
            <a:pPr indent="0" marL="0">
              <a:buNone/>
            </a:pPr>
            <a:r>
              <a:rPr lang="en-US" sz="950" dirty="0">
                <a:solidFill>
                  <a:srgbClr val="0891B2"/>
                </a:solidFill>
                <a:latin typeface="Calibri" pitchFamily="34" charset="0"/>
                <a:ea typeface="Calibri" pitchFamily="34" charset="-122"/>
                <a:cs typeface="Calibri" pitchFamily="34" charset="-120"/>
              </a:rPr>
              <a:t>تأهيل العميل</a:t>
            </a:r>
            <a:endParaRPr lang="en-US" sz="950" dirty="0"/>
          </a:p>
        </p:txBody>
      </p:sp>
      <p:sp>
        <p:nvSpPr>
          <p:cNvPr id="10" name="Text 8"/>
          <p:cNvSpPr/>
          <p:nvPr/>
        </p:nvSpPr>
        <p:spPr>
          <a:xfrm>
            <a:off x="1188720" y="182880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7-stage wizard auto-configures for company type &amp; industry</a:t>
            </a:r>
            <a:endParaRPr lang="en-US" sz="950" dirty="0"/>
          </a:p>
        </p:txBody>
      </p:sp>
      <p:sp>
        <p:nvSpPr>
          <p:cNvPr id="11" name="Shape 9"/>
          <p:cNvSpPr/>
          <p:nvPr/>
        </p:nvSpPr>
        <p:spPr>
          <a:xfrm>
            <a:off x="4754880" y="137160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2" name="Shape 10"/>
          <p:cNvSpPr/>
          <p:nvPr/>
        </p:nvSpPr>
        <p:spPr>
          <a:xfrm>
            <a:off x="4846320" y="1508760"/>
            <a:ext cx="502920" cy="502920"/>
          </a:xfrm>
          <a:prstGeom prst="ellipse">
            <a:avLst/>
          </a:prstGeom>
          <a:solidFill>
            <a:srgbClr val="22D3EE"/>
          </a:solidFill>
          <a:ln/>
        </p:spPr>
      </p:sp>
      <p:sp>
        <p:nvSpPr>
          <p:cNvPr id="13" name="Text 11"/>
          <p:cNvSpPr/>
          <p:nvPr/>
        </p:nvSpPr>
        <p:spPr>
          <a:xfrm>
            <a:off x="4846320" y="150876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2</a:t>
            </a:r>
            <a:endParaRPr lang="en-US" sz="2000" dirty="0"/>
          </a:p>
        </p:txBody>
      </p:sp>
      <p:sp>
        <p:nvSpPr>
          <p:cNvPr id="14" name="Text 12"/>
          <p:cNvSpPr/>
          <p:nvPr/>
        </p:nvSpPr>
        <p:spPr>
          <a:xfrm>
            <a:off x="5486400" y="141732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Upload COA</a:t>
            </a:r>
            <a:endParaRPr lang="en-US" sz="1200" dirty="0"/>
          </a:p>
        </p:txBody>
      </p:sp>
      <p:sp>
        <p:nvSpPr>
          <p:cNvPr id="15" name="Text 13"/>
          <p:cNvSpPr/>
          <p:nvPr/>
        </p:nvSpPr>
        <p:spPr>
          <a:xfrm>
            <a:off x="5486400" y="1618488"/>
            <a:ext cx="2286000" cy="182880"/>
          </a:xfrm>
          <a:prstGeom prst="rect">
            <a:avLst/>
          </a:prstGeom>
          <a:noFill/>
          <a:ln/>
        </p:spPr>
        <p:txBody>
          <a:bodyPr wrap="square" lIns="0" tIns="0" rIns="0" bIns="0" rtlCol="0" anchor="ctr"/>
          <a:lstStyle/>
          <a:p>
            <a:pPr indent="0" marL="0">
              <a:buNone/>
            </a:pPr>
            <a:r>
              <a:rPr lang="en-US" sz="950" dirty="0">
                <a:solidFill>
                  <a:srgbClr val="22D3EE"/>
                </a:solidFill>
                <a:latin typeface="Calibri" pitchFamily="34" charset="0"/>
                <a:ea typeface="Calibri" pitchFamily="34" charset="-122"/>
                <a:cs typeface="Calibri" pitchFamily="34" charset="-120"/>
              </a:rPr>
              <a:t>رفع شجرة الحسابات</a:t>
            </a:r>
            <a:endParaRPr lang="en-US" sz="950" dirty="0"/>
          </a:p>
        </p:txBody>
      </p:sp>
      <p:sp>
        <p:nvSpPr>
          <p:cNvPr id="16" name="Text 14"/>
          <p:cNvSpPr/>
          <p:nvPr/>
        </p:nvSpPr>
        <p:spPr>
          <a:xfrm>
            <a:off x="5486400" y="182880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Arabic/English Excel — AI classifies 200+ accounts instantly</a:t>
            </a:r>
            <a:endParaRPr lang="en-US" sz="950" dirty="0"/>
          </a:p>
        </p:txBody>
      </p:sp>
      <p:sp>
        <p:nvSpPr>
          <p:cNvPr id="17" name="Shape 15"/>
          <p:cNvSpPr/>
          <p:nvPr/>
        </p:nvSpPr>
        <p:spPr>
          <a:xfrm>
            <a:off x="457200" y="233172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8" name="Shape 16"/>
          <p:cNvSpPr/>
          <p:nvPr/>
        </p:nvSpPr>
        <p:spPr>
          <a:xfrm>
            <a:off x="548640" y="2468880"/>
            <a:ext cx="502920" cy="502920"/>
          </a:xfrm>
          <a:prstGeom prst="ellipse">
            <a:avLst/>
          </a:prstGeom>
          <a:solidFill>
            <a:srgbClr val="C9A84C"/>
          </a:solidFill>
          <a:ln/>
        </p:spPr>
      </p:sp>
      <p:sp>
        <p:nvSpPr>
          <p:cNvPr id="19" name="Text 17"/>
          <p:cNvSpPr/>
          <p:nvPr/>
        </p:nvSpPr>
        <p:spPr>
          <a:xfrm>
            <a:off x="548640" y="246888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3</a:t>
            </a:r>
            <a:endParaRPr lang="en-US" sz="2000" dirty="0"/>
          </a:p>
        </p:txBody>
      </p:sp>
      <p:sp>
        <p:nvSpPr>
          <p:cNvPr id="20" name="Text 18"/>
          <p:cNvSpPr/>
          <p:nvPr/>
        </p:nvSpPr>
        <p:spPr>
          <a:xfrm>
            <a:off x="1188720" y="237744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Trial Balance Bind</a:t>
            </a:r>
            <a:endParaRPr lang="en-US" sz="1200" dirty="0"/>
          </a:p>
        </p:txBody>
      </p:sp>
      <p:sp>
        <p:nvSpPr>
          <p:cNvPr id="21" name="Text 19"/>
          <p:cNvSpPr/>
          <p:nvPr/>
        </p:nvSpPr>
        <p:spPr>
          <a:xfrm>
            <a:off x="1188720" y="2578608"/>
            <a:ext cx="2286000" cy="182880"/>
          </a:xfrm>
          <a:prstGeom prst="rect">
            <a:avLst/>
          </a:prstGeom>
          <a:noFill/>
          <a:ln/>
        </p:spPr>
        <p:txBody>
          <a:bodyPr wrap="square" lIns="0" tIns="0" rIns="0" bIns="0" rtlCol="0" anchor="ctr"/>
          <a:lstStyle/>
          <a:p>
            <a:pPr indent="0" marL="0">
              <a:buNone/>
            </a:pPr>
            <a:r>
              <a:rPr lang="en-US" sz="950" dirty="0">
                <a:solidFill>
                  <a:srgbClr val="C9A84C"/>
                </a:solidFill>
                <a:latin typeface="Calibri" pitchFamily="34" charset="0"/>
                <a:ea typeface="Calibri" pitchFamily="34" charset="-122"/>
                <a:cs typeface="Calibri" pitchFamily="34" charset="-120"/>
              </a:rPr>
              <a:t>ربط ميزان المراجعة</a:t>
            </a:r>
            <a:endParaRPr lang="en-US" sz="950" dirty="0"/>
          </a:p>
        </p:txBody>
      </p:sp>
      <p:sp>
        <p:nvSpPr>
          <p:cNvPr id="22" name="Text 20"/>
          <p:cNvSpPr/>
          <p:nvPr/>
        </p:nvSpPr>
        <p:spPr>
          <a:xfrm>
            <a:off x="1188720" y="278892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Auto-links TB to COA, anomaly scoring &amp; issue flagging</a:t>
            </a:r>
            <a:endParaRPr lang="en-US" sz="950" dirty="0"/>
          </a:p>
        </p:txBody>
      </p:sp>
      <p:sp>
        <p:nvSpPr>
          <p:cNvPr id="23" name="Shape 21"/>
          <p:cNvSpPr/>
          <p:nvPr/>
        </p:nvSpPr>
        <p:spPr>
          <a:xfrm>
            <a:off x="4754880" y="233172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4" name="Shape 22"/>
          <p:cNvSpPr/>
          <p:nvPr/>
        </p:nvSpPr>
        <p:spPr>
          <a:xfrm>
            <a:off x="4846320" y="2468880"/>
            <a:ext cx="502920" cy="502920"/>
          </a:xfrm>
          <a:prstGeom prst="ellipse">
            <a:avLst/>
          </a:prstGeom>
          <a:solidFill>
            <a:srgbClr val="E8CC73"/>
          </a:solidFill>
          <a:ln/>
        </p:spPr>
      </p:sp>
      <p:sp>
        <p:nvSpPr>
          <p:cNvPr id="25" name="Text 23"/>
          <p:cNvSpPr/>
          <p:nvPr/>
        </p:nvSpPr>
        <p:spPr>
          <a:xfrm>
            <a:off x="4846320" y="246888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4</a:t>
            </a:r>
            <a:endParaRPr lang="en-US" sz="2000" dirty="0"/>
          </a:p>
        </p:txBody>
      </p:sp>
      <p:sp>
        <p:nvSpPr>
          <p:cNvPr id="26" name="Text 24"/>
          <p:cNvSpPr/>
          <p:nvPr/>
        </p:nvSpPr>
        <p:spPr>
          <a:xfrm>
            <a:off x="5486400" y="237744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Financial Statements</a:t>
            </a:r>
            <a:endParaRPr lang="en-US" sz="1200" dirty="0"/>
          </a:p>
        </p:txBody>
      </p:sp>
      <p:sp>
        <p:nvSpPr>
          <p:cNvPr id="27" name="Text 25"/>
          <p:cNvSpPr/>
          <p:nvPr/>
        </p:nvSpPr>
        <p:spPr>
          <a:xfrm>
            <a:off x="5486400" y="2578608"/>
            <a:ext cx="2286000" cy="182880"/>
          </a:xfrm>
          <a:prstGeom prst="rect">
            <a:avLst/>
          </a:prstGeom>
          <a:noFill/>
          <a:ln/>
        </p:spPr>
        <p:txBody>
          <a:bodyPr wrap="square" lIns="0" tIns="0" rIns="0" bIns="0" rtlCol="0" anchor="ctr"/>
          <a:lstStyle/>
          <a:p>
            <a:pPr indent="0" marL="0">
              <a:buNone/>
            </a:pPr>
            <a:r>
              <a:rPr lang="en-US" sz="950" dirty="0">
                <a:solidFill>
                  <a:srgbClr val="E8CC73"/>
                </a:solidFill>
                <a:latin typeface="Calibri" pitchFamily="34" charset="0"/>
                <a:ea typeface="Calibri" pitchFamily="34" charset="-122"/>
                <a:cs typeface="Calibri" pitchFamily="34" charset="-120"/>
              </a:rPr>
              <a:t>القوائم المالية</a:t>
            </a:r>
            <a:endParaRPr lang="en-US" sz="950" dirty="0"/>
          </a:p>
        </p:txBody>
      </p:sp>
      <p:sp>
        <p:nvSpPr>
          <p:cNvPr id="28" name="Text 26"/>
          <p:cNvSpPr/>
          <p:nvPr/>
        </p:nvSpPr>
        <p:spPr>
          <a:xfrm>
            <a:off x="5486400" y="278892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P&amp;L, Balance Sheet, Cash Flow generated in one click</a:t>
            </a:r>
            <a:endParaRPr lang="en-US" sz="950" dirty="0"/>
          </a:p>
        </p:txBody>
      </p:sp>
      <p:sp>
        <p:nvSpPr>
          <p:cNvPr id="29" name="Shape 27"/>
          <p:cNvSpPr/>
          <p:nvPr/>
        </p:nvSpPr>
        <p:spPr>
          <a:xfrm>
            <a:off x="457200" y="329184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0" name="Shape 28"/>
          <p:cNvSpPr/>
          <p:nvPr/>
        </p:nvSpPr>
        <p:spPr>
          <a:xfrm>
            <a:off x="548640" y="3429000"/>
            <a:ext cx="502920" cy="502920"/>
          </a:xfrm>
          <a:prstGeom prst="ellipse">
            <a:avLst/>
          </a:prstGeom>
          <a:solidFill>
            <a:srgbClr val="10B981"/>
          </a:solidFill>
          <a:ln/>
        </p:spPr>
      </p:sp>
      <p:sp>
        <p:nvSpPr>
          <p:cNvPr id="31" name="Text 29"/>
          <p:cNvSpPr/>
          <p:nvPr/>
        </p:nvSpPr>
        <p:spPr>
          <a:xfrm>
            <a:off x="548640" y="342900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5</a:t>
            </a:r>
            <a:endParaRPr lang="en-US" sz="2000" dirty="0"/>
          </a:p>
        </p:txBody>
      </p:sp>
      <p:sp>
        <p:nvSpPr>
          <p:cNvPr id="32" name="Text 30"/>
          <p:cNvSpPr/>
          <p:nvPr/>
        </p:nvSpPr>
        <p:spPr>
          <a:xfrm>
            <a:off x="1188720" y="333756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Analysis Dashboard</a:t>
            </a:r>
            <a:endParaRPr lang="en-US" sz="1200" dirty="0"/>
          </a:p>
        </p:txBody>
      </p:sp>
      <p:sp>
        <p:nvSpPr>
          <p:cNvPr id="33" name="Text 31"/>
          <p:cNvSpPr/>
          <p:nvPr/>
        </p:nvSpPr>
        <p:spPr>
          <a:xfrm>
            <a:off x="1188720" y="3538728"/>
            <a:ext cx="2286000" cy="182880"/>
          </a:xfrm>
          <a:prstGeom prst="rect">
            <a:avLst/>
          </a:prstGeom>
          <a:noFill/>
          <a:ln/>
        </p:spPr>
        <p:txBody>
          <a:bodyPr wrap="square" lIns="0" tIns="0" rIns="0" bIns="0" rtlCol="0" anchor="ctr"/>
          <a:lstStyle/>
          <a:p>
            <a:pPr indent="0" marL="0">
              <a:buNone/>
            </a:pPr>
            <a:r>
              <a:rPr lang="en-US" sz="950" dirty="0">
                <a:solidFill>
                  <a:srgbClr val="10B981"/>
                </a:solidFill>
                <a:latin typeface="Calibri" pitchFamily="34" charset="0"/>
                <a:ea typeface="Calibri" pitchFamily="34" charset="-122"/>
                <a:cs typeface="Calibri" pitchFamily="34" charset="-120"/>
              </a:rPr>
              <a:t>لوحة التحليل</a:t>
            </a:r>
            <a:endParaRPr lang="en-US" sz="950" dirty="0"/>
          </a:p>
        </p:txBody>
      </p:sp>
      <p:sp>
        <p:nvSpPr>
          <p:cNvPr id="34" name="Text 32"/>
          <p:cNvSpPr/>
          <p:nvPr/>
        </p:nvSpPr>
        <p:spPr>
          <a:xfrm>
            <a:off x="1188720" y="374904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30+ ratios, Readiness Score, funding gap analysis</a:t>
            </a:r>
            <a:endParaRPr lang="en-US" sz="950" dirty="0"/>
          </a:p>
        </p:txBody>
      </p:sp>
      <p:sp>
        <p:nvSpPr>
          <p:cNvPr id="35" name="Shape 33"/>
          <p:cNvSpPr/>
          <p:nvPr/>
        </p:nvSpPr>
        <p:spPr>
          <a:xfrm>
            <a:off x="4754880" y="3291840"/>
            <a:ext cx="3977640" cy="7772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6" name="Shape 34"/>
          <p:cNvSpPr/>
          <p:nvPr/>
        </p:nvSpPr>
        <p:spPr>
          <a:xfrm>
            <a:off x="4846320" y="3429000"/>
            <a:ext cx="502920" cy="502920"/>
          </a:xfrm>
          <a:prstGeom prst="ellipse">
            <a:avLst/>
          </a:prstGeom>
          <a:solidFill>
            <a:srgbClr val="34D399"/>
          </a:solidFill>
          <a:ln/>
        </p:spPr>
      </p:sp>
      <p:sp>
        <p:nvSpPr>
          <p:cNvPr id="37" name="Text 35"/>
          <p:cNvSpPr/>
          <p:nvPr/>
        </p:nvSpPr>
        <p:spPr>
          <a:xfrm>
            <a:off x="4846320" y="3429000"/>
            <a:ext cx="50292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Arial Black" pitchFamily="34" charset="0"/>
                <a:ea typeface="Arial Black" pitchFamily="34" charset="-122"/>
                <a:cs typeface="Arial Black" pitchFamily="34" charset="-120"/>
              </a:rPr>
              <a:t>6</a:t>
            </a:r>
            <a:endParaRPr lang="en-US" sz="2000" dirty="0"/>
          </a:p>
        </p:txBody>
      </p:sp>
      <p:sp>
        <p:nvSpPr>
          <p:cNvPr id="38" name="Text 36"/>
          <p:cNvSpPr/>
          <p:nvPr/>
        </p:nvSpPr>
        <p:spPr>
          <a:xfrm>
            <a:off x="5486400" y="3337560"/>
            <a:ext cx="2286000" cy="20116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Trail</a:t>
            </a:r>
            <a:endParaRPr lang="en-US" sz="1200" dirty="0"/>
          </a:p>
        </p:txBody>
      </p:sp>
      <p:sp>
        <p:nvSpPr>
          <p:cNvPr id="39" name="Text 37"/>
          <p:cNvSpPr/>
          <p:nvPr/>
        </p:nvSpPr>
        <p:spPr>
          <a:xfrm>
            <a:off x="5486400" y="3538728"/>
            <a:ext cx="2286000" cy="182880"/>
          </a:xfrm>
          <a:prstGeom prst="rect">
            <a:avLst/>
          </a:prstGeom>
          <a:noFill/>
          <a:ln/>
        </p:spPr>
        <p:txBody>
          <a:bodyPr wrap="square" lIns="0" tIns="0" rIns="0" bIns="0" rtlCol="0" anchor="ctr"/>
          <a:lstStyle/>
          <a:p>
            <a:pPr indent="0" marL="0">
              <a:buNone/>
            </a:pPr>
            <a:r>
              <a:rPr lang="en-US" sz="950" dirty="0">
                <a:solidFill>
                  <a:srgbClr val="34D399"/>
                </a:solidFill>
                <a:latin typeface="Calibri" pitchFamily="34" charset="0"/>
                <a:ea typeface="Calibri" pitchFamily="34" charset="-122"/>
                <a:cs typeface="Calibri" pitchFamily="34" charset="-120"/>
              </a:rPr>
              <a:t>سجل التدقيق</a:t>
            </a:r>
            <a:endParaRPr lang="en-US" sz="950" dirty="0"/>
          </a:p>
        </p:txBody>
      </p:sp>
      <p:sp>
        <p:nvSpPr>
          <p:cNvPr id="40" name="Text 38"/>
          <p:cNvSpPr/>
          <p:nvPr/>
        </p:nvSpPr>
        <p:spPr>
          <a:xfrm>
            <a:off x="5486400" y="3749040"/>
            <a:ext cx="3063240" cy="256032"/>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Every decision logged, timestamped &amp; explainable by AI</a:t>
            </a:r>
            <a:endParaRPr lang="en-US" sz="950" dirty="0"/>
          </a:p>
        </p:txBody>
      </p:sp>
      <p:sp>
        <p:nvSpPr>
          <p:cNvPr id="41" name="Shape 39"/>
          <p:cNvSpPr/>
          <p:nvPr/>
        </p:nvSpPr>
        <p:spPr>
          <a:xfrm>
            <a:off x="457200" y="4251960"/>
            <a:ext cx="8229600" cy="27432"/>
          </a:xfrm>
          <a:prstGeom prst="rect">
            <a:avLst/>
          </a:prstGeom>
          <a:solidFill>
            <a:srgbClr val="C9A84C">
              <a:alpha val="50000"/>
            </a:srgbClr>
          </a:solidFill>
          <a:ln/>
        </p:spPr>
      </p:sp>
      <p:sp>
        <p:nvSpPr>
          <p:cNvPr id="42" name="Text 40"/>
          <p:cNvSpPr/>
          <p:nvPr/>
        </p:nvSpPr>
        <p:spPr>
          <a:xfrm>
            <a:off x="457200" y="3977640"/>
            <a:ext cx="822960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See next slide for dashboard preview  |  انظر الشريحة التالية لمعاينة لوحة التحكم</a:t>
            </a:r>
            <a:endParaRPr lang="en-US" sz="900" dirty="0"/>
          </a:p>
        </p:txBody>
      </p:sp>
      <p:sp>
        <p:nvSpPr>
          <p:cNvPr id="43" name="Shape 41"/>
          <p:cNvSpPr/>
          <p:nvPr/>
        </p:nvSpPr>
        <p:spPr>
          <a:xfrm>
            <a:off x="0" y="4709160"/>
            <a:ext cx="9144000" cy="434340"/>
          </a:xfrm>
          <a:prstGeom prst="rect">
            <a:avLst/>
          </a:prstGeom>
          <a:solidFill>
            <a:srgbClr val="0A1220"/>
          </a:solidFill>
          <a:ln/>
        </p:spPr>
      </p:sp>
      <p:sp>
        <p:nvSpPr>
          <p:cNvPr id="44" name="Text 42"/>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5" name="Text 43"/>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9 / 19</a:t>
            </a:r>
            <a:endParaRPr lang="en-US" sz="750" dirty="0"/>
          </a:p>
        </p:txBody>
      </p:sp>
      <p:sp>
        <p:nvSpPr>
          <p:cNvPr id="46" name="Text 44"/>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DASHBOARD PREVIEW  ·  معاينة لوحة التحكم</a:t>
            </a:r>
            <a:endParaRPr lang="en-US" sz="11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Complete Financial Intelligence at a Glance</a:t>
            </a:r>
            <a:endParaRPr lang="en-US" sz="2400" dirty="0"/>
          </a:p>
          <a:p>
            <a:pPr indent="0" marL="0">
              <a:buNone/>
            </a:pPr>
            <a:r>
              <a:rPr lang="en-US" sz="1300" dirty="0">
                <a:solidFill>
                  <a:srgbClr val="C9A84C"/>
                </a:solidFill>
                <a:latin typeface="Calibri" pitchFamily="34" charset="0"/>
                <a:ea typeface="Calibri" pitchFamily="34" charset="-122"/>
                <a:cs typeface="Calibri" pitchFamily="34" charset="-120"/>
              </a:rPr>
              <a:t>ذكاء مالي متكامل في لمحة واحدة</a:t>
            </a:r>
            <a:endParaRPr lang="en-US" sz="2400" dirty="0"/>
          </a:p>
        </p:txBody>
      </p:sp>
      <p:sp>
        <p:nvSpPr>
          <p:cNvPr id="5" name="Shape 3"/>
          <p:cNvSpPr/>
          <p:nvPr/>
        </p:nvSpPr>
        <p:spPr>
          <a:xfrm>
            <a:off x="365760" y="1234440"/>
            <a:ext cx="8412480" cy="3337560"/>
          </a:xfrm>
          <a:prstGeom prst="rect">
            <a:avLst/>
          </a:prstGeom>
          <a:solidFill>
            <a:srgbClr val="1A2E4A"/>
          </a:solidFill>
          <a:ln/>
          <a:effectLst>
            <a:outerShdw sx="100000" sy="100000" kx="0" ky="0" algn="bl" rotWithShape="0" blurRad="101600" dist="38100" dir="8100000">
              <a:srgbClr val="000000">
                <a:alpha val="30000"/>
              </a:srgbClr>
            </a:outerShdw>
          </a:effectLst>
        </p:spPr>
      </p:sp>
      <p:pic>
        <p:nvPicPr>
          <p:cNvPr id="6" name="Image 0" descr="/sessions/festive-vibrant-feynman/dashboard_mockup.png">    </p:cNvPr>
          <p:cNvPicPr>
            <a:picLocks noChangeAspect="1"/>
          </p:cNvPicPr>
          <p:nvPr/>
        </p:nvPicPr>
        <p:blipFill>
          <a:blip r:embed="rId1"/>
          <a:stretch>
            <a:fillRect/>
          </a:stretch>
        </p:blipFill>
        <p:spPr>
          <a:xfrm>
            <a:off x="457200" y="1280160"/>
            <a:ext cx="8229600" cy="3246120"/>
          </a:xfrm>
          <a:prstGeom prst="rect">
            <a:avLst/>
          </a:prstGeom>
        </p:spPr>
      </p:pic>
      <p:sp>
        <p:nvSpPr>
          <p:cNvPr id="7" name="Text 4"/>
          <p:cNvSpPr/>
          <p:nvPr/>
        </p:nvSpPr>
        <p:spPr>
          <a:xfrm>
            <a:off x="457200" y="4572000"/>
            <a:ext cx="8229600" cy="137160"/>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Real-time KPIs · Financial Statements · Readiness Score · AI Insights  |  مؤشرات فورية · قوائم مالية · درجة الجاهزية · رؤى ذكية</a:t>
            </a:r>
            <a:endParaRPr lang="en-US" sz="850" dirty="0"/>
          </a:p>
        </p:txBody>
      </p:sp>
      <p:sp>
        <p:nvSpPr>
          <p:cNvPr id="8" name="Shape 5"/>
          <p:cNvSpPr/>
          <p:nvPr/>
        </p:nvSpPr>
        <p:spPr>
          <a:xfrm>
            <a:off x="0" y="4709160"/>
            <a:ext cx="9144000" cy="434340"/>
          </a:xfrm>
          <a:prstGeom prst="rect">
            <a:avLst/>
          </a:prstGeom>
          <a:solidFill>
            <a:srgbClr val="0A1220"/>
          </a:solidFill>
          <a:ln/>
        </p:spPr>
      </p:sp>
      <p:sp>
        <p:nvSpPr>
          <p:cNvPr id="9" name="Text 6"/>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10" name="Text 7"/>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10 / 19</a:t>
            </a:r>
            <a:endParaRPr lang="en-US" sz="750" dirty="0"/>
          </a:p>
        </p:txBody>
      </p:sp>
      <p:sp>
        <p:nvSpPr>
          <p:cNvPr id="11" name="Text 8"/>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0B981"/>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CASE STUDY  ·  قصة نجاح</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From Upload to Insight in 3 Minutes</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من الرفع إلى النتائج في 3 دقائق</a:t>
            </a:r>
            <a:endParaRPr lang="en-US" sz="2600" dirty="0"/>
          </a:p>
        </p:txBody>
      </p:sp>
      <p:sp>
        <p:nvSpPr>
          <p:cNvPr id="5" name="Shape 3"/>
          <p:cNvSpPr/>
          <p:nvPr/>
        </p:nvSpPr>
        <p:spPr>
          <a:xfrm>
            <a:off x="457200" y="1371600"/>
            <a:ext cx="3931920" cy="27432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6" name="Shape 4"/>
          <p:cNvSpPr/>
          <p:nvPr/>
        </p:nvSpPr>
        <p:spPr>
          <a:xfrm>
            <a:off x="457200" y="1371600"/>
            <a:ext cx="3931920" cy="45720"/>
          </a:xfrm>
          <a:prstGeom prst="rect">
            <a:avLst/>
          </a:prstGeom>
          <a:solidFill>
            <a:srgbClr val="EF4444"/>
          </a:solidFill>
          <a:ln/>
        </p:spPr>
      </p:sp>
      <p:sp>
        <p:nvSpPr>
          <p:cNvPr id="7" name="Text 5"/>
          <p:cNvSpPr/>
          <p:nvPr/>
        </p:nvSpPr>
        <p:spPr>
          <a:xfrm>
            <a:off x="640080" y="1508760"/>
            <a:ext cx="3566160" cy="27432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BEFORE APEX  ·  قبل</a:t>
            </a:r>
            <a:endParaRPr lang="en-US" sz="1300" dirty="0"/>
          </a:p>
        </p:txBody>
      </p:sp>
      <p:sp>
        <p:nvSpPr>
          <p:cNvPr id="8" name="Text 6"/>
          <p:cNvSpPr/>
          <p:nvPr/>
        </p:nvSpPr>
        <p:spPr>
          <a:xfrm>
            <a:off x="640080" y="187452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Time to Financial Report</a:t>
            </a:r>
            <a:endParaRPr lang="en-US" sz="1000" dirty="0"/>
          </a:p>
        </p:txBody>
      </p:sp>
      <p:sp>
        <p:nvSpPr>
          <p:cNvPr id="9" name="Text 7"/>
          <p:cNvSpPr/>
          <p:nvPr/>
        </p:nvSpPr>
        <p:spPr>
          <a:xfrm>
            <a:off x="2926080" y="187452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3–4 Weeks</a:t>
            </a:r>
            <a:endParaRPr lang="en-US" sz="1100" dirty="0"/>
          </a:p>
        </p:txBody>
      </p:sp>
      <p:sp>
        <p:nvSpPr>
          <p:cNvPr id="10" name="Text 8"/>
          <p:cNvSpPr/>
          <p:nvPr/>
        </p:nvSpPr>
        <p:spPr>
          <a:xfrm>
            <a:off x="640080" y="228600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Cost per Analysis</a:t>
            </a:r>
            <a:endParaRPr lang="en-US" sz="1000" dirty="0"/>
          </a:p>
        </p:txBody>
      </p:sp>
      <p:sp>
        <p:nvSpPr>
          <p:cNvPr id="11" name="Text 9"/>
          <p:cNvSpPr/>
          <p:nvPr/>
        </p:nvSpPr>
        <p:spPr>
          <a:xfrm>
            <a:off x="2926080" y="228600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SAR 5,000+</a:t>
            </a:r>
            <a:endParaRPr lang="en-US" sz="1100" dirty="0"/>
          </a:p>
        </p:txBody>
      </p:sp>
      <p:sp>
        <p:nvSpPr>
          <p:cNvPr id="12" name="Text 10"/>
          <p:cNvSpPr/>
          <p:nvPr/>
        </p:nvSpPr>
        <p:spPr>
          <a:xfrm>
            <a:off x="640080" y="269748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Error Rate</a:t>
            </a:r>
            <a:endParaRPr lang="en-US" sz="1000" dirty="0"/>
          </a:p>
        </p:txBody>
      </p:sp>
      <p:sp>
        <p:nvSpPr>
          <p:cNvPr id="13" name="Text 11"/>
          <p:cNvSpPr/>
          <p:nvPr/>
        </p:nvSpPr>
        <p:spPr>
          <a:xfrm>
            <a:off x="2926080" y="269748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15–25%</a:t>
            </a:r>
            <a:endParaRPr lang="en-US" sz="1100" dirty="0"/>
          </a:p>
        </p:txBody>
      </p:sp>
      <p:sp>
        <p:nvSpPr>
          <p:cNvPr id="14" name="Text 12"/>
          <p:cNvSpPr/>
          <p:nvPr/>
        </p:nvSpPr>
        <p:spPr>
          <a:xfrm>
            <a:off x="640080" y="310896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Readiness Assessment</a:t>
            </a:r>
            <a:endParaRPr lang="en-US" sz="1000" dirty="0"/>
          </a:p>
        </p:txBody>
      </p:sp>
      <p:sp>
        <p:nvSpPr>
          <p:cNvPr id="15" name="Text 13"/>
          <p:cNvSpPr/>
          <p:nvPr/>
        </p:nvSpPr>
        <p:spPr>
          <a:xfrm>
            <a:off x="2926080" y="310896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None</a:t>
            </a:r>
            <a:endParaRPr lang="en-US" sz="1100" dirty="0"/>
          </a:p>
        </p:txBody>
      </p:sp>
      <p:sp>
        <p:nvSpPr>
          <p:cNvPr id="16" name="Text 14"/>
          <p:cNvSpPr/>
          <p:nvPr/>
        </p:nvSpPr>
        <p:spPr>
          <a:xfrm>
            <a:off x="640080" y="352044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Audit Trail</a:t>
            </a:r>
            <a:endParaRPr lang="en-US" sz="1000" dirty="0"/>
          </a:p>
        </p:txBody>
      </p:sp>
      <p:sp>
        <p:nvSpPr>
          <p:cNvPr id="17" name="Text 15"/>
          <p:cNvSpPr/>
          <p:nvPr/>
        </p:nvSpPr>
        <p:spPr>
          <a:xfrm>
            <a:off x="2926080" y="3520440"/>
            <a:ext cx="1280160" cy="320040"/>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Manual / Missing</a:t>
            </a:r>
            <a:endParaRPr lang="en-US" sz="1100" dirty="0"/>
          </a:p>
        </p:txBody>
      </p:sp>
      <p:sp>
        <p:nvSpPr>
          <p:cNvPr id="18" name="Text 16"/>
          <p:cNvSpPr/>
          <p:nvPr/>
        </p:nvSpPr>
        <p:spPr>
          <a:xfrm>
            <a:off x="4251960" y="2468880"/>
            <a:ext cx="640080" cy="320040"/>
          </a:xfrm>
          <a:prstGeom prst="rect">
            <a:avLst/>
          </a:prstGeom>
          <a:noFill/>
          <a:ln/>
        </p:spPr>
        <p:txBody>
          <a:bodyPr wrap="square" lIns="0" tIns="0" rIns="0" bIns="0" rtlCol="0" anchor="ctr"/>
          <a:lstStyle/>
          <a:p>
            <a:pPr algn="ctr" indent="0" marL="0">
              <a:buNone/>
            </a:pPr>
            <a:r>
              <a:rPr lang="en-US" sz="1800" dirty="0">
                <a:solidFill>
                  <a:srgbClr val="C9A84C"/>
                </a:solidFill>
                <a:latin typeface="Calibri" pitchFamily="34" charset="0"/>
                <a:ea typeface="Calibri" pitchFamily="34" charset="-122"/>
                <a:cs typeface="Calibri" pitchFamily="34" charset="-120"/>
              </a:rPr>
              <a:t>&gt;&gt;&gt;</a:t>
            </a:r>
            <a:endParaRPr lang="en-US" sz="1800" dirty="0"/>
          </a:p>
        </p:txBody>
      </p:sp>
      <p:sp>
        <p:nvSpPr>
          <p:cNvPr id="19" name="Shape 17"/>
          <p:cNvSpPr/>
          <p:nvPr/>
        </p:nvSpPr>
        <p:spPr>
          <a:xfrm>
            <a:off x="4754880" y="1371600"/>
            <a:ext cx="3931920" cy="2743200"/>
          </a:xfrm>
          <a:prstGeom prst="rect">
            <a:avLst/>
          </a:prstGeom>
          <a:solidFill>
            <a:srgbClr val="1A2E4A"/>
          </a:solidFill>
          <a:ln/>
          <a:effectLst>
            <a:outerShdw sx="100000" sy="100000" kx="0" ky="0" algn="bl" rotWithShape="0" blurRad="101600" dist="38100" dir="8100000">
              <a:srgbClr val="000000">
                <a:alpha val="30000"/>
              </a:srgbClr>
            </a:outerShdw>
          </a:effectLst>
        </p:spPr>
      </p:sp>
      <p:sp>
        <p:nvSpPr>
          <p:cNvPr id="20" name="Shape 18"/>
          <p:cNvSpPr/>
          <p:nvPr/>
        </p:nvSpPr>
        <p:spPr>
          <a:xfrm>
            <a:off x="4754880" y="1371600"/>
            <a:ext cx="3931920" cy="45720"/>
          </a:xfrm>
          <a:prstGeom prst="rect">
            <a:avLst/>
          </a:prstGeom>
          <a:solidFill>
            <a:srgbClr val="10B981"/>
          </a:solidFill>
          <a:ln/>
        </p:spPr>
      </p:sp>
      <p:sp>
        <p:nvSpPr>
          <p:cNvPr id="21" name="Text 19"/>
          <p:cNvSpPr/>
          <p:nvPr/>
        </p:nvSpPr>
        <p:spPr>
          <a:xfrm>
            <a:off x="4937760" y="1508760"/>
            <a:ext cx="3566160" cy="27432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AFTER APEX  ·  بعد</a:t>
            </a:r>
            <a:endParaRPr lang="en-US" sz="1300" dirty="0"/>
          </a:p>
        </p:txBody>
      </p:sp>
      <p:sp>
        <p:nvSpPr>
          <p:cNvPr id="22" name="Text 20"/>
          <p:cNvSpPr/>
          <p:nvPr/>
        </p:nvSpPr>
        <p:spPr>
          <a:xfrm>
            <a:off x="4937760" y="187452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Time to Financial Report</a:t>
            </a:r>
            <a:endParaRPr lang="en-US" sz="1000" dirty="0"/>
          </a:p>
        </p:txBody>
      </p:sp>
      <p:sp>
        <p:nvSpPr>
          <p:cNvPr id="23" name="Text 21"/>
          <p:cNvSpPr/>
          <p:nvPr/>
        </p:nvSpPr>
        <p:spPr>
          <a:xfrm>
            <a:off x="7223760" y="187452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3 Minutes</a:t>
            </a:r>
            <a:endParaRPr lang="en-US" sz="1100" dirty="0"/>
          </a:p>
        </p:txBody>
      </p:sp>
      <p:sp>
        <p:nvSpPr>
          <p:cNvPr id="24" name="Text 22"/>
          <p:cNvSpPr/>
          <p:nvPr/>
        </p:nvSpPr>
        <p:spPr>
          <a:xfrm>
            <a:off x="4937760" y="228600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Cost per Analysis</a:t>
            </a:r>
            <a:endParaRPr lang="en-US" sz="1000" dirty="0"/>
          </a:p>
        </p:txBody>
      </p:sp>
      <p:sp>
        <p:nvSpPr>
          <p:cNvPr id="25" name="Text 23"/>
          <p:cNvSpPr/>
          <p:nvPr/>
        </p:nvSpPr>
        <p:spPr>
          <a:xfrm>
            <a:off x="7223760" y="228600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SAR 199/mo</a:t>
            </a:r>
            <a:endParaRPr lang="en-US" sz="1100" dirty="0"/>
          </a:p>
        </p:txBody>
      </p:sp>
      <p:sp>
        <p:nvSpPr>
          <p:cNvPr id="26" name="Text 24"/>
          <p:cNvSpPr/>
          <p:nvPr/>
        </p:nvSpPr>
        <p:spPr>
          <a:xfrm>
            <a:off x="4937760" y="269748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Error Rate</a:t>
            </a:r>
            <a:endParaRPr lang="en-US" sz="1000" dirty="0"/>
          </a:p>
        </p:txBody>
      </p:sp>
      <p:sp>
        <p:nvSpPr>
          <p:cNvPr id="27" name="Text 25"/>
          <p:cNvSpPr/>
          <p:nvPr/>
        </p:nvSpPr>
        <p:spPr>
          <a:xfrm>
            <a:off x="7223760" y="269748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&lt; 2%</a:t>
            </a:r>
            <a:endParaRPr lang="en-US" sz="1100" dirty="0"/>
          </a:p>
        </p:txBody>
      </p:sp>
      <p:sp>
        <p:nvSpPr>
          <p:cNvPr id="28" name="Text 26"/>
          <p:cNvSpPr/>
          <p:nvPr/>
        </p:nvSpPr>
        <p:spPr>
          <a:xfrm>
            <a:off x="4937760" y="310896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Readiness Assessment</a:t>
            </a:r>
            <a:endParaRPr lang="en-US" sz="1000" dirty="0"/>
          </a:p>
        </p:txBody>
      </p:sp>
      <p:sp>
        <p:nvSpPr>
          <p:cNvPr id="29" name="Text 27"/>
          <p:cNvSpPr/>
          <p:nvPr/>
        </p:nvSpPr>
        <p:spPr>
          <a:xfrm>
            <a:off x="7223760" y="310896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0–100 Score</a:t>
            </a:r>
            <a:endParaRPr lang="en-US" sz="1100" dirty="0"/>
          </a:p>
        </p:txBody>
      </p:sp>
      <p:sp>
        <p:nvSpPr>
          <p:cNvPr id="30" name="Text 28"/>
          <p:cNvSpPr/>
          <p:nvPr/>
        </p:nvSpPr>
        <p:spPr>
          <a:xfrm>
            <a:off x="4937760" y="3520440"/>
            <a:ext cx="2286000" cy="32004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Audit Trail</a:t>
            </a:r>
            <a:endParaRPr lang="en-US" sz="1000" dirty="0"/>
          </a:p>
        </p:txBody>
      </p:sp>
      <p:sp>
        <p:nvSpPr>
          <p:cNvPr id="31" name="Text 29"/>
          <p:cNvSpPr/>
          <p:nvPr/>
        </p:nvSpPr>
        <p:spPr>
          <a:xfrm>
            <a:off x="7223760" y="3520440"/>
            <a:ext cx="1280160" cy="320040"/>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Full AI-Logged</a:t>
            </a:r>
            <a:endParaRPr lang="en-US" sz="1100" dirty="0"/>
          </a:p>
        </p:txBody>
      </p:sp>
      <p:sp>
        <p:nvSpPr>
          <p:cNvPr id="32" name="Shape 30"/>
          <p:cNvSpPr/>
          <p:nvPr/>
        </p:nvSpPr>
        <p:spPr>
          <a:xfrm>
            <a:off x="457200" y="4206240"/>
            <a:ext cx="8229600" cy="320040"/>
          </a:xfrm>
          <a:prstGeom prst="rect">
            <a:avLst/>
          </a:prstGeom>
          <a:solidFill>
            <a:srgbClr val="162940"/>
          </a:solidFill>
          <a:ln/>
        </p:spPr>
      </p:sp>
      <p:sp>
        <p:nvSpPr>
          <p:cNvPr id="33" name="Text 31"/>
          <p:cNvSpPr/>
          <p:nvPr/>
        </p:nvSpPr>
        <p:spPr>
          <a:xfrm>
            <a:off x="457200" y="4206240"/>
            <a:ext cx="8229600" cy="320040"/>
          </a:xfrm>
          <a:prstGeom prst="rect">
            <a:avLst/>
          </a:prstGeom>
          <a:noFill/>
          <a:ln/>
        </p:spPr>
        <p:txBody>
          <a:bodyPr wrap="square" lIns="0" tIns="0" rIns="0" bIns="0" rtlCol="0" anchor="ctr"/>
          <a:lstStyle/>
          <a:p>
            <a:pPr algn="ctr" indent="0" marL="0">
              <a:buNone/>
            </a:pPr>
            <a:r>
              <a:rPr lang="en-US" sz="1100" b="1" dirty="0">
                <a:solidFill>
                  <a:srgbClr val="C9A84C"/>
                </a:solidFill>
                <a:latin typeface="Calibri" pitchFamily="34" charset="0"/>
                <a:ea typeface="Calibri" pitchFamily="34" charset="-122"/>
                <a:cs typeface="Calibri" pitchFamily="34" charset="-120"/>
              </a:rPr>
              <a:t>Result: 96% faster · 95% cheaper · 90% fewer errors  |  النتيجة: أسرع بـ 96% · أرخص بـ 95% · أخطاء أقل بـ 90%</a:t>
            </a:r>
            <a:endParaRPr lang="en-US" sz="11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11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EARLY FEEDBACK  ·  آراء المستخدمين الأوائل</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Early Adopters Are Saying</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ماذا يقول المستخدمون الأوائل</a:t>
            </a:r>
            <a:endParaRPr lang="en-US" sz="2600" dirty="0"/>
          </a:p>
        </p:txBody>
      </p:sp>
      <p:sp>
        <p:nvSpPr>
          <p:cNvPr id="5" name="Shape 3"/>
          <p:cNvSpPr/>
          <p:nvPr/>
        </p:nvSpPr>
        <p:spPr>
          <a:xfrm>
            <a:off x="457200" y="1371600"/>
            <a:ext cx="8229600" cy="9144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54864" cy="914400"/>
          </a:xfrm>
          <a:prstGeom prst="rect">
            <a:avLst/>
          </a:prstGeom>
          <a:solidFill>
            <a:srgbClr val="0891B2"/>
          </a:solidFill>
          <a:ln/>
        </p:spPr>
      </p:sp>
      <p:sp>
        <p:nvSpPr>
          <p:cNvPr id="7" name="Text 5"/>
          <p:cNvSpPr/>
          <p:nvPr/>
        </p:nvSpPr>
        <p:spPr>
          <a:xfrm>
            <a:off x="640080" y="1325880"/>
            <a:ext cx="365760" cy="365760"/>
          </a:xfrm>
          <a:prstGeom prst="rect">
            <a:avLst/>
          </a:prstGeom>
          <a:noFill/>
          <a:ln/>
        </p:spPr>
        <p:txBody>
          <a:bodyPr wrap="square" lIns="0" tIns="0" rIns="0" bIns="0" rtlCol="0" anchor="ctr"/>
          <a:lstStyle/>
          <a:p>
            <a:pPr indent="0" marL="0">
              <a:buNone/>
            </a:pPr>
            <a:r>
              <a:rPr lang="en-US" sz="3600" dirty="0">
                <a:solidFill>
                  <a:srgbClr val="0891B2"/>
                </a:solidFill>
                <a:latin typeface="Georgia" pitchFamily="34" charset="0"/>
                <a:ea typeface="Georgia" pitchFamily="34" charset="-122"/>
                <a:cs typeface="Georgia" pitchFamily="34" charset="-120"/>
              </a:rPr>
              <a:t>“</a:t>
            </a:r>
            <a:endParaRPr lang="en-US" sz="3600" dirty="0"/>
          </a:p>
        </p:txBody>
      </p:sp>
      <p:sp>
        <p:nvSpPr>
          <p:cNvPr id="8" name="Text 6"/>
          <p:cNvSpPr/>
          <p:nvPr/>
        </p:nvSpPr>
        <p:spPr>
          <a:xfrm>
            <a:off x="1005840" y="141732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APEX transformed our quarterly reporting from a 3-week ordeal into a 10-minute task. The AI understands SOCPA standards better than most junior accountants.</a:t>
            </a:r>
            <a:endParaRPr lang="en-US" sz="1050" dirty="0"/>
          </a:p>
        </p:txBody>
      </p:sp>
      <p:sp>
        <p:nvSpPr>
          <p:cNvPr id="9" name="Text 7"/>
          <p:cNvSpPr/>
          <p:nvPr/>
        </p:nvSpPr>
        <p:spPr>
          <a:xfrm>
            <a:off x="1005840" y="178308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حوّلت APEX تقاريرنا الربعية من عملية تستغرق 3 أسابيع إلى مهمة من 10 دقائق</a:t>
            </a:r>
            <a:endParaRPr lang="en-US" sz="900" dirty="0"/>
          </a:p>
        </p:txBody>
      </p:sp>
      <p:sp>
        <p:nvSpPr>
          <p:cNvPr id="10" name="Text 8"/>
          <p:cNvSpPr/>
          <p:nvPr/>
        </p:nvSpPr>
        <p:spPr>
          <a:xfrm>
            <a:off x="1005840" y="201168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CFO, Saudi Tech Startup</a:t>
            </a:r>
            <a:endParaRPr lang="en-US" sz="1000" dirty="0"/>
          </a:p>
        </p:txBody>
      </p:sp>
      <p:sp>
        <p:nvSpPr>
          <p:cNvPr id="11" name="Text 9"/>
          <p:cNvSpPr/>
          <p:nvPr/>
        </p:nvSpPr>
        <p:spPr>
          <a:xfrm>
            <a:off x="5029200" y="2011680"/>
            <a:ext cx="3200400" cy="182880"/>
          </a:xfrm>
          <a:prstGeom prst="rect">
            <a:avLst/>
          </a:prstGeom>
          <a:noFill/>
          <a:ln/>
        </p:spPr>
        <p:txBody>
          <a:bodyPr wrap="square" lIns="0" tIns="0" rIns="0" bIns="0" rtlCol="0" anchor="ctr"/>
          <a:lstStyle/>
          <a:p>
            <a:pPr algn="r" indent="0" marL="0">
              <a:buNone/>
            </a:pPr>
            <a:r>
              <a:rPr lang="en-US" sz="900" dirty="0">
                <a:solidFill>
                  <a:srgbClr val="0891B2"/>
                </a:solidFill>
                <a:latin typeface="Calibri" pitchFamily="34" charset="0"/>
                <a:ea typeface="Calibri" pitchFamily="34" charset="-122"/>
                <a:cs typeface="Calibri" pitchFamily="34" charset="-120"/>
              </a:rPr>
              <a:t>Series A · Riyadh</a:t>
            </a:r>
            <a:endParaRPr lang="en-US" sz="900" dirty="0"/>
          </a:p>
        </p:txBody>
      </p:sp>
      <p:sp>
        <p:nvSpPr>
          <p:cNvPr id="12" name="Shape 10"/>
          <p:cNvSpPr/>
          <p:nvPr/>
        </p:nvSpPr>
        <p:spPr>
          <a:xfrm>
            <a:off x="457200" y="2423160"/>
            <a:ext cx="8229600" cy="9144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457200" y="2423160"/>
            <a:ext cx="54864" cy="914400"/>
          </a:xfrm>
          <a:prstGeom prst="rect">
            <a:avLst/>
          </a:prstGeom>
          <a:solidFill>
            <a:srgbClr val="C9A84C"/>
          </a:solidFill>
          <a:ln/>
        </p:spPr>
      </p:sp>
      <p:sp>
        <p:nvSpPr>
          <p:cNvPr id="14" name="Text 12"/>
          <p:cNvSpPr/>
          <p:nvPr/>
        </p:nvSpPr>
        <p:spPr>
          <a:xfrm>
            <a:off x="640080" y="2377440"/>
            <a:ext cx="365760" cy="365760"/>
          </a:xfrm>
          <a:prstGeom prst="rect">
            <a:avLst/>
          </a:prstGeom>
          <a:noFill/>
          <a:ln/>
        </p:spPr>
        <p:txBody>
          <a:bodyPr wrap="square" lIns="0" tIns="0" rIns="0" bIns="0" rtlCol="0" anchor="ctr"/>
          <a:lstStyle/>
          <a:p>
            <a:pPr indent="0" marL="0">
              <a:buNone/>
            </a:pPr>
            <a:r>
              <a:rPr lang="en-US" sz="3600" dirty="0">
                <a:solidFill>
                  <a:srgbClr val="C9A84C"/>
                </a:solidFill>
                <a:latin typeface="Georgia" pitchFamily="34" charset="0"/>
                <a:ea typeface="Georgia" pitchFamily="34" charset="-122"/>
                <a:cs typeface="Georgia" pitchFamily="34" charset="-120"/>
              </a:rPr>
              <a:t>“</a:t>
            </a:r>
            <a:endParaRPr lang="en-US" sz="3600" dirty="0"/>
          </a:p>
        </p:txBody>
      </p:sp>
      <p:sp>
        <p:nvSpPr>
          <p:cNvPr id="15" name="Text 13"/>
          <p:cNvSpPr/>
          <p:nvPr/>
        </p:nvSpPr>
        <p:spPr>
          <a:xfrm>
            <a:off x="1005840" y="246888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The bilingual support is a game-changer. Our team works in Arabic, our investors want English reports — APEX handles both seamlessly.</a:t>
            </a:r>
            <a:endParaRPr lang="en-US" sz="1050" dirty="0"/>
          </a:p>
        </p:txBody>
      </p:sp>
      <p:sp>
        <p:nvSpPr>
          <p:cNvPr id="16" name="Text 14"/>
          <p:cNvSpPr/>
          <p:nvPr/>
        </p:nvSpPr>
        <p:spPr>
          <a:xfrm>
            <a:off x="1005840" y="283464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الدعم ثنائي اللغة غيّر قواعد اللعبة. فريقنا يعمل بالعربية والمستثمرون يريدون تقارير إنجليزية</a:t>
            </a:r>
            <a:endParaRPr lang="en-US" sz="900" dirty="0"/>
          </a:p>
        </p:txBody>
      </p:sp>
      <p:sp>
        <p:nvSpPr>
          <p:cNvPr id="17" name="Text 15"/>
          <p:cNvSpPr/>
          <p:nvPr/>
        </p:nvSpPr>
        <p:spPr>
          <a:xfrm>
            <a:off x="1005840" y="306324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Managing Partner, Accounting Firm</a:t>
            </a:r>
            <a:endParaRPr lang="en-US" sz="1000" dirty="0"/>
          </a:p>
        </p:txBody>
      </p:sp>
      <p:sp>
        <p:nvSpPr>
          <p:cNvPr id="18" name="Text 16"/>
          <p:cNvSpPr/>
          <p:nvPr/>
        </p:nvSpPr>
        <p:spPr>
          <a:xfrm>
            <a:off x="5029200" y="3063240"/>
            <a:ext cx="3200400" cy="182880"/>
          </a:xfrm>
          <a:prstGeom prst="rect">
            <a:avLst/>
          </a:prstGeom>
          <a:noFill/>
          <a:ln/>
        </p:spPr>
        <p:txBody>
          <a:bodyPr wrap="square" lIns="0" tIns="0" rIns="0" bIns="0" rtlCol="0" anchor="ctr"/>
          <a:lstStyle/>
          <a:p>
            <a:pPr algn="r" indent="0" marL="0">
              <a:buNone/>
            </a:pPr>
            <a:r>
              <a:rPr lang="en-US" sz="900" dirty="0">
                <a:solidFill>
                  <a:srgbClr val="C9A84C"/>
                </a:solidFill>
                <a:latin typeface="Calibri" pitchFamily="34" charset="0"/>
                <a:ea typeface="Calibri" pitchFamily="34" charset="-122"/>
                <a:cs typeface="Calibri" pitchFamily="34" charset="-120"/>
              </a:rPr>
              <a:t>50+ Clients · Jeddah</a:t>
            </a:r>
            <a:endParaRPr lang="en-US" sz="900" dirty="0"/>
          </a:p>
        </p:txBody>
      </p:sp>
      <p:sp>
        <p:nvSpPr>
          <p:cNvPr id="19" name="Shape 17"/>
          <p:cNvSpPr/>
          <p:nvPr/>
        </p:nvSpPr>
        <p:spPr>
          <a:xfrm>
            <a:off x="457200" y="3474720"/>
            <a:ext cx="8229600" cy="9144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57200" y="3474720"/>
            <a:ext cx="54864" cy="914400"/>
          </a:xfrm>
          <a:prstGeom prst="rect">
            <a:avLst/>
          </a:prstGeom>
          <a:solidFill>
            <a:srgbClr val="10B981"/>
          </a:solidFill>
          <a:ln/>
        </p:spPr>
      </p:sp>
      <p:sp>
        <p:nvSpPr>
          <p:cNvPr id="21" name="Text 19"/>
          <p:cNvSpPr/>
          <p:nvPr/>
        </p:nvSpPr>
        <p:spPr>
          <a:xfrm>
            <a:off x="640080" y="3429000"/>
            <a:ext cx="365760" cy="365760"/>
          </a:xfrm>
          <a:prstGeom prst="rect">
            <a:avLst/>
          </a:prstGeom>
          <a:noFill/>
          <a:ln/>
        </p:spPr>
        <p:txBody>
          <a:bodyPr wrap="square" lIns="0" tIns="0" rIns="0" bIns="0" rtlCol="0" anchor="ctr"/>
          <a:lstStyle/>
          <a:p>
            <a:pPr indent="0" marL="0">
              <a:buNone/>
            </a:pPr>
            <a:r>
              <a:rPr lang="en-US" sz="3600" dirty="0">
                <a:solidFill>
                  <a:srgbClr val="10B981"/>
                </a:solidFill>
                <a:latin typeface="Georgia" pitchFamily="34" charset="0"/>
                <a:ea typeface="Georgia" pitchFamily="34" charset="-122"/>
                <a:cs typeface="Georgia" pitchFamily="34" charset="-120"/>
              </a:rPr>
              <a:t>“</a:t>
            </a:r>
            <a:endParaRPr lang="en-US" sz="3600" dirty="0"/>
          </a:p>
        </p:txBody>
      </p:sp>
      <p:sp>
        <p:nvSpPr>
          <p:cNvPr id="22" name="Text 20"/>
          <p:cNvSpPr/>
          <p:nvPr/>
        </p:nvSpPr>
        <p:spPr>
          <a:xfrm>
            <a:off x="1005840" y="3520440"/>
            <a:ext cx="6583680" cy="365760"/>
          </a:xfrm>
          <a:prstGeom prst="rect">
            <a:avLst/>
          </a:prstGeom>
          <a:noFill/>
          <a:ln/>
        </p:spPr>
        <p:txBody>
          <a:bodyPr wrap="square" lIns="0" tIns="0" rIns="0" bIns="0" rtlCol="0" anchor="ctr"/>
          <a:lstStyle/>
          <a:p>
            <a:pPr indent="0" marL="0">
              <a:buNone/>
            </a:pPr>
            <a:r>
              <a:rPr lang="en-US" sz="1050" i="1" dirty="0">
                <a:solidFill>
                  <a:srgbClr val="CBD5E1"/>
                </a:solidFill>
                <a:latin typeface="Calibri" pitchFamily="34" charset="0"/>
                <a:ea typeface="Calibri" pitchFamily="34" charset="-122"/>
                <a:cs typeface="Calibri" pitchFamily="34" charset="-120"/>
              </a:rPr>
              <a:t>The Readiness Score helped us identify exactly what we needed to fix before our funding round. We closed our seed round 2 months earlier than planned.</a:t>
            </a:r>
            <a:endParaRPr lang="en-US" sz="1050" dirty="0"/>
          </a:p>
        </p:txBody>
      </p:sp>
      <p:sp>
        <p:nvSpPr>
          <p:cNvPr id="23" name="Text 21"/>
          <p:cNvSpPr/>
          <p:nvPr/>
        </p:nvSpPr>
        <p:spPr>
          <a:xfrm>
            <a:off x="1005840" y="3886200"/>
            <a:ext cx="658368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ساعدتنا درجة الجاهزية في تحديد ما نحتاج إصلاحه قبل جولة التمويل</a:t>
            </a:r>
            <a:endParaRPr lang="en-US" sz="900" dirty="0"/>
          </a:p>
        </p:txBody>
      </p:sp>
      <p:sp>
        <p:nvSpPr>
          <p:cNvPr id="24" name="Text 22"/>
          <p:cNvSpPr/>
          <p:nvPr/>
        </p:nvSpPr>
        <p:spPr>
          <a:xfrm>
            <a:off x="1005840" y="4114800"/>
            <a:ext cx="365760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Founder &amp; CEO, E-commerce Platform</a:t>
            </a:r>
            <a:endParaRPr lang="en-US" sz="1000" dirty="0"/>
          </a:p>
        </p:txBody>
      </p:sp>
      <p:sp>
        <p:nvSpPr>
          <p:cNvPr id="25" name="Text 23"/>
          <p:cNvSpPr/>
          <p:nvPr/>
        </p:nvSpPr>
        <p:spPr>
          <a:xfrm>
            <a:off x="5029200" y="4114800"/>
            <a:ext cx="3200400" cy="182880"/>
          </a:xfrm>
          <a:prstGeom prst="rect">
            <a:avLst/>
          </a:prstGeom>
          <a:noFill/>
          <a:ln/>
        </p:spPr>
        <p:txBody>
          <a:bodyPr wrap="square" lIns="0" tIns="0" rIns="0" bIns="0" rtlCol="0" anchor="ctr"/>
          <a:lstStyle/>
          <a:p>
            <a:pPr algn="r" indent="0" marL="0">
              <a:buNone/>
            </a:pPr>
            <a:r>
              <a:rPr lang="en-US" sz="900" dirty="0">
                <a:solidFill>
                  <a:srgbClr val="10B981"/>
                </a:solidFill>
                <a:latin typeface="Calibri" pitchFamily="34" charset="0"/>
                <a:ea typeface="Calibri" pitchFamily="34" charset="-122"/>
                <a:cs typeface="Calibri" pitchFamily="34" charset="-120"/>
              </a:rPr>
              <a:t>Pre-Series A · Dammam</a:t>
            </a:r>
            <a:endParaRPr lang="en-US" sz="900" dirty="0"/>
          </a:p>
        </p:txBody>
      </p:sp>
      <p:sp>
        <p:nvSpPr>
          <p:cNvPr id="26" name="Text 24"/>
          <p:cNvSpPr/>
          <p:nvPr/>
        </p:nvSpPr>
        <p:spPr>
          <a:xfrm>
            <a:off x="457200" y="4526280"/>
            <a:ext cx="8229600" cy="137160"/>
          </a:xfrm>
          <a:prstGeom prst="rect">
            <a:avLst/>
          </a:prstGeom>
          <a:noFill/>
          <a:ln/>
        </p:spPr>
        <p:txBody>
          <a:bodyPr wrap="square" lIns="0" tIns="0" rIns="0" bIns="0" rtlCol="0" anchor="ctr"/>
          <a:lstStyle/>
          <a:p>
            <a:pPr algn="ctr" indent="0" marL="0">
              <a:buNone/>
            </a:pPr>
            <a:r>
              <a:rPr lang="en-US" sz="750" i="1" dirty="0">
                <a:solidFill>
                  <a:srgbClr val="64748B"/>
                </a:solidFill>
                <a:latin typeface="Calibri" pitchFamily="34" charset="0"/>
                <a:ea typeface="Calibri" pitchFamily="34" charset="-122"/>
                <a:cs typeface="Calibri" pitchFamily="34" charset="-120"/>
              </a:rPr>
              <a:t>* Placeholder testimonials from early pilot users — names anonymized  |  * آراء مبدئية من المستخدمين التجريبيين</a:t>
            </a:r>
            <a:endParaRPr lang="en-US" sz="750" dirty="0"/>
          </a:p>
        </p:txBody>
      </p:sp>
      <p:sp>
        <p:nvSpPr>
          <p:cNvPr id="27" name="Shape 25"/>
          <p:cNvSpPr/>
          <p:nvPr/>
        </p:nvSpPr>
        <p:spPr>
          <a:xfrm>
            <a:off x="0" y="4709160"/>
            <a:ext cx="9144000" cy="434340"/>
          </a:xfrm>
          <a:prstGeom prst="rect">
            <a:avLst/>
          </a:prstGeom>
          <a:solidFill>
            <a:srgbClr val="0A1220"/>
          </a:solidFill>
          <a:ln/>
        </p:spPr>
      </p:sp>
      <p:sp>
        <p:nvSpPr>
          <p:cNvPr id="28" name="Text 26"/>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9" name="Text 27"/>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12 / 19</a:t>
            </a:r>
            <a:endParaRPr lang="en-US" sz="750" dirty="0"/>
          </a:p>
        </p:txBody>
      </p:sp>
      <p:sp>
        <p:nvSpPr>
          <p:cNvPr id="30" name="Text 28"/>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UNIT ECONOMICS  ·  اقتصاديات الوحدة</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Strong Fundamentals for Scale</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أساسيات قوية للتوسع</a:t>
            </a:r>
            <a:endParaRPr lang="en-US" sz="2600" dirty="0"/>
          </a:p>
        </p:txBody>
      </p:sp>
      <p:sp>
        <p:nvSpPr>
          <p:cNvPr id="5" name="Shape 3"/>
          <p:cNvSpPr/>
          <p:nvPr/>
        </p:nvSpPr>
        <p:spPr>
          <a:xfrm>
            <a:off x="457200" y="137160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45720" cy="640080"/>
          </a:xfrm>
          <a:prstGeom prst="rect">
            <a:avLst/>
          </a:prstGeom>
          <a:solidFill>
            <a:srgbClr val="0891B2"/>
          </a:solidFill>
          <a:ln/>
        </p:spPr>
      </p:sp>
      <p:sp>
        <p:nvSpPr>
          <p:cNvPr id="7" name="Text 5"/>
          <p:cNvSpPr/>
          <p:nvPr/>
        </p:nvSpPr>
        <p:spPr>
          <a:xfrm>
            <a:off x="594360" y="1417320"/>
            <a:ext cx="822960" cy="27432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CAC</a:t>
            </a:r>
            <a:endParaRPr lang="en-US" sz="1000" dirty="0"/>
          </a:p>
        </p:txBody>
      </p:sp>
      <p:sp>
        <p:nvSpPr>
          <p:cNvPr id="8" name="Text 6"/>
          <p:cNvSpPr/>
          <p:nvPr/>
        </p:nvSpPr>
        <p:spPr>
          <a:xfrm>
            <a:off x="1417320" y="138988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SAR 850</a:t>
            </a:r>
            <a:endParaRPr lang="en-US" sz="1800" dirty="0"/>
          </a:p>
        </p:txBody>
      </p:sp>
      <p:sp>
        <p:nvSpPr>
          <p:cNvPr id="9" name="Text 7"/>
          <p:cNvSpPr/>
          <p:nvPr/>
        </p:nvSpPr>
        <p:spPr>
          <a:xfrm>
            <a:off x="594360" y="173736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Customer Acquisition Cost</a:t>
            </a:r>
            <a:endParaRPr lang="en-US" sz="850" dirty="0"/>
          </a:p>
        </p:txBody>
      </p:sp>
      <p:sp>
        <p:nvSpPr>
          <p:cNvPr id="10" name="Shape 8"/>
          <p:cNvSpPr/>
          <p:nvPr/>
        </p:nvSpPr>
        <p:spPr>
          <a:xfrm>
            <a:off x="2926080" y="137160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1" name="Shape 9"/>
          <p:cNvSpPr/>
          <p:nvPr/>
        </p:nvSpPr>
        <p:spPr>
          <a:xfrm>
            <a:off x="2926080" y="1371600"/>
            <a:ext cx="45720" cy="640080"/>
          </a:xfrm>
          <a:prstGeom prst="rect">
            <a:avLst/>
          </a:prstGeom>
          <a:solidFill>
            <a:srgbClr val="10B981"/>
          </a:solidFill>
          <a:ln/>
        </p:spPr>
      </p:sp>
      <p:sp>
        <p:nvSpPr>
          <p:cNvPr id="12" name="Text 10"/>
          <p:cNvSpPr/>
          <p:nvPr/>
        </p:nvSpPr>
        <p:spPr>
          <a:xfrm>
            <a:off x="3063240" y="1417320"/>
            <a:ext cx="822960" cy="27432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LTV</a:t>
            </a:r>
            <a:endParaRPr lang="en-US" sz="1000" dirty="0"/>
          </a:p>
        </p:txBody>
      </p:sp>
      <p:sp>
        <p:nvSpPr>
          <p:cNvPr id="13" name="Text 11"/>
          <p:cNvSpPr/>
          <p:nvPr/>
        </p:nvSpPr>
        <p:spPr>
          <a:xfrm>
            <a:off x="3886200" y="138988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SAR 14,400</a:t>
            </a:r>
            <a:endParaRPr lang="en-US" sz="1800" dirty="0"/>
          </a:p>
        </p:txBody>
      </p:sp>
      <p:sp>
        <p:nvSpPr>
          <p:cNvPr id="14" name="Text 12"/>
          <p:cNvSpPr/>
          <p:nvPr/>
        </p:nvSpPr>
        <p:spPr>
          <a:xfrm>
            <a:off x="3063240" y="173736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Lifetime Value (24-mo avg)</a:t>
            </a:r>
            <a:endParaRPr lang="en-US" sz="850" dirty="0"/>
          </a:p>
        </p:txBody>
      </p:sp>
      <p:sp>
        <p:nvSpPr>
          <p:cNvPr id="15" name="Shape 13"/>
          <p:cNvSpPr/>
          <p:nvPr/>
        </p:nvSpPr>
        <p:spPr>
          <a:xfrm>
            <a:off x="457200" y="214884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6" name="Shape 14"/>
          <p:cNvSpPr/>
          <p:nvPr/>
        </p:nvSpPr>
        <p:spPr>
          <a:xfrm>
            <a:off x="457200" y="2148840"/>
            <a:ext cx="45720" cy="640080"/>
          </a:xfrm>
          <a:prstGeom prst="rect">
            <a:avLst/>
          </a:prstGeom>
          <a:solidFill>
            <a:srgbClr val="C9A84C"/>
          </a:solidFill>
          <a:ln/>
        </p:spPr>
      </p:sp>
      <p:sp>
        <p:nvSpPr>
          <p:cNvPr id="17" name="Text 15"/>
          <p:cNvSpPr/>
          <p:nvPr/>
        </p:nvSpPr>
        <p:spPr>
          <a:xfrm>
            <a:off x="594360" y="2194560"/>
            <a:ext cx="822960" cy="274320"/>
          </a:xfrm>
          <a:prstGeom prst="rect">
            <a:avLst/>
          </a:prstGeom>
          <a:noFill/>
          <a:ln/>
        </p:spPr>
        <p:txBody>
          <a:bodyPr wrap="square" lIns="0" tIns="0" rIns="0" bIns="0"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LTV:CAC</a:t>
            </a:r>
            <a:endParaRPr lang="en-US" sz="1000" dirty="0"/>
          </a:p>
        </p:txBody>
      </p:sp>
      <p:sp>
        <p:nvSpPr>
          <p:cNvPr id="18" name="Text 16"/>
          <p:cNvSpPr/>
          <p:nvPr/>
        </p:nvSpPr>
        <p:spPr>
          <a:xfrm>
            <a:off x="1417320" y="216712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16.9x</a:t>
            </a:r>
            <a:endParaRPr lang="en-US" sz="1800" dirty="0"/>
          </a:p>
        </p:txBody>
      </p:sp>
      <p:sp>
        <p:nvSpPr>
          <p:cNvPr id="19" name="Text 17"/>
          <p:cNvSpPr/>
          <p:nvPr/>
        </p:nvSpPr>
        <p:spPr>
          <a:xfrm>
            <a:off x="594360" y="251460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Healthy ratio (&gt;3x is good)</a:t>
            </a:r>
            <a:endParaRPr lang="en-US" sz="850" dirty="0"/>
          </a:p>
        </p:txBody>
      </p:sp>
      <p:sp>
        <p:nvSpPr>
          <p:cNvPr id="20" name="Shape 18"/>
          <p:cNvSpPr/>
          <p:nvPr/>
        </p:nvSpPr>
        <p:spPr>
          <a:xfrm>
            <a:off x="2926080" y="214884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1" name="Shape 19"/>
          <p:cNvSpPr/>
          <p:nvPr/>
        </p:nvSpPr>
        <p:spPr>
          <a:xfrm>
            <a:off x="2926080" y="2148840"/>
            <a:ext cx="45720" cy="640080"/>
          </a:xfrm>
          <a:prstGeom prst="rect">
            <a:avLst/>
          </a:prstGeom>
          <a:solidFill>
            <a:srgbClr val="22D3EE"/>
          </a:solidFill>
          <a:ln/>
        </p:spPr>
      </p:sp>
      <p:sp>
        <p:nvSpPr>
          <p:cNvPr id="22" name="Text 20"/>
          <p:cNvSpPr/>
          <p:nvPr/>
        </p:nvSpPr>
        <p:spPr>
          <a:xfrm>
            <a:off x="3063240" y="2194560"/>
            <a:ext cx="822960" cy="274320"/>
          </a:xfrm>
          <a:prstGeom prst="rect">
            <a:avLst/>
          </a:prstGeom>
          <a:noFill/>
          <a:ln/>
        </p:spPr>
        <p:txBody>
          <a:bodyPr wrap="square" lIns="0" tIns="0" rIns="0" bIns="0" rtlCol="0" anchor="ctr"/>
          <a:lstStyle/>
          <a:p>
            <a:pPr indent="0" marL="0">
              <a:buNone/>
            </a:pPr>
            <a:r>
              <a:rPr lang="en-US" sz="1000" b="1" dirty="0">
                <a:solidFill>
                  <a:srgbClr val="22D3EE"/>
                </a:solidFill>
                <a:latin typeface="Calibri" pitchFamily="34" charset="0"/>
                <a:ea typeface="Calibri" pitchFamily="34" charset="-122"/>
                <a:cs typeface="Calibri" pitchFamily="34" charset="-120"/>
              </a:rPr>
              <a:t>Churn</a:t>
            </a:r>
            <a:endParaRPr lang="en-US" sz="1000" dirty="0"/>
          </a:p>
        </p:txBody>
      </p:sp>
      <p:sp>
        <p:nvSpPr>
          <p:cNvPr id="23" name="Text 21"/>
          <p:cNvSpPr/>
          <p:nvPr/>
        </p:nvSpPr>
        <p:spPr>
          <a:xfrm>
            <a:off x="3886200" y="216712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&lt; 5%</a:t>
            </a:r>
            <a:endParaRPr lang="en-US" sz="1800" dirty="0"/>
          </a:p>
        </p:txBody>
      </p:sp>
      <p:sp>
        <p:nvSpPr>
          <p:cNvPr id="24" name="Text 22"/>
          <p:cNvSpPr/>
          <p:nvPr/>
        </p:nvSpPr>
        <p:spPr>
          <a:xfrm>
            <a:off x="3063240" y="251460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Monthly churn target</a:t>
            </a:r>
            <a:endParaRPr lang="en-US" sz="850" dirty="0"/>
          </a:p>
        </p:txBody>
      </p:sp>
      <p:sp>
        <p:nvSpPr>
          <p:cNvPr id="25" name="Shape 23"/>
          <p:cNvSpPr/>
          <p:nvPr/>
        </p:nvSpPr>
        <p:spPr>
          <a:xfrm>
            <a:off x="457200" y="292608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6" name="Shape 24"/>
          <p:cNvSpPr/>
          <p:nvPr/>
        </p:nvSpPr>
        <p:spPr>
          <a:xfrm>
            <a:off x="457200" y="2926080"/>
            <a:ext cx="45720" cy="640080"/>
          </a:xfrm>
          <a:prstGeom prst="rect">
            <a:avLst/>
          </a:prstGeom>
          <a:solidFill>
            <a:srgbClr val="E8CC73"/>
          </a:solidFill>
          <a:ln/>
        </p:spPr>
      </p:sp>
      <p:sp>
        <p:nvSpPr>
          <p:cNvPr id="27" name="Text 25"/>
          <p:cNvSpPr/>
          <p:nvPr/>
        </p:nvSpPr>
        <p:spPr>
          <a:xfrm>
            <a:off x="594360" y="2971800"/>
            <a:ext cx="822960" cy="274320"/>
          </a:xfrm>
          <a:prstGeom prst="rect">
            <a:avLst/>
          </a:prstGeom>
          <a:noFill/>
          <a:ln/>
        </p:spPr>
        <p:txBody>
          <a:bodyPr wrap="square" lIns="0" tIns="0" rIns="0" bIns="0" rtlCol="0" anchor="ctr"/>
          <a:lstStyle/>
          <a:p>
            <a:pPr indent="0" marL="0">
              <a:buNone/>
            </a:pPr>
            <a:r>
              <a:rPr lang="en-US" sz="1000" b="1" dirty="0">
                <a:solidFill>
                  <a:srgbClr val="E8CC73"/>
                </a:solidFill>
                <a:latin typeface="Calibri" pitchFamily="34" charset="0"/>
                <a:ea typeface="Calibri" pitchFamily="34" charset="-122"/>
                <a:cs typeface="Calibri" pitchFamily="34" charset="-120"/>
              </a:rPr>
              <a:t>Payback</a:t>
            </a:r>
            <a:endParaRPr lang="en-US" sz="1000" dirty="0"/>
          </a:p>
        </p:txBody>
      </p:sp>
      <p:sp>
        <p:nvSpPr>
          <p:cNvPr id="28" name="Text 26"/>
          <p:cNvSpPr/>
          <p:nvPr/>
        </p:nvSpPr>
        <p:spPr>
          <a:xfrm>
            <a:off x="1417320" y="294436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1.4 mo</a:t>
            </a:r>
            <a:endParaRPr lang="en-US" sz="1800" dirty="0"/>
          </a:p>
        </p:txBody>
      </p:sp>
      <p:sp>
        <p:nvSpPr>
          <p:cNvPr id="29" name="Text 27"/>
          <p:cNvSpPr/>
          <p:nvPr/>
        </p:nvSpPr>
        <p:spPr>
          <a:xfrm>
            <a:off x="594360" y="329184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CAC payback period</a:t>
            </a:r>
            <a:endParaRPr lang="en-US" sz="850" dirty="0"/>
          </a:p>
        </p:txBody>
      </p:sp>
      <p:sp>
        <p:nvSpPr>
          <p:cNvPr id="30" name="Shape 28"/>
          <p:cNvSpPr/>
          <p:nvPr/>
        </p:nvSpPr>
        <p:spPr>
          <a:xfrm>
            <a:off x="2926080" y="292608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1" name="Shape 29"/>
          <p:cNvSpPr/>
          <p:nvPr/>
        </p:nvSpPr>
        <p:spPr>
          <a:xfrm>
            <a:off x="2926080" y="2926080"/>
            <a:ext cx="45720" cy="640080"/>
          </a:xfrm>
          <a:prstGeom prst="rect">
            <a:avLst/>
          </a:prstGeom>
          <a:solidFill>
            <a:srgbClr val="10B981"/>
          </a:solidFill>
          <a:ln/>
        </p:spPr>
      </p:sp>
      <p:sp>
        <p:nvSpPr>
          <p:cNvPr id="32" name="Text 30"/>
          <p:cNvSpPr/>
          <p:nvPr/>
        </p:nvSpPr>
        <p:spPr>
          <a:xfrm>
            <a:off x="3063240" y="2971800"/>
            <a:ext cx="822960" cy="27432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Gross Margin</a:t>
            </a:r>
            <a:endParaRPr lang="en-US" sz="1000" dirty="0"/>
          </a:p>
        </p:txBody>
      </p:sp>
      <p:sp>
        <p:nvSpPr>
          <p:cNvPr id="33" name="Text 31"/>
          <p:cNvSpPr/>
          <p:nvPr/>
        </p:nvSpPr>
        <p:spPr>
          <a:xfrm>
            <a:off x="3886200" y="2944368"/>
            <a:ext cx="1143000" cy="320040"/>
          </a:xfrm>
          <a:prstGeom prst="rect">
            <a:avLst/>
          </a:prstGeom>
          <a:noFill/>
          <a:ln/>
        </p:spPr>
        <p:txBody>
          <a:bodyPr wrap="square" lIns="0" tIns="0" rIns="0" bIns="0" rtlCol="0" anchor="ctr"/>
          <a:lstStyle/>
          <a:p>
            <a:pPr indent="0" marL="0">
              <a:buNone/>
            </a:pPr>
            <a:r>
              <a:rPr lang="en-US" sz="1800" dirty="0">
                <a:solidFill>
                  <a:srgbClr val="FFFFFF"/>
                </a:solidFill>
                <a:latin typeface="Arial Black" pitchFamily="34" charset="0"/>
                <a:ea typeface="Arial Black" pitchFamily="34" charset="-122"/>
                <a:cs typeface="Arial Black" pitchFamily="34" charset="-120"/>
              </a:rPr>
              <a:t>82%</a:t>
            </a:r>
            <a:endParaRPr lang="en-US" sz="1800" dirty="0"/>
          </a:p>
        </p:txBody>
      </p:sp>
      <p:sp>
        <p:nvSpPr>
          <p:cNvPr id="34" name="Text 32"/>
          <p:cNvSpPr/>
          <p:nvPr/>
        </p:nvSpPr>
        <p:spPr>
          <a:xfrm>
            <a:off x="3063240" y="3291840"/>
            <a:ext cx="1965960" cy="201168"/>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SaaS + AI delivery margin</a:t>
            </a:r>
            <a:endParaRPr lang="en-US" sz="850" dirty="0"/>
          </a:p>
        </p:txBody>
      </p:sp>
      <p:sp>
        <p:nvSpPr>
          <p:cNvPr id="35" name="Shape 33"/>
          <p:cNvSpPr/>
          <p:nvPr/>
        </p:nvSpPr>
        <p:spPr>
          <a:xfrm>
            <a:off x="5303520" y="1371600"/>
            <a:ext cx="3383280" cy="16916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6" name="Text 34"/>
          <p:cNvSpPr/>
          <p:nvPr/>
        </p:nvSpPr>
        <p:spPr>
          <a:xfrm>
            <a:off x="5440680" y="1417320"/>
            <a:ext cx="3108960" cy="201168"/>
          </a:xfrm>
          <a:prstGeom prst="rect">
            <a:avLst/>
          </a:prstGeom>
          <a:noFill/>
          <a:ln/>
        </p:spPr>
        <p:txBody>
          <a:bodyPr wrap="square" lIns="0" tIns="0" rIns="0" bIns="0" rtlCol="0" anchor="ctr"/>
          <a:lstStyle/>
          <a:p>
            <a:pPr indent="0" marL="0">
              <a:buNone/>
            </a:pPr>
            <a:r>
              <a:rPr lang="en-US" sz="950" b="1" dirty="0">
                <a:solidFill>
                  <a:srgbClr val="C9A84C"/>
                </a:solidFill>
                <a:latin typeface="Calibri" pitchFamily="34" charset="0"/>
                <a:ea typeface="Calibri" pitchFamily="34" charset="-122"/>
                <a:cs typeface="Calibri" pitchFamily="34" charset="-120"/>
              </a:rPr>
              <a:t>Revenue Breakdown  ·  توزيع الإيرادات</a:t>
            </a:r>
            <a:endParaRPr lang="en-US" sz="950" dirty="0"/>
          </a:p>
        </p:txBody>
      </p:sp>
      <p:pic>
        <p:nvPicPr>
          <p:cNvPr id="37" name="Image 0" descr="/sessions/festive-vibrant-feynman/revenue_pie.png">    </p:cNvPr>
          <p:cNvPicPr>
            <a:picLocks noChangeAspect="1"/>
          </p:cNvPicPr>
          <p:nvPr/>
        </p:nvPicPr>
        <p:blipFill>
          <a:blip r:embed="rId1"/>
          <a:stretch>
            <a:fillRect/>
          </a:stretch>
        </p:blipFill>
        <p:spPr>
          <a:xfrm>
            <a:off x="5486400" y="1645920"/>
            <a:ext cx="3017520" cy="1371600"/>
          </a:xfrm>
          <a:prstGeom prst="rect">
            <a:avLst/>
          </a:prstGeom>
        </p:spPr>
      </p:pic>
      <p:sp>
        <p:nvSpPr>
          <p:cNvPr id="38" name="Shape 35"/>
          <p:cNvSpPr/>
          <p:nvPr/>
        </p:nvSpPr>
        <p:spPr>
          <a:xfrm>
            <a:off x="5303520" y="3200400"/>
            <a:ext cx="3383280" cy="13258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9" name="Text 36"/>
          <p:cNvSpPr/>
          <p:nvPr/>
        </p:nvSpPr>
        <p:spPr>
          <a:xfrm>
            <a:off x="5440680" y="3246120"/>
            <a:ext cx="3108960" cy="201168"/>
          </a:xfrm>
          <a:prstGeom prst="rect">
            <a:avLst/>
          </a:prstGeom>
          <a:noFill/>
          <a:ln/>
        </p:spPr>
        <p:txBody>
          <a:bodyPr wrap="square" lIns="0" tIns="0" rIns="0" bIns="0" rtlCol="0" anchor="ctr"/>
          <a:lstStyle/>
          <a:p>
            <a:pPr indent="0" marL="0">
              <a:buNone/>
            </a:pPr>
            <a:r>
              <a:rPr lang="en-US" sz="950" b="1" dirty="0">
                <a:solidFill>
                  <a:srgbClr val="C9A84C"/>
                </a:solidFill>
                <a:latin typeface="Calibri" pitchFamily="34" charset="0"/>
                <a:ea typeface="Calibri" pitchFamily="34" charset="-122"/>
                <a:cs typeface="Calibri" pitchFamily="34" charset="-120"/>
              </a:rPr>
              <a:t>3-Year Revenue Projection  ·  إيرادات 3 سنوات</a:t>
            </a:r>
            <a:endParaRPr lang="en-US" sz="950" dirty="0"/>
          </a:p>
        </p:txBody>
      </p:sp>
      <p:pic>
        <p:nvPicPr>
          <p:cNvPr id="40" name="Image 1" descr="/sessions/festive-vibrant-feynman/revenue_projection.png">    </p:cNvPr>
          <p:cNvPicPr>
            <a:picLocks noChangeAspect="1"/>
          </p:cNvPicPr>
          <p:nvPr/>
        </p:nvPicPr>
        <p:blipFill>
          <a:blip r:embed="rId2"/>
          <a:stretch>
            <a:fillRect/>
          </a:stretch>
        </p:blipFill>
        <p:spPr>
          <a:xfrm>
            <a:off x="5486400" y="3474720"/>
            <a:ext cx="3017520" cy="1005840"/>
          </a:xfrm>
          <a:prstGeom prst="rect">
            <a:avLst/>
          </a:prstGeom>
        </p:spPr>
      </p:pic>
      <p:sp>
        <p:nvSpPr>
          <p:cNvPr id="41" name="Shape 37"/>
          <p:cNvSpPr/>
          <p:nvPr/>
        </p:nvSpPr>
        <p:spPr>
          <a:xfrm>
            <a:off x="0" y="4709160"/>
            <a:ext cx="9144000" cy="434340"/>
          </a:xfrm>
          <a:prstGeom prst="rect">
            <a:avLst/>
          </a:prstGeom>
          <a:solidFill>
            <a:srgbClr val="0A1220"/>
          </a:solidFill>
          <a:ln/>
        </p:spPr>
      </p:sp>
      <p:sp>
        <p:nvSpPr>
          <p:cNvPr id="42" name="Text 3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3" name="Text 3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13 / 19</a:t>
            </a:r>
            <a:endParaRPr lang="en-US" sz="750" dirty="0"/>
          </a:p>
        </p:txBody>
      </p:sp>
      <p:sp>
        <p:nvSpPr>
          <p:cNvPr id="44" name="Text 4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TECH STACK  ·  المنظومة التقنية</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Built for Scale &amp; Security</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مبنية للتوسع والأمان</a:t>
            </a:r>
            <a:endParaRPr lang="en-US" sz="2600" dirty="0"/>
          </a:p>
        </p:txBody>
      </p:sp>
      <p:sp>
        <p:nvSpPr>
          <p:cNvPr id="5" name="Shape 3"/>
          <p:cNvSpPr/>
          <p:nvPr/>
        </p:nvSpPr>
        <p:spPr>
          <a:xfrm>
            <a:off x="457200" y="1371600"/>
            <a:ext cx="8229600" cy="429768"/>
          </a:xfrm>
          <a:prstGeom prst="rect">
            <a:avLst/>
          </a:prstGeom>
          <a:solidFill>
            <a:srgbClr val="1A2E4A"/>
          </a:solidFill>
          <a:ln/>
        </p:spPr>
      </p:sp>
      <p:sp>
        <p:nvSpPr>
          <p:cNvPr id="6" name="Shape 4"/>
          <p:cNvSpPr/>
          <p:nvPr/>
        </p:nvSpPr>
        <p:spPr>
          <a:xfrm>
            <a:off x="548640" y="1444752"/>
            <a:ext cx="1005840" cy="274320"/>
          </a:xfrm>
          <a:prstGeom prst="rect">
            <a:avLst/>
          </a:prstGeom>
          <a:solidFill>
            <a:srgbClr val="0891B2"/>
          </a:solidFill>
          <a:ln/>
        </p:spPr>
      </p:sp>
      <p:sp>
        <p:nvSpPr>
          <p:cNvPr id="7" name="Text 5"/>
          <p:cNvSpPr/>
          <p:nvPr/>
        </p:nvSpPr>
        <p:spPr>
          <a:xfrm>
            <a:off x="548640" y="144475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Backend</a:t>
            </a:r>
            <a:endParaRPr lang="en-US" sz="950" dirty="0"/>
          </a:p>
        </p:txBody>
      </p:sp>
      <p:sp>
        <p:nvSpPr>
          <p:cNvPr id="8" name="Text 6"/>
          <p:cNvSpPr/>
          <p:nvPr/>
        </p:nvSpPr>
        <p:spPr>
          <a:xfrm>
            <a:off x="1691640" y="137160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FastAPI (Python 3.11)  ·  30+ REST APIs</a:t>
            </a:r>
            <a:endParaRPr lang="en-US" sz="1100" dirty="0"/>
          </a:p>
        </p:txBody>
      </p:sp>
      <p:sp>
        <p:nvSpPr>
          <p:cNvPr id="9" name="Text 7"/>
          <p:cNvSpPr/>
          <p:nvPr/>
        </p:nvSpPr>
        <p:spPr>
          <a:xfrm>
            <a:off x="6400800" y="137160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واجهة خلفية عالية الأداء</a:t>
            </a:r>
            <a:endParaRPr lang="en-US" sz="1000" dirty="0"/>
          </a:p>
        </p:txBody>
      </p:sp>
      <p:sp>
        <p:nvSpPr>
          <p:cNvPr id="10" name="Shape 8"/>
          <p:cNvSpPr/>
          <p:nvPr/>
        </p:nvSpPr>
        <p:spPr>
          <a:xfrm>
            <a:off x="457200" y="1874520"/>
            <a:ext cx="8229600" cy="429768"/>
          </a:xfrm>
          <a:prstGeom prst="rect">
            <a:avLst/>
          </a:prstGeom>
          <a:solidFill>
            <a:srgbClr val="1E3654"/>
          </a:solidFill>
          <a:ln/>
        </p:spPr>
      </p:sp>
      <p:sp>
        <p:nvSpPr>
          <p:cNvPr id="11" name="Shape 9"/>
          <p:cNvSpPr/>
          <p:nvPr/>
        </p:nvSpPr>
        <p:spPr>
          <a:xfrm>
            <a:off x="548640" y="1947672"/>
            <a:ext cx="1005840" cy="274320"/>
          </a:xfrm>
          <a:prstGeom prst="rect">
            <a:avLst/>
          </a:prstGeom>
          <a:solidFill>
            <a:srgbClr val="22D3EE"/>
          </a:solidFill>
          <a:ln/>
        </p:spPr>
      </p:sp>
      <p:sp>
        <p:nvSpPr>
          <p:cNvPr id="12" name="Text 10"/>
          <p:cNvSpPr/>
          <p:nvPr/>
        </p:nvSpPr>
        <p:spPr>
          <a:xfrm>
            <a:off x="548640" y="194767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Frontend</a:t>
            </a:r>
            <a:endParaRPr lang="en-US" sz="950" dirty="0"/>
          </a:p>
        </p:txBody>
      </p:sp>
      <p:sp>
        <p:nvSpPr>
          <p:cNvPr id="13" name="Text 11"/>
          <p:cNvSpPr/>
          <p:nvPr/>
        </p:nvSpPr>
        <p:spPr>
          <a:xfrm>
            <a:off x="1691640" y="187452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Flutter Web + Mobile  ·  55+ Screens</a:t>
            </a:r>
            <a:endParaRPr lang="en-US" sz="1100" dirty="0"/>
          </a:p>
        </p:txBody>
      </p:sp>
      <p:sp>
        <p:nvSpPr>
          <p:cNvPr id="14" name="Text 12"/>
          <p:cNvSpPr/>
          <p:nvPr/>
        </p:nvSpPr>
        <p:spPr>
          <a:xfrm>
            <a:off x="6400800" y="187452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تطبيق ويب وموبايل</a:t>
            </a:r>
            <a:endParaRPr lang="en-US" sz="1000" dirty="0"/>
          </a:p>
        </p:txBody>
      </p:sp>
      <p:sp>
        <p:nvSpPr>
          <p:cNvPr id="15" name="Shape 13"/>
          <p:cNvSpPr/>
          <p:nvPr/>
        </p:nvSpPr>
        <p:spPr>
          <a:xfrm>
            <a:off x="457200" y="2377440"/>
            <a:ext cx="8229600" cy="429768"/>
          </a:xfrm>
          <a:prstGeom prst="rect">
            <a:avLst/>
          </a:prstGeom>
          <a:solidFill>
            <a:srgbClr val="1A2E4A"/>
          </a:solidFill>
          <a:ln/>
        </p:spPr>
      </p:sp>
      <p:sp>
        <p:nvSpPr>
          <p:cNvPr id="16" name="Shape 14"/>
          <p:cNvSpPr/>
          <p:nvPr/>
        </p:nvSpPr>
        <p:spPr>
          <a:xfrm>
            <a:off x="548640" y="2450592"/>
            <a:ext cx="1005840" cy="274320"/>
          </a:xfrm>
          <a:prstGeom prst="rect">
            <a:avLst/>
          </a:prstGeom>
          <a:solidFill>
            <a:srgbClr val="C9A84C"/>
          </a:solidFill>
          <a:ln/>
        </p:spPr>
      </p:sp>
      <p:sp>
        <p:nvSpPr>
          <p:cNvPr id="17" name="Text 15"/>
          <p:cNvSpPr/>
          <p:nvPr/>
        </p:nvSpPr>
        <p:spPr>
          <a:xfrm>
            <a:off x="548640" y="245059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Database</a:t>
            </a:r>
            <a:endParaRPr lang="en-US" sz="950" dirty="0"/>
          </a:p>
        </p:txBody>
      </p:sp>
      <p:sp>
        <p:nvSpPr>
          <p:cNvPr id="18" name="Text 16"/>
          <p:cNvSpPr/>
          <p:nvPr/>
        </p:nvSpPr>
        <p:spPr>
          <a:xfrm>
            <a:off x="1691640" y="237744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PostgreSQL  ·  Read Replicas Ready</a:t>
            </a:r>
            <a:endParaRPr lang="en-US" sz="1100" dirty="0"/>
          </a:p>
        </p:txBody>
      </p:sp>
      <p:sp>
        <p:nvSpPr>
          <p:cNvPr id="19" name="Text 17"/>
          <p:cNvSpPr/>
          <p:nvPr/>
        </p:nvSpPr>
        <p:spPr>
          <a:xfrm>
            <a:off x="6400800" y="237744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قاعدة بيانات قابلة للتوسع</a:t>
            </a:r>
            <a:endParaRPr lang="en-US" sz="1000" dirty="0"/>
          </a:p>
        </p:txBody>
      </p:sp>
      <p:sp>
        <p:nvSpPr>
          <p:cNvPr id="20" name="Shape 18"/>
          <p:cNvSpPr/>
          <p:nvPr/>
        </p:nvSpPr>
        <p:spPr>
          <a:xfrm>
            <a:off x="457200" y="2880360"/>
            <a:ext cx="8229600" cy="429768"/>
          </a:xfrm>
          <a:prstGeom prst="rect">
            <a:avLst/>
          </a:prstGeom>
          <a:solidFill>
            <a:srgbClr val="1E3654"/>
          </a:solidFill>
          <a:ln/>
        </p:spPr>
      </p:sp>
      <p:sp>
        <p:nvSpPr>
          <p:cNvPr id="21" name="Shape 19"/>
          <p:cNvSpPr/>
          <p:nvPr/>
        </p:nvSpPr>
        <p:spPr>
          <a:xfrm>
            <a:off x="548640" y="2953512"/>
            <a:ext cx="1005840" cy="274320"/>
          </a:xfrm>
          <a:prstGeom prst="rect">
            <a:avLst/>
          </a:prstGeom>
          <a:solidFill>
            <a:srgbClr val="10B981"/>
          </a:solidFill>
          <a:ln/>
        </p:spPr>
      </p:sp>
      <p:sp>
        <p:nvSpPr>
          <p:cNvPr id="22" name="Text 20"/>
          <p:cNvSpPr/>
          <p:nvPr/>
        </p:nvSpPr>
        <p:spPr>
          <a:xfrm>
            <a:off x="548640" y="295351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AI Engine</a:t>
            </a:r>
            <a:endParaRPr lang="en-US" sz="950" dirty="0"/>
          </a:p>
        </p:txBody>
      </p:sp>
      <p:sp>
        <p:nvSpPr>
          <p:cNvPr id="23" name="Text 21"/>
          <p:cNvSpPr/>
          <p:nvPr/>
        </p:nvSpPr>
        <p:spPr>
          <a:xfrm>
            <a:off x="1691640" y="288036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Knowledge Brain  ·  11 Modules  ·  Claude AI</a:t>
            </a:r>
            <a:endParaRPr lang="en-US" sz="1100" dirty="0"/>
          </a:p>
        </p:txBody>
      </p:sp>
      <p:sp>
        <p:nvSpPr>
          <p:cNvPr id="24" name="Text 22"/>
          <p:cNvSpPr/>
          <p:nvPr/>
        </p:nvSpPr>
        <p:spPr>
          <a:xfrm>
            <a:off x="6400800" y="288036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عقل معرفي ذكي</a:t>
            </a:r>
            <a:endParaRPr lang="en-US" sz="1000" dirty="0"/>
          </a:p>
        </p:txBody>
      </p:sp>
      <p:sp>
        <p:nvSpPr>
          <p:cNvPr id="25" name="Shape 23"/>
          <p:cNvSpPr/>
          <p:nvPr/>
        </p:nvSpPr>
        <p:spPr>
          <a:xfrm>
            <a:off x="457200" y="3383280"/>
            <a:ext cx="8229600" cy="429768"/>
          </a:xfrm>
          <a:prstGeom prst="rect">
            <a:avLst/>
          </a:prstGeom>
          <a:solidFill>
            <a:srgbClr val="1A2E4A"/>
          </a:solidFill>
          <a:ln/>
        </p:spPr>
      </p:sp>
      <p:sp>
        <p:nvSpPr>
          <p:cNvPr id="26" name="Shape 24"/>
          <p:cNvSpPr/>
          <p:nvPr/>
        </p:nvSpPr>
        <p:spPr>
          <a:xfrm>
            <a:off x="548640" y="3456432"/>
            <a:ext cx="1005840" cy="274320"/>
          </a:xfrm>
          <a:prstGeom prst="rect">
            <a:avLst/>
          </a:prstGeom>
          <a:solidFill>
            <a:srgbClr val="F96167"/>
          </a:solidFill>
          <a:ln/>
        </p:spPr>
      </p:sp>
      <p:sp>
        <p:nvSpPr>
          <p:cNvPr id="27" name="Text 25"/>
          <p:cNvSpPr/>
          <p:nvPr/>
        </p:nvSpPr>
        <p:spPr>
          <a:xfrm>
            <a:off x="548640" y="345643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Auth</a:t>
            </a:r>
            <a:endParaRPr lang="en-US" sz="950" dirty="0"/>
          </a:p>
        </p:txBody>
      </p:sp>
      <p:sp>
        <p:nvSpPr>
          <p:cNvPr id="28" name="Text 26"/>
          <p:cNvSpPr/>
          <p:nvPr/>
        </p:nvSpPr>
        <p:spPr>
          <a:xfrm>
            <a:off x="1691640" y="338328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JWT  ·  11 Roles  ·  Full Audit Logs  ·  bcrypt</a:t>
            </a:r>
            <a:endParaRPr lang="en-US" sz="1100" dirty="0"/>
          </a:p>
        </p:txBody>
      </p:sp>
      <p:sp>
        <p:nvSpPr>
          <p:cNvPr id="29" name="Text 27"/>
          <p:cNvSpPr/>
          <p:nvPr/>
        </p:nvSpPr>
        <p:spPr>
          <a:xfrm>
            <a:off x="6400800" y="338328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أمان متعدد الطبقات</a:t>
            </a:r>
            <a:endParaRPr lang="en-US" sz="1000" dirty="0"/>
          </a:p>
        </p:txBody>
      </p:sp>
      <p:sp>
        <p:nvSpPr>
          <p:cNvPr id="30" name="Shape 28"/>
          <p:cNvSpPr/>
          <p:nvPr/>
        </p:nvSpPr>
        <p:spPr>
          <a:xfrm>
            <a:off x="457200" y="3886200"/>
            <a:ext cx="8229600" cy="429768"/>
          </a:xfrm>
          <a:prstGeom prst="rect">
            <a:avLst/>
          </a:prstGeom>
          <a:solidFill>
            <a:srgbClr val="1E3654"/>
          </a:solidFill>
          <a:ln/>
        </p:spPr>
      </p:sp>
      <p:sp>
        <p:nvSpPr>
          <p:cNvPr id="31" name="Shape 29"/>
          <p:cNvSpPr/>
          <p:nvPr/>
        </p:nvSpPr>
        <p:spPr>
          <a:xfrm>
            <a:off x="548640" y="3959352"/>
            <a:ext cx="1005840" cy="274320"/>
          </a:xfrm>
          <a:prstGeom prst="rect">
            <a:avLst/>
          </a:prstGeom>
          <a:solidFill>
            <a:srgbClr val="E8CC73"/>
          </a:solidFill>
          <a:ln/>
        </p:spPr>
      </p:sp>
      <p:sp>
        <p:nvSpPr>
          <p:cNvPr id="32" name="Text 30"/>
          <p:cNvSpPr/>
          <p:nvPr/>
        </p:nvSpPr>
        <p:spPr>
          <a:xfrm>
            <a:off x="548640" y="3959352"/>
            <a:ext cx="1005840" cy="274320"/>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DevOps</a:t>
            </a:r>
            <a:endParaRPr lang="en-US" sz="950" dirty="0"/>
          </a:p>
        </p:txBody>
      </p:sp>
      <p:sp>
        <p:nvSpPr>
          <p:cNvPr id="33" name="Text 31"/>
          <p:cNvSpPr/>
          <p:nvPr/>
        </p:nvSpPr>
        <p:spPr>
          <a:xfrm>
            <a:off x="1691640" y="3886200"/>
            <a:ext cx="4572000" cy="42976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Docker  ·  CI/CD  ·  GitHub Actions  ·  Render</a:t>
            </a:r>
            <a:endParaRPr lang="en-US" sz="1100" dirty="0"/>
          </a:p>
        </p:txBody>
      </p:sp>
      <p:sp>
        <p:nvSpPr>
          <p:cNvPr id="34" name="Text 32"/>
          <p:cNvSpPr/>
          <p:nvPr/>
        </p:nvSpPr>
        <p:spPr>
          <a:xfrm>
            <a:off x="6400800" y="3886200"/>
            <a:ext cx="2194560" cy="42976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نشر مستمر ومؤتمت</a:t>
            </a:r>
            <a:endParaRPr lang="en-US" sz="1000" dirty="0"/>
          </a:p>
        </p:txBody>
      </p:sp>
      <p:sp>
        <p:nvSpPr>
          <p:cNvPr id="35" name="Shape 33"/>
          <p:cNvSpPr/>
          <p:nvPr/>
        </p:nvSpPr>
        <p:spPr>
          <a:xfrm>
            <a:off x="457200" y="3931920"/>
            <a:ext cx="1920240" cy="502920"/>
          </a:xfrm>
          <a:prstGeom prst="rect">
            <a:avLst/>
          </a:prstGeom>
          <a:solidFill>
            <a:srgbClr val="1A2E4A"/>
          </a:solidFill>
          <a:ln/>
        </p:spPr>
      </p:sp>
      <p:sp>
        <p:nvSpPr>
          <p:cNvPr id="36" name="Shape 34"/>
          <p:cNvSpPr/>
          <p:nvPr/>
        </p:nvSpPr>
        <p:spPr>
          <a:xfrm>
            <a:off x="457200" y="3931920"/>
            <a:ext cx="1920240" cy="36576"/>
          </a:xfrm>
          <a:prstGeom prst="rect">
            <a:avLst/>
          </a:prstGeom>
          <a:solidFill>
            <a:srgbClr val="0891B2"/>
          </a:solidFill>
          <a:ln/>
        </p:spPr>
      </p:sp>
      <p:sp>
        <p:nvSpPr>
          <p:cNvPr id="37" name="Text 35"/>
          <p:cNvSpPr/>
          <p:nvPr/>
        </p:nvSpPr>
        <p:spPr>
          <a:xfrm>
            <a:off x="548640" y="3977640"/>
            <a:ext cx="640080" cy="411480"/>
          </a:xfrm>
          <a:prstGeom prst="rect">
            <a:avLst/>
          </a:prstGeom>
          <a:noFill/>
          <a:ln/>
        </p:spPr>
        <p:txBody>
          <a:bodyPr wrap="square" lIns="0" tIns="0" rIns="0" bIns="0" rtlCol="0" anchor="ctr"/>
          <a:lstStyle/>
          <a:p>
            <a:pPr indent="0" marL="0">
              <a:buNone/>
            </a:pPr>
            <a:r>
              <a:rPr lang="en-US" sz="1800" dirty="0">
                <a:solidFill>
                  <a:srgbClr val="0891B2"/>
                </a:solidFill>
                <a:latin typeface="Arial Black" pitchFamily="34" charset="0"/>
                <a:ea typeface="Arial Black" pitchFamily="34" charset="-122"/>
                <a:cs typeface="Arial Black" pitchFamily="34" charset="-120"/>
              </a:rPr>
              <a:t>30+</a:t>
            </a:r>
            <a:endParaRPr lang="en-US" sz="1800" dirty="0"/>
          </a:p>
        </p:txBody>
      </p:sp>
      <p:sp>
        <p:nvSpPr>
          <p:cNvPr id="38" name="Text 36"/>
          <p:cNvSpPr/>
          <p:nvPr/>
        </p:nvSpPr>
        <p:spPr>
          <a:xfrm>
            <a:off x="118872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REST APIs</a:t>
            </a:r>
            <a:endParaRPr lang="en-US" sz="1000" dirty="0"/>
          </a:p>
        </p:txBody>
      </p:sp>
      <p:sp>
        <p:nvSpPr>
          <p:cNvPr id="39" name="Shape 37"/>
          <p:cNvSpPr/>
          <p:nvPr/>
        </p:nvSpPr>
        <p:spPr>
          <a:xfrm>
            <a:off x="2606040" y="3931920"/>
            <a:ext cx="1920240" cy="502920"/>
          </a:xfrm>
          <a:prstGeom prst="rect">
            <a:avLst/>
          </a:prstGeom>
          <a:solidFill>
            <a:srgbClr val="1A2E4A"/>
          </a:solidFill>
          <a:ln/>
        </p:spPr>
      </p:sp>
      <p:sp>
        <p:nvSpPr>
          <p:cNvPr id="40" name="Shape 38"/>
          <p:cNvSpPr/>
          <p:nvPr/>
        </p:nvSpPr>
        <p:spPr>
          <a:xfrm>
            <a:off x="2606040" y="3931920"/>
            <a:ext cx="1920240" cy="36576"/>
          </a:xfrm>
          <a:prstGeom prst="rect">
            <a:avLst/>
          </a:prstGeom>
          <a:solidFill>
            <a:srgbClr val="10B981"/>
          </a:solidFill>
          <a:ln/>
        </p:spPr>
      </p:sp>
      <p:sp>
        <p:nvSpPr>
          <p:cNvPr id="41" name="Text 39"/>
          <p:cNvSpPr/>
          <p:nvPr/>
        </p:nvSpPr>
        <p:spPr>
          <a:xfrm>
            <a:off x="2697480" y="3977640"/>
            <a:ext cx="640080" cy="411480"/>
          </a:xfrm>
          <a:prstGeom prst="rect">
            <a:avLst/>
          </a:prstGeom>
          <a:noFill/>
          <a:ln/>
        </p:spPr>
        <p:txBody>
          <a:bodyPr wrap="square" lIns="0" tIns="0" rIns="0" bIns="0" rtlCol="0" anchor="ctr"/>
          <a:lstStyle/>
          <a:p>
            <a:pPr indent="0" marL="0">
              <a:buNone/>
            </a:pPr>
            <a:r>
              <a:rPr lang="en-US" sz="1800" dirty="0">
                <a:solidFill>
                  <a:srgbClr val="10B981"/>
                </a:solidFill>
                <a:latin typeface="Arial Black" pitchFamily="34" charset="0"/>
                <a:ea typeface="Arial Black" pitchFamily="34" charset="-122"/>
                <a:cs typeface="Arial Black" pitchFamily="34" charset="-120"/>
              </a:rPr>
              <a:t>11</a:t>
            </a:r>
            <a:endParaRPr lang="en-US" sz="1800" dirty="0"/>
          </a:p>
        </p:txBody>
      </p:sp>
      <p:sp>
        <p:nvSpPr>
          <p:cNvPr id="42" name="Text 40"/>
          <p:cNvSpPr/>
          <p:nvPr/>
        </p:nvSpPr>
        <p:spPr>
          <a:xfrm>
            <a:off x="333756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AI Modules</a:t>
            </a:r>
            <a:endParaRPr lang="en-US" sz="1000" dirty="0"/>
          </a:p>
        </p:txBody>
      </p:sp>
      <p:sp>
        <p:nvSpPr>
          <p:cNvPr id="43" name="Shape 41"/>
          <p:cNvSpPr/>
          <p:nvPr/>
        </p:nvSpPr>
        <p:spPr>
          <a:xfrm>
            <a:off x="4754880" y="3931920"/>
            <a:ext cx="1920240" cy="502920"/>
          </a:xfrm>
          <a:prstGeom prst="rect">
            <a:avLst/>
          </a:prstGeom>
          <a:solidFill>
            <a:srgbClr val="1A2E4A"/>
          </a:solidFill>
          <a:ln/>
        </p:spPr>
      </p:sp>
      <p:sp>
        <p:nvSpPr>
          <p:cNvPr id="44" name="Shape 42"/>
          <p:cNvSpPr/>
          <p:nvPr/>
        </p:nvSpPr>
        <p:spPr>
          <a:xfrm>
            <a:off x="4754880" y="3931920"/>
            <a:ext cx="1920240" cy="36576"/>
          </a:xfrm>
          <a:prstGeom prst="rect">
            <a:avLst/>
          </a:prstGeom>
          <a:solidFill>
            <a:srgbClr val="C9A84C"/>
          </a:solidFill>
          <a:ln/>
        </p:spPr>
      </p:sp>
      <p:sp>
        <p:nvSpPr>
          <p:cNvPr id="45" name="Text 43"/>
          <p:cNvSpPr/>
          <p:nvPr/>
        </p:nvSpPr>
        <p:spPr>
          <a:xfrm>
            <a:off x="4846320" y="3977640"/>
            <a:ext cx="640080" cy="411480"/>
          </a:xfrm>
          <a:prstGeom prst="rect">
            <a:avLst/>
          </a:prstGeom>
          <a:noFill/>
          <a:ln/>
        </p:spPr>
        <p:txBody>
          <a:bodyPr wrap="square" lIns="0" tIns="0" rIns="0" bIns="0" rtlCol="0" anchor="ctr"/>
          <a:lstStyle/>
          <a:p>
            <a:pPr indent="0" marL="0">
              <a:buNone/>
            </a:pPr>
            <a:r>
              <a:rPr lang="en-US" sz="1800" dirty="0">
                <a:solidFill>
                  <a:srgbClr val="C9A84C"/>
                </a:solidFill>
                <a:latin typeface="Arial Black" pitchFamily="34" charset="0"/>
                <a:ea typeface="Arial Black" pitchFamily="34" charset="-122"/>
                <a:cs typeface="Arial Black" pitchFamily="34" charset="-120"/>
              </a:rPr>
              <a:t>55+</a:t>
            </a:r>
            <a:endParaRPr lang="en-US" sz="1800" dirty="0"/>
          </a:p>
        </p:txBody>
      </p:sp>
      <p:sp>
        <p:nvSpPr>
          <p:cNvPr id="46" name="Text 44"/>
          <p:cNvSpPr/>
          <p:nvPr/>
        </p:nvSpPr>
        <p:spPr>
          <a:xfrm>
            <a:off x="548640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UI Screens</a:t>
            </a:r>
            <a:endParaRPr lang="en-US" sz="1000" dirty="0"/>
          </a:p>
        </p:txBody>
      </p:sp>
      <p:sp>
        <p:nvSpPr>
          <p:cNvPr id="47" name="Shape 45"/>
          <p:cNvSpPr/>
          <p:nvPr/>
        </p:nvSpPr>
        <p:spPr>
          <a:xfrm>
            <a:off x="6903720" y="3931920"/>
            <a:ext cx="1920240" cy="502920"/>
          </a:xfrm>
          <a:prstGeom prst="rect">
            <a:avLst/>
          </a:prstGeom>
          <a:solidFill>
            <a:srgbClr val="1A2E4A"/>
          </a:solidFill>
          <a:ln/>
        </p:spPr>
      </p:sp>
      <p:sp>
        <p:nvSpPr>
          <p:cNvPr id="48" name="Shape 46"/>
          <p:cNvSpPr/>
          <p:nvPr/>
        </p:nvSpPr>
        <p:spPr>
          <a:xfrm>
            <a:off x="6903720" y="3931920"/>
            <a:ext cx="1920240" cy="36576"/>
          </a:xfrm>
          <a:prstGeom prst="rect">
            <a:avLst/>
          </a:prstGeom>
          <a:solidFill>
            <a:srgbClr val="F96167"/>
          </a:solidFill>
          <a:ln/>
        </p:spPr>
      </p:sp>
      <p:sp>
        <p:nvSpPr>
          <p:cNvPr id="49" name="Text 47"/>
          <p:cNvSpPr/>
          <p:nvPr/>
        </p:nvSpPr>
        <p:spPr>
          <a:xfrm>
            <a:off x="6995160" y="3977640"/>
            <a:ext cx="640080" cy="411480"/>
          </a:xfrm>
          <a:prstGeom prst="rect">
            <a:avLst/>
          </a:prstGeom>
          <a:noFill/>
          <a:ln/>
        </p:spPr>
        <p:txBody>
          <a:bodyPr wrap="square" lIns="0" tIns="0" rIns="0" bIns="0" rtlCol="0" anchor="ctr"/>
          <a:lstStyle/>
          <a:p>
            <a:pPr indent="0" marL="0">
              <a:buNone/>
            </a:pPr>
            <a:r>
              <a:rPr lang="en-US" sz="1800" dirty="0">
                <a:solidFill>
                  <a:srgbClr val="F96167"/>
                </a:solidFill>
                <a:latin typeface="Arial Black" pitchFamily="34" charset="0"/>
                <a:ea typeface="Arial Black" pitchFamily="34" charset="-122"/>
                <a:cs typeface="Arial Black" pitchFamily="34" charset="-120"/>
              </a:rPr>
              <a:t>204</a:t>
            </a:r>
            <a:endParaRPr lang="en-US" sz="1800" dirty="0"/>
          </a:p>
        </p:txBody>
      </p:sp>
      <p:sp>
        <p:nvSpPr>
          <p:cNvPr id="50" name="Text 48"/>
          <p:cNvSpPr/>
          <p:nvPr/>
        </p:nvSpPr>
        <p:spPr>
          <a:xfrm>
            <a:off x="7635240" y="3977640"/>
            <a:ext cx="1097280" cy="41148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Tests</a:t>
            </a:r>
            <a:endParaRPr lang="en-US" sz="1000" dirty="0"/>
          </a:p>
        </p:txBody>
      </p:sp>
      <p:sp>
        <p:nvSpPr>
          <p:cNvPr id="51" name="Shape 49"/>
          <p:cNvSpPr/>
          <p:nvPr/>
        </p:nvSpPr>
        <p:spPr>
          <a:xfrm>
            <a:off x="0" y="4709160"/>
            <a:ext cx="9144000" cy="434340"/>
          </a:xfrm>
          <a:prstGeom prst="rect">
            <a:avLst/>
          </a:prstGeom>
          <a:solidFill>
            <a:srgbClr val="0A1220"/>
          </a:solidFill>
          <a:ln/>
        </p:spPr>
      </p:sp>
      <p:sp>
        <p:nvSpPr>
          <p:cNvPr id="52" name="Text 50"/>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53" name="Text 51"/>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14 / 19</a:t>
            </a:r>
            <a:endParaRPr lang="en-US" sz="750" dirty="0"/>
          </a:p>
        </p:txBody>
      </p:sp>
      <p:sp>
        <p:nvSpPr>
          <p:cNvPr id="54" name="Text 52"/>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TEAM  ·  الفريق</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Built by People Who Understand the Market</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بُني بأيدي من يفهمون السوق</a:t>
            </a:r>
            <a:endParaRPr lang="en-US" sz="2600" dirty="0"/>
          </a:p>
        </p:txBody>
      </p:sp>
      <p:sp>
        <p:nvSpPr>
          <p:cNvPr id="5" name="Shape 3"/>
          <p:cNvSpPr/>
          <p:nvPr/>
        </p:nvSpPr>
        <p:spPr>
          <a:xfrm>
            <a:off x="457200" y="137160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3977640" cy="45720"/>
          </a:xfrm>
          <a:prstGeom prst="rect">
            <a:avLst/>
          </a:prstGeom>
          <a:solidFill>
            <a:srgbClr val="C9A84C"/>
          </a:solidFill>
          <a:ln/>
        </p:spPr>
      </p:sp>
      <p:sp>
        <p:nvSpPr>
          <p:cNvPr id="7" name="Shape 5"/>
          <p:cNvSpPr/>
          <p:nvPr/>
        </p:nvSpPr>
        <p:spPr>
          <a:xfrm>
            <a:off x="594360" y="1554480"/>
            <a:ext cx="640080" cy="640080"/>
          </a:xfrm>
          <a:prstGeom prst="ellipse">
            <a:avLst/>
          </a:prstGeom>
          <a:solidFill>
            <a:srgbClr val="C9A84C"/>
          </a:solidFill>
          <a:ln/>
        </p:spPr>
      </p:sp>
      <p:sp>
        <p:nvSpPr>
          <p:cNvPr id="8" name="Text 6"/>
          <p:cNvSpPr/>
          <p:nvPr/>
        </p:nvSpPr>
        <p:spPr>
          <a:xfrm>
            <a:off x="594360" y="155448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SA</a:t>
            </a:r>
            <a:endParaRPr lang="en-US" sz="1400" dirty="0"/>
          </a:p>
        </p:txBody>
      </p:sp>
      <p:sp>
        <p:nvSpPr>
          <p:cNvPr id="9" name="Text 7"/>
          <p:cNvSpPr/>
          <p:nvPr/>
        </p:nvSpPr>
        <p:spPr>
          <a:xfrm>
            <a:off x="1371600" y="148132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Shady Apoelela</a:t>
            </a:r>
            <a:endParaRPr lang="en-US" sz="1300" dirty="0"/>
          </a:p>
        </p:txBody>
      </p:sp>
      <p:sp>
        <p:nvSpPr>
          <p:cNvPr id="10" name="Text 8"/>
          <p:cNvSpPr/>
          <p:nvPr/>
        </p:nvSpPr>
        <p:spPr>
          <a:xfrm>
            <a:off x="1371600" y="1691640"/>
            <a:ext cx="2880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Founder &amp; CEO</a:t>
            </a:r>
            <a:endParaRPr lang="en-US" sz="1000" dirty="0"/>
          </a:p>
        </p:txBody>
      </p:sp>
      <p:sp>
        <p:nvSpPr>
          <p:cNvPr id="11" name="Text 9"/>
          <p:cNvSpPr/>
          <p:nvPr/>
        </p:nvSpPr>
        <p:spPr>
          <a:xfrm>
            <a:off x="1371600" y="187452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شادي أبو العلا  ·  المؤسس والرئيس التنفيذي</a:t>
            </a:r>
            <a:endParaRPr lang="en-US" sz="900" dirty="0"/>
          </a:p>
        </p:txBody>
      </p:sp>
      <p:sp>
        <p:nvSpPr>
          <p:cNvPr id="12" name="Text 10"/>
          <p:cNvSpPr/>
          <p:nvPr/>
        </p:nvSpPr>
        <p:spPr>
          <a:xfrm>
            <a:off x="594360" y="210312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Full-stack architect. Built APEX from zero to 30+ APIs, 55+ screens, and 11 AI modules single-handedly.</a:t>
            </a:r>
            <a:endParaRPr lang="en-US" sz="900" dirty="0"/>
          </a:p>
        </p:txBody>
      </p:sp>
      <p:sp>
        <p:nvSpPr>
          <p:cNvPr id="13" name="Shape 11"/>
          <p:cNvSpPr/>
          <p:nvPr/>
        </p:nvSpPr>
        <p:spPr>
          <a:xfrm>
            <a:off x="4754880" y="137160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4" name="Shape 12"/>
          <p:cNvSpPr/>
          <p:nvPr/>
        </p:nvSpPr>
        <p:spPr>
          <a:xfrm>
            <a:off x="4754880" y="1371600"/>
            <a:ext cx="3977640" cy="45720"/>
          </a:xfrm>
          <a:prstGeom prst="rect">
            <a:avLst/>
          </a:prstGeom>
          <a:solidFill>
            <a:srgbClr val="0891B2"/>
          </a:solidFill>
          <a:ln/>
        </p:spPr>
      </p:sp>
      <p:sp>
        <p:nvSpPr>
          <p:cNvPr id="15" name="Shape 13"/>
          <p:cNvSpPr/>
          <p:nvPr/>
        </p:nvSpPr>
        <p:spPr>
          <a:xfrm>
            <a:off x="4892040" y="1554480"/>
            <a:ext cx="640080" cy="640080"/>
          </a:xfrm>
          <a:prstGeom prst="ellipse">
            <a:avLst/>
          </a:prstGeom>
          <a:solidFill>
            <a:srgbClr val="0891B2"/>
          </a:solidFill>
          <a:ln/>
        </p:spPr>
      </p:sp>
      <p:sp>
        <p:nvSpPr>
          <p:cNvPr id="16" name="Text 14"/>
          <p:cNvSpPr/>
          <p:nvPr/>
        </p:nvSpPr>
        <p:spPr>
          <a:xfrm>
            <a:off x="4892040" y="155448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CTO</a:t>
            </a:r>
            <a:endParaRPr lang="en-US" sz="1400" dirty="0"/>
          </a:p>
        </p:txBody>
      </p:sp>
      <p:sp>
        <p:nvSpPr>
          <p:cNvPr id="17" name="Text 15"/>
          <p:cNvSpPr/>
          <p:nvPr/>
        </p:nvSpPr>
        <p:spPr>
          <a:xfrm>
            <a:off x="5669280" y="148132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CTO (Hiring)</a:t>
            </a:r>
            <a:endParaRPr lang="en-US" sz="1300" dirty="0"/>
          </a:p>
        </p:txBody>
      </p:sp>
      <p:sp>
        <p:nvSpPr>
          <p:cNvPr id="18" name="Text 16"/>
          <p:cNvSpPr/>
          <p:nvPr/>
        </p:nvSpPr>
        <p:spPr>
          <a:xfrm>
            <a:off x="5669280" y="1691640"/>
            <a:ext cx="2880360" cy="182880"/>
          </a:xfrm>
          <a:prstGeom prst="rect">
            <a:avLst/>
          </a:prstGeom>
          <a:noFill/>
          <a:ln/>
        </p:spPr>
        <p:txBody>
          <a:bodyPr wrap="square" lIns="0" tIns="0" rIns="0" bIns="0" rtlCol="0" anchor="ctr"/>
          <a:lstStyle/>
          <a:p>
            <a:pPr indent="0" marL="0">
              <a:buNone/>
            </a:pPr>
            <a:r>
              <a:rPr lang="en-US" sz="1000" dirty="0">
                <a:solidFill>
                  <a:srgbClr val="0891B2"/>
                </a:solidFill>
                <a:latin typeface="Calibri" pitchFamily="34" charset="0"/>
                <a:ea typeface="Calibri" pitchFamily="34" charset="-122"/>
                <a:cs typeface="Calibri" pitchFamily="34" charset="-120"/>
              </a:rPr>
              <a:t>Chief Technology Officer</a:t>
            </a:r>
            <a:endParaRPr lang="en-US" sz="1000" dirty="0"/>
          </a:p>
        </p:txBody>
      </p:sp>
      <p:sp>
        <p:nvSpPr>
          <p:cNvPr id="19" name="Text 17"/>
          <p:cNvSpPr/>
          <p:nvPr/>
        </p:nvSpPr>
        <p:spPr>
          <a:xfrm>
            <a:off x="5669280" y="187452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مدير التقنية (توظيف)  ·  المدير التقني</a:t>
            </a:r>
            <a:endParaRPr lang="en-US" sz="900" dirty="0"/>
          </a:p>
        </p:txBody>
      </p:sp>
      <p:sp>
        <p:nvSpPr>
          <p:cNvPr id="20" name="Text 18"/>
          <p:cNvSpPr/>
          <p:nvPr/>
        </p:nvSpPr>
        <p:spPr>
          <a:xfrm>
            <a:off x="4892040" y="210312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Seeking: 10+ years backend/AI experience. Saudi fintech expertise preferred. Equity + competitive salary.</a:t>
            </a:r>
            <a:endParaRPr lang="en-US" sz="900" dirty="0"/>
          </a:p>
        </p:txBody>
      </p:sp>
      <p:sp>
        <p:nvSpPr>
          <p:cNvPr id="21" name="Shape 19"/>
          <p:cNvSpPr/>
          <p:nvPr/>
        </p:nvSpPr>
        <p:spPr>
          <a:xfrm>
            <a:off x="457200" y="278892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2" name="Shape 20"/>
          <p:cNvSpPr/>
          <p:nvPr/>
        </p:nvSpPr>
        <p:spPr>
          <a:xfrm>
            <a:off x="457200" y="2788920"/>
            <a:ext cx="3977640" cy="45720"/>
          </a:xfrm>
          <a:prstGeom prst="rect">
            <a:avLst/>
          </a:prstGeom>
          <a:solidFill>
            <a:srgbClr val="10B981"/>
          </a:solidFill>
          <a:ln/>
        </p:spPr>
      </p:sp>
      <p:sp>
        <p:nvSpPr>
          <p:cNvPr id="23" name="Shape 21"/>
          <p:cNvSpPr/>
          <p:nvPr/>
        </p:nvSpPr>
        <p:spPr>
          <a:xfrm>
            <a:off x="594360" y="2971800"/>
            <a:ext cx="640080" cy="640080"/>
          </a:xfrm>
          <a:prstGeom prst="ellipse">
            <a:avLst/>
          </a:prstGeom>
          <a:solidFill>
            <a:srgbClr val="10B981"/>
          </a:solidFill>
          <a:ln/>
        </p:spPr>
      </p:sp>
      <p:sp>
        <p:nvSpPr>
          <p:cNvPr id="24" name="Text 22"/>
          <p:cNvSpPr/>
          <p:nvPr/>
        </p:nvSpPr>
        <p:spPr>
          <a:xfrm>
            <a:off x="594360" y="297180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CFO</a:t>
            </a:r>
            <a:endParaRPr lang="en-US" sz="1400" dirty="0"/>
          </a:p>
        </p:txBody>
      </p:sp>
      <p:sp>
        <p:nvSpPr>
          <p:cNvPr id="25" name="Text 23"/>
          <p:cNvSpPr/>
          <p:nvPr/>
        </p:nvSpPr>
        <p:spPr>
          <a:xfrm>
            <a:off x="1371600" y="289864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CFO (Hiring)</a:t>
            </a:r>
            <a:endParaRPr lang="en-US" sz="1300" dirty="0"/>
          </a:p>
        </p:txBody>
      </p:sp>
      <p:sp>
        <p:nvSpPr>
          <p:cNvPr id="26" name="Text 24"/>
          <p:cNvSpPr/>
          <p:nvPr/>
        </p:nvSpPr>
        <p:spPr>
          <a:xfrm>
            <a:off x="1371600" y="3108960"/>
            <a:ext cx="2880360" cy="182880"/>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Chief Financial Officer</a:t>
            </a:r>
            <a:endParaRPr lang="en-US" sz="1000" dirty="0"/>
          </a:p>
        </p:txBody>
      </p:sp>
      <p:sp>
        <p:nvSpPr>
          <p:cNvPr id="27" name="Text 25"/>
          <p:cNvSpPr/>
          <p:nvPr/>
        </p:nvSpPr>
        <p:spPr>
          <a:xfrm>
            <a:off x="1371600" y="329184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المدير المالي (توظيف)  ·  المدير المالي</a:t>
            </a:r>
            <a:endParaRPr lang="en-US" sz="900" dirty="0"/>
          </a:p>
        </p:txBody>
      </p:sp>
      <p:sp>
        <p:nvSpPr>
          <p:cNvPr id="28" name="Text 26"/>
          <p:cNvSpPr/>
          <p:nvPr/>
        </p:nvSpPr>
        <p:spPr>
          <a:xfrm>
            <a:off x="594360" y="352044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Seeking: CPA/CFA with SOCPA knowledge. Startup finance experience. Will lead compliance &amp; investor relations.</a:t>
            </a:r>
            <a:endParaRPr lang="en-US" sz="900" dirty="0"/>
          </a:p>
        </p:txBody>
      </p:sp>
      <p:sp>
        <p:nvSpPr>
          <p:cNvPr id="29" name="Shape 27"/>
          <p:cNvSpPr/>
          <p:nvPr/>
        </p:nvSpPr>
        <p:spPr>
          <a:xfrm>
            <a:off x="4754880" y="2788920"/>
            <a:ext cx="3977640" cy="123444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30" name="Shape 28"/>
          <p:cNvSpPr/>
          <p:nvPr/>
        </p:nvSpPr>
        <p:spPr>
          <a:xfrm>
            <a:off x="4754880" y="2788920"/>
            <a:ext cx="3977640" cy="45720"/>
          </a:xfrm>
          <a:prstGeom prst="rect">
            <a:avLst/>
          </a:prstGeom>
          <a:solidFill>
            <a:srgbClr val="F96167"/>
          </a:solidFill>
          <a:ln/>
        </p:spPr>
      </p:sp>
      <p:sp>
        <p:nvSpPr>
          <p:cNvPr id="31" name="Shape 29"/>
          <p:cNvSpPr/>
          <p:nvPr/>
        </p:nvSpPr>
        <p:spPr>
          <a:xfrm>
            <a:off x="4892040" y="2971800"/>
            <a:ext cx="640080" cy="640080"/>
          </a:xfrm>
          <a:prstGeom prst="ellipse">
            <a:avLst/>
          </a:prstGeom>
          <a:solidFill>
            <a:srgbClr val="F96167"/>
          </a:solidFill>
          <a:ln/>
        </p:spPr>
      </p:sp>
      <p:sp>
        <p:nvSpPr>
          <p:cNvPr id="32" name="Text 30"/>
          <p:cNvSpPr/>
          <p:nvPr/>
        </p:nvSpPr>
        <p:spPr>
          <a:xfrm>
            <a:off x="4892040" y="2971800"/>
            <a:ext cx="640080" cy="640080"/>
          </a:xfrm>
          <a:prstGeom prst="rect">
            <a:avLst/>
          </a:prstGeom>
          <a:noFill/>
          <a:ln/>
        </p:spPr>
        <p:txBody>
          <a:bodyPr wrap="square" lIns="0" tIns="0" rIns="0" bIns="0" rtlCol="0" anchor="ctr"/>
          <a:lstStyle/>
          <a:p>
            <a:pPr algn="ctr" indent="0" marL="0">
              <a:buNone/>
            </a:pPr>
            <a:r>
              <a:rPr lang="en-US" sz="1400" dirty="0">
                <a:solidFill>
                  <a:srgbClr val="0F1B2D"/>
                </a:solidFill>
                <a:latin typeface="Arial Black" pitchFamily="34" charset="0"/>
                <a:ea typeface="Arial Black" pitchFamily="34" charset="-122"/>
                <a:cs typeface="Arial Black" pitchFamily="34" charset="-120"/>
              </a:rPr>
              <a:t>GL</a:t>
            </a:r>
            <a:endParaRPr lang="en-US" sz="1400" dirty="0"/>
          </a:p>
        </p:txBody>
      </p:sp>
      <p:sp>
        <p:nvSpPr>
          <p:cNvPr id="33" name="Text 31"/>
          <p:cNvSpPr/>
          <p:nvPr/>
        </p:nvSpPr>
        <p:spPr>
          <a:xfrm>
            <a:off x="5669280" y="2898648"/>
            <a:ext cx="2880360" cy="2011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Growth Lead (Hiring)</a:t>
            </a:r>
            <a:endParaRPr lang="en-US" sz="1300" dirty="0"/>
          </a:p>
        </p:txBody>
      </p:sp>
      <p:sp>
        <p:nvSpPr>
          <p:cNvPr id="34" name="Text 32"/>
          <p:cNvSpPr/>
          <p:nvPr/>
        </p:nvSpPr>
        <p:spPr>
          <a:xfrm>
            <a:off x="5669280" y="3108960"/>
            <a:ext cx="2880360" cy="182880"/>
          </a:xfrm>
          <a:prstGeom prst="rect">
            <a:avLst/>
          </a:prstGeom>
          <a:noFill/>
          <a:ln/>
        </p:spPr>
        <p:txBody>
          <a:bodyPr wrap="square" lIns="0" tIns="0" rIns="0" bIns="0" rtlCol="0" anchor="ctr"/>
          <a:lstStyle/>
          <a:p>
            <a:pPr indent="0" marL="0">
              <a:buNone/>
            </a:pPr>
            <a:r>
              <a:rPr lang="en-US" sz="1000" dirty="0">
                <a:solidFill>
                  <a:srgbClr val="F96167"/>
                </a:solidFill>
                <a:latin typeface="Calibri" pitchFamily="34" charset="0"/>
                <a:ea typeface="Calibri" pitchFamily="34" charset="-122"/>
                <a:cs typeface="Calibri" pitchFamily="34" charset="-120"/>
              </a:rPr>
              <a:t>Head of Growth &amp; Sales</a:t>
            </a:r>
            <a:endParaRPr lang="en-US" sz="1000" dirty="0"/>
          </a:p>
        </p:txBody>
      </p:sp>
      <p:sp>
        <p:nvSpPr>
          <p:cNvPr id="35" name="Text 33"/>
          <p:cNvSpPr/>
          <p:nvPr/>
        </p:nvSpPr>
        <p:spPr>
          <a:xfrm>
            <a:off x="5669280" y="3291840"/>
            <a:ext cx="2880360" cy="1645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قائد النمو (توظيف)  ·  رئيس النمو والمبيعات</a:t>
            </a:r>
            <a:endParaRPr lang="en-US" sz="900" dirty="0"/>
          </a:p>
        </p:txBody>
      </p:sp>
      <p:sp>
        <p:nvSpPr>
          <p:cNvPr id="36" name="Text 34"/>
          <p:cNvSpPr/>
          <p:nvPr/>
        </p:nvSpPr>
        <p:spPr>
          <a:xfrm>
            <a:off x="4892040" y="3520440"/>
            <a:ext cx="3657600" cy="38404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Seeking: B2B SaaS growth expert. Saudi market connections. Will drive go-to-market &amp; partnerships.</a:t>
            </a:r>
            <a:endParaRPr lang="en-US" sz="900" dirty="0"/>
          </a:p>
        </p:txBody>
      </p:sp>
      <p:sp>
        <p:nvSpPr>
          <p:cNvPr id="37" name="Shape 35"/>
          <p:cNvSpPr/>
          <p:nvPr/>
        </p:nvSpPr>
        <p:spPr>
          <a:xfrm>
            <a:off x="457200" y="4251960"/>
            <a:ext cx="8229600" cy="320040"/>
          </a:xfrm>
          <a:prstGeom prst="rect">
            <a:avLst/>
          </a:prstGeom>
          <a:solidFill>
            <a:srgbClr val="162940"/>
          </a:solidFill>
          <a:ln/>
        </p:spPr>
      </p:sp>
      <p:sp>
        <p:nvSpPr>
          <p:cNvPr id="38" name="Text 36"/>
          <p:cNvSpPr/>
          <p:nvPr/>
        </p:nvSpPr>
        <p:spPr>
          <a:xfrm>
            <a:off x="457200" y="4251960"/>
            <a:ext cx="8229600" cy="320040"/>
          </a:xfrm>
          <a:prstGeom prst="rect">
            <a:avLst/>
          </a:prstGeom>
          <a:noFill/>
          <a:ln/>
        </p:spPr>
        <p:txBody>
          <a:bodyPr wrap="square" lIns="0" tIns="0" rIns="0" bIns="0" rtlCol="0" anchor="ctr"/>
          <a:lstStyle/>
          <a:p>
            <a:pPr algn="ctr" indent="0" marL="0">
              <a:buNone/>
            </a:pPr>
            <a:r>
              <a:rPr lang="en-US" sz="1100" b="1" dirty="0">
                <a:solidFill>
                  <a:srgbClr val="C9A84C"/>
                </a:solidFill>
                <a:latin typeface="Calibri" pitchFamily="34" charset="0"/>
                <a:ea typeface="Calibri" pitchFamily="34" charset="-122"/>
                <a:cs typeface="Calibri" pitchFamily="34" charset="-120"/>
              </a:rPr>
              <a:t>We're hiring exceptional talent to join our mission  ·  نبحث عن كفاءات استثنائية للانضمام إلى رحلتنا</a:t>
            </a:r>
            <a:endParaRPr lang="en-US" sz="1100" dirty="0"/>
          </a:p>
        </p:txBody>
      </p:sp>
      <p:sp>
        <p:nvSpPr>
          <p:cNvPr id="39" name="Shape 37"/>
          <p:cNvSpPr/>
          <p:nvPr/>
        </p:nvSpPr>
        <p:spPr>
          <a:xfrm>
            <a:off x="0" y="4709160"/>
            <a:ext cx="9144000" cy="434340"/>
          </a:xfrm>
          <a:prstGeom prst="rect">
            <a:avLst/>
          </a:prstGeom>
          <a:solidFill>
            <a:srgbClr val="0A1220"/>
          </a:solidFill>
          <a:ln/>
        </p:spPr>
      </p:sp>
      <p:sp>
        <p:nvSpPr>
          <p:cNvPr id="40" name="Text 38"/>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1" name="Text 39"/>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15 / 19</a:t>
            </a:r>
            <a:endParaRPr lang="en-US" sz="750" dirty="0"/>
          </a:p>
        </p:txBody>
      </p:sp>
      <p:sp>
        <p:nvSpPr>
          <p:cNvPr id="42" name="Text 40"/>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ROADMAP TO SCALE  ·  خارطة طريق التوسع</a:t>
            </a:r>
            <a:endParaRPr lang="en-US" sz="1100" dirty="0"/>
          </a:p>
        </p:txBody>
      </p:sp>
      <p:sp>
        <p:nvSpPr>
          <p:cNvPr id="4" name="Text 2"/>
          <p:cNvSpPr/>
          <p:nvPr/>
        </p:nvSpPr>
        <p:spPr>
          <a:xfrm>
            <a:off x="457200" y="502920"/>
            <a:ext cx="822960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From Saudi to the Gulf &amp; Beyond</a:t>
            </a:r>
            <a:endParaRPr lang="en-US" sz="2600" dirty="0"/>
          </a:p>
          <a:p>
            <a:pPr indent="0" marL="0">
              <a:buNone/>
            </a:pPr>
            <a:r>
              <a:rPr lang="en-US" sz="1400" dirty="0">
                <a:solidFill>
                  <a:srgbClr val="C9A84C"/>
                </a:solidFill>
                <a:latin typeface="Calibri" pitchFamily="34" charset="0"/>
                <a:ea typeface="Calibri" pitchFamily="34" charset="-122"/>
                <a:cs typeface="Calibri" pitchFamily="34" charset="-120"/>
              </a:rPr>
              <a:t>من السعودية إلى الخليج والعالم</a:t>
            </a:r>
            <a:endParaRPr lang="en-US" sz="2600" dirty="0"/>
          </a:p>
        </p:txBody>
      </p:sp>
      <p:sp>
        <p:nvSpPr>
          <p:cNvPr id="5" name="Shape 3"/>
          <p:cNvSpPr/>
          <p:nvPr/>
        </p:nvSpPr>
        <p:spPr>
          <a:xfrm>
            <a:off x="32004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6" name="Shape 4"/>
          <p:cNvSpPr/>
          <p:nvPr/>
        </p:nvSpPr>
        <p:spPr>
          <a:xfrm>
            <a:off x="320040" y="1417320"/>
            <a:ext cx="1920240" cy="45720"/>
          </a:xfrm>
          <a:prstGeom prst="rect">
            <a:avLst/>
          </a:prstGeom>
          <a:solidFill>
            <a:srgbClr val="0891B2"/>
          </a:solidFill>
          <a:ln/>
        </p:spPr>
      </p:sp>
      <p:sp>
        <p:nvSpPr>
          <p:cNvPr id="7" name="Text 5"/>
          <p:cNvSpPr/>
          <p:nvPr/>
        </p:nvSpPr>
        <p:spPr>
          <a:xfrm>
            <a:off x="411480" y="1508760"/>
            <a:ext cx="1737360" cy="182880"/>
          </a:xfrm>
          <a:prstGeom prst="rect">
            <a:avLst/>
          </a:prstGeom>
          <a:noFill/>
          <a:ln/>
        </p:spPr>
        <p:txBody>
          <a:bodyPr wrap="square" lIns="0" tIns="0" rIns="0" bIns="0" rtlCol="0" anchor="ctr"/>
          <a:lstStyle/>
          <a:p>
            <a:pPr indent="0" marL="0">
              <a:buNone/>
            </a:pPr>
            <a:r>
              <a:rPr lang="en-US" sz="900" b="1" dirty="0">
                <a:solidFill>
                  <a:srgbClr val="0891B2"/>
                </a:solidFill>
                <a:latin typeface="Calibri" pitchFamily="34" charset="0"/>
                <a:ea typeface="Calibri" pitchFamily="34" charset="-122"/>
                <a:cs typeface="Calibri" pitchFamily="34" charset="-120"/>
              </a:rPr>
              <a:t>PHASE 1</a:t>
            </a:r>
            <a:endParaRPr lang="en-US" sz="900" dirty="0"/>
          </a:p>
        </p:txBody>
      </p:sp>
      <p:sp>
        <p:nvSpPr>
          <p:cNvPr id="8" name="Text 6"/>
          <p:cNvSpPr/>
          <p:nvPr/>
        </p:nvSpPr>
        <p:spPr>
          <a:xfrm>
            <a:off x="41148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Now – 3M</a:t>
            </a:r>
            <a:endParaRPr lang="en-US" sz="800" dirty="0"/>
          </a:p>
        </p:txBody>
      </p:sp>
      <p:sp>
        <p:nvSpPr>
          <p:cNvPr id="9" name="Text 7"/>
          <p:cNvSpPr/>
          <p:nvPr/>
        </p:nvSpPr>
        <p:spPr>
          <a:xfrm>
            <a:off x="41148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Stabilize</a:t>
            </a:r>
            <a:endParaRPr lang="en-US" sz="1800" dirty="0"/>
          </a:p>
        </p:txBody>
      </p:sp>
      <p:sp>
        <p:nvSpPr>
          <p:cNvPr id="10" name="Text 8"/>
          <p:cNvSpPr/>
          <p:nvPr/>
        </p:nvSpPr>
        <p:spPr>
          <a:xfrm>
            <a:off x="41148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التثبيت</a:t>
            </a:r>
            <a:endParaRPr lang="en-US" sz="1000" dirty="0"/>
          </a:p>
        </p:txBody>
      </p:sp>
      <p:sp>
        <p:nvSpPr>
          <p:cNvPr id="11" name="Text 9"/>
          <p:cNvSpPr/>
          <p:nvPr/>
        </p:nvSpPr>
        <p:spPr>
          <a:xfrm>
            <a:off x="41148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Tests &amp; Bug Fixes</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Flutter Optimization</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Seed Data &amp; GitHub</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Security Hardening</a:t>
            </a:r>
            <a:endParaRPr lang="en-US" sz="900" dirty="0"/>
          </a:p>
        </p:txBody>
      </p:sp>
      <p:sp>
        <p:nvSpPr>
          <p:cNvPr id="12" name="Shape 10"/>
          <p:cNvSpPr/>
          <p:nvPr/>
        </p:nvSpPr>
        <p:spPr>
          <a:xfrm>
            <a:off x="251460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2514600" y="1417320"/>
            <a:ext cx="1920240" cy="45720"/>
          </a:xfrm>
          <a:prstGeom prst="rect">
            <a:avLst/>
          </a:prstGeom>
          <a:solidFill>
            <a:srgbClr val="C9A84C"/>
          </a:solidFill>
          <a:ln/>
        </p:spPr>
      </p:sp>
      <p:sp>
        <p:nvSpPr>
          <p:cNvPr id="14" name="Text 12"/>
          <p:cNvSpPr/>
          <p:nvPr/>
        </p:nvSpPr>
        <p:spPr>
          <a:xfrm>
            <a:off x="2606040" y="1508760"/>
            <a:ext cx="1737360" cy="182880"/>
          </a:xfrm>
          <a:prstGeom prst="rect">
            <a:avLst/>
          </a:prstGeom>
          <a:noFill/>
          <a:ln/>
        </p:spPr>
        <p:txBody>
          <a:bodyPr wrap="square" lIns="0" tIns="0" rIns="0" bIns="0"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PHASE 2</a:t>
            </a:r>
            <a:endParaRPr lang="en-US" sz="900" dirty="0"/>
          </a:p>
        </p:txBody>
      </p:sp>
      <p:sp>
        <p:nvSpPr>
          <p:cNvPr id="15" name="Text 13"/>
          <p:cNvSpPr/>
          <p:nvPr/>
        </p:nvSpPr>
        <p:spPr>
          <a:xfrm>
            <a:off x="260604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3 – 9M</a:t>
            </a:r>
            <a:endParaRPr lang="en-US" sz="800" dirty="0"/>
          </a:p>
        </p:txBody>
      </p:sp>
      <p:sp>
        <p:nvSpPr>
          <p:cNvPr id="16" name="Text 14"/>
          <p:cNvSpPr/>
          <p:nvPr/>
        </p:nvSpPr>
        <p:spPr>
          <a:xfrm>
            <a:off x="260604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Scale</a:t>
            </a:r>
            <a:endParaRPr lang="en-US" sz="1800" dirty="0"/>
          </a:p>
        </p:txBody>
      </p:sp>
      <p:sp>
        <p:nvSpPr>
          <p:cNvPr id="17" name="Text 15"/>
          <p:cNvSpPr/>
          <p:nvPr/>
        </p:nvSpPr>
        <p:spPr>
          <a:xfrm>
            <a:off x="260604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التوسع</a:t>
            </a:r>
            <a:endParaRPr lang="en-US" sz="1000" dirty="0"/>
          </a:p>
        </p:txBody>
      </p:sp>
      <p:sp>
        <p:nvSpPr>
          <p:cNvPr id="18" name="Text 16"/>
          <p:cNvSpPr/>
          <p:nvPr/>
        </p:nvSpPr>
        <p:spPr>
          <a:xfrm>
            <a:off x="260604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CI/CD &amp; Monitoring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Redis Caching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API Versioning (v1)</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Read Replicas</a:t>
            </a:r>
            <a:endParaRPr lang="en-US" sz="900" dirty="0"/>
          </a:p>
        </p:txBody>
      </p:sp>
      <p:sp>
        <p:nvSpPr>
          <p:cNvPr id="19" name="Shape 17"/>
          <p:cNvSpPr/>
          <p:nvPr/>
        </p:nvSpPr>
        <p:spPr>
          <a:xfrm>
            <a:off x="470916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0" name="Shape 18"/>
          <p:cNvSpPr/>
          <p:nvPr/>
        </p:nvSpPr>
        <p:spPr>
          <a:xfrm>
            <a:off x="4709160" y="1417320"/>
            <a:ext cx="1920240" cy="45720"/>
          </a:xfrm>
          <a:prstGeom prst="rect">
            <a:avLst/>
          </a:prstGeom>
          <a:solidFill>
            <a:srgbClr val="10B981"/>
          </a:solidFill>
          <a:ln/>
        </p:spPr>
      </p:sp>
      <p:sp>
        <p:nvSpPr>
          <p:cNvPr id="21" name="Text 19"/>
          <p:cNvSpPr/>
          <p:nvPr/>
        </p:nvSpPr>
        <p:spPr>
          <a:xfrm>
            <a:off x="4800600" y="1508760"/>
            <a:ext cx="1737360" cy="182880"/>
          </a:xfrm>
          <a:prstGeom prst="rect">
            <a:avLst/>
          </a:prstGeom>
          <a:noFill/>
          <a:ln/>
        </p:spPr>
        <p:txBody>
          <a:bodyPr wrap="square" lIns="0" tIns="0" rIns="0" bIns="0"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PHASE 3</a:t>
            </a:r>
            <a:endParaRPr lang="en-US" sz="900" dirty="0"/>
          </a:p>
        </p:txBody>
      </p:sp>
      <p:sp>
        <p:nvSpPr>
          <p:cNvPr id="22" name="Text 20"/>
          <p:cNvSpPr/>
          <p:nvPr/>
        </p:nvSpPr>
        <p:spPr>
          <a:xfrm>
            <a:off x="480060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9M+</a:t>
            </a:r>
            <a:endParaRPr lang="en-US" sz="800" dirty="0"/>
          </a:p>
        </p:txBody>
      </p:sp>
      <p:sp>
        <p:nvSpPr>
          <p:cNvPr id="23" name="Text 21"/>
          <p:cNvSpPr/>
          <p:nvPr/>
        </p:nvSpPr>
        <p:spPr>
          <a:xfrm>
            <a:off x="480060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Dominate</a:t>
            </a:r>
            <a:endParaRPr lang="en-US" sz="1800" dirty="0"/>
          </a:p>
        </p:txBody>
      </p:sp>
      <p:sp>
        <p:nvSpPr>
          <p:cNvPr id="24" name="Text 22"/>
          <p:cNvSpPr/>
          <p:nvPr/>
        </p:nvSpPr>
        <p:spPr>
          <a:xfrm>
            <a:off x="480060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الهيمنة</a:t>
            </a:r>
            <a:endParaRPr lang="en-US" sz="1000" dirty="0"/>
          </a:p>
        </p:txBody>
      </p:sp>
      <p:sp>
        <p:nvSpPr>
          <p:cNvPr id="25" name="Text 23"/>
          <p:cNvSpPr/>
          <p:nvPr/>
        </p:nvSpPr>
        <p:spPr>
          <a:xfrm>
            <a:off x="480060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Microservices</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Horizontal Scaling</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CDN &amp; Edge Cache</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SOC 2 Compliance</a:t>
            </a:r>
            <a:endParaRPr lang="en-US" sz="900" dirty="0"/>
          </a:p>
        </p:txBody>
      </p:sp>
      <p:sp>
        <p:nvSpPr>
          <p:cNvPr id="26" name="Shape 24"/>
          <p:cNvSpPr/>
          <p:nvPr/>
        </p:nvSpPr>
        <p:spPr>
          <a:xfrm>
            <a:off x="6903720" y="1417320"/>
            <a:ext cx="1920240" cy="29718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27" name="Shape 25"/>
          <p:cNvSpPr/>
          <p:nvPr/>
        </p:nvSpPr>
        <p:spPr>
          <a:xfrm>
            <a:off x="6903720" y="1417320"/>
            <a:ext cx="1920240" cy="45720"/>
          </a:xfrm>
          <a:prstGeom prst="rect">
            <a:avLst/>
          </a:prstGeom>
          <a:solidFill>
            <a:srgbClr val="E8CC73"/>
          </a:solidFill>
          <a:ln/>
        </p:spPr>
      </p:sp>
      <p:sp>
        <p:nvSpPr>
          <p:cNvPr id="28" name="Text 26"/>
          <p:cNvSpPr/>
          <p:nvPr/>
        </p:nvSpPr>
        <p:spPr>
          <a:xfrm>
            <a:off x="6995160" y="1508760"/>
            <a:ext cx="1737360" cy="182880"/>
          </a:xfrm>
          <a:prstGeom prst="rect">
            <a:avLst/>
          </a:prstGeom>
          <a:noFill/>
          <a:ln/>
        </p:spPr>
        <p:txBody>
          <a:bodyPr wrap="square" lIns="0" tIns="0" rIns="0" bIns="0" rtlCol="0" anchor="ctr"/>
          <a:lstStyle/>
          <a:p>
            <a:pPr indent="0" marL="0">
              <a:buNone/>
            </a:pPr>
            <a:r>
              <a:rPr lang="en-US" sz="900" b="1" dirty="0">
                <a:solidFill>
                  <a:srgbClr val="E8CC73"/>
                </a:solidFill>
                <a:latin typeface="Calibri" pitchFamily="34" charset="0"/>
                <a:ea typeface="Calibri" pitchFamily="34" charset="-122"/>
                <a:cs typeface="Calibri" pitchFamily="34" charset="-120"/>
              </a:rPr>
              <a:t>PHASE 4</a:t>
            </a:r>
            <a:endParaRPr lang="en-US" sz="900" dirty="0"/>
          </a:p>
        </p:txBody>
      </p:sp>
      <p:sp>
        <p:nvSpPr>
          <p:cNvPr id="29" name="Text 27"/>
          <p:cNvSpPr/>
          <p:nvPr/>
        </p:nvSpPr>
        <p:spPr>
          <a:xfrm>
            <a:off x="6995160" y="1691640"/>
            <a:ext cx="17373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Year 2+</a:t>
            </a:r>
            <a:endParaRPr lang="en-US" sz="800" dirty="0"/>
          </a:p>
        </p:txBody>
      </p:sp>
      <p:sp>
        <p:nvSpPr>
          <p:cNvPr id="30" name="Text 28"/>
          <p:cNvSpPr/>
          <p:nvPr/>
        </p:nvSpPr>
        <p:spPr>
          <a:xfrm>
            <a:off x="6995160" y="1920240"/>
            <a:ext cx="1737360" cy="2743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Expand</a:t>
            </a:r>
            <a:endParaRPr lang="en-US" sz="1800" dirty="0"/>
          </a:p>
        </p:txBody>
      </p:sp>
      <p:sp>
        <p:nvSpPr>
          <p:cNvPr id="31" name="Text 29"/>
          <p:cNvSpPr/>
          <p:nvPr/>
        </p:nvSpPr>
        <p:spPr>
          <a:xfrm>
            <a:off x="6995160" y="2194560"/>
            <a:ext cx="1737360" cy="182880"/>
          </a:xfrm>
          <a:prstGeom prst="rect">
            <a:avLst/>
          </a:prstGeom>
          <a:noFill/>
          <a:ln/>
        </p:spPr>
        <p:txBody>
          <a:bodyPr wrap="square" lIns="0" tIns="0" rIns="0" bIns="0" rtlCol="0" anchor="ctr"/>
          <a:lstStyle/>
          <a:p>
            <a:pPr indent="0" marL="0">
              <a:buNone/>
            </a:pPr>
            <a:r>
              <a:rPr lang="en-US" sz="1000" dirty="0">
                <a:solidFill>
                  <a:srgbClr val="C9A84C"/>
                </a:solidFill>
                <a:latin typeface="Calibri" pitchFamily="34" charset="0"/>
                <a:ea typeface="Calibri" pitchFamily="34" charset="-122"/>
                <a:cs typeface="Calibri" pitchFamily="34" charset="-120"/>
              </a:rPr>
              <a:t>التوسع الخليجي</a:t>
            </a:r>
            <a:endParaRPr lang="en-US" sz="1000" dirty="0"/>
          </a:p>
        </p:txBody>
      </p:sp>
      <p:sp>
        <p:nvSpPr>
          <p:cNvPr id="32" name="Text 30"/>
          <p:cNvSpPr/>
          <p:nvPr/>
        </p:nvSpPr>
        <p:spPr>
          <a:xfrm>
            <a:off x="6995160" y="2514600"/>
            <a:ext cx="1737360" cy="1463040"/>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Gulf Markets (UAE, BH)</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Go Core + AI Platform</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Multi-Standard Engine</a:t>
            </a:r>
            <a:endParaRPr lang="en-US" sz="900" dirty="0"/>
          </a:p>
          <a:p>
            <a:pPr marL="342900" indent="-342900">
              <a:spcAft>
                <a:spcPts val="500"/>
              </a:spcAft>
              <a:buSzPct val="100000"/>
              <a:buChar char="•"/>
            </a:pPr>
            <a:r>
              <a:rPr lang="en-US" sz="900" dirty="0">
                <a:solidFill>
                  <a:srgbClr val="CBD5E1"/>
                </a:solidFill>
                <a:latin typeface="Calibri" pitchFamily="34" charset="0"/>
                <a:ea typeface="Calibri" pitchFamily="34" charset="-122"/>
                <a:cs typeface="Calibri" pitchFamily="34" charset="-120"/>
              </a:rPr>
              <a:t>White-Label SaaS</a:t>
            </a:r>
            <a:endParaRPr lang="en-US" sz="900" dirty="0"/>
          </a:p>
        </p:txBody>
      </p:sp>
      <p:sp>
        <p:nvSpPr>
          <p:cNvPr id="33" name="Text 31"/>
          <p:cNvSpPr/>
          <p:nvPr/>
        </p:nvSpPr>
        <p:spPr>
          <a:xfrm>
            <a:off x="457200" y="4434840"/>
            <a:ext cx="8229600" cy="18288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Language decision: FastAPI → 50k users  ·  Go Core → 500k+ users  |  قرار اللغة: FastAPI حتى 50 ألف ثم Go</a:t>
            </a:r>
            <a:endParaRPr lang="en-US" sz="900" dirty="0"/>
          </a:p>
        </p:txBody>
      </p:sp>
      <p:sp>
        <p:nvSpPr>
          <p:cNvPr id="34" name="Shape 32"/>
          <p:cNvSpPr/>
          <p:nvPr/>
        </p:nvSpPr>
        <p:spPr>
          <a:xfrm>
            <a:off x="0" y="4709160"/>
            <a:ext cx="9144000" cy="434340"/>
          </a:xfrm>
          <a:prstGeom prst="rect">
            <a:avLst/>
          </a:prstGeom>
          <a:solidFill>
            <a:srgbClr val="0A1220"/>
          </a:solidFill>
          <a:ln/>
        </p:spPr>
      </p:sp>
      <p:sp>
        <p:nvSpPr>
          <p:cNvPr id="35" name="Text 3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6" name="Text 3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16 / 19</a:t>
            </a:r>
            <a:endParaRPr lang="en-US" sz="750" dirty="0"/>
          </a:p>
        </p:txBody>
      </p:sp>
      <p:sp>
        <p:nvSpPr>
          <p:cNvPr id="37" name="Text 3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THE ASK  ·  ما نطلبه</a:t>
            </a:r>
            <a:endParaRPr lang="en-US" sz="1100" dirty="0"/>
          </a:p>
        </p:txBody>
      </p:sp>
      <p:sp>
        <p:nvSpPr>
          <p:cNvPr id="4" name="Text 2"/>
          <p:cNvSpPr/>
          <p:nvPr/>
        </p:nvSpPr>
        <p:spPr>
          <a:xfrm>
            <a:off x="457200" y="502920"/>
            <a:ext cx="8229600" cy="10058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Seed Round: SAR 3.75M</a:t>
            </a:r>
            <a:endParaRPr lang="en-US" sz="2800" dirty="0"/>
          </a:p>
          <a:p>
            <a:pPr indent="0" marL="0">
              <a:buNone/>
            </a:pPr>
            <a:r>
              <a:rPr lang="en-US" sz="1800" dirty="0">
                <a:solidFill>
                  <a:srgbClr val="C9A84C"/>
                </a:solidFill>
                <a:latin typeface="Calibri" pitchFamily="34" charset="0"/>
                <a:ea typeface="Calibri" pitchFamily="34" charset="-122"/>
                <a:cs typeface="Calibri" pitchFamily="34" charset="-120"/>
              </a:rPr>
              <a:t>($1M USD Equivalent)</a:t>
            </a:r>
            <a:endParaRPr lang="en-US" sz="2800" dirty="0"/>
          </a:p>
          <a:p>
            <a:pPr indent="0" marL="0">
              <a:buNone/>
            </a:pPr>
            <a:r>
              <a:rPr lang="en-US" sz="1300" dirty="0">
                <a:solidFill>
                  <a:srgbClr val="CBD5E1"/>
                </a:solidFill>
                <a:latin typeface="Calibri" pitchFamily="34" charset="0"/>
                <a:ea typeface="Calibri" pitchFamily="34" charset="-122"/>
                <a:cs typeface="Calibri" pitchFamily="34" charset="-120"/>
              </a:rPr>
              <a:t>جولة تأسيسية: 3.75 مليون ريال</a:t>
            </a:r>
            <a:endParaRPr lang="en-US" sz="2800" dirty="0"/>
          </a:p>
        </p:txBody>
      </p:sp>
      <p:sp>
        <p:nvSpPr>
          <p:cNvPr id="5" name="Text 3"/>
          <p:cNvSpPr/>
          <p:nvPr/>
        </p:nvSpPr>
        <p:spPr>
          <a:xfrm>
            <a:off x="457200" y="1600200"/>
            <a:ext cx="4572000" cy="228600"/>
          </a:xfrm>
          <a:prstGeom prst="rect">
            <a:avLst/>
          </a:prstGeom>
          <a:noFill/>
          <a:ln/>
        </p:spPr>
        <p:txBody>
          <a:bodyPr wrap="square" lIns="0" tIns="0" rIns="0" bIns="0" rtlCol="0" anchor="ctr"/>
          <a:lstStyle/>
          <a:p>
            <a:pPr indent="0" marL="0">
              <a:buNone/>
            </a:pPr>
            <a:r>
              <a:rPr lang="en-US" sz="1000" spc="300" kern="0" dirty="0">
                <a:solidFill>
                  <a:srgbClr val="C9A84C"/>
                </a:solidFill>
                <a:latin typeface="Calibri" pitchFamily="34" charset="0"/>
                <a:ea typeface="Calibri" pitchFamily="34" charset="-122"/>
                <a:cs typeface="Calibri" pitchFamily="34" charset="-120"/>
              </a:rPr>
              <a:t>USE OF FUNDS  ·  توزيع الاستثمار</a:t>
            </a:r>
            <a:endParaRPr lang="en-US" sz="1000" dirty="0"/>
          </a:p>
        </p:txBody>
      </p:sp>
      <p:sp>
        <p:nvSpPr>
          <p:cNvPr id="6" name="Shape 4"/>
          <p:cNvSpPr/>
          <p:nvPr/>
        </p:nvSpPr>
        <p:spPr>
          <a:xfrm>
            <a:off x="457200" y="1920240"/>
            <a:ext cx="8229600" cy="502920"/>
          </a:xfrm>
          <a:prstGeom prst="rect">
            <a:avLst/>
          </a:prstGeom>
          <a:solidFill>
            <a:srgbClr val="1A2E4A"/>
          </a:solidFill>
          <a:ln/>
        </p:spPr>
      </p:sp>
      <p:sp>
        <p:nvSpPr>
          <p:cNvPr id="7" name="Shape 5"/>
          <p:cNvSpPr/>
          <p:nvPr/>
        </p:nvSpPr>
        <p:spPr>
          <a:xfrm>
            <a:off x="457200" y="1920240"/>
            <a:ext cx="45720" cy="502920"/>
          </a:xfrm>
          <a:prstGeom prst="rect">
            <a:avLst/>
          </a:prstGeom>
          <a:solidFill>
            <a:srgbClr val="0891B2"/>
          </a:solidFill>
          <a:ln/>
        </p:spPr>
      </p:sp>
      <p:sp>
        <p:nvSpPr>
          <p:cNvPr id="8" name="Text 6"/>
          <p:cNvSpPr/>
          <p:nvPr/>
        </p:nvSpPr>
        <p:spPr>
          <a:xfrm>
            <a:off x="594360" y="1920240"/>
            <a:ext cx="548640" cy="502920"/>
          </a:xfrm>
          <a:prstGeom prst="rect">
            <a:avLst/>
          </a:prstGeom>
          <a:noFill/>
          <a:ln/>
        </p:spPr>
        <p:txBody>
          <a:bodyPr wrap="square" lIns="0" tIns="0" rIns="0" bIns="0" rtlCol="0" anchor="ctr"/>
          <a:lstStyle/>
          <a:p>
            <a:pPr indent="0" marL="0">
              <a:buNone/>
            </a:pPr>
            <a:r>
              <a:rPr lang="en-US" sz="1800" dirty="0">
                <a:solidFill>
                  <a:srgbClr val="0891B2"/>
                </a:solidFill>
                <a:latin typeface="Arial Black" pitchFamily="34" charset="0"/>
                <a:ea typeface="Arial Black" pitchFamily="34" charset="-122"/>
                <a:cs typeface="Arial Black" pitchFamily="34" charset="-120"/>
              </a:rPr>
              <a:t>40%</a:t>
            </a:r>
            <a:endParaRPr lang="en-US" sz="1800" dirty="0"/>
          </a:p>
        </p:txBody>
      </p:sp>
      <p:sp>
        <p:nvSpPr>
          <p:cNvPr id="9" name="Text 7"/>
          <p:cNvSpPr/>
          <p:nvPr/>
        </p:nvSpPr>
        <p:spPr>
          <a:xfrm>
            <a:off x="1188720" y="194767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Engineering &amp; Product</a:t>
            </a:r>
            <a:endParaRPr lang="en-US" sz="1100" dirty="0"/>
          </a:p>
        </p:txBody>
      </p:sp>
      <p:sp>
        <p:nvSpPr>
          <p:cNvPr id="10" name="Text 8"/>
          <p:cNvSpPr/>
          <p:nvPr/>
        </p:nvSpPr>
        <p:spPr>
          <a:xfrm>
            <a:off x="1188720" y="217627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الهندسة والمنتج</a:t>
            </a:r>
            <a:endParaRPr lang="en-US" sz="900" dirty="0"/>
          </a:p>
        </p:txBody>
      </p:sp>
      <p:sp>
        <p:nvSpPr>
          <p:cNvPr id="11" name="Text 9"/>
          <p:cNvSpPr/>
          <p:nvPr/>
        </p:nvSpPr>
        <p:spPr>
          <a:xfrm>
            <a:off x="3474720" y="192024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1.5M</a:t>
            </a:r>
            <a:endParaRPr lang="en-US" sz="1100" dirty="0"/>
          </a:p>
        </p:txBody>
      </p:sp>
      <p:sp>
        <p:nvSpPr>
          <p:cNvPr id="12" name="Text 10"/>
          <p:cNvSpPr/>
          <p:nvPr/>
        </p:nvSpPr>
        <p:spPr>
          <a:xfrm>
            <a:off x="4754880" y="192024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Hire CTO + 3 engineers. Scale infrastructure.</a:t>
            </a:r>
            <a:endParaRPr lang="en-US" sz="1000" dirty="0"/>
          </a:p>
        </p:txBody>
      </p:sp>
      <p:sp>
        <p:nvSpPr>
          <p:cNvPr id="13" name="Shape 11"/>
          <p:cNvSpPr/>
          <p:nvPr/>
        </p:nvSpPr>
        <p:spPr>
          <a:xfrm>
            <a:off x="457200" y="2514600"/>
            <a:ext cx="8229600" cy="502920"/>
          </a:xfrm>
          <a:prstGeom prst="rect">
            <a:avLst/>
          </a:prstGeom>
          <a:solidFill>
            <a:srgbClr val="1A2E4A"/>
          </a:solidFill>
          <a:ln/>
        </p:spPr>
      </p:sp>
      <p:sp>
        <p:nvSpPr>
          <p:cNvPr id="14" name="Shape 12"/>
          <p:cNvSpPr/>
          <p:nvPr/>
        </p:nvSpPr>
        <p:spPr>
          <a:xfrm>
            <a:off x="457200" y="2514600"/>
            <a:ext cx="45720" cy="502920"/>
          </a:xfrm>
          <a:prstGeom prst="rect">
            <a:avLst/>
          </a:prstGeom>
          <a:solidFill>
            <a:srgbClr val="C9A84C"/>
          </a:solidFill>
          <a:ln/>
        </p:spPr>
      </p:sp>
      <p:sp>
        <p:nvSpPr>
          <p:cNvPr id="15" name="Text 13"/>
          <p:cNvSpPr/>
          <p:nvPr/>
        </p:nvSpPr>
        <p:spPr>
          <a:xfrm>
            <a:off x="594360" y="2514600"/>
            <a:ext cx="548640" cy="502920"/>
          </a:xfrm>
          <a:prstGeom prst="rect">
            <a:avLst/>
          </a:prstGeom>
          <a:noFill/>
          <a:ln/>
        </p:spPr>
        <p:txBody>
          <a:bodyPr wrap="square" lIns="0" tIns="0" rIns="0" bIns="0" rtlCol="0" anchor="ctr"/>
          <a:lstStyle/>
          <a:p>
            <a:pPr indent="0" marL="0">
              <a:buNone/>
            </a:pPr>
            <a:r>
              <a:rPr lang="en-US" sz="1800" dirty="0">
                <a:solidFill>
                  <a:srgbClr val="C9A84C"/>
                </a:solidFill>
                <a:latin typeface="Arial Black" pitchFamily="34" charset="0"/>
                <a:ea typeface="Arial Black" pitchFamily="34" charset="-122"/>
                <a:cs typeface="Arial Black" pitchFamily="34" charset="-120"/>
              </a:rPr>
              <a:t>30%</a:t>
            </a:r>
            <a:endParaRPr lang="en-US" sz="1800" dirty="0"/>
          </a:p>
        </p:txBody>
      </p:sp>
      <p:sp>
        <p:nvSpPr>
          <p:cNvPr id="16" name="Text 14"/>
          <p:cNvSpPr/>
          <p:nvPr/>
        </p:nvSpPr>
        <p:spPr>
          <a:xfrm>
            <a:off x="1188720" y="254203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Sales &amp; Marketing</a:t>
            </a:r>
            <a:endParaRPr lang="en-US" sz="1100" dirty="0"/>
          </a:p>
        </p:txBody>
      </p:sp>
      <p:sp>
        <p:nvSpPr>
          <p:cNvPr id="17" name="Text 15"/>
          <p:cNvSpPr/>
          <p:nvPr/>
        </p:nvSpPr>
        <p:spPr>
          <a:xfrm>
            <a:off x="1188720" y="277063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المبيعات والتسويق</a:t>
            </a:r>
            <a:endParaRPr lang="en-US" sz="900" dirty="0"/>
          </a:p>
        </p:txBody>
      </p:sp>
      <p:sp>
        <p:nvSpPr>
          <p:cNvPr id="18" name="Text 16"/>
          <p:cNvSpPr/>
          <p:nvPr/>
        </p:nvSpPr>
        <p:spPr>
          <a:xfrm>
            <a:off x="3474720" y="251460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1.12M</a:t>
            </a:r>
            <a:endParaRPr lang="en-US" sz="1100" dirty="0"/>
          </a:p>
        </p:txBody>
      </p:sp>
      <p:sp>
        <p:nvSpPr>
          <p:cNvPr id="19" name="Text 17"/>
          <p:cNvSpPr/>
          <p:nvPr/>
        </p:nvSpPr>
        <p:spPr>
          <a:xfrm>
            <a:off x="4754880" y="251460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Go-to-market team. Digital campaigns. Events.</a:t>
            </a:r>
            <a:endParaRPr lang="en-US" sz="1000" dirty="0"/>
          </a:p>
        </p:txBody>
      </p:sp>
      <p:sp>
        <p:nvSpPr>
          <p:cNvPr id="20" name="Shape 18"/>
          <p:cNvSpPr/>
          <p:nvPr/>
        </p:nvSpPr>
        <p:spPr>
          <a:xfrm>
            <a:off x="457200" y="3108960"/>
            <a:ext cx="8229600" cy="502920"/>
          </a:xfrm>
          <a:prstGeom prst="rect">
            <a:avLst/>
          </a:prstGeom>
          <a:solidFill>
            <a:srgbClr val="1A2E4A"/>
          </a:solidFill>
          <a:ln/>
        </p:spPr>
      </p:sp>
      <p:sp>
        <p:nvSpPr>
          <p:cNvPr id="21" name="Shape 19"/>
          <p:cNvSpPr/>
          <p:nvPr/>
        </p:nvSpPr>
        <p:spPr>
          <a:xfrm>
            <a:off x="457200" y="3108960"/>
            <a:ext cx="45720" cy="502920"/>
          </a:xfrm>
          <a:prstGeom prst="rect">
            <a:avLst/>
          </a:prstGeom>
          <a:solidFill>
            <a:srgbClr val="10B981"/>
          </a:solidFill>
          <a:ln/>
        </p:spPr>
      </p:sp>
      <p:sp>
        <p:nvSpPr>
          <p:cNvPr id="22" name="Text 20"/>
          <p:cNvSpPr/>
          <p:nvPr/>
        </p:nvSpPr>
        <p:spPr>
          <a:xfrm>
            <a:off x="594360" y="3108960"/>
            <a:ext cx="548640" cy="502920"/>
          </a:xfrm>
          <a:prstGeom prst="rect">
            <a:avLst/>
          </a:prstGeom>
          <a:noFill/>
          <a:ln/>
        </p:spPr>
        <p:txBody>
          <a:bodyPr wrap="square" lIns="0" tIns="0" rIns="0" bIns="0" rtlCol="0" anchor="ctr"/>
          <a:lstStyle/>
          <a:p>
            <a:pPr indent="0" marL="0">
              <a:buNone/>
            </a:pPr>
            <a:r>
              <a:rPr lang="en-US" sz="1800" dirty="0">
                <a:solidFill>
                  <a:srgbClr val="10B981"/>
                </a:solidFill>
                <a:latin typeface="Arial Black" pitchFamily="34" charset="0"/>
                <a:ea typeface="Arial Black" pitchFamily="34" charset="-122"/>
                <a:cs typeface="Arial Black" pitchFamily="34" charset="-120"/>
              </a:rPr>
              <a:t>15%</a:t>
            </a:r>
            <a:endParaRPr lang="en-US" sz="1800" dirty="0"/>
          </a:p>
        </p:txBody>
      </p:sp>
      <p:sp>
        <p:nvSpPr>
          <p:cNvPr id="23" name="Text 21"/>
          <p:cNvSpPr/>
          <p:nvPr/>
        </p:nvSpPr>
        <p:spPr>
          <a:xfrm>
            <a:off x="1188720" y="313639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Operations &amp; Legal</a:t>
            </a:r>
            <a:endParaRPr lang="en-US" sz="1100" dirty="0"/>
          </a:p>
        </p:txBody>
      </p:sp>
      <p:sp>
        <p:nvSpPr>
          <p:cNvPr id="24" name="Text 22"/>
          <p:cNvSpPr/>
          <p:nvPr/>
        </p:nvSpPr>
        <p:spPr>
          <a:xfrm>
            <a:off x="1188720" y="336499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العمليات والقانونية</a:t>
            </a:r>
            <a:endParaRPr lang="en-US" sz="900" dirty="0"/>
          </a:p>
        </p:txBody>
      </p:sp>
      <p:sp>
        <p:nvSpPr>
          <p:cNvPr id="25" name="Text 23"/>
          <p:cNvSpPr/>
          <p:nvPr/>
        </p:nvSpPr>
        <p:spPr>
          <a:xfrm>
            <a:off x="3474720" y="310896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562K</a:t>
            </a:r>
            <a:endParaRPr lang="en-US" sz="1100" dirty="0"/>
          </a:p>
        </p:txBody>
      </p:sp>
      <p:sp>
        <p:nvSpPr>
          <p:cNvPr id="26" name="Text 24"/>
          <p:cNvSpPr/>
          <p:nvPr/>
        </p:nvSpPr>
        <p:spPr>
          <a:xfrm>
            <a:off x="4754880" y="310896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SAMA sandbox. SOC 2. Legal framework.</a:t>
            </a:r>
            <a:endParaRPr lang="en-US" sz="1000" dirty="0"/>
          </a:p>
        </p:txBody>
      </p:sp>
      <p:sp>
        <p:nvSpPr>
          <p:cNvPr id="27" name="Shape 25"/>
          <p:cNvSpPr/>
          <p:nvPr/>
        </p:nvSpPr>
        <p:spPr>
          <a:xfrm>
            <a:off x="457200" y="3703320"/>
            <a:ext cx="8229600" cy="502920"/>
          </a:xfrm>
          <a:prstGeom prst="rect">
            <a:avLst/>
          </a:prstGeom>
          <a:solidFill>
            <a:srgbClr val="1A2E4A"/>
          </a:solidFill>
          <a:ln/>
        </p:spPr>
      </p:sp>
      <p:sp>
        <p:nvSpPr>
          <p:cNvPr id="28" name="Shape 26"/>
          <p:cNvSpPr/>
          <p:nvPr/>
        </p:nvSpPr>
        <p:spPr>
          <a:xfrm>
            <a:off x="457200" y="3703320"/>
            <a:ext cx="45720" cy="502920"/>
          </a:xfrm>
          <a:prstGeom prst="rect">
            <a:avLst/>
          </a:prstGeom>
          <a:solidFill>
            <a:srgbClr val="64748B"/>
          </a:solidFill>
          <a:ln/>
        </p:spPr>
      </p:sp>
      <p:sp>
        <p:nvSpPr>
          <p:cNvPr id="29" name="Text 27"/>
          <p:cNvSpPr/>
          <p:nvPr/>
        </p:nvSpPr>
        <p:spPr>
          <a:xfrm>
            <a:off x="594360" y="3703320"/>
            <a:ext cx="548640" cy="502920"/>
          </a:xfrm>
          <a:prstGeom prst="rect">
            <a:avLst/>
          </a:prstGeom>
          <a:noFill/>
          <a:ln/>
        </p:spPr>
        <p:txBody>
          <a:bodyPr wrap="square" lIns="0" tIns="0" rIns="0" bIns="0" rtlCol="0" anchor="ctr"/>
          <a:lstStyle/>
          <a:p>
            <a:pPr indent="0" marL="0">
              <a:buNone/>
            </a:pPr>
            <a:r>
              <a:rPr lang="en-US" sz="1800" dirty="0">
                <a:solidFill>
                  <a:srgbClr val="64748B"/>
                </a:solidFill>
                <a:latin typeface="Arial Black" pitchFamily="34" charset="0"/>
                <a:ea typeface="Arial Black" pitchFamily="34" charset="-122"/>
                <a:cs typeface="Arial Black" pitchFamily="34" charset="-120"/>
              </a:rPr>
              <a:t>15%</a:t>
            </a:r>
            <a:endParaRPr lang="en-US" sz="1800" dirty="0"/>
          </a:p>
        </p:txBody>
      </p:sp>
      <p:sp>
        <p:nvSpPr>
          <p:cNvPr id="30" name="Text 28"/>
          <p:cNvSpPr/>
          <p:nvPr/>
        </p:nvSpPr>
        <p:spPr>
          <a:xfrm>
            <a:off x="1188720" y="3730752"/>
            <a:ext cx="228600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Reserve &amp; Contingency</a:t>
            </a:r>
            <a:endParaRPr lang="en-US" sz="1100" dirty="0"/>
          </a:p>
        </p:txBody>
      </p:sp>
      <p:sp>
        <p:nvSpPr>
          <p:cNvPr id="31" name="Text 29"/>
          <p:cNvSpPr/>
          <p:nvPr/>
        </p:nvSpPr>
        <p:spPr>
          <a:xfrm>
            <a:off x="1188720" y="3959352"/>
            <a:ext cx="2286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الاحتياطي</a:t>
            </a:r>
            <a:endParaRPr lang="en-US" sz="900" dirty="0"/>
          </a:p>
        </p:txBody>
      </p:sp>
      <p:sp>
        <p:nvSpPr>
          <p:cNvPr id="32" name="Text 30"/>
          <p:cNvSpPr/>
          <p:nvPr/>
        </p:nvSpPr>
        <p:spPr>
          <a:xfrm>
            <a:off x="3474720" y="3703320"/>
            <a:ext cx="1188720" cy="502920"/>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SAR 562K</a:t>
            </a:r>
            <a:endParaRPr lang="en-US" sz="1100" dirty="0"/>
          </a:p>
        </p:txBody>
      </p:sp>
      <p:sp>
        <p:nvSpPr>
          <p:cNvPr id="33" name="Text 31"/>
          <p:cNvSpPr/>
          <p:nvPr/>
        </p:nvSpPr>
        <p:spPr>
          <a:xfrm>
            <a:off x="4754880" y="3703320"/>
            <a:ext cx="3749040" cy="5029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12-month runway buffer. Opportunity fund.</a:t>
            </a:r>
            <a:endParaRPr lang="en-US" sz="1000" dirty="0"/>
          </a:p>
        </p:txBody>
      </p:sp>
      <p:sp>
        <p:nvSpPr>
          <p:cNvPr id="34" name="Shape 32"/>
          <p:cNvSpPr/>
          <p:nvPr/>
        </p:nvSpPr>
        <p:spPr>
          <a:xfrm>
            <a:off x="457200" y="4343400"/>
            <a:ext cx="8229600" cy="320040"/>
          </a:xfrm>
          <a:prstGeom prst="rect">
            <a:avLst/>
          </a:prstGeom>
          <a:solidFill>
            <a:srgbClr val="162940"/>
          </a:solidFill>
          <a:ln/>
        </p:spPr>
      </p:sp>
      <p:sp>
        <p:nvSpPr>
          <p:cNvPr id="35" name="Text 33"/>
          <p:cNvSpPr/>
          <p:nvPr/>
        </p:nvSpPr>
        <p:spPr>
          <a:xfrm>
            <a:off x="457200" y="4343400"/>
            <a:ext cx="8229600" cy="320040"/>
          </a:xfrm>
          <a:prstGeom prst="rect">
            <a:avLst/>
          </a:prstGeom>
          <a:noFill/>
          <a:ln/>
        </p:spPr>
        <p:txBody>
          <a:bodyPr wrap="square" lIns="0" tIns="0" rIns="0" bIns="0" rtlCol="0" anchor="ctr"/>
          <a:lstStyle/>
          <a:p>
            <a:pPr algn="ctr" indent="0" marL="0">
              <a:buNone/>
            </a:pPr>
            <a:r>
              <a:rPr lang="en-US" sz="1000" b="1" dirty="0">
                <a:solidFill>
                  <a:srgbClr val="C9A84C"/>
                </a:solidFill>
                <a:latin typeface="Calibri" pitchFamily="34" charset="0"/>
                <a:ea typeface="Calibri" pitchFamily="34" charset="-122"/>
                <a:cs typeface="Calibri" pitchFamily="34" charset="-120"/>
              </a:rPr>
              <a:t>18-mo target: 500 clients · SAR 5.4M ARR · Break-even  |  الهدف: 500 عميل · 5.4 مليون إيرادات سنوية · نقطة التعادل</a:t>
            </a:r>
            <a:endParaRPr lang="en-US" sz="1000" dirty="0"/>
          </a:p>
        </p:txBody>
      </p:sp>
      <p:sp>
        <p:nvSpPr>
          <p:cNvPr id="36" name="Shape 34"/>
          <p:cNvSpPr/>
          <p:nvPr/>
        </p:nvSpPr>
        <p:spPr>
          <a:xfrm>
            <a:off x="0" y="4709160"/>
            <a:ext cx="9144000" cy="434340"/>
          </a:xfrm>
          <a:prstGeom prst="rect">
            <a:avLst/>
          </a:prstGeom>
          <a:solidFill>
            <a:srgbClr val="0A1220"/>
          </a:solidFill>
          <a:ln/>
        </p:spPr>
      </p:sp>
      <p:sp>
        <p:nvSpPr>
          <p:cNvPr id="37" name="Text 35"/>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38" name="Text 36"/>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17 / 19</a:t>
            </a:r>
            <a:endParaRPr lang="en-US" sz="750" dirty="0"/>
          </a:p>
        </p:txBody>
      </p:sp>
      <p:sp>
        <p:nvSpPr>
          <p:cNvPr id="39" name="Text 37"/>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Shape 1"/>
          <p:cNvSpPr/>
          <p:nvPr/>
        </p:nvSpPr>
        <p:spPr>
          <a:xfrm>
            <a:off x="2743200" y="457200"/>
            <a:ext cx="5029200" cy="5029200"/>
          </a:xfrm>
          <a:prstGeom prst="ellipse">
            <a:avLst/>
          </a:prstGeom>
          <a:solidFill>
            <a:srgbClr val="1C3254">
              <a:alpha val="40000"/>
            </a:srgbClr>
          </a:solidFill>
          <a:ln/>
        </p:spPr>
      </p:sp>
      <p:sp>
        <p:nvSpPr>
          <p:cNvPr id="4" name="Shape 2"/>
          <p:cNvSpPr/>
          <p:nvPr/>
        </p:nvSpPr>
        <p:spPr>
          <a:xfrm>
            <a:off x="3200400" y="731520"/>
            <a:ext cx="4114800" cy="4114800"/>
          </a:xfrm>
          <a:prstGeom prst="ellipse">
            <a:avLst/>
          </a:prstGeom>
          <a:solidFill>
            <a:srgbClr val="162940">
              <a:alpha val="60000"/>
            </a:srgbClr>
          </a:solidFill>
          <a:ln/>
        </p:spPr>
      </p:sp>
      <p:sp>
        <p:nvSpPr>
          <p:cNvPr id="5" name="Text 3"/>
          <p:cNvSpPr/>
          <p:nvPr/>
        </p:nvSpPr>
        <p:spPr>
          <a:xfrm>
            <a:off x="457200" y="731520"/>
            <a:ext cx="8229600" cy="914400"/>
          </a:xfrm>
          <a:prstGeom prst="rect">
            <a:avLst/>
          </a:prstGeom>
          <a:noFill/>
          <a:ln/>
        </p:spPr>
        <p:txBody>
          <a:bodyPr wrap="square" lIns="0" tIns="0" rIns="0" bIns="0" rtlCol="0" anchor="ctr"/>
          <a:lstStyle/>
          <a:p>
            <a:pPr algn="ctr" indent="0" marL="0">
              <a:buNone/>
            </a:pPr>
            <a:r>
              <a:rPr lang="en-US" sz="7200" dirty="0">
                <a:solidFill>
                  <a:srgbClr val="FFFFFF"/>
                </a:solidFill>
                <a:latin typeface="Arial Black" pitchFamily="34" charset="0"/>
                <a:ea typeface="Arial Black" pitchFamily="34" charset="-122"/>
                <a:cs typeface="Arial Black" pitchFamily="34" charset="-120"/>
              </a:rPr>
              <a:t>APEX</a:t>
            </a:r>
            <a:endParaRPr lang="en-US" sz="7200" dirty="0"/>
          </a:p>
        </p:txBody>
      </p:sp>
      <p:sp>
        <p:nvSpPr>
          <p:cNvPr id="6" name="Shape 4"/>
          <p:cNvSpPr/>
          <p:nvPr/>
        </p:nvSpPr>
        <p:spPr>
          <a:xfrm>
            <a:off x="3200400" y="1691640"/>
            <a:ext cx="2743200" cy="36576"/>
          </a:xfrm>
          <a:prstGeom prst="rect">
            <a:avLst/>
          </a:prstGeom>
          <a:solidFill>
            <a:srgbClr val="C9A84C"/>
          </a:solidFill>
          <a:ln/>
        </p:spPr>
      </p:sp>
      <p:sp>
        <p:nvSpPr>
          <p:cNvPr id="7" name="Text 5"/>
          <p:cNvSpPr/>
          <p:nvPr/>
        </p:nvSpPr>
        <p:spPr>
          <a:xfrm>
            <a:off x="914400" y="1920240"/>
            <a:ext cx="7315200" cy="411480"/>
          </a:xfrm>
          <a:prstGeom prst="rect">
            <a:avLst/>
          </a:prstGeom>
          <a:noFill/>
          <a:ln/>
        </p:spPr>
        <p:txBody>
          <a:bodyPr wrap="square" lIns="0" tIns="0" rIns="0" bIns="0" rtlCol="0" anchor="ctr"/>
          <a:lstStyle/>
          <a:p>
            <a:pPr algn="ctr" indent="0" marL="0">
              <a:buNone/>
            </a:pPr>
            <a:r>
              <a:rPr lang="en-US" sz="2000" dirty="0">
                <a:solidFill>
                  <a:srgbClr val="CBD5E1"/>
                </a:solidFill>
                <a:latin typeface="Calibri" pitchFamily="34" charset="0"/>
                <a:ea typeface="Calibri" pitchFamily="34" charset="-122"/>
                <a:cs typeface="Calibri" pitchFamily="34" charset="-120"/>
              </a:rPr>
              <a:t>The Future of Financial Intelligence is Already Built.</a:t>
            </a:r>
            <a:endParaRPr lang="en-US" sz="2000" dirty="0"/>
          </a:p>
        </p:txBody>
      </p:sp>
      <p:sp>
        <p:nvSpPr>
          <p:cNvPr id="8" name="Text 6"/>
          <p:cNvSpPr/>
          <p:nvPr/>
        </p:nvSpPr>
        <p:spPr>
          <a:xfrm>
            <a:off x="914400" y="2331720"/>
            <a:ext cx="7315200" cy="365760"/>
          </a:xfrm>
          <a:prstGeom prst="rect">
            <a:avLst/>
          </a:prstGeom>
          <a:noFill/>
          <a:ln/>
        </p:spPr>
        <p:txBody>
          <a:bodyPr wrap="square" lIns="0" tIns="0" rIns="0" bIns="0" rtlCol="0" anchor="ctr"/>
          <a:lstStyle/>
          <a:p>
            <a:pPr algn="ctr" indent="0" marL="0">
              <a:buNone/>
            </a:pPr>
            <a:r>
              <a:rPr lang="en-US" sz="1800" dirty="0">
                <a:solidFill>
                  <a:srgbClr val="C9A84C"/>
                </a:solidFill>
                <a:latin typeface="Calibri" pitchFamily="34" charset="0"/>
                <a:ea typeface="Calibri" pitchFamily="34" charset="-122"/>
                <a:cs typeface="Calibri" pitchFamily="34" charset="-120"/>
              </a:rPr>
              <a:t>مستقبل الذكاء المالي مبنيٌّ بالفعل.</a:t>
            </a:r>
            <a:endParaRPr lang="en-US" sz="1800" dirty="0"/>
          </a:p>
        </p:txBody>
      </p:sp>
      <p:sp>
        <p:nvSpPr>
          <p:cNvPr id="9" name="Text 7"/>
          <p:cNvSpPr/>
          <p:nvPr/>
        </p:nvSpPr>
        <p:spPr>
          <a:xfrm>
            <a:off x="914400" y="2743200"/>
            <a:ext cx="7315200" cy="274320"/>
          </a:xfrm>
          <a:prstGeom prst="rect">
            <a:avLst/>
          </a:prstGeom>
          <a:noFill/>
          <a:ln/>
        </p:spPr>
        <p:txBody>
          <a:bodyPr wrap="square" lIns="0" tIns="0" rIns="0" bIns="0" rtlCol="0" anchor="ctr"/>
          <a:lstStyle/>
          <a:p>
            <a:pPr algn="ctr" indent="0" marL="0">
              <a:buNone/>
            </a:pPr>
            <a:r>
              <a:rPr lang="en-US" sz="1400" b="1" i="1" dirty="0">
                <a:solidFill>
                  <a:srgbClr val="0891B2"/>
                </a:solidFill>
                <a:latin typeface="Calibri" pitchFamily="34" charset="0"/>
                <a:ea typeface="Calibri" pitchFamily="34" charset="-122"/>
                <a:cs typeface="Calibri" pitchFamily="34" charset="-120"/>
              </a:rPr>
              <a:t>Ready for your first client.  ·  جاهز لأول عميل.</a:t>
            </a:r>
            <a:endParaRPr lang="en-US" sz="1400" dirty="0"/>
          </a:p>
        </p:txBody>
      </p:sp>
      <p:sp>
        <p:nvSpPr>
          <p:cNvPr id="10" name="Shape 8"/>
          <p:cNvSpPr/>
          <p:nvPr/>
        </p:nvSpPr>
        <p:spPr>
          <a:xfrm>
            <a:off x="457200" y="324612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1" name="Shape 9"/>
          <p:cNvSpPr/>
          <p:nvPr/>
        </p:nvSpPr>
        <p:spPr>
          <a:xfrm>
            <a:off x="457200" y="3246120"/>
            <a:ext cx="45720" cy="640080"/>
          </a:xfrm>
          <a:prstGeom prst="rect">
            <a:avLst/>
          </a:prstGeom>
          <a:solidFill>
            <a:srgbClr val="C9A84C"/>
          </a:solidFill>
          <a:ln/>
        </p:spPr>
      </p:sp>
      <p:sp>
        <p:nvSpPr>
          <p:cNvPr id="12" name="Text 10"/>
          <p:cNvSpPr/>
          <p:nvPr/>
        </p:nvSpPr>
        <p:spPr>
          <a:xfrm>
            <a:off x="59436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apex-api-ootk.onrender.com</a:t>
            </a:r>
            <a:endParaRPr lang="en-US" sz="950" dirty="0"/>
          </a:p>
        </p:txBody>
      </p:sp>
      <p:sp>
        <p:nvSpPr>
          <p:cNvPr id="13" name="Text 11"/>
          <p:cNvSpPr/>
          <p:nvPr/>
        </p:nvSpPr>
        <p:spPr>
          <a:xfrm>
            <a:off x="59436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الموقع الإلكتروني</a:t>
            </a:r>
            <a:endParaRPr lang="en-US" sz="850" dirty="0"/>
          </a:p>
        </p:txBody>
      </p:sp>
      <p:sp>
        <p:nvSpPr>
          <p:cNvPr id="14" name="Shape 12"/>
          <p:cNvSpPr/>
          <p:nvPr/>
        </p:nvSpPr>
        <p:spPr>
          <a:xfrm>
            <a:off x="2926080" y="324612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5" name="Shape 13"/>
          <p:cNvSpPr/>
          <p:nvPr/>
        </p:nvSpPr>
        <p:spPr>
          <a:xfrm>
            <a:off x="2926080" y="3246120"/>
            <a:ext cx="45720" cy="640080"/>
          </a:xfrm>
          <a:prstGeom prst="rect">
            <a:avLst/>
          </a:prstGeom>
          <a:solidFill>
            <a:srgbClr val="C9A84C"/>
          </a:solidFill>
          <a:ln/>
        </p:spPr>
      </p:sp>
      <p:sp>
        <p:nvSpPr>
          <p:cNvPr id="16" name="Text 14"/>
          <p:cNvSpPr/>
          <p:nvPr/>
        </p:nvSpPr>
        <p:spPr>
          <a:xfrm>
            <a:off x="306324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Jeddah, Saudi Arabia</a:t>
            </a:r>
            <a:endParaRPr lang="en-US" sz="950" dirty="0"/>
          </a:p>
        </p:txBody>
      </p:sp>
      <p:sp>
        <p:nvSpPr>
          <p:cNvPr id="17" name="Text 15"/>
          <p:cNvSpPr/>
          <p:nvPr/>
        </p:nvSpPr>
        <p:spPr>
          <a:xfrm>
            <a:off x="306324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جدة، المملكة العربية السعودية</a:t>
            </a:r>
            <a:endParaRPr lang="en-US" sz="850" dirty="0"/>
          </a:p>
        </p:txBody>
      </p:sp>
      <p:sp>
        <p:nvSpPr>
          <p:cNvPr id="18" name="Shape 16"/>
          <p:cNvSpPr/>
          <p:nvPr/>
        </p:nvSpPr>
        <p:spPr>
          <a:xfrm>
            <a:off x="5394960" y="3246120"/>
            <a:ext cx="2240280" cy="64008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9" name="Shape 17"/>
          <p:cNvSpPr/>
          <p:nvPr/>
        </p:nvSpPr>
        <p:spPr>
          <a:xfrm>
            <a:off x="5394960" y="3246120"/>
            <a:ext cx="45720" cy="640080"/>
          </a:xfrm>
          <a:prstGeom prst="rect">
            <a:avLst/>
          </a:prstGeom>
          <a:solidFill>
            <a:srgbClr val="C9A84C"/>
          </a:solidFill>
          <a:ln/>
        </p:spPr>
      </p:sp>
      <p:sp>
        <p:nvSpPr>
          <p:cNvPr id="20" name="Text 18"/>
          <p:cNvSpPr/>
          <p:nvPr/>
        </p:nvSpPr>
        <p:spPr>
          <a:xfrm>
            <a:off x="5532120" y="3264408"/>
            <a:ext cx="1965960" cy="32004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2026 · Ready Now</a:t>
            </a:r>
            <a:endParaRPr lang="en-US" sz="950" dirty="0"/>
          </a:p>
        </p:txBody>
      </p:sp>
      <p:sp>
        <p:nvSpPr>
          <p:cNvPr id="21" name="Text 19"/>
          <p:cNvSpPr/>
          <p:nvPr/>
        </p:nvSpPr>
        <p:spPr>
          <a:xfrm>
            <a:off x="5532120" y="3584448"/>
            <a:ext cx="1965960" cy="22860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جاهز الآن · 2026</a:t>
            </a:r>
            <a:endParaRPr lang="en-US" sz="850" dirty="0"/>
          </a:p>
        </p:txBody>
      </p:sp>
      <p:sp>
        <p:nvSpPr>
          <p:cNvPr id="22" name="Shape 20"/>
          <p:cNvSpPr/>
          <p:nvPr/>
        </p:nvSpPr>
        <p:spPr>
          <a:xfrm>
            <a:off x="7863840" y="3246120"/>
            <a:ext cx="822960" cy="822960"/>
          </a:xfrm>
          <a:prstGeom prst="rect">
            <a:avLst/>
          </a:prstGeom>
          <a:solidFill>
            <a:srgbClr val="FFFFFF"/>
          </a:solidFill>
          <a:ln/>
        </p:spPr>
      </p:sp>
      <p:pic>
        <p:nvPicPr>
          <p:cNvPr id="23" name="Image 0" descr="/sessions/festive-vibrant-feynman/qr_code.png">    </p:cNvPr>
          <p:cNvPicPr>
            <a:picLocks noChangeAspect="1"/>
          </p:cNvPicPr>
          <p:nvPr/>
        </p:nvPicPr>
        <p:blipFill>
          <a:blip r:embed="rId1"/>
          <a:stretch>
            <a:fillRect/>
          </a:stretch>
        </p:blipFill>
        <p:spPr>
          <a:xfrm>
            <a:off x="7909560" y="3291840"/>
            <a:ext cx="731520" cy="731520"/>
          </a:xfrm>
          <a:prstGeom prst="rect">
            <a:avLst/>
          </a:prstGeom>
        </p:spPr>
      </p:pic>
      <p:sp>
        <p:nvSpPr>
          <p:cNvPr id="24" name="Text 21"/>
          <p:cNvSpPr/>
          <p:nvPr/>
        </p:nvSpPr>
        <p:spPr>
          <a:xfrm>
            <a:off x="7680960" y="4069080"/>
            <a:ext cx="1188720" cy="137160"/>
          </a:xfrm>
          <a:prstGeom prst="rect">
            <a:avLst/>
          </a:prstGeom>
          <a:noFill/>
          <a:ln/>
        </p:spPr>
        <p:txBody>
          <a:bodyPr wrap="square" lIns="0" tIns="0" rIns="0" bIns="0" rtlCol="0" anchor="ctr"/>
          <a:lstStyle/>
          <a:p>
            <a:pPr algn="ctr" indent="0" marL="0">
              <a:buNone/>
            </a:pPr>
            <a:r>
              <a:rPr lang="en-US" sz="650" dirty="0">
                <a:solidFill>
                  <a:srgbClr val="64748B"/>
                </a:solidFill>
                <a:latin typeface="Calibri" pitchFamily="34" charset="0"/>
                <a:ea typeface="Calibri" pitchFamily="34" charset="-122"/>
                <a:cs typeface="Calibri" pitchFamily="34" charset="-120"/>
              </a:rPr>
              <a:t>Scan to Visit</a:t>
            </a:r>
            <a:endParaRPr lang="en-US" sz="650" dirty="0"/>
          </a:p>
        </p:txBody>
      </p:sp>
      <p:sp>
        <p:nvSpPr>
          <p:cNvPr id="25" name="Shape 22"/>
          <p:cNvSpPr/>
          <p:nvPr/>
        </p:nvSpPr>
        <p:spPr>
          <a:xfrm>
            <a:off x="0" y="4709160"/>
            <a:ext cx="9144000" cy="434340"/>
          </a:xfrm>
          <a:prstGeom prst="rect">
            <a:avLst/>
          </a:prstGeom>
          <a:solidFill>
            <a:srgbClr val="0A1220"/>
          </a:solidFill>
          <a:ln/>
        </p:spPr>
      </p:sp>
      <p:sp>
        <p:nvSpPr>
          <p:cNvPr id="26" name="Text 23"/>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27" name="Text 24"/>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18 / 19</a:t>
            </a:r>
            <a:endParaRPr lang="en-US" sz="750" dirty="0"/>
          </a:p>
        </p:txBody>
      </p:sp>
      <p:sp>
        <p:nvSpPr>
          <p:cNvPr id="28" name="Text 25"/>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4748B"/>
          </a:solidFill>
          <a:ln/>
        </p:spPr>
      </p:sp>
      <p:sp>
        <p:nvSpPr>
          <p:cNvPr id="3" name="Text 1"/>
          <p:cNvSpPr/>
          <p:nvPr/>
        </p:nvSpPr>
        <p:spPr>
          <a:xfrm>
            <a:off x="457200" y="182880"/>
            <a:ext cx="5486400" cy="320040"/>
          </a:xfrm>
          <a:prstGeom prst="rect">
            <a:avLst/>
          </a:prstGeom>
          <a:noFill/>
          <a:ln/>
        </p:spPr>
        <p:txBody>
          <a:bodyPr wrap="square" lIns="0" tIns="0" rIns="0" bIns="0" rtlCol="0" anchor="ctr"/>
          <a:lstStyle/>
          <a:p>
            <a:pPr indent="0" marL="0">
              <a:buNone/>
            </a:pPr>
            <a:r>
              <a:rPr lang="en-US" sz="1100" spc="400" kern="0" dirty="0">
                <a:solidFill>
                  <a:srgbClr val="C9A84C"/>
                </a:solidFill>
                <a:latin typeface="Calibri" pitchFamily="34" charset="0"/>
                <a:ea typeface="Calibri" pitchFamily="34" charset="-122"/>
                <a:cs typeface="Calibri" pitchFamily="34" charset="-120"/>
              </a:rPr>
              <a:t>APPENDIX  ·  الملاحق</a:t>
            </a:r>
            <a:endParaRPr lang="en-US" sz="11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Technical Deep Dive &amp; Market Data</a:t>
            </a:r>
            <a:endParaRPr lang="en-US" sz="2400" dirty="0"/>
          </a:p>
          <a:p>
            <a:pPr indent="0" marL="0">
              <a:buNone/>
            </a:pPr>
            <a:r>
              <a:rPr lang="en-US" sz="1200" dirty="0">
                <a:solidFill>
                  <a:srgbClr val="C9A84C"/>
                </a:solidFill>
                <a:latin typeface="Calibri" pitchFamily="34" charset="0"/>
                <a:ea typeface="Calibri" pitchFamily="34" charset="-122"/>
                <a:cs typeface="Calibri" pitchFamily="34" charset="-120"/>
              </a:rPr>
              <a:t>تفاصيل تقنية وبيانات السوق — للأسئلة التفصيلية</a:t>
            </a:r>
            <a:endParaRPr lang="en-US" sz="2400" dirty="0"/>
          </a:p>
        </p:txBody>
      </p:sp>
      <p:sp>
        <p:nvSpPr>
          <p:cNvPr id="5" name="Text 3"/>
          <p:cNvSpPr/>
          <p:nvPr/>
        </p:nvSpPr>
        <p:spPr>
          <a:xfrm>
            <a:off x="457200" y="1234440"/>
            <a:ext cx="4572000" cy="228600"/>
          </a:xfrm>
          <a:prstGeom prst="rect">
            <a:avLst/>
          </a:prstGeom>
          <a:noFill/>
          <a:ln/>
        </p:spPr>
        <p:txBody>
          <a:bodyPr wrap="square" lIns="0" tIns="0" rIns="0" bIns="0" rtlCol="0" anchor="ctr"/>
          <a:lstStyle/>
          <a:p>
            <a:pPr indent="0" marL="0">
              <a:buNone/>
            </a:pPr>
            <a:r>
              <a:rPr lang="en-US" sz="1000" b="1" spc="300" kern="0" dirty="0">
                <a:solidFill>
                  <a:srgbClr val="C9A84C"/>
                </a:solidFill>
                <a:latin typeface="Calibri" pitchFamily="34" charset="0"/>
                <a:ea typeface="Calibri" pitchFamily="34" charset="-122"/>
                <a:cs typeface="Calibri" pitchFamily="34" charset="-120"/>
              </a:rPr>
              <a:t>TAM / SAM / SOM  ·  حجم السوق</a:t>
            </a:r>
            <a:endParaRPr lang="en-US" sz="1000" dirty="0"/>
          </a:p>
        </p:txBody>
      </p:sp>
      <p:sp>
        <p:nvSpPr>
          <p:cNvPr id="6" name="Shape 4"/>
          <p:cNvSpPr/>
          <p:nvPr/>
        </p:nvSpPr>
        <p:spPr>
          <a:xfrm>
            <a:off x="457200" y="1554480"/>
            <a:ext cx="8229600" cy="4572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554480"/>
            <a:ext cx="8229600" cy="36576"/>
          </a:xfrm>
          <a:prstGeom prst="rect">
            <a:avLst/>
          </a:prstGeom>
          <a:solidFill>
            <a:srgbClr val="C9A84C"/>
          </a:solidFill>
          <a:ln/>
        </p:spPr>
      </p:sp>
      <p:sp>
        <p:nvSpPr>
          <p:cNvPr id="8" name="Text 6"/>
          <p:cNvSpPr/>
          <p:nvPr/>
        </p:nvSpPr>
        <p:spPr>
          <a:xfrm>
            <a:off x="594360" y="1627632"/>
            <a:ext cx="548640" cy="320040"/>
          </a:xfrm>
          <a:prstGeom prst="rect">
            <a:avLst/>
          </a:prstGeom>
          <a:noFill/>
          <a:ln/>
        </p:spPr>
        <p:txBody>
          <a:bodyPr wrap="square" lIns="0" tIns="0" rIns="0" bIns="0" rtlCol="0" anchor="ctr"/>
          <a:lstStyle/>
          <a:p>
            <a:pPr indent="0" marL="0">
              <a:buNone/>
            </a:pPr>
            <a:r>
              <a:rPr lang="en-US" sz="1200" dirty="0">
                <a:solidFill>
                  <a:srgbClr val="C9A84C"/>
                </a:solidFill>
                <a:latin typeface="Arial Black" pitchFamily="34" charset="0"/>
                <a:ea typeface="Arial Black" pitchFamily="34" charset="-122"/>
                <a:cs typeface="Arial Black" pitchFamily="34" charset="-120"/>
              </a:rPr>
              <a:t>TAM</a:t>
            </a:r>
            <a:endParaRPr lang="en-US" sz="1200" dirty="0"/>
          </a:p>
        </p:txBody>
      </p:sp>
      <p:sp>
        <p:nvSpPr>
          <p:cNvPr id="9" name="Text 7"/>
          <p:cNvSpPr/>
          <p:nvPr/>
        </p:nvSpPr>
        <p:spPr>
          <a:xfrm>
            <a:off x="1188720" y="162763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780B</a:t>
            </a:r>
            <a:endParaRPr lang="en-US" sz="1600" dirty="0"/>
          </a:p>
        </p:txBody>
      </p:sp>
      <p:sp>
        <p:nvSpPr>
          <p:cNvPr id="10" name="Text 8"/>
          <p:cNvSpPr/>
          <p:nvPr/>
        </p:nvSpPr>
        <p:spPr>
          <a:xfrm>
            <a:off x="2651760" y="160934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Total Addressable Market — Saudi SME sector (Vision 2030: 35% GDP)</a:t>
            </a:r>
            <a:endParaRPr lang="en-US" sz="900" dirty="0"/>
          </a:p>
        </p:txBody>
      </p:sp>
      <p:sp>
        <p:nvSpPr>
          <p:cNvPr id="11" name="Text 9"/>
          <p:cNvSpPr/>
          <p:nvPr/>
        </p:nvSpPr>
        <p:spPr>
          <a:xfrm>
            <a:off x="2651760" y="181051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إجمالي السوق المتاح</a:t>
            </a:r>
            <a:endParaRPr lang="en-US" sz="800" dirty="0"/>
          </a:p>
        </p:txBody>
      </p:sp>
      <p:sp>
        <p:nvSpPr>
          <p:cNvPr id="12" name="Shape 10"/>
          <p:cNvSpPr/>
          <p:nvPr/>
        </p:nvSpPr>
        <p:spPr>
          <a:xfrm>
            <a:off x="457200" y="2148840"/>
            <a:ext cx="8229600" cy="4572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3" name="Shape 11"/>
          <p:cNvSpPr/>
          <p:nvPr/>
        </p:nvSpPr>
        <p:spPr>
          <a:xfrm>
            <a:off x="457200" y="2148840"/>
            <a:ext cx="6400800" cy="36576"/>
          </a:xfrm>
          <a:prstGeom prst="rect">
            <a:avLst/>
          </a:prstGeom>
          <a:solidFill>
            <a:srgbClr val="0891B2"/>
          </a:solidFill>
          <a:ln/>
        </p:spPr>
      </p:sp>
      <p:sp>
        <p:nvSpPr>
          <p:cNvPr id="14" name="Text 12"/>
          <p:cNvSpPr/>
          <p:nvPr/>
        </p:nvSpPr>
        <p:spPr>
          <a:xfrm>
            <a:off x="594360" y="2221992"/>
            <a:ext cx="548640" cy="320040"/>
          </a:xfrm>
          <a:prstGeom prst="rect">
            <a:avLst/>
          </a:prstGeom>
          <a:noFill/>
          <a:ln/>
        </p:spPr>
        <p:txBody>
          <a:bodyPr wrap="square" lIns="0" tIns="0" rIns="0" bIns="0" rtlCol="0" anchor="ctr"/>
          <a:lstStyle/>
          <a:p>
            <a:pPr indent="0" marL="0">
              <a:buNone/>
            </a:pPr>
            <a:r>
              <a:rPr lang="en-US" sz="1200" dirty="0">
                <a:solidFill>
                  <a:srgbClr val="0891B2"/>
                </a:solidFill>
                <a:latin typeface="Arial Black" pitchFamily="34" charset="0"/>
                <a:ea typeface="Arial Black" pitchFamily="34" charset="-122"/>
                <a:cs typeface="Arial Black" pitchFamily="34" charset="-120"/>
              </a:rPr>
              <a:t>SAM</a:t>
            </a:r>
            <a:endParaRPr lang="en-US" sz="1200" dirty="0"/>
          </a:p>
        </p:txBody>
      </p:sp>
      <p:sp>
        <p:nvSpPr>
          <p:cNvPr id="15" name="Text 13"/>
          <p:cNvSpPr/>
          <p:nvPr/>
        </p:nvSpPr>
        <p:spPr>
          <a:xfrm>
            <a:off x="1188720" y="222199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12B</a:t>
            </a:r>
            <a:endParaRPr lang="en-US" sz="1600" dirty="0"/>
          </a:p>
        </p:txBody>
      </p:sp>
      <p:sp>
        <p:nvSpPr>
          <p:cNvPr id="16" name="Text 14"/>
          <p:cNvSpPr/>
          <p:nvPr/>
        </p:nvSpPr>
        <p:spPr>
          <a:xfrm>
            <a:off x="2651760" y="220370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Serviceable Market — SMEs needing financial intelligence tools</a:t>
            </a:r>
            <a:endParaRPr lang="en-US" sz="900" dirty="0"/>
          </a:p>
        </p:txBody>
      </p:sp>
      <p:sp>
        <p:nvSpPr>
          <p:cNvPr id="17" name="Text 15"/>
          <p:cNvSpPr/>
          <p:nvPr/>
        </p:nvSpPr>
        <p:spPr>
          <a:xfrm>
            <a:off x="2651760" y="240487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السوق القابل للخدمة</a:t>
            </a:r>
            <a:endParaRPr lang="en-US" sz="800" dirty="0"/>
          </a:p>
        </p:txBody>
      </p:sp>
      <p:sp>
        <p:nvSpPr>
          <p:cNvPr id="18" name="Shape 16"/>
          <p:cNvSpPr/>
          <p:nvPr/>
        </p:nvSpPr>
        <p:spPr>
          <a:xfrm>
            <a:off x="457200" y="2743200"/>
            <a:ext cx="8229600" cy="457200"/>
          </a:xfrm>
          <a:prstGeom prst="rect">
            <a:avLst/>
          </a:prstGeom>
          <a:solidFill>
            <a:srgbClr val="1A2E4A"/>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2743200"/>
            <a:ext cx="4114800" cy="36576"/>
          </a:xfrm>
          <a:prstGeom prst="rect">
            <a:avLst/>
          </a:prstGeom>
          <a:solidFill>
            <a:srgbClr val="10B981"/>
          </a:solidFill>
          <a:ln/>
        </p:spPr>
      </p:sp>
      <p:sp>
        <p:nvSpPr>
          <p:cNvPr id="20" name="Text 18"/>
          <p:cNvSpPr/>
          <p:nvPr/>
        </p:nvSpPr>
        <p:spPr>
          <a:xfrm>
            <a:off x="594360" y="2816352"/>
            <a:ext cx="548640" cy="320040"/>
          </a:xfrm>
          <a:prstGeom prst="rect">
            <a:avLst/>
          </a:prstGeom>
          <a:noFill/>
          <a:ln/>
        </p:spPr>
        <p:txBody>
          <a:bodyPr wrap="square" lIns="0" tIns="0" rIns="0" bIns="0" rtlCol="0" anchor="ctr"/>
          <a:lstStyle/>
          <a:p>
            <a:pPr indent="0" marL="0">
              <a:buNone/>
            </a:pPr>
            <a:r>
              <a:rPr lang="en-US" sz="1200" dirty="0">
                <a:solidFill>
                  <a:srgbClr val="10B981"/>
                </a:solidFill>
                <a:latin typeface="Arial Black" pitchFamily="34" charset="0"/>
                <a:ea typeface="Arial Black" pitchFamily="34" charset="-122"/>
                <a:cs typeface="Arial Black" pitchFamily="34" charset="-120"/>
              </a:rPr>
              <a:t>SOM</a:t>
            </a:r>
            <a:endParaRPr lang="en-US" sz="1200" dirty="0"/>
          </a:p>
        </p:txBody>
      </p:sp>
      <p:sp>
        <p:nvSpPr>
          <p:cNvPr id="21" name="Text 19"/>
          <p:cNvSpPr/>
          <p:nvPr/>
        </p:nvSpPr>
        <p:spPr>
          <a:xfrm>
            <a:off x="1188720" y="2816352"/>
            <a:ext cx="1371600" cy="320040"/>
          </a:xfrm>
          <a:prstGeom prst="rect">
            <a:avLst/>
          </a:prstGeom>
          <a:noFill/>
          <a:ln/>
        </p:spPr>
        <p:txBody>
          <a:bodyPr wrap="square" lIns="0" tIns="0" rIns="0" bIns="0" rtlCol="0" anchor="ctr"/>
          <a:lstStyle/>
          <a:p>
            <a:pPr indent="0" marL="0">
              <a:buNone/>
            </a:pPr>
            <a:r>
              <a:rPr lang="en-US" sz="1600" dirty="0">
                <a:solidFill>
                  <a:srgbClr val="FFFFFF"/>
                </a:solidFill>
                <a:latin typeface="Arial Black" pitchFamily="34" charset="0"/>
                <a:ea typeface="Arial Black" pitchFamily="34" charset="-122"/>
                <a:cs typeface="Arial Black" pitchFamily="34" charset="-120"/>
              </a:rPr>
              <a:t>SAR 120M</a:t>
            </a:r>
            <a:endParaRPr lang="en-US" sz="1600" dirty="0"/>
          </a:p>
        </p:txBody>
      </p:sp>
      <p:sp>
        <p:nvSpPr>
          <p:cNvPr id="22" name="Text 20"/>
          <p:cNvSpPr/>
          <p:nvPr/>
        </p:nvSpPr>
        <p:spPr>
          <a:xfrm>
            <a:off x="2651760" y="2798064"/>
            <a:ext cx="5852160" cy="201168"/>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Obtainable Market — realistic 3-year capture (1% SAM)</a:t>
            </a:r>
            <a:endParaRPr lang="en-US" sz="900" dirty="0"/>
          </a:p>
        </p:txBody>
      </p:sp>
      <p:sp>
        <p:nvSpPr>
          <p:cNvPr id="23" name="Text 21"/>
          <p:cNvSpPr/>
          <p:nvPr/>
        </p:nvSpPr>
        <p:spPr>
          <a:xfrm>
            <a:off x="2651760" y="2999232"/>
            <a:ext cx="585216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السوق القابل للاستحواذ</a:t>
            </a:r>
            <a:endParaRPr lang="en-US" sz="800" dirty="0"/>
          </a:p>
        </p:txBody>
      </p:sp>
      <p:sp>
        <p:nvSpPr>
          <p:cNvPr id="24" name="Text 22"/>
          <p:cNvSpPr/>
          <p:nvPr/>
        </p:nvSpPr>
        <p:spPr>
          <a:xfrm>
            <a:off x="457200" y="3383280"/>
            <a:ext cx="4572000" cy="228600"/>
          </a:xfrm>
          <a:prstGeom prst="rect">
            <a:avLst/>
          </a:prstGeom>
          <a:noFill/>
          <a:ln/>
        </p:spPr>
        <p:txBody>
          <a:bodyPr wrap="square" lIns="0" tIns="0" rIns="0" bIns="0" rtlCol="0" anchor="ctr"/>
          <a:lstStyle/>
          <a:p>
            <a:pPr indent="0" marL="0">
              <a:buNone/>
            </a:pPr>
            <a:r>
              <a:rPr lang="en-US" sz="1000" b="1" spc="300" kern="0" dirty="0">
                <a:solidFill>
                  <a:srgbClr val="C9A84C"/>
                </a:solidFill>
                <a:latin typeface="Calibri" pitchFamily="34" charset="0"/>
                <a:ea typeface="Calibri" pitchFamily="34" charset="-122"/>
                <a:cs typeface="Calibri" pitchFamily="34" charset="-120"/>
              </a:rPr>
              <a:t>ARCHITECTURE OVERVIEW  ·  نظرة معمارية</a:t>
            </a:r>
            <a:endParaRPr lang="en-US" sz="1000" dirty="0"/>
          </a:p>
        </p:txBody>
      </p:sp>
      <p:sp>
        <p:nvSpPr>
          <p:cNvPr id="25" name="Shape 23"/>
          <p:cNvSpPr/>
          <p:nvPr/>
        </p:nvSpPr>
        <p:spPr>
          <a:xfrm>
            <a:off x="457200" y="3657600"/>
            <a:ext cx="8229600" cy="228600"/>
          </a:xfrm>
          <a:prstGeom prst="rect">
            <a:avLst/>
          </a:prstGeom>
          <a:solidFill>
            <a:srgbClr val="1A2E4A"/>
          </a:solidFill>
          <a:ln/>
        </p:spPr>
      </p:sp>
      <p:sp>
        <p:nvSpPr>
          <p:cNvPr id="26" name="Text 24"/>
          <p:cNvSpPr/>
          <p:nvPr/>
        </p:nvSpPr>
        <p:spPr>
          <a:xfrm>
            <a:off x="548640" y="3657600"/>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API Endpoints</a:t>
            </a:r>
            <a:endParaRPr lang="en-US" sz="900" dirty="0"/>
          </a:p>
        </p:txBody>
      </p:sp>
      <p:sp>
        <p:nvSpPr>
          <p:cNvPr id="27" name="Text 25"/>
          <p:cNvSpPr/>
          <p:nvPr/>
        </p:nvSpPr>
        <p:spPr>
          <a:xfrm>
            <a:off x="2286000" y="3657600"/>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30+ RESTful</a:t>
            </a:r>
            <a:endParaRPr lang="en-US" sz="900" dirty="0"/>
          </a:p>
        </p:txBody>
      </p:sp>
      <p:sp>
        <p:nvSpPr>
          <p:cNvPr id="28" name="Text 26"/>
          <p:cNvSpPr/>
          <p:nvPr/>
        </p:nvSpPr>
        <p:spPr>
          <a:xfrm>
            <a:off x="4206240" y="3657600"/>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FastAPI auto-docs, Swagger UI, rate-limited</a:t>
            </a:r>
            <a:endParaRPr lang="en-US" sz="850" dirty="0"/>
          </a:p>
        </p:txBody>
      </p:sp>
      <p:sp>
        <p:nvSpPr>
          <p:cNvPr id="29" name="Shape 27"/>
          <p:cNvSpPr/>
          <p:nvPr/>
        </p:nvSpPr>
        <p:spPr>
          <a:xfrm>
            <a:off x="457200" y="3913632"/>
            <a:ext cx="8229600" cy="228600"/>
          </a:xfrm>
          <a:prstGeom prst="rect">
            <a:avLst/>
          </a:prstGeom>
          <a:solidFill>
            <a:srgbClr val="1E3654"/>
          </a:solidFill>
          <a:ln/>
        </p:spPr>
      </p:sp>
      <p:sp>
        <p:nvSpPr>
          <p:cNvPr id="30" name="Text 28"/>
          <p:cNvSpPr/>
          <p:nvPr/>
        </p:nvSpPr>
        <p:spPr>
          <a:xfrm>
            <a:off x="548640" y="3913632"/>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AI Modules</a:t>
            </a:r>
            <a:endParaRPr lang="en-US" sz="900" dirty="0"/>
          </a:p>
        </p:txBody>
      </p:sp>
      <p:sp>
        <p:nvSpPr>
          <p:cNvPr id="31" name="Text 29"/>
          <p:cNvSpPr/>
          <p:nvPr/>
        </p:nvSpPr>
        <p:spPr>
          <a:xfrm>
            <a:off x="2286000" y="3913632"/>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11 Knowledge Brain</a:t>
            </a:r>
            <a:endParaRPr lang="en-US" sz="900" dirty="0"/>
          </a:p>
        </p:txBody>
      </p:sp>
      <p:sp>
        <p:nvSpPr>
          <p:cNvPr id="32" name="Text 30"/>
          <p:cNvSpPr/>
          <p:nvPr/>
        </p:nvSpPr>
        <p:spPr>
          <a:xfrm>
            <a:off x="4206240" y="3913632"/>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SOCPA, IFRS, ZAKAT, VAT, Labor, Commercial, Tax, Audit, Industry, Compliance, Legal</a:t>
            </a:r>
            <a:endParaRPr lang="en-US" sz="850" dirty="0"/>
          </a:p>
        </p:txBody>
      </p:sp>
      <p:sp>
        <p:nvSpPr>
          <p:cNvPr id="33" name="Shape 31"/>
          <p:cNvSpPr/>
          <p:nvPr/>
        </p:nvSpPr>
        <p:spPr>
          <a:xfrm>
            <a:off x="457200" y="4169664"/>
            <a:ext cx="8229600" cy="228600"/>
          </a:xfrm>
          <a:prstGeom prst="rect">
            <a:avLst/>
          </a:prstGeom>
          <a:solidFill>
            <a:srgbClr val="1A2E4A"/>
          </a:solidFill>
          <a:ln/>
        </p:spPr>
      </p:sp>
      <p:sp>
        <p:nvSpPr>
          <p:cNvPr id="34" name="Text 32"/>
          <p:cNvSpPr/>
          <p:nvPr/>
        </p:nvSpPr>
        <p:spPr>
          <a:xfrm>
            <a:off x="548640" y="4169664"/>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Test Coverage</a:t>
            </a:r>
            <a:endParaRPr lang="en-US" sz="900" dirty="0"/>
          </a:p>
        </p:txBody>
      </p:sp>
      <p:sp>
        <p:nvSpPr>
          <p:cNvPr id="35" name="Text 33"/>
          <p:cNvSpPr/>
          <p:nvPr/>
        </p:nvSpPr>
        <p:spPr>
          <a:xfrm>
            <a:off x="2286000" y="4169664"/>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204 automated</a:t>
            </a:r>
            <a:endParaRPr lang="en-US" sz="900" dirty="0"/>
          </a:p>
        </p:txBody>
      </p:sp>
      <p:sp>
        <p:nvSpPr>
          <p:cNvPr id="36" name="Text 34"/>
          <p:cNvSpPr/>
          <p:nvPr/>
        </p:nvSpPr>
        <p:spPr>
          <a:xfrm>
            <a:off x="4206240" y="4169664"/>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Integration, unit, auth, admin, health, security, CORS</a:t>
            </a:r>
            <a:endParaRPr lang="en-US" sz="850" dirty="0"/>
          </a:p>
        </p:txBody>
      </p:sp>
      <p:sp>
        <p:nvSpPr>
          <p:cNvPr id="37" name="Shape 35"/>
          <p:cNvSpPr/>
          <p:nvPr/>
        </p:nvSpPr>
        <p:spPr>
          <a:xfrm>
            <a:off x="457200" y="4425696"/>
            <a:ext cx="8229600" cy="228600"/>
          </a:xfrm>
          <a:prstGeom prst="rect">
            <a:avLst/>
          </a:prstGeom>
          <a:solidFill>
            <a:srgbClr val="1E3654"/>
          </a:solidFill>
          <a:ln/>
        </p:spPr>
      </p:sp>
      <p:sp>
        <p:nvSpPr>
          <p:cNvPr id="38" name="Text 36"/>
          <p:cNvSpPr/>
          <p:nvPr/>
        </p:nvSpPr>
        <p:spPr>
          <a:xfrm>
            <a:off x="548640" y="4425696"/>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Auth System</a:t>
            </a:r>
            <a:endParaRPr lang="en-US" sz="900" dirty="0"/>
          </a:p>
        </p:txBody>
      </p:sp>
      <p:sp>
        <p:nvSpPr>
          <p:cNvPr id="39" name="Text 37"/>
          <p:cNvSpPr/>
          <p:nvPr/>
        </p:nvSpPr>
        <p:spPr>
          <a:xfrm>
            <a:off x="2286000" y="4425696"/>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JWT + 11 roles</a:t>
            </a:r>
            <a:endParaRPr lang="en-US" sz="900" dirty="0"/>
          </a:p>
        </p:txBody>
      </p:sp>
      <p:sp>
        <p:nvSpPr>
          <p:cNvPr id="40" name="Text 38"/>
          <p:cNvSpPr/>
          <p:nvPr/>
        </p:nvSpPr>
        <p:spPr>
          <a:xfrm>
            <a:off x="4206240" y="4425696"/>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bcrypt, audit logs, social auth stubs, session management</a:t>
            </a:r>
            <a:endParaRPr lang="en-US" sz="850" dirty="0"/>
          </a:p>
        </p:txBody>
      </p:sp>
      <p:sp>
        <p:nvSpPr>
          <p:cNvPr id="41" name="Shape 39"/>
          <p:cNvSpPr/>
          <p:nvPr/>
        </p:nvSpPr>
        <p:spPr>
          <a:xfrm>
            <a:off x="457200" y="4681728"/>
            <a:ext cx="8229600" cy="228600"/>
          </a:xfrm>
          <a:prstGeom prst="rect">
            <a:avLst/>
          </a:prstGeom>
          <a:solidFill>
            <a:srgbClr val="1A2E4A"/>
          </a:solidFill>
          <a:ln/>
        </p:spPr>
      </p:sp>
      <p:sp>
        <p:nvSpPr>
          <p:cNvPr id="42" name="Text 40"/>
          <p:cNvSpPr/>
          <p:nvPr/>
        </p:nvSpPr>
        <p:spPr>
          <a:xfrm>
            <a:off x="548640" y="4681728"/>
            <a:ext cx="1645920" cy="228600"/>
          </a:xfrm>
          <a:prstGeom prst="rect">
            <a:avLst/>
          </a:prstGeom>
          <a:noFill/>
          <a:ln/>
        </p:spPr>
        <p:txBody>
          <a:bodyPr wrap="square" lIns="0" tIns="0" rIns="0" bIns="0" rtlCol="0" anchor="ctr"/>
          <a:lstStyle/>
          <a:p>
            <a:pPr indent="0" marL="0">
              <a:buNone/>
            </a:pPr>
            <a:r>
              <a:rPr lang="en-US" sz="900" b="1" dirty="0">
                <a:solidFill>
                  <a:srgbClr val="22D3EE"/>
                </a:solidFill>
                <a:latin typeface="Calibri" pitchFamily="34" charset="0"/>
                <a:ea typeface="Calibri" pitchFamily="34" charset="-122"/>
                <a:cs typeface="Calibri" pitchFamily="34" charset="-120"/>
              </a:rPr>
              <a:t>Database</a:t>
            </a:r>
            <a:endParaRPr lang="en-US" sz="900" dirty="0"/>
          </a:p>
        </p:txBody>
      </p:sp>
      <p:sp>
        <p:nvSpPr>
          <p:cNvPr id="43" name="Text 41"/>
          <p:cNvSpPr/>
          <p:nvPr/>
        </p:nvSpPr>
        <p:spPr>
          <a:xfrm>
            <a:off x="2286000" y="4681728"/>
            <a:ext cx="18288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PostgreSQL + SQLAlchemy</a:t>
            </a:r>
            <a:endParaRPr lang="en-US" sz="900" dirty="0"/>
          </a:p>
        </p:txBody>
      </p:sp>
      <p:sp>
        <p:nvSpPr>
          <p:cNvPr id="44" name="Text 42"/>
          <p:cNvSpPr/>
          <p:nvPr/>
        </p:nvSpPr>
        <p:spPr>
          <a:xfrm>
            <a:off x="4206240" y="4681728"/>
            <a:ext cx="4389120" cy="2286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Alembic migrations, read replica ready, KB separate DB</a:t>
            </a:r>
            <a:endParaRPr lang="en-US" sz="850" dirty="0"/>
          </a:p>
        </p:txBody>
      </p:sp>
      <p:sp>
        <p:nvSpPr>
          <p:cNvPr id="45" name="Shape 43"/>
          <p:cNvSpPr/>
          <p:nvPr/>
        </p:nvSpPr>
        <p:spPr>
          <a:xfrm>
            <a:off x="0" y="4709160"/>
            <a:ext cx="9144000" cy="434340"/>
          </a:xfrm>
          <a:prstGeom prst="rect">
            <a:avLst/>
          </a:prstGeom>
          <a:solidFill>
            <a:srgbClr val="0A1220"/>
          </a:solidFill>
          <a:ln/>
        </p:spPr>
      </p:sp>
      <p:sp>
        <p:nvSpPr>
          <p:cNvPr id="46" name="Text 44"/>
          <p:cNvSpPr/>
          <p:nvPr/>
        </p:nvSpPr>
        <p:spPr>
          <a:xfrm>
            <a:off x="457200" y="4709160"/>
            <a:ext cx="5486400" cy="43434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APEX Financial Intelligence Platform  |  Jeddah, Saudi Arabia  |  2026</a:t>
            </a:r>
            <a:endParaRPr lang="en-US" sz="750" dirty="0"/>
          </a:p>
        </p:txBody>
      </p:sp>
      <p:sp>
        <p:nvSpPr>
          <p:cNvPr id="47" name="Text 45"/>
          <p:cNvSpPr/>
          <p:nvPr/>
        </p:nvSpPr>
        <p:spPr>
          <a:xfrm>
            <a:off x="7315200" y="4709160"/>
            <a:ext cx="1371600" cy="434340"/>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19 / 19</a:t>
            </a:r>
            <a:endParaRPr lang="en-US" sz="750" dirty="0"/>
          </a:p>
        </p:txBody>
      </p:sp>
      <p:sp>
        <p:nvSpPr>
          <p:cNvPr id="48" name="Text 46"/>
          <p:cNvSpPr/>
          <p:nvPr/>
        </p:nvSpPr>
        <p:spPr>
          <a:xfrm>
            <a:off x="8275320" y="4709160"/>
            <a:ext cx="640080" cy="434340"/>
          </a:xfrm>
          <a:prstGeom prst="rect">
            <a:avLst/>
          </a:prstGeom>
          <a:noFill/>
          <a:ln/>
        </p:spPr>
        <p:txBody>
          <a:bodyPr wrap="square" lIns="0" tIns="0" rIns="0" bIns="0" rtlCol="0" anchor="ctr"/>
          <a:lstStyle/>
          <a:p>
            <a:pPr algn="ctr" indent="0" marL="0">
              <a:buNone/>
            </a:pPr>
            <a:r>
              <a:rPr lang="en-US" sz="750" b="1" dirty="0">
                <a:solidFill>
                  <a:srgbClr val="C9A84C"/>
                </a:solidFill>
                <a:latin typeface="Arial Black" pitchFamily="34" charset="0"/>
                <a:ea typeface="Arial Black" pitchFamily="34" charset="-122"/>
                <a:cs typeface="Arial Black" pitchFamily="34" charset="-120"/>
              </a:rPr>
              <a:t>APEX</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 Financial Intelligence Platform</dc:title>
  <dc:subject>PptxGenJS Presentation</dc:subject>
  <dc:creator>APEX Team</dc:creator>
  <cp:lastModifiedBy>APEX Team</cp:lastModifiedBy>
  <cp:revision>1</cp:revision>
  <dcterms:created xsi:type="dcterms:W3CDTF">2026-04-15T20:35:02Z</dcterms:created>
  <dcterms:modified xsi:type="dcterms:W3CDTF">2026-04-15T20:35:02Z</dcterms:modified>
</cp:coreProperties>
</file>